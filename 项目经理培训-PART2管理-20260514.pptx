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3"/>
    <p:sldMasterId id="2147483684" r:id="rId4"/>
  </p:sldMasterIdLst>
  <p:notesMasterIdLst>
    <p:notesMasterId r:id="rId6"/>
  </p:notesMasterIdLst>
  <p:handoutMasterIdLst>
    <p:handoutMasterId r:id="rId76"/>
  </p:handoutMasterIdLst>
  <p:sldIdLst>
    <p:sldId id="256" r:id="rId5"/>
    <p:sldId id="671" r:id="rId7"/>
    <p:sldId id="672" r:id="rId8"/>
    <p:sldId id="673" r:id="rId9"/>
    <p:sldId id="1572" r:id="rId10"/>
    <p:sldId id="674" r:id="rId11"/>
    <p:sldId id="675" r:id="rId12"/>
    <p:sldId id="1846" r:id="rId13"/>
    <p:sldId id="1726" r:id="rId14"/>
    <p:sldId id="1787" r:id="rId15"/>
    <p:sldId id="1727" r:id="rId16"/>
    <p:sldId id="1847" r:id="rId17"/>
    <p:sldId id="1672" r:id="rId18"/>
    <p:sldId id="1786" r:id="rId19"/>
    <p:sldId id="681" r:id="rId20"/>
    <p:sldId id="682" r:id="rId21"/>
    <p:sldId id="1402" r:id="rId22"/>
    <p:sldId id="434" r:id="rId23"/>
    <p:sldId id="435" r:id="rId24"/>
    <p:sldId id="436" r:id="rId25"/>
    <p:sldId id="438" r:id="rId26"/>
    <p:sldId id="439" r:id="rId27"/>
    <p:sldId id="1909" r:id="rId28"/>
    <p:sldId id="1910" r:id="rId29"/>
    <p:sldId id="486" r:id="rId30"/>
    <p:sldId id="441" r:id="rId31"/>
    <p:sldId id="442" r:id="rId32"/>
    <p:sldId id="1675" r:id="rId33"/>
    <p:sldId id="1676" r:id="rId34"/>
    <p:sldId id="443" r:id="rId35"/>
    <p:sldId id="1553" r:id="rId36"/>
    <p:sldId id="457" r:id="rId37"/>
    <p:sldId id="458" r:id="rId38"/>
    <p:sldId id="459" r:id="rId39"/>
    <p:sldId id="1317" r:id="rId40"/>
    <p:sldId id="460" r:id="rId41"/>
    <p:sldId id="461" r:id="rId42"/>
    <p:sldId id="685" r:id="rId43"/>
    <p:sldId id="462" r:id="rId44"/>
    <p:sldId id="463" r:id="rId45"/>
    <p:sldId id="725" r:id="rId46"/>
    <p:sldId id="723" r:id="rId47"/>
    <p:sldId id="729" r:id="rId48"/>
    <p:sldId id="727" r:id="rId49"/>
    <p:sldId id="728" r:id="rId50"/>
    <p:sldId id="464" r:id="rId51"/>
    <p:sldId id="1554" r:id="rId52"/>
    <p:sldId id="1644" r:id="rId53"/>
    <p:sldId id="1637" r:id="rId54"/>
    <p:sldId id="1663" r:id="rId55"/>
    <p:sldId id="1638" r:id="rId56"/>
    <p:sldId id="1730" r:id="rId57"/>
    <p:sldId id="1731" r:id="rId58"/>
    <p:sldId id="1732" r:id="rId59"/>
    <p:sldId id="1643" r:id="rId60"/>
    <p:sldId id="1660" r:id="rId61"/>
    <p:sldId id="1662" r:id="rId62"/>
    <p:sldId id="1734" r:id="rId63"/>
    <p:sldId id="1735" r:id="rId64"/>
    <p:sldId id="1733" r:id="rId65"/>
    <p:sldId id="1639" r:id="rId66"/>
    <p:sldId id="1640" r:id="rId67"/>
    <p:sldId id="1630" r:id="rId68"/>
    <p:sldId id="1631" r:id="rId69"/>
    <p:sldId id="1632" r:id="rId70"/>
    <p:sldId id="1633" r:id="rId71"/>
    <p:sldId id="1634" r:id="rId72"/>
    <p:sldId id="1635" r:id="rId73"/>
    <p:sldId id="1636" r:id="rId74"/>
    <p:sldId id="1785" r:id="rId75"/>
  </p:sldIdLst>
  <p:sldSz cx="12192000" cy="6858000"/>
  <p:notesSz cx="6858000" cy="9144000"/>
  <p:custDataLst>
    <p:tags r:id="rId81"/>
  </p:custDataLst>
  <p:defaultTextStyle>
    <a:defPPr>
      <a:defRPr lang="zh-CN"/>
    </a:defPPr>
    <a:lvl1pPr marL="0" algn="l" defTabSz="484505" rtl="0" eaLnBrk="1" latinLnBrk="0" hangingPunct="1">
      <a:defRPr sz="2000" kern="1200">
        <a:solidFill>
          <a:schemeClr val="tx1"/>
        </a:solidFill>
        <a:latin typeface="+mn-lt"/>
        <a:ea typeface="+mn-ea"/>
        <a:cs typeface="+mn-cs"/>
      </a:defRPr>
    </a:lvl1pPr>
    <a:lvl2pPr marL="484505" algn="l" defTabSz="484505" rtl="0" eaLnBrk="1" latinLnBrk="0" hangingPunct="1">
      <a:defRPr sz="2000" kern="1200">
        <a:solidFill>
          <a:schemeClr val="tx1"/>
        </a:solidFill>
        <a:latin typeface="+mn-lt"/>
        <a:ea typeface="+mn-ea"/>
        <a:cs typeface="+mn-cs"/>
      </a:defRPr>
    </a:lvl2pPr>
    <a:lvl3pPr marL="969645" algn="l" defTabSz="484505" rtl="0" eaLnBrk="1" latinLnBrk="0" hangingPunct="1">
      <a:defRPr sz="2000" kern="1200">
        <a:solidFill>
          <a:schemeClr val="tx1"/>
        </a:solidFill>
        <a:latin typeface="+mn-lt"/>
        <a:ea typeface="+mn-ea"/>
        <a:cs typeface="+mn-cs"/>
      </a:defRPr>
    </a:lvl3pPr>
    <a:lvl4pPr marL="1454150" algn="l" defTabSz="484505" rtl="0" eaLnBrk="1" latinLnBrk="0" hangingPunct="1">
      <a:defRPr sz="2000" kern="1200">
        <a:solidFill>
          <a:schemeClr val="tx1"/>
        </a:solidFill>
        <a:latin typeface="+mn-lt"/>
        <a:ea typeface="+mn-ea"/>
        <a:cs typeface="+mn-cs"/>
      </a:defRPr>
    </a:lvl4pPr>
    <a:lvl5pPr marL="1939290" algn="l" defTabSz="484505" rtl="0" eaLnBrk="1" latinLnBrk="0" hangingPunct="1">
      <a:defRPr sz="2000" kern="1200">
        <a:solidFill>
          <a:schemeClr val="tx1"/>
        </a:solidFill>
        <a:latin typeface="+mn-lt"/>
        <a:ea typeface="+mn-ea"/>
        <a:cs typeface="+mn-cs"/>
      </a:defRPr>
    </a:lvl5pPr>
    <a:lvl6pPr marL="2423795" algn="l" defTabSz="484505" rtl="0" eaLnBrk="1" latinLnBrk="0" hangingPunct="1">
      <a:defRPr sz="2000" kern="1200">
        <a:solidFill>
          <a:schemeClr val="tx1"/>
        </a:solidFill>
        <a:latin typeface="+mn-lt"/>
        <a:ea typeface="+mn-ea"/>
        <a:cs typeface="+mn-cs"/>
      </a:defRPr>
    </a:lvl6pPr>
    <a:lvl7pPr marL="2908300" algn="l" defTabSz="484505" rtl="0" eaLnBrk="1" latinLnBrk="0" hangingPunct="1">
      <a:defRPr sz="2000" kern="1200">
        <a:solidFill>
          <a:schemeClr val="tx1"/>
        </a:solidFill>
        <a:latin typeface="+mn-lt"/>
        <a:ea typeface="+mn-ea"/>
        <a:cs typeface="+mn-cs"/>
      </a:defRPr>
    </a:lvl7pPr>
    <a:lvl8pPr marL="3393440" algn="l" defTabSz="484505" rtl="0" eaLnBrk="1" latinLnBrk="0" hangingPunct="1">
      <a:defRPr sz="2000" kern="1200">
        <a:solidFill>
          <a:schemeClr val="tx1"/>
        </a:solidFill>
        <a:latin typeface="+mn-lt"/>
        <a:ea typeface="+mn-ea"/>
        <a:cs typeface="+mn-cs"/>
      </a:defRPr>
    </a:lvl8pPr>
    <a:lvl9pPr marL="3877945" algn="l" defTabSz="484505"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2" userDrawn="1">
          <p15:clr>
            <a:srgbClr val="A4A3A4"/>
          </p15:clr>
        </p15:guide>
        <p15:guide id="2" pos="387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仲从庆" initials="" lastIdx="26" clrIdx="0"/>
  <p:cmAuthor id="1" name="PC3361" initials="P" lastIdx="1" clrIdx="0"/>
  <p:cmAuthor id="2" name="Windows User" initials="WU" lastIdx="6"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2B4D8A"/>
    <a:srgbClr val="1E577E"/>
    <a:srgbClr val="1848C0"/>
    <a:srgbClr val="006EA0"/>
    <a:srgbClr val="E9F3F7"/>
    <a:srgbClr val="9FA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77" autoAdjust="0"/>
    <p:restoredTop sz="94660"/>
  </p:normalViewPr>
  <p:slideViewPr>
    <p:cSldViewPr snapToGrid="0" snapToObjects="1" showGuides="1">
      <p:cViewPr varScale="1">
        <p:scale>
          <a:sx n="111" d="100"/>
          <a:sy n="111" d="100"/>
        </p:scale>
        <p:origin x="168" y="102"/>
      </p:cViewPr>
      <p:guideLst>
        <p:guide orient="horz" pos="2212"/>
        <p:guide pos="3879"/>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1" Type="http://schemas.openxmlformats.org/officeDocument/2006/relationships/tags" Target="tags/tag58.xml"/><Relationship Id="rId80" Type="http://schemas.openxmlformats.org/officeDocument/2006/relationships/commentAuthors" Target="commentAuthors.xml"/><Relationship Id="rId8" Type="http://schemas.openxmlformats.org/officeDocument/2006/relationships/slide" Target="slides/slide3.xml"/><Relationship Id="rId79" Type="http://schemas.openxmlformats.org/officeDocument/2006/relationships/tableStyles" Target="tableStyles.xml"/><Relationship Id="rId78" Type="http://schemas.openxmlformats.org/officeDocument/2006/relationships/viewProps" Target="viewProps.xml"/><Relationship Id="rId77" Type="http://schemas.openxmlformats.org/officeDocument/2006/relationships/presProps" Target="presProps.xml"/><Relationship Id="rId76" Type="http://schemas.openxmlformats.org/officeDocument/2006/relationships/handoutMaster" Target="handoutMasters/handoutMaster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915F4D6-8C7A-4D1B-A133-A072586EE9F4}" type="doc">
      <dgm:prSet loTypeId="list" loCatId="list" qsTypeId="urn:microsoft.com/office/officeart/2005/8/quickstyle/simple1#4" qsCatId="simple" csTypeId="urn:microsoft.com/office/officeart/2005/8/colors/accent1_2#1" csCatId="accent1" phldr="1"/>
      <dgm:spPr/>
      <dgm:t>
        <a:bodyPr/>
        <a:lstStyle/>
        <a:p>
          <a:endParaRPr lang="zh-CN" altLang="en-US"/>
        </a:p>
      </dgm:t>
    </dgm:pt>
    <dgm:pt modelId="{4CBBDABB-BFA8-40AD-ACCE-3FBF620F8185}">
      <dgm:prSet custT="1"/>
      <dgm:spPr/>
      <dgm:t>
        <a:bodyPr/>
        <a:lstStyle/>
        <a:p>
          <a:pPr rtl="0"/>
          <a:r>
            <a:rPr lang="zh-CN" altLang="en-US" sz="2400" dirty="0" smtClean="0">
              <a:latin typeface="微软雅黑" panose="020B0503020204020204" pitchFamily="34" charset="-122"/>
              <a:ea typeface="微软雅黑" panose="020B0503020204020204" pitchFamily="34" charset="-122"/>
            </a:rPr>
            <a:t>跟踪的方式有三种</a:t>
          </a:r>
          <a:r>
            <a:rPr lang="zh-CN" altLang="en-US" sz="2000" dirty="0" smtClean="0">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dgm:t>
    </dgm:pt>
    <dgm:pt modelId="{F4B2D35C-C23A-4C69-BAC2-1759B032B5DA}" cxnId="{83995010-6388-4517-92CF-C4220780CDD9}" type="parTrans">
      <dgm:prSet/>
      <dgm:spPr/>
      <dgm:t>
        <a:bodyPr/>
        <a:lstStyle/>
        <a:p>
          <a:endParaRPr lang="zh-CN" altLang="en-US" sz="2000">
            <a:latin typeface="华文中宋" panose="02010600040101010101" charset="-122"/>
            <a:ea typeface="华文中宋" panose="02010600040101010101" charset="-122"/>
          </a:endParaRPr>
        </a:p>
      </dgm:t>
    </dgm:pt>
    <dgm:pt modelId="{C487FF9D-4B0E-4B11-AE42-D2C958F1F23A}" cxnId="{83995010-6388-4517-92CF-C4220780CDD9}" type="sibTrans">
      <dgm:prSet/>
      <dgm:spPr/>
      <dgm:t>
        <a:bodyPr/>
        <a:lstStyle/>
        <a:p>
          <a:endParaRPr lang="zh-CN" altLang="en-US" sz="2000">
            <a:latin typeface="华文中宋" panose="02010600040101010101" charset="-122"/>
            <a:ea typeface="华文中宋" panose="02010600040101010101" charset="-122"/>
          </a:endParaRPr>
        </a:p>
      </dgm:t>
    </dgm:pt>
    <dgm:pt modelId="{35C558C9-0E49-440A-867F-A228311E8988}">
      <dgm:prSet custT="1"/>
      <dgm:spPr/>
      <dgm:t>
        <a:bodyPr/>
        <a:lstStyle/>
        <a:p>
          <a:pPr rtl="0"/>
          <a:r>
            <a:rPr lang="zh-CN" altLang="en-US" sz="2000" dirty="0" smtClean="0">
              <a:latin typeface="微软雅黑" panose="020B0503020204020204" pitchFamily="34" charset="-122"/>
              <a:ea typeface="微软雅黑" panose="020B0503020204020204" pitchFamily="34" charset="-122"/>
            </a:rPr>
            <a:t>周跟踪；</a:t>
          </a:r>
          <a:endParaRPr lang="zh-CN" altLang="en-US" sz="2000" dirty="0">
            <a:latin typeface="微软雅黑" panose="020B0503020204020204" pitchFamily="34" charset="-122"/>
            <a:ea typeface="微软雅黑" panose="020B0503020204020204" pitchFamily="34" charset="-122"/>
          </a:endParaRPr>
        </a:p>
      </dgm:t>
    </dgm:pt>
    <dgm:pt modelId="{B32FD731-7FCD-4959-83BB-29E2C193AC20}" cxnId="{27E50B3D-7165-4C6E-A755-6D7218E145B9}" type="parTrans">
      <dgm:prSet/>
      <dgm:spPr/>
      <dgm:t>
        <a:bodyPr/>
        <a:lstStyle/>
        <a:p>
          <a:endParaRPr lang="zh-CN" altLang="en-US" sz="2000">
            <a:latin typeface="华文中宋" panose="02010600040101010101" charset="-122"/>
            <a:ea typeface="华文中宋" panose="02010600040101010101" charset="-122"/>
          </a:endParaRPr>
        </a:p>
      </dgm:t>
    </dgm:pt>
    <dgm:pt modelId="{F05B4683-0F87-4E3E-9AED-BCC670C30BFD}" cxnId="{27E50B3D-7165-4C6E-A755-6D7218E145B9}" type="sibTrans">
      <dgm:prSet/>
      <dgm:spPr/>
      <dgm:t>
        <a:bodyPr/>
        <a:lstStyle/>
        <a:p>
          <a:endParaRPr lang="zh-CN" altLang="en-US" sz="2000">
            <a:latin typeface="华文中宋" panose="02010600040101010101" charset="-122"/>
            <a:ea typeface="华文中宋" panose="02010600040101010101" charset="-122"/>
          </a:endParaRPr>
        </a:p>
      </dgm:t>
    </dgm:pt>
    <dgm:pt modelId="{D8FD405F-D35A-46B6-BC04-DDBD4A0935E4}">
      <dgm:prSet custT="1"/>
      <dgm:spPr/>
      <dgm:t>
        <a:bodyPr/>
        <a:lstStyle/>
        <a:p>
          <a:pPr rtl="0"/>
          <a:r>
            <a:rPr lang="zh-CN" sz="2000" dirty="0" smtClean="0">
              <a:latin typeface="微软雅黑" panose="020B0503020204020204" pitchFamily="34" charset="-122"/>
              <a:ea typeface="微软雅黑" panose="020B0503020204020204" pitchFamily="34" charset="-122"/>
            </a:rPr>
            <a:t>里程碑</a:t>
          </a:r>
          <a:r>
            <a:rPr lang="en-US" sz="2000" dirty="0" smtClean="0">
              <a:latin typeface="微软雅黑" panose="020B0503020204020204" pitchFamily="34" charset="-122"/>
              <a:ea typeface="微软雅黑" panose="020B0503020204020204" pitchFamily="34" charset="-122"/>
            </a:rPr>
            <a:t>/</a:t>
          </a:r>
          <a:r>
            <a:rPr lang="zh-CN" sz="2000" dirty="0" smtClean="0">
              <a:latin typeface="微软雅黑" panose="020B0503020204020204" pitchFamily="34" charset="-122"/>
              <a:ea typeface="微软雅黑" panose="020B0503020204020204" pitchFamily="34" charset="-122"/>
            </a:rPr>
            <a:t>绩效节点跟踪；</a:t>
          </a:r>
          <a:endParaRPr lang="zh-CN" sz="2000" dirty="0">
            <a:latin typeface="微软雅黑" panose="020B0503020204020204" pitchFamily="34" charset="-122"/>
            <a:ea typeface="微软雅黑" panose="020B0503020204020204" pitchFamily="34" charset="-122"/>
          </a:endParaRPr>
        </a:p>
      </dgm:t>
    </dgm:pt>
    <dgm:pt modelId="{C5409EC6-B377-4FB9-9697-9F6D3EFA8700}" cxnId="{89E8D534-1F9C-4D3D-AA3F-10E1DD2EFD01}" type="parTrans">
      <dgm:prSet/>
      <dgm:spPr/>
      <dgm:t>
        <a:bodyPr/>
        <a:lstStyle/>
        <a:p>
          <a:endParaRPr lang="zh-CN" altLang="en-US" sz="2000">
            <a:latin typeface="华文中宋" panose="02010600040101010101" charset="-122"/>
            <a:ea typeface="华文中宋" panose="02010600040101010101" charset="-122"/>
          </a:endParaRPr>
        </a:p>
      </dgm:t>
    </dgm:pt>
    <dgm:pt modelId="{EF03EEFC-F923-44AF-9611-5012400BBFBA}" cxnId="{89E8D534-1F9C-4D3D-AA3F-10E1DD2EFD01}" type="sibTrans">
      <dgm:prSet/>
      <dgm:spPr/>
      <dgm:t>
        <a:bodyPr/>
        <a:lstStyle/>
        <a:p>
          <a:endParaRPr lang="zh-CN" altLang="en-US" sz="2000">
            <a:latin typeface="华文中宋" panose="02010600040101010101" charset="-122"/>
            <a:ea typeface="华文中宋" panose="02010600040101010101" charset="-122"/>
          </a:endParaRPr>
        </a:p>
      </dgm:t>
    </dgm:pt>
    <dgm:pt modelId="{004D9C76-C5A4-4014-BA38-0B3387B20A4A}">
      <dgm:prSet custT="1"/>
      <dgm:spPr/>
      <dgm:t>
        <a:bodyPr/>
        <a:lstStyle/>
        <a:p>
          <a:pPr rtl="0"/>
          <a:r>
            <a:rPr lang="zh-CN" altLang="en-US" sz="2000" dirty="0" smtClean="0">
              <a:latin typeface="微软雅黑" panose="020B0503020204020204" pitchFamily="34" charset="-122"/>
              <a:ea typeface="微软雅黑" panose="020B0503020204020204" pitchFamily="34" charset="-122"/>
            </a:rPr>
            <a:t>不定期跟踪</a:t>
          </a:r>
          <a:endParaRPr lang="zh-CN" altLang="en-US" sz="2000" dirty="0">
            <a:latin typeface="微软雅黑" panose="020B0503020204020204" pitchFamily="34" charset="-122"/>
            <a:ea typeface="微软雅黑" panose="020B0503020204020204" pitchFamily="34" charset="-122"/>
          </a:endParaRPr>
        </a:p>
      </dgm:t>
    </dgm:pt>
    <dgm:pt modelId="{A868FC77-62AA-4334-B0CB-BF0CCE2DC449}" cxnId="{D7CA953D-CF88-4D86-B4BF-7F279BD86A0D}" type="parTrans">
      <dgm:prSet/>
      <dgm:spPr/>
      <dgm:t>
        <a:bodyPr/>
        <a:lstStyle/>
        <a:p>
          <a:endParaRPr lang="zh-CN" altLang="en-US" sz="2000">
            <a:latin typeface="华文中宋" panose="02010600040101010101" charset="-122"/>
            <a:ea typeface="华文中宋" panose="02010600040101010101" charset="-122"/>
          </a:endParaRPr>
        </a:p>
      </dgm:t>
    </dgm:pt>
    <dgm:pt modelId="{A93C2F4A-A695-41EF-A0CB-4B85408F5E9B}" cxnId="{D7CA953D-CF88-4D86-B4BF-7F279BD86A0D}" type="sibTrans">
      <dgm:prSet/>
      <dgm:spPr/>
      <dgm:t>
        <a:bodyPr/>
        <a:lstStyle/>
        <a:p>
          <a:endParaRPr lang="zh-CN" altLang="en-US" sz="2000">
            <a:latin typeface="华文中宋" panose="02010600040101010101" charset="-122"/>
            <a:ea typeface="华文中宋" panose="02010600040101010101" charset="-122"/>
          </a:endParaRPr>
        </a:p>
      </dgm:t>
    </dgm:pt>
    <dgm:pt modelId="{3A7EFC28-43FA-4819-A343-016201E45C37}" type="pres">
      <dgm:prSet presAssocID="{0915F4D6-8C7A-4D1B-A133-A072586EE9F4}" presName="vert0" presStyleCnt="0">
        <dgm:presLayoutVars>
          <dgm:dir/>
          <dgm:animOne val="branch"/>
          <dgm:animLvl val="lvl"/>
        </dgm:presLayoutVars>
      </dgm:prSet>
      <dgm:spPr/>
      <dgm:t>
        <a:bodyPr/>
        <a:lstStyle/>
        <a:p>
          <a:endParaRPr lang="zh-CN" altLang="en-US"/>
        </a:p>
      </dgm:t>
    </dgm:pt>
    <dgm:pt modelId="{F250E5BF-5122-46EB-860F-B701718A8DF8}" type="pres">
      <dgm:prSet presAssocID="{4CBBDABB-BFA8-40AD-ACCE-3FBF620F8185}" presName="thickLine" presStyleLbl="alignNode1" presStyleIdx="0" presStyleCnt="1"/>
      <dgm:spPr/>
    </dgm:pt>
    <dgm:pt modelId="{0A3D5B04-9619-4C31-9CDC-A383C7B5584B}" type="pres">
      <dgm:prSet presAssocID="{4CBBDABB-BFA8-40AD-ACCE-3FBF620F8185}" presName="horz1" presStyleCnt="0"/>
      <dgm:spPr/>
    </dgm:pt>
    <dgm:pt modelId="{FD1299BD-ACF0-40AE-9825-3A4CB9305440}" type="pres">
      <dgm:prSet presAssocID="{4CBBDABB-BFA8-40AD-ACCE-3FBF620F8185}" presName="tx1" presStyleLbl="revTx" presStyleIdx="0" presStyleCnt="4" custScaleX="166387"/>
      <dgm:spPr/>
      <dgm:t>
        <a:bodyPr/>
        <a:lstStyle/>
        <a:p>
          <a:endParaRPr lang="zh-CN" altLang="en-US"/>
        </a:p>
      </dgm:t>
    </dgm:pt>
    <dgm:pt modelId="{C63A4492-64D8-428A-9577-12A67D018425}" type="pres">
      <dgm:prSet presAssocID="{4CBBDABB-BFA8-40AD-ACCE-3FBF620F8185}" presName="vert1" presStyleCnt="0"/>
      <dgm:spPr/>
    </dgm:pt>
    <dgm:pt modelId="{4F70A817-899A-4044-8011-4222C344B2D5}" type="pres">
      <dgm:prSet presAssocID="{35C558C9-0E49-440A-867F-A228311E8988}" presName="vertSpace2a" presStyleCnt="0"/>
      <dgm:spPr/>
    </dgm:pt>
    <dgm:pt modelId="{E5087948-3E9B-4041-8C97-8E85B18DBEB2}" type="pres">
      <dgm:prSet presAssocID="{35C558C9-0E49-440A-867F-A228311E8988}" presName="horz2" presStyleCnt="0"/>
      <dgm:spPr/>
    </dgm:pt>
    <dgm:pt modelId="{8571C62C-6A1A-4F51-9865-1DA490C76729}" type="pres">
      <dgm:prSet presAssocID="{35C558C9-0E49-440A-867F-A228311E8988}" presName="horzSpace2" presStyleCnt="0"/>
      <dgm:spPr/>
    </dgm:pt>
    <dgm:pt modelId="{B0DC99D7-1D40-4F4C-93DD-54B2C98B08C4}" type="pres">
      <dgm:prSet presAssocID="{35C558C9-0E49-440A-867F-A228311E8988}" presName="tx2" presStyleLbl="revTx" presStyleIdx="1" presStyleCnt="4"/>
      <dgm:spPr/>
      <dgm:t>
        <a:bodyPr/>
        <a:lstStyle/>
        <a:p>
          <a:endParaRPr lang="zh-CN" altLang="en-US"/>
        </a:p>
      </dgm:t>
    </dgm:pt>
    <dgm:pt modelId="{485E3791-BC86-486B-8737-E49188F5C0A6}" type="pres">
      <dgm:prSet presAssocID="{35C558C9-0E49-440A-867F-A228311E8988}" presName="vert2" presStyleCnt="0"/>
      <dgm:spPr/>
    </dgm:pt>
    <dgm:pt modelId="{6246F295-627C-46BD-80D1-477A266462EF}" type="pres">
      <dgm:prSet presAssocID="{35C558C9-0E49-440A-867F-A228311E8988}" presName="thinLine2b" presStyleLbl="callout" presStyleIdx="0" presStyleCnt="3"/>
      <dgm:spPr/>
    </dgm:pt>
    <dgm:pt modelId="{30193B77-6FDB-44FF-838A-C3B65C8454D0}" type="pres">
      <dgm:prSet presAssocID="{35C558C9-0E49-440A-867F-A228311E8988}" presName="vertSpace2b" presStyleCnt="0"/>
      <dgm:spPr/>
    </dgm:pt>
    <dgm:pt modelId="{A010EF60-815B-4E43-BDDF-E11388D81799}" type="pres">
      <dgm:prSet presAssocID="{D8FD405F-D35A-46B6-BC04-DDBD4A0935E4}" presName="horz2" presStyleCnt="0"/>
      <dgm:spPr/>
    </dgm:pt>
    <dgm:pt modelId="{1C37FFF7-18F5-4F1D-8C9C-FF2012231C17}" type="pres">
      <dgm:prSet presAssocID="{D8FD405F-D35A-46B6-BC04-DDBD4A0935E4}" presName="horzSpace2" presStyleCnt="0"/>
      <dgm:spPr/>
    </dgm:pt>
    <dgm:pt modelId="{8F2F0E86-27D9-4616-A9F8-F3BA0E487AD4}" type="pres">
      <dgm:prSet presAssocID="{D8FD405F-D35A-46B6-BC04-DDBD4A0935E4}" presName="tx2" presStyleLbl="revTx" presStyleIdx="2" presStyleCnt="4"/>
      <dgm:spPr/>
      <dgm:t>
        <a:bodyPr/>
        <a:lstStyle/>
        <a:p>
          <a:endParaRPr lang="zh-CN" altLang="en-US"/>
        </a:p>
      </dgm:t>
    </dgm:pt>
    <dgm:pt modelId="{F7C1714A-0A27-4A71-AFA7-69E13BBA5254}" type="pres">
      <dgm:prSet presAssocID="{D8FD405F-D35A-46B6-BC04-DDBD4A0935E4}" presName="vert2" presStyleCnt="0"/>
      <dgm:spPr/>
    </dgm:pt>
    <dgm:pt modelId="{6B2ADF54-FEF7-4BD4-903C-43A55AED3854}" type="pres">
      <dgm:prSet presAssocID="{D8FD405F-D35A-46B6-BC04-DDBD4A0935E4}" presName="thinLine2b" presStyleLbl="callout" presStyleIdx="1" presStyleCnt="3"/>
      <dgm:spPr/>
    </dgm:pt>
    <dgm:pt modelId="{988DBD06-3460-437F-B476-C4E005D8A713}" type="pres">
      <dgm:prSet presAssocID="{D8FD405F-D35A-46B6-BC04-DDBD4A0935E4}" presName="vertSpace2b" presStyleCnt="0"/>
      <dgm:spPr/>
    </dgm:pt>
    <dgm:pt modelId="{25579E9E-9F4D-45EB-8DAF-3261608638C0}" type="pres">
      <dgm:prSet presAssocID="{004D9C76-C5A4-4014-BA38-0B3387B20A4A}" presName="horz2" presStyleCnt="0"/>
      <dgm:spPr/>
    </dgm:pt>
    <dgm:pt modelId="{087F7086-6060-45FA-8717-889982A1C688}" type="pres">
      <dgm:prSet presAssocID="{004D9C76-C5A4-4014-BA38-0B3387B20A4A}" presName="horzSpace2" presStyleCnt="0"/>
      <dgm:spPr/>
    </dgm:pt>
    <dgm:pt modelId="{82EF38A3-CB88-4E79-9CA0-1CEF20AE0CE6}" type="pres">
      <dgm:prSet presAssocID="{004D9C76-C5A4-4014-BA38-0B3387B20A4A}" presName="tx2" presStyleLbl="revTx" presStyleIdx="3" presStyleCnt="4"/>
      <dgm:spPr/>
      <dgm:t>
        <a:bodyPr/>
        <a:lstStyle/>
        <a:p>
          <a:endParaRPr lang="zh-CN" altLang="en-US"/>
        </a:p>
      </dgm:t>
    </dgm:pt>
    <dgm:pt modelId="{457E6483-C2E9-40CE-B611-8377C9E351AC}" type="pres">
      <dgm:prSet presAssocID="{004D9C76-C5A4-4014-BA38-0B3387B20A4A}" presName="vert2" presStyleCnt="0"/>
      <dgm:spPr/>
    </dgm:pt>
    <dgm:pt modelId="{80C8C927-4A6B-4A03-A15D-FA40B1215D40}" type="pres">
      <dgm:prSet presAssocID="{004D9C76-C5A4-4014-BA38-0B3387B20A4A}" presName="thinLine2b" presStyleLbl="callout" presStyleIdx="2" presStyleCnt="3"/>
      <dgm:spPr/>
    </dgm:pt>
    <dgm:pt modelId="{513F22EA-93CE-4CCA-9B67-2D71CEE94A0E}" type="pres">
      <dgm:prSet presAssocID="{004D9C76-C5A4-4014-BA38-0B3387B20A4A}" presName="vertSpace2b" presStyleCnt="0"/>
      <dgm:spPr/>
    </dgm:pt>
  </dgm:ptLst>
  <dgm:cxnLst>
    <dgm:cxn modelId="{454F3B8E-6D89-43C4-B906-47A535BDABF0}" type="presOf" srcId="{4CBBDABB-BFA8-40AD-ACCE-3FBF620F8185}" destId="{FD1299BD-ACF0-40AE-9825-3A4CB9305440}" srcOrd="0" destOrd="0" presId="urn:microsoft.com/office/officeart/2008/layout/LinedList"/>
    <dgm:cxn modelId="{D22C3C82-687E-49A3-B399-9F55933A4CAC}" type="presOf" srcId="{D8FD405F-D35A-46B6-BC04-DDBD4A0935E4}" destId="{8F2F0E86-27D9-4616-A9F8-F3BA0E487AD4}" srcOrd="0" destOrd="0" presId="urn:microsoft.com/office/officeart/2008/layout/LinedList"/>
    <dgm:cxn modelId="{D7CA953D-CF88-4D86-B4BF-7F279BD86A0D}" srcId="{4CBBDABB-BFA8-40AD-ACCE-3FBF620F8185}" destId="{004D9C76-C5A4-4014-BA38-0B3387B20A4A}" srcOrd="2" destOrd="0" parTransId="{A868FC77-62AA-4334-B0CB-BF0CCE2DC449}" sibTransId="{A93C2F4A-A695-41EF-A0CB-4B85408F5E9B}"/>
    <dgm:cxn modelId="{89E8D534-1F9C-4D3D-AA3F-10E1DD2EFD01}" srcId="{4CBBDABB-BFA8-40AD-ACCE-3FBF620F8185}" destId="{D8FD405F-D35A-46B6-BC04-DDBD4A0935E4}" srcOrd="1" destOrd="0" parTransId="{C5409EC6-B377-4FB9-9697-9F6D3EFA8700}" sibTransId="{EF03EEFC-F923-44AF-9611-5012400BBFBA}"/>
    <dgm:cxn modelId="{83995010-6388-4517-92CF-C4220780CDD9}" srcId="{0915F4D6-8C7A-4D1B-A133-A072586EE9F4}" destId="{4CBBDABB-BFA8-40AD-ACCE-3FBF620F8185}" srcOrd="0" destOrd="0" parTransId="{F4B2D35C-C23A-4C69-BAC2-1759B032B5DA}" sibTransId="{C487FF9D-4B0E-4B11-AE42-D2C958F1F23A}"/>
    <dgm:cxn modelId="{F9DA38DE-B972-4B86-AE7D-F7C5EFF3BEB6}" type="presOf" srcId="{0915F4D6-8C7A-4D1B-A133-A072586EE9F4}" destId="{3A7EFC28-43FA-4819-A343-016201E45C37}" srcOrd="0" destOrd="0" presId="urn:microsoft.com/office/officeart/2008/layout/LinedList"/>
    <dgm:cxn modelId="{474F5B24-0355-4B4D-9B14-37F1B9BAAAFB}" type="presOf" srcId="{35C558C9-0E49-440A-867F-A228311E8988}" destId="{B0DC99D7-1D40-4F4C-93DD-54B2C98B08C4}" srcOrd="0" destOrd="0" presId="urn:microsoft.com/office/officeart/2008/layout/LinedList"/>
    <dgm:cxn modelId="{27E50B3D-7165-4C6E-A755-6D7218E145B9}" srcId="{4CBBDABB-BFA8-40AD-ACCE-3FBF620F8185}" destId="{35C558C9-0E49-440A-867F-A228311E8988}" srcOrd="0" destOrd="0" parTransId="{B32FD731-7FCD-4959-83BB-29E2C193AC20}" sibTransId="{F05B4683-0F87-4E3E-9AED-BCC670C30BFD}"/>
    <dgm:cxn modelId="{137212F6-63C1-47B4-A5A4-EEBB1600E7BE}" type="presOf" srcId="{004D9C76-C5A4-4014-BA38-0B3387B20A4A}" destId="{82EF38A3-CB88-4E79-9CA0-1CEF20AE0CE6}" srcOrd="0" destOrd="0" presId="urn:microsoft.com/office/officeart/2008/layout/LinedList"/>
    <dgm:cxn modelId="{71BC0398-9A9D-4A65-A187-4D1193E49EFE}" type="presParOf" srcId="{3A7EFC28-43FA-4819-A343-016201E45C37}" destId="{F250E5BF-5122-46EB-860F-B701718A8DF8}" srcOrd="0" destOrd="0" presId="urn:microsoft.com/office/officeart/2008/layout/LinedList"/>
    <dgm:cxn modelId="{BB5BF553-7D7F-4E16-9F24-0A9F0FC478D5}" type="presParOf" srcId="{3A7EFC28-43FA-4819-A343-016201E45C37}" destId="{0A3D5B04-9619-4C31-9CDC-A383C7B5584B}" srcOrd="1" destOrd="0" presId="urn:microsoft.com/office/officeart/2008/layout/LinedList"/>
    <dgm:cxn modelId="{3A7372BB-1702-47D9-AEC1-DB71BD1303CA}" type="presParOf" srcId="{0A3D5B04-9619-4C31-9CDC-A383C7B5584B}" destId="{FD1299BD-ACF0-40AE-9825-3A4CB9305440}" srcOrd="0" destOrd="0" presId="urn:microsoft.com/office/officeart/2008/layout/LinedList"/>
    <dgm:cxn modelId="{6478E38B-BCB6-4B7B-98E6-4DF09581B02F}" type="presParOf" srcId="{0A3D5B04-9619-4C31-9CDC-A383C7B5584B}" destId="{C63A4492-64D8-428A-9577-12A67D018425}" srcOrd="1" destOrd="0" presId="urn:microsoft.com/office/officeart/2008/layout/LinedList"/>
    <dgm:cxn modelId="{D7A8482B-62C3-4CFB-A944-9ED1B5F4CE7E}" type="presParOf" srcId="{C63A4492-64D8-428A-9577-12A67D018425}" destId="{4F70A817-899A-4044-8011-4222C344B2D5}" srcOrd="0" destOrd="0" presId="urn:microsoft.com/office/officeart/2008/layout/LinedList"/>
    <dgm:cxn modelId="{F9935901-19F0-4562-A3E5-0BFD1FDD51C2}" type="presParOf" srcId="{C63A4492-64D8-428A-9577-12A67D018425}" destId="{E5087948-3E9B-4041-8C97-8E85B18DBEB2}" srcOrd="1" destOrd="0" presId="urn:microsoft.com/office/officeart/2008/layout/LinedList"/>
    <dgm:cxn modelId="{E7CD0D95-9E37-4E9B-BEA6-89D97605167D}" type="presParOf" srcId="{E5087948-3E9B-4041-8C97-8E85B18DBEB2}" destId="{8571C62C-6A1A-4F51-9865-1DA490C76729}" srcOrd="0" destOrd="0" presId="urn:microsoft.com/office/officeart/2008/layout/LinedList"/>
    <dgm:cxn modelId="{D6CE3D36-24FD-42CC-83E0-55239D96F431}" type="presParOf" srcId="{E5087948-3E9B-4041-8C97-8E85B18DBEB2}" destId="{B0DC99D7-1D40-4F4C-93DD-54B2C98B08C4}" srcOrd="1" destOrd="0" presId="urn:microsoft.com/office/officeart/2008/layout/LinedList"/>
    <dgm:cxn modelId="{BBBE23F9-943C-42BB-BC44-E8B04E1C41FB}" type="presParOf" srcId="{E5087948-3E9B-4041-8C97-8E85B18DBEB2}" destId="{485E3791-BC86-486B-8737-E49188F5C0A6}" srcOrd="2" destOrd="0" presId="urn:microsoft.com/office/officeart/2008/layout/LinedList"/>
    <dgm:cxn modelId="{C36F38B4-4429-420C-B2BA-109B70CBCF0F}" type="presParOf" srcId="{C63A4492-64D8-428A-9577-12A67D018425}" destId="{6246F295-627C-46BD-80D1-477A266462EF}" srcOrd="2" destOrd="0" presId="urn:microsoft.com/office/officeart/2008/layout/LinedList"/>
    <dgm:cxn modelId="{FB3DF546-AFE8-4BD2-978D-F903B560A473}" type="presParOf" srcId="{C63A4492-64D8-428A-9577-12A67D018425}" destId="{30193B77-6FDB-44FF-838A-C3B65C8454D0}" srcOrd="3" destOrd="0" presId="urn:microsoft.com/office/officeart/2008/layout/LinedList"/>
    <dgm:cxn modelId="{66D940DD-3881-4ECB-AE19-372B2B1FE866}" type="presParOf" srcId="{C63A4492-64D8-428A-9577-12A67D018425}" destId="{A010EF60-815B-4E43-BDDF-E11388D81799}" srcOrd="4" destOrd="0" presId="urn:microsoft.com/office/officeart/2008/layout/LinedList"/>
    <dgm:cxn modelId="{8EA08274-1748-416F-B72D-648E314255E3}" type="presParOf" srcId="{A010EF60-815B-4E43-BDDF-E11388D81799}" destId="{1C37FFF7-18F5-4F1D-8C9C-FF2012231C17}" srcOrd="0" destOrd="0" presId="urn:microsoft.com/office/officeart/2008/layout/LinedList"/>
    <dgm:cxn modelId="{3218CA74-E486-4B73-AA73-6ACC0671EFFB}" type="presParOf" srcId="{A010EF60-815B-4E43-BDDF-E11388D81799}" destId="{8F2F0E86-27D9-4616-A9F8-F3BA0E487AD4}" srcOrd="1" destOrd="0" presId="urn:microsoft.com/office/officeart/2008/layout/LinedList"/>
    <dgm:cxn modelId="{46021087-0DEC-4588-9561-3E2398B4D864}" type="presParOf" srcId="{A010EF60-815B-4E43-BDDF-E11388D81799}" destId="{F7C1714A-0A27-4A71-AFA7-69E13BBA5254}" srcOrd="2" destOrd="0" presId="urn:microsoft.com/office/officeart/2008/layout/LinedList"/>
    <dgm:cxn modelId="{094FD2D9-6A69-4CB6-A226-A97130386C84}" type="presParOf" srcId="{C63A4492-64D8-428A-9577-12A67D018425}" destId="{6B2ADF54-FEF7-4BD4-903C-43A55AED3854}" srcOrd="5" destOrd="0" presId="urn:microsoft.com/office/officeart/2008/layout/LinedList"/>
    <dgm:cxn modelId="{324AC29B-2245-42D3-B360-330E838505C7}" type="presParOf" srcId="{C63A4492-64D8-428A-9577-12A67D018425}" destId="{988DBD06-3460-437F-B476-C4E005D8A713}" srcOrd="6" destOrd="0" presId="urn:microsoft.com/office/officeart/2008/layout/LinedList"/>
    <dgm:cxn modelId="{AFB2E70C-E8A6-4396-BBE0-B73401E20AA8}" type="presParOf" srcId="{C63A4492-64D8-428A-9577-12A67D018425}" destId="{25579E9E-9F4D-45EB-8DAF-3261608638C0}" srcOrd="7" destOrd="0" presId="urn:microsoft.com/office/officeart/2008/layout/LinedList"/>
    <dgm:cxn modelId="{EB648315-0E16-4D4C-97EB-CFAAE705B895}" type="presParOf" srcId="{25579E9E-9F4D-45EB-8DAF-3261608638C0}" destId="{087F7086-6060-45FA-8717-889982A1C688}" srcOrd="0" destOrd="0" presId="urn:microsoft.com/office/officeart/2008/layout/LinedList"/>
    <dgm:cxn modelId="{AF11888A-3EAF-4880-97E8-CFE030BF9162}" type="presParOf" srcId="{25579E9E-9F4D-45EB-8DAF-3261608638C0}" destId="{82EF38A3-CB88-4E79-9CA0-1CEF20AE0CE6}" srcOrd="1" destOrd="0" presId="urn:microsoft.com/office/officeart/2008/layout/LinedList"/>
    <dgm:cxn modelId="{F542CCF6-F984-46CE-9103-7F26C290F2A9}" type="presParOf" srcId="{25579E9E-9F4D-45EB-8DAF-3261608638C0}" destId="{457E6483-C2E9-40CE-B611-8377C9E351AC}" srcOrd="2" destOrd="0" presId="urn:microsoft.com/office/officeart/2008/layout/LinedList"/>
    <dgm:cxn modelId="{28680554-5043-401E-BA61-B7996E6B1AF6}" type="presParOf" srcId="{C63A4492-64D8-428A-9577-12A67D018425}" destId="{80C8C927-4A6B-4A03-A15D-FA40B1215D40}" srcOrd="8" destOrd="0" presId="urn:microsoft.com/office/officeart/2008/layout/LinedList"/>
    <dgm:cxn modelId="{65AB26C0-A1E6-410D-8B70-EBADC0D1D40B}" type="presParOf" srcId="{C63A4492-64D8-428A-9577-12A67D018425}" destId="{513F22EA-93CE-4CCA-9B67-2D71CEE94A0E}" srcOrd="9" destOrd="0" presId="urn:microsoft.com/office/officeart/2008/layout/Line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FE73B03-4D71-4565-8C52-4902BE6377A4}" type="doc">
      <dgm:prSet loTypeId="urn:microsoft.com/office/officeart/2005/8/layout/hierarchy2" loCatId="hierarchy" qsTypeId="urn:microsoft.com/office/officeart/2005/8/quickstyle/simple1" qsCatId="simple" csTypeId="urn:microsoft.com/office/officeart/2005/8/colors/accent1_2" csCatId="accent1" phldr="0"/>
      <dgm:spPr/>
      <dgm:t>
        <a:bodyPr/>
        <a:p>
          <a:endParaRPr lang="zh-CN" altLang="en-US"/>
        </a:p>
      </dgm:t>
    </dgm:pt>
    <dgm:pt modelId="{0605F139-5EF0-48E7-A091-192233D2011D}">
      <dgm:prSet phldrT="[文本]" phldr="0" custT="0"/>
      <dgm:spPr/>
      <dgm:t>
        <a:bodyPr vert="horz" wrap="square"/>
        <a:p>
          <a:pPr>
            <a:lnSpc>
              <a:spcPct val="100000"/>
            </a:lnSpc>
            <a:spcBef>
              <a:spcPct val="0"/>
            </a:spcBef>
            <a:spcAft>
              <a:spcPct val="35000"/>
            </a:spcAft>
          </a:pPr>
          <a:r>
            <a:rPr lang="zh-CN" altLang="en-US"/>
            <a:t>研发人员奖金</a:t>
          </a:r>
          <a:r>
            <a:rPr lang="zh-CN" altLang="en-US"/>
            <a:t/>
          </a:r>
          <a:endParaRPr lang="zh-CN" altLang="en-US"/>
        </a:p>
      </dgm:t>
    </dgm:pt>
    <dgm:pt modelId="{2AFB1B2A-8749-4E5E-9CB9-0B60F81C46F8}" cxnId="{CBF75583-AFD2-4D5C-983A-429F39B7891C}" type="parTrans">
      <dgm:prSet/>
      <dgm:spPr/>
      <dgm:t>
        <a:bodyPr/>
        <a:p>
          <a:endParaRPr lang="zh-CN" altLang="en-US"/>
        </a:p>
      </dgm:t>
    </dgm:pt>
    <dgm:pt modelId="{E0FFEB56-236E-4FE9-83BF-31494E265D5A}" cxnId="{CBF75583-AFD2-4D5C-983A-429F39B7891C}" type="sibTrans">
      <dgm:prSet/>
      <dgm:spPr/>
      <dgm:t>
        <a:bodyPr/>
        <a:p>
          <a:endParaRPr lang="zh-CN" altLang="en-US"/>
        </a:p>
      </dgm:t>
    </dgm:pt>
    <dgm:pt modelId="{4530EE7D-F557-4815-9ED2-EABC47F46978}">
      <dgm:prSet phldrT="[文本]" phldr="0" custT="0"/>
      <dgm:spPr/>
      <dgm:t>
        <a:bodyPr vert="horz" wrap="square"/>
        <a:p>
          <a:pPr>
            <a:lnSpc>
              <a:spcPct val="100000"/>
            </a:lnSpc>
            <a:spcBef>
              <a:spcPct val="0"/>
            </a:spcBef>
            <a:spcAft>
              <a:spcPct val="35000"/>
            </a:spcAft>
          </a:pPr>
          <a:r>
            <a:rPr lang="zh-CN" altLang="en-US"/>
            <a:t>研发绩效奖金</a:t>
          </a:r>
          <a:r>
            <a:rPr lang="zh-CN" altLang="en-US"/>
            <a:t/>
          </a:r>
          <a:endParaRPr lang="zh-CN" altLang="en-US"/>
        </a:p>
      </dgm:t>
    </dgm:pt>
    <dgm:pt modelId="{AC2BFF99-DAE2-494A-88AB-85D75BC6D2EE}" cxnId="{C9AFBA57-117B-4A84-8027-151854BA5404}" type="parTrans">
      <dgm:prSet/>
      <dgm:spPr/>
      <dgm:t>
        <a:bodyPr/>
        <a:p>
          <a:endParaRPr lang="zh-CN" altLang="en-US"/>
        </a:p>
      </dgm:t>
    </dgm:pt>
    <dgm:pt modelId="{B98A0394-6758-42EB-8D0E-4491BED52B6C}" cxnId="{C9AFBA57-117B-4A84-8027-151854BA5404}" type="sibTrans">
      <dgm:prSet/>
      <dgm:spPr/>
      <dgm:t>
        <a:bodyPr/>
        <a:p>
          <a:endParaRPr lang="zh-CN" altLang="en-US"/>
        </a:p>
      </dgm:t>
    </dgm:pt>
    <dgm:pt modelId="{2C2A4BF3-AA22-4080-9546-909CF9AC3ECB}">
      <dgm:prSet phldrT="[文本]" phldr="0" custT="0"/>
      <dgm:spPr/>
      <dgm:t>
        <a:bodyPr vert="horz" wrap="square"/>
        <a:p>
          <a:pPr>
            <a:lnSpc>
              <a:spcPct val="100000"/>
            </a:lnSpc>
            <a:spcBef>
              <a:spcPct val="0"/>
            </a:spcBef>
            <a:spcAft>
              <a:spcPct val="35000"/>
            </a:spcAft>
          </a:pPr>
          <a:r>
            <a:rPr lang="zh-CN" altLang="en-US"/>
            <a:t>年度</a:t>
          </a:r>
          <a:r>
            <a:rPr lang="zh-CN" altLang="en-US"/>
            <a:t>研发项目奖金</a:t>
          </a:r>
          <a:r>
            <a:rPr lang="zh-CN" altLang="en-US"/>
            <a:t/>
          </a:r>
          <a:endParaRPr lang="zh-CN" altLang="en-US"/>
        </a:p>
      </dgm:t>
    </dgm:pt>
    <dgm:pt modelId="{4A6A0524-D9B7-4A37-8E78-5FE688BDCCE6}" cxnId="{86ED9F55-099F-47A0-9472-E1F828E6782B}" type="parTrans">
      <dgm:prSet/>
      <dgm:spPr/>
      <dgm:t>
        <a:bodyPr/>
        <a:p>
          <a:endParaRPr lang="zh-CN" altLang="en-US"/>
        </a:p>
      </dgm:t>
    </dgm:pt>
    <dgm:pt modelId="{39CECE7E-7D7C-4022-9437-1E0813814145}" cxnId="{86ED9F55-099F-47A0-9472-E1F828E6782B}" type="sibTrans">
      <dgm:prSet/>
      <dgm:spPr/>
      <dgm:t>
        <a:bodyPr/>
        <a:p>
          <a:endParaRPr lang="zh-CN" altLang="en-US"/>
        </a:p>
      </dgm:t>
    </dgm:pt>
    <dgm:pt modelId="{C78C4F92-AD69-46C8-910C-41059E8ED0A9}">
      <dgm:prSet phldrT="[文本]" phldr="0" custT="0"/>
      <dgm:spPr/>
      <dgm:t>
        <a:bodyPr vert="horz" wrap="square"/>
        <a:p>
          <a:pPr>
            <a:lnSpc>
              <a:spcPct val="100000"/>
            </a:lnSpc>
            <a:spcBef>
              <a:spcPct val="0"/>
            </a:spcBef>
            <a:spcAft>
              <a:spcPct val="35000"/>
            </a:spcAft>
          </a:pPr>
          <a:r>
            <a:rPr lang="zh-CN" altLang="en-US"/>
            <a:t>年度综合事务奖金</a:t>
          </a:r>
          <a:r>
            <a:rPr lang="zh-CN" altLang="en-US"/>
            <a:t/>
          </a:r>
          <a:endParaRPr lang="zh-CN" altLang="en-US"/>
        </a:p>
      </dgm:t>
    </dgm:pt>
    <dgm:pt modelId="{581124B7-0397-40F7-9B1D-41220103BA68}" cxnId="{1F1827FE-5303-4565-89AA-6833DF680664}" type="parTrans">
      <dgm:prSet/>
      <dgm:spPr/>
      <dgm:t>
        <a:bodyPr/>
        <a:p>
          <a:endParaRPr lang="zh-CN" altLang="en-US"/>
        </a:p>
      </dgm:t>
    </dgm:pt>
    <dgm:pt modelId="{A23C44A9-E7A6-467B-BF93-DD0656347715}" cxnId="{1F1827FE-5303-4565-89AA-6833DF680664}" type="sibTrans">
      <dgm:prSet/>
      <dgm:spPr/>
      <dgm:t>
        <a:bodyPr/>
        <a:p>
          <a:endParaRPr lang="zh-CN" altLang="en-US"/>
        </a:p>
      </dgm:t>
    </dgm:pt>
    <dgm:pt modelId="{4E4A1E17-A3EC-4A54-9171-277E11A0B287}">
      <dgm:prSet phldrT="[文本]" phldr="0" custT="0"/>
      <dgm:spPr/>
      <dgm:t>
        <a:bodyPr vert="horz" wrap="square"/>
        <a:p>
          <a:pPr>
            <a:lnSpc>
              <a:spcPct val="100000"/>
            </a:lnSpc>
            <a:spcBef>
              <a:spcPct val="0"/>
            </a:spcBef>
            <a:spcAft>
              <a:spcPct val="35000"/>
            </a:spcAft>
          </a:pPr>
          <a:r>
            <a:rPr lang="zh-CN" altLang="en-US"/>
            <a:t>偶发性奖金</a:t>
          </a:r>
          <a:r>
            <a:rPr lang="zh-CN" altLang="en-US"/>
            <a:t/>
          </a:r>
          <a:endParaRPr lang="zh-CN" altLang="en-US"/>
        </a:p>
      </dgm:t>
    </dgm:pt>
    <dgm:pt modelId="{367D7799-1E5C-4947-8AD1-85D1E0D367AF}" cxnId="{C5897FA8-58C7-4FE8-A5EE-728A5ABF5555}" type="parTrans">
      <dgm:prSet/>
      <dgm:spPr/>
      <dgm:t>
        <a:bodyPr/>
        <a:p>
          <a:endParaRPr lang="zh-CN" altLang="en-US"/>
        </a:p>
      </dgm:t>
    </dgm:pt>
    <dgm:pt modelId="{7FFEBD18-7D5B-41C0-A8F3-60942A71708D}" cxnId="{C5897FA8-58C7-4FE8-A5EE-728A5ABF5555}" type="sibTrans">
      <dgm:prSet/>
      <dgm:spPr/>
      <dgm:t>
        <a:bodyPr/>
        <a:p>
          <a:endParaRPr lang="zh-CN" altLang="en-US"/>
        </a:p>
      </dgm:t>
    </dgm:pt>
    <dgm:pt modelId="{5FBAB40F-6011-4629-9B30-77C9439C91BF}" type="pres">
      <dgm:prSet presAssocID="{EFE73B03-4D71-4565-8C52-4902BE6377A4}" presName="diagram" presStyleCnt="0">
        <dgm:presLayoutVars>
          <dgm:chPref val="1"/>
          <dgm:dir/>
          <dgm:animOne val="branch"/>
          <dgm:animLvl val="lvl"/>
          <dgm:resizeHandles val="exact"/>
        </dgm:presLayoutVars>
      </dgm:prSet>
      <dgm:spPr/>
    </dgm:pt>
    <dgm:pt modelId="{2332AA2E-A989-4175-BB73-78EA4C3BDB65}" type="pres">
      <dgm:prSet presAssocID="{0605F139-5EF0-48E7-A091-192233D2011D}" presName="root1" presStyleCnt="0"/>
      <dgm:spPr/>
    </dgm:pt>
    <dgm:pt modelId="{24E3F4AB-32FB-4CE0-9DAC-FC4DD26B5900}" type="pres">
      <dgm:prSet presAssocID="{0605F139-5EF0-48E7-A091-192233D2011D}" presName="LevelOneTextNode" presStyleLbl="node0" presStyleIdx="0" presStyleCnt="1">
        <dgm:presLayoutVars>
          <dgm:chPref val="3"/>
        </dgm:presLayoutVars>
      </dgm:prSet>
      <dgm:spPr/>
    </dgm:pt>
    <dgm:pt modelId="{44F25638-8073-4DA7-9390-5AC06A304565}" type="pres">
      <dgm:prSet presAssocID="{0605F139-5EF0-48E7-A091-192233D2011D}" presName="level2hierChild" presStyleCnt="0"/>
      <dgm:spPr/>
    </dgm:pt>
    <dgm:pt modelId="{B47BD6C9-6D53-4A69-975F-9CF96E25F10F}" type="pres">
      <dgm:prSet presAssocID="{AC2BFF99-DAE2-494A-88AB-85D75BC6D2EE}" presName="conn2-1" presStyleLbl="parChTrans1D2" presStyleIdx="0" presStyleCnt="2"/>
      <dgm:spPr/>
    </dgm:pt>
    <dgm:pt modelId="{C1833E64-0598-4ED8-B73B-4C820BB35531}" type="pres">
      <dgm:prSet presAssocID="{AC2BFF99-DAE2-494A-88AB-85D75BC6D2EE}" presName="connTx" presStyleCnt="0"/>
      <dgm:spPr/>
    </dgm:pt>
    <dgm:pt modelId="{46F58ACF-5130-428E-B3EF-87D6FEC0C921}" type="pres">
      <dgm:prSet presAssocID="{4530EE7D-F557-4815-9ED2-EABC47F46978}" presName="root2" presStyleCnt="0"/>
      <dgm:spPr/>
    </dgm:pt>
    <dgm:pt modelId="{3C0D5057-54F2-42F8-ADAD-AA27A1CC1A1B}" type="pres">
      <dgm:prSet presAssocID="{4530EE7D-F557-4815-9ED2-EABC47F46978}" presName="LevelTwoTextNode" presStyleLbl="node2" presStyleIdx="0" presStyleCnt="2">
        <dgm:presLayoutVars>
          <dgm:chPref val="3"/>
        </dgm:presLayoutVars>
      </dgm:prSet>
      <dgm:spPr/>
    </dgm:pt>
    <dgm:pt modelId="{48673F39-879C-4946-8DC7-FD68F0552920}" type="pres">
      <dgm:prSet presAssocID="{4530EE7D-F557-4815-9ED2-EABC47F46978}" presName="level3hierChild" presStyleCnt="0"/>
      <dgm:spPr/>
    </dgm:pt>
    <dgm:pt modelId="{FA61825B-C877-4D42-AAFB-0586288A9783}" type="pres">
      <dgm:prSet presAssocID="{4A6A0524-D9B7-4A37-8E78-5FE688BDCCE6}" presName="conn2-1" presStyleLbl="parChTrans1D3" presStyleIdx="0" presStyleCnt="2"/>
      <dgm:spPr/>
    </dgm:pt>
    <dgm:pt modelId="{66B35CF0-1806-4E4A-8B50-99A64DECDBA9}" type="pres">
      <dgm:prSet presAssocID="{4A6A0524-D9B7-4A37-8E78-5FE688BDCCE6}" presName="connTx" presStyleCnt="0"/>
      <dgm:spPr/>
    </dgm:pt>
    <dgm:pt modelId="{F95D7524-EA0E-4F9D-9D6F-B10856D5C83F}" type="pres">
      <dgm:prSet presAssocID="{2C2A4BF3-AA22-4080-9546-909CF9AC3ECB}" presName="root2" presStyleCnt="0"/>
      <dgm:spPr/>
    </dgm:pt>
    <dgm:pt modelId="{63712EDC-9AF8-41BC-8F72-ADF8D554FF07}" type="pres">
      <dgm:prSet presAssocID="{2C2A4BF3-AA22-4080-9546-909CF9AC3ECB}" presName="LevelTwoTextNode" presStyleLbl="node3" presStyleIdx="0" presStyleCnt="2">
        <dgm:presLayoutVars>
          <dgm:chPref val="3"/>
        </dgm:presLayoutVars>
      </dgm:prSet>
      <dgm:spPr/>
    </dgm:pt>
    <dgm:pt modelId="{E0C65410-D9BC-4E23-87DE-EBBC54AD2166}" type="pres">
      <dgm:prSet presAssocID="{2C2A4BF3-AA22-4080-9546-909CF9AC3ECB}" presName="level3hierChild" presStyleCnt="0"/>
      <dgm:spPr/>
    </dgm:pt>
    <dgm:pt modelId="{E81582B1-A130-479F-ACE3-61EF727591CE}" type="pres">
      <dgm:prSet presAssocID="{581124B7-0397-40F7-9B1D-41220103BA68}" presName="conn2-1" presStyleLbl="parChTrans1D3" presStyleIdx="1" presStyleCnt="2"/>
      <dgm:spPr/>
    </dgm:pt>
    <dgm:pt modelId="{C3EBFA62-33AA-4455-9D61-7B96DA4B37A4}" type="pres">
      <dgm:prSet presAssocID="{581124B7-0397-40F7-9B1D-41220103BA68}" presName="connTx" presStyleCnt="0"/>
      <dgm:spPr/>
    </dgm:pt>
    <dgm:pt modelId="{2DF34A52-3962-401F-8488-13EE54243675}" type="pres">
      <dgm:prSet presAssocID="{C78C4F92-AD69-46C8-910C-41059E8ED0A9}" presName="root2" presStyleCnt="0"/>
      <dgm:spPr/>
    </dgm:pt>
    <dgm:pt modelId="{29F748CF-C0E7-4DEA-B3A3-0E8AEB5CA964}" type="pres">
      <dgm:prSet presAssocID="{C78C4F92-AD69-46C8-910C-41059E8ED0A9}" presName="LevelTwoTextNode" presStyleLbl="node3" presStyleIdx="1" presStyleCnt="2">
        <dgm:presLayoutVars>
          <dgm:chPref val="3"/>
        </dgm:presLayoutVars>
      </dgm:prSet>
      <dgm:spPr/>
    </dgm:pt>
    <dgm:pt modelId="{02AC44EF-F1FC-4C54-8D55-2436304955F9}" type="pres">
      <dgm:prSet presAssocID="{C78C4F92-AD69-46C8-910C-41059E8ED0A9}" presName="level3hierChild" presStyleCnt="0"/>
      <dgm:spPr/>
    </dgm:pt>
    <dgm:pt modelId="{2E81B90F-7494-41FF-808F-F7F82B993B40}" type="pres">
      <dgm:prSet presAssocID="{367D7799-1E5C-4947-8AD1-85D1E0D367AF}" presName="conn2-1" presStyleLbl="parChTrans1D2" presStyleIdx="1" presStyleCnt="2"/>
      <dgm:spPr/>
    </dgm:pt>
    <dgm:pt modelId="{0F4B7785-0023-487B-801C-9850969E1D34}" type="pres">
      <dgm:prSet presAssocID="{367D7799-1E5C-4947-8AD1-85D1E0D367AF}" presName="connTx" presStyleCnt="0"/>
      <dgm:spPr/>
    </dgm:pt>
    <dgm:pt modelId="{4925E953-147A-4210-9A9C-63730A307231}" type="pres">
      <dgm:prSet presAssocID="{4E4A1E17-A3EC-4A54-9171-277E11A0B287}" presName="root2" presStyleCnt="0"/>
      <dgm:spPr/>
    </dgm:pt>
    <dgm:pt modelId="{3D382021-A429-4403-82FF-5A95DD3EBB20}" type="pres">
      <dgm:prSet presAssocID="{4E4A1E17-A3EC-4A54-9171-277E11A0B287}" presName="LevelTwoTextNode" presStyleLbl="node2" presStyleIdx="1" presStyleCnt="2">
        <dgm:presLayoutVars>
          <dgm:chPref val="3"/>
        </dgm:presLayoutVars>
      </dgm:prSet>
      <dgm:spPr/>
    </dgm:pt>
    <dgm:pt modelId="{6D231649-1A42-47D5-A289-01058E6A05B6}" type="pres">
      <dgm:prSet presAssocID="{4E4A1E17-A3EC-4A54-9171-277E11A0B287}" presName="level3hierChild" presStyleCnt="0"/>
      <dgm:spPr/>
    </dgm:pt>
  </dgm:ptLst>
  <dgm:cxnLst>
    <dgm:cxn modelId="{CBF75583-AFD2-4D5C-983A-429F39B7891C}" srcId="{EFE73B03-4D71-4565-8C52-4902BE6377A4}" destId="{0605F139-5EF0-48E7-A091-192233D2011D}" srcOrd="0" destOrd="0" parTransId="{2AFB1B2A-8749-4E5E-9CB9-0B60F81C46F8}" sibTransId="{E0FFEB56-236E-4FE9-83BF-31494E265D5A}"/>
    <dgm:cxn modelId="{C9AFBA57-117B-4A84-8027-151854BA5404}" srcId="{0605F139-5EF0-48E7-A091-192233D2011D}" destId="{4530EE7D-F557-4815-9ED2-EABC47F46978}" srcOrd="0" destOrd="0" parTransId="{AC2BFF99-DAE2-494A-88AB-85D75BC6D2EE}" sibTransId="{B98A0394-6758-42EB-8D0E-4491BED52B6C}"/>
    <dgm:cxn modelId="{86ED9F55-099F-47A0-9472-E1F828E6782B}" srcId="{4530EE7D-F557-4815-9ED2-EABC47F46978}" destId="{2C2A4BF3-AA22-4080-9546-909CF9AC3ECB}" srcOrd="0" destOrd="0" parTransId="{4A6A0524-D9B7-4A37-8E78-5FE688BDCCE6}" sibTransId="{39CECE7E-7D7C-4022-9437-1E0813814145}"/>
    <dgm:cxn modelId="{1F1827FE-5303-4565-89AA-6833DF680664}" srcId="{4530EE7D-F557-4815-9ED2-EABC47F46978}" destId="{C78C4F92-AD69-46C8-910C-41059E8ED0A9}" srcOrd="1" destOrd="0" parTransId="{581124B7-0397-40F7-9B1D-41220103BA68}" sibTransId="{A23C44A9-E7A6-467B-BF93-DD0656347715}"/>
    <dgm:cxn modelId="{C5897FA8-58C7-4FE8-A5EE-728A5ABF5555}" srcId="{0605F139-5EF0-48E7-A091-192233D2011D}" destId="{4E4A1E17-A3EC-4A54-9171-277E11A0B287}" srcOrd="1" destOrd="0" parTransId="{367D7799-1E5C-4947-8AD1-85D1E0D367AF}" sibTransId="{7FFEBD18-7D5B-41C0-A8F3-60942A71708D}"/>
    <dgm:cxn modelId="{C2993DD6-9037-4D69-A11C-EDEDB97F886C}" type="presOf" srcId="{EFE73B03-4D71-4565-8C52-4902BE6377A4}" destId="{5FBAB40F-6011-4629-9B30-77C9439C91BF}" srcOrd="0" destOrd="0" presId="urn:microsoft.com/office/officeart/2005/8/layout/hierarchy2"/>
    <dgm:cxn modelId="{E83F355E-CED3-465B-A970-B7EFED610F07}" type="presParOf" srcId="{5FBAB40F-6011-4629-9B30-77C9439C91BF}" destId="{2332AA2E-A989-4175-BB73-78EA4C3BDB65}" srcOrd="0" destOrd="0" presId="urn:microsoft.com/office/officeart/2005/8/layout/hierarchy2"/>
    <dgm:cxn modelId="{9A77ECF8-08BF-4557-AFDA-E64828303676}" type="presParOf" srcId="{2332AA2E-A989-4175-BB73-78EA4C3BDB65}" destId="{24E3F4AB-32FB-4CE0-9DAC-FC4DD26B5900}" srcOrd="0" destOrd="0" presId="urn:microsoft.com/office/officeart/2005/8/layout/hierarchy2"/>
    <dgm:cxn modelId="{F92C652E-B528-4E7E-A60E-2ADFA7A30213}" type="presOf" srcId="{0605F139-5EF0-48E7-A091-192233D2011D}" destId="{24E3F4AB-32FB-4CE0-9DAC-FC4DD26B5900}" srcOrd="0" destOrd="0" presId="urn:microsoft.com/office/officeart/2005/8/layout/hierarchy2"/>
    <dgm:cxn modelId="{6CCFD343-313D-4496-8E96-38F1BFF8E6E3}" type="presParOf" srcId="{2332AA2E-A989-4175-BB73-78EA4C3BDB65}" destId="{44F25638-8073-4DA7-9390-5AC06A304565}" srcOrd="1" destOrd="0" presId="urn:microsoft.com/office/officeart/2005/8/layout/hierarchy2"/>
    <dgm:cxn modelId="{6E7B3A90-4286-45D4-9866-E510363C03A4}" type="presParOf" srcId="{44F25638-8073-4DA7-9390-5AC06A304565}" destId="{B47BD6C9-6D53-4A69-975F-9CF96E25F10F}" srcOrd="0" destOrd="1" presId="urn:microsoft.com/office/officeart/2005/8/layout/hierarchy2"/>
    <dgm:cxn modelId="{651CC8EF-B6BD-4714-A88C-E658B0D8A3A7}" type="presOf" srcId="{AC2BFF99-DAE2-494A-88AB-85D75BC6D2EE}" destId="{B47BD6C9-6D53-4A69-975F-9CF96E25F10F}" srcOrd="0" destOrd="0" presId="urn:microsoft.com/office/officeart/2005/8/layout/hierarchy2"/>
    <dgm:cxn modelId="{97382BA2-9E6D-4799-89EC-5724A13A3D6C}" type="presParOf" srcId="{B47BD6C9-6D53-4A69-975F-9CF96E25F10F}" destId="{C1833E64-0598-4ED8-B73B-4C820BB35531}" srcOrd="0" destOrd="0" presId="urn:microsoft.com/office/officeart/2005/8/layout/hierarchy2"/>
    <dgm:cxn modelId="{58438D8A-547F-4308-8E23-99BDE8A9B1AD}" type="presOf" srcId="{AC2BFF99-DAE2-494A-88AB-85D75BC6D2EE}" destId="{C1833E64-0598-4ED8-B73B-4C820BB35531}" srcOrd="1" destOrd="0" presId="urn:microsoft.com/office/officeart/2005/8/layout/hierarchy2"/>
    <dgm:cxn modelId="{61532F35-CAF3-4D50-BE91-9F779D392038}" type="presParOf" srcId="{44F25638-8073-4DA7-9390-5AC06A304565}" destId="{46F58ACF-5130-428E-B3EF-87D6FEC0C921}" srcOrd="1" destOrd="1" presId="urn:microsoft.com/office/officeart/2005/8/layout/hierarchy2"/>
    <dgm:cxn modelId="{AEDF5C4C-A438-4E12-B99A-B5AA6BB373AC}" type="presParOf" srcId="{46F58ACF-5130-428E-B3EF-87D6FEC0C921}" destId="{3C0D5057-54F2-42F8-ADAD-AA27A1CC1A1B}" srcOrd="0" destOrd="1" presId="urn:microsoft.com/office/officeart/2005/8/layout/hierarchy2"/>
    <dgm:cxn modelId="{E747198B-B671-4312-B192-AFE3DCE343FE}" type="presOf" srcId="{4530EE7D-F557-4815-9ED2-EABC47F46978}" destId="{3C0D5057-54F2-42F8-ADAD-AA27A1CC1A1B}" srcOrd="0" destOrd="0" presId="urn:microsoft.com/office/officeart/2005/8/layout/hierarchy2"/>
    <dgm:cxn modelId="{790D0176-63CD-4F6F-9BB7-742AAA2FF3FF}" type="presParOf" srcId="{46F58ACF-5130-428E-B3EF-87D6FEC0C921}" destId="{48673F39-879C-4946-8DC7-FD68F0552920}" srcOrd="1" destOrd="1" presId="urn:microsoft.com/office/officeart/2005/8/layout/hierarchy2"/>
    <dgm:cxn modelId="{4E822D53-F945-4D16-8D66-21468B0AC9B5}" type="presParOf" srcId="{48673F39-879C-4946-8DC7-FD68F0552920}" destId="{FA61825B-C877-4D42-AAFB-0586288A9783}" srcOrd="0" destOrd="1" presId="urn:microsoft.com/office/officeart/2005/8/layout/hierarchy2"/>
    <dgm:cxn modelId="{FC59090B-0899-45E1-8907-F037DBAB52DC}" type="presOf" srcId="{4A6A0524-D9B7-4A37-8E78-5FE688BDCCE6}" destId="{FA61825B-C877-4D42-AAFB-0586288A9783}" srcOrd="0" destOrd="0" presId="urn:microsoft.com/office/officeart/2005/8/layout/hierarchy2"/>
    <dgm:cxn modelId="{C8464B90-A20D-413B-9853-1D6DB1D8BB59}" type="presParOf" srcId="{FA61825B-C877-4D42-AAFB-0586288A9783}" destId="{66B35CF0-1806-4E4A-8B50-99A64DECDBA9}" srcOrd="0" destOrd="0" presId="urn:microsoft.com/office/officeart/2005/8/layout/hierarchy2"/>
    <dgm:cxn modelId="{596E3073-E0FC-452D-9F82-C7878EAC212E}" type="presOf" srcId="{4A6A0524-D9B7-4A37-8E78-5FE688BDCCE6}" destId="{66B35CF0-1806-4E4A-8B50-99A64DECDBA9}" srcOrd="1" destOrd="0" presId="urn:microsoft.com/office/officeart/2005/8/layout/hierarchy2"/>
    <dgm:cxn modelId="{3380FD7A-ED76-4808-B944-276674B03BE0}" type="presParOf" srcId="{48673F39-879C-4946-8DC7-FD68F0552920}" destId="{F95D7524-EA0E-4F9D-9D6F-B10856D5C83F}" srcOrd="1" destOrd="1" presId="urn:microsoft.com/office/officeart/2005/8/layout/hierarchy2"/>
    <dgm:cxn modelId="{02E7E909-5F05-431F-B546-3328B3144155}" type="presParOf" srcId="{F95D7524-EA0E-4F9D-9D6F-B10856D5C83F}" destId="{63712EDC-9AF8-41BC-8F72-ADF8D554FF07}" srcOrd="0" destOrd="1" presId="urn:microsoft.com/office/officeart/2005/8/layout/hierarchy2"/>
    <dgm:cxn modelId="{91C045D3-2FBE-490C-A715-36DF250259C2}" type="presOf" srcId="{2C2A4BF3-AA22-4080-9546-909CF9AC3ECB}" destId="{63712EDC-9AF8-41BC-8F72-ADF8D554FF07}" srcOrd="0" destOrd="0" presId="urn:microsoft.com/office/officeart/2005/8/layout/hierarchy2"/>
    <dgm:cxn modelId="{F354DE09-41B3-44AD-9850-D97722FAED17}" type="presParOf" srcId="{F95D7524-EA0E-4F9D-9D6F-B10856D5C83F}" destId="{E0C65410-D9BC-4E23-87DE-EBBC54AD2166}" srcOrd="1" destOrd="1" presId="urn:microsoft.com/office/officeart/2005/8/layout/hierarchy2"/>
    <dgm:cxn modelId="{08EA195B-199C-476B-A34D-DC26AF2A3211}" type="presParOf" srcId="{48673F39-879C-4946-8DC7-FD68F0552920}" destId="{E81582B1-A130-479F-ACE3-61EF727591CE}" srcOrd="2" destOrd="1" presId="urn:microsoft.com/office/officeart/2005/8/layout/hierarchy2"/>
    <dgm:cxn modelId="{EC4EE544-C431-417B-A951-CEBC096EDBE7}" type="presOf" srcId="{581124B7-0397-40F7-9B1D-41220103BA68}" destId="{E81582B1-A130-479F-ACE3-61EF727591CE}" srcOrd="0" destOrd="0" presId="urn:microsoft.com/office/officeart/2005/8/layout/hierarchy2"/>
    <dgm:cxn modelId="{96ABCF19-C057-4712-A1EC-3274459DBFA6}" type="presParOf" srcId="{E81582B1-A130-479F-ACE3-61EF727591CE}" destId="{C3EBFA62-33AA-4455-9D61-7B96DA4B37A4}" srcOrd="0" destOrd="2" presId="urn:microsoft.com/office/officeart/2005/8/layout/hierarchy2"/>
    <dgm:cxn modelId="{4BB1DB1D-05EC-4A61-A153-5DB2F6DF1186}" type="presOf" srcId="{581124B7-0397-40F7-9B1D-41220103BA68}" destId="{C3EBFA62-33AA-4455-9D61-7B96DA4B37A4}" srcOrd="1" destOrd="0" presId="urn:microsoft.com/office/officeart/2005/8/layout/hierarchy2"/>
    <dgm:cxn modelId="{9F39700F-9FE1-4300-9BEC-D642B00E3792}" type="presParOf" srcId="{48673F39-879C-4946-8DC7-FD68F0552920}" destId="{2DF34A52-3962-401F-8488-13EE54243675}" srcOrd="3" destOrd="1" presId="urn:microsoft.com/office/officeart/2005/8/layout/hierarchy2"/>
    <dgm:cxn modelId="{37B848D6-BE12-4F75-923F-58E1CAF9D68F}" type="presParOf" srcId="{2DF34A52-3962-401F-8488-13EE54243675}" destId="{29F748CF-C0E7-4DEA-B3A3-0E8AEB5CA964}" srcOrd="0" destOrd="3" presId="urn:microsoft.com/office/officeart/2005/8/layout/hierarchy2"/>
    <dgm:cxn modelId="{55E575D4-DCEF-46B8-92CA-C358F3F2C88D}" type="presOf" srcId="{C78C4F92-AD69-46C8-910C-41059E8ED0A9}" destId="{29F748CF-C0E7-4DEA-B3A3-0E8AEB5CA964}" srcOrd="0" destOrd="0" presId="urn:microsoft.com/office/officeart/2005/8/layout/hierarchy2"/>
    <dgm:cxn modelId="{11E06857-5626-4FD4-8F5A-CD6881182AE5}" type="presParOf" srcId="{2DF34A52-3962-401F-8488-13EE54243675}" destId="{02AC44EF-F1FC-4C54-8D55-2436304955F9}" srcOrd="1" destOrd="3" presId="urn:microsoft.com/office/officeart/2005/8/layout/hierarchy2"/>
    <dgm:cxn modelId="{9E8393F8-1209-4BF6-919A-F9EFA48478C4}" type="presParOf" srcId="{44F25638-8073-4DA7-9390-5AC06A304565}" destId="{2E81B90F-7494-41FF-808F-F7F82B993B40}" srcOrd="2" destOrd="1" presId="urn:microsoft.com/office/officeart/2005/8/layout/hierarchy2"/>
    <dgm:cxn modelId="{C6C79D73-2928-465D-966C-71D7F642B15C}" type="presOf" srcId="{367D7799-1E5C-4947-8AD1-85D1E0D367AF}" destId="{2E81B90F-7494-41FF-808F-F7F82B993B40}" srcOrd="0" destOrd="0" presId="urn:microsoft.com/office/officeart/2005/8/layout/hierarchy2"/>
    <dgm:cxn modelId="{C4B44603-58BB-4633-85BE-902B18730AC3}" type="presParOf" srcId="{2E81B90F-7494-41FF-808F-F7F82B993B40}" destId="{0F4B7785-0023-487B-801C-9850969E1D34}" srcOrd="0" destOrd="2" presId="urn:microsoft.com/office/officeart/2005/8/layout/hierarchy2"/>
    <dgm:cxn modelId="{4C1BAD4A-F15E-45AD-A6BE-6BEEBE759709}" type="presOf" srcId="{367D7799-1E5C-4947-8AD1-85D1E0D367AF}" destId="{0F4B7785-0023-487B-801C-9850969E1D34}" srcOrd="1" destOrd="0" presId="urn:microsoft.com/office/officeart/2005/8/layout/hierarchy2"/>
    <dgm:cxn modelId="{D4EE21E7-4E1D-4B9B-A533-85E7406B55A6}" type="presParOf" srcId="{44F25638-8073-4DA7-9390-5AC06A304565}" destId="{4925E953-147A-4210-9A9C-63730A307231}" srcOrd="3" destOrd="1" presId="urn:microsoft.com/office/officeart/2005/8/layout/hierarchy2"/>
    <dgm:cxn modelId="{CC169EBE-0650-4590-AA1C-8DBEEDB448B3}" type="presParOf" srcId="{4925E953-147A-4210-9A9C-63730A307231}" destId="{3D382021-A429-4403-82FF-5A95DD3EBB20}" srcOrd="0" destOrd="3" presId="urn:microsoft.com/office/officeart/2005/8/layout/hierarchy2"/>
    <dgm:cxn modelId="{410315A3-EA45-47F3-8570-183E0FC0287E}" type="presOf" srcId="{4E4A1E17-A3EC-4A54-9171-277E11A0B287}" destId="{3D382021-A429-4403-82FF-5A95DD3EBB20}" srcOrd="0" destOrd="0" presId="urn:microsoft.com/office/officeart/2005/8/layout/hierarchy2"/>
    <dgm:cxn modelId="{AB51F994-9641-4363-95A2-C3AC295E56D1}" type="presParOf" srcId="{4925E953-147A-4210-9A9C-63730A307231}" destId="{6D231649-1A42-47D5-A289-01058E6A05B6}" srcOrd="1" destOrd="3"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423913" cy="2586377"/>
        <a:chOff x="0" y="0"/>
        <a:chExt cx="10423913" cy="2586377"/>
      </a:xfrm>
    </dsp:grpSpPr>
    <dsp:sp modelId="{F250E5BF-5122-46EB-860F-B701718A8DF8}">
      <dsp:nvSpPr>
        <dsp:cNvPr id="3" name="直接连接符 2"/>
        <dsp:cNvSpPr/>
      </dsp:nvSpPr>
      <dsp:spPr bwMode="white">
        <a:xfrm>
          <a:off x="0" y="0"/>
          <a:ext cx="10423913" cy="0"/>
        </a:xfrm>
        <a:prstGeom prst="line">
          <a:avLst/>
        </a:prstGeom>
      </dsp:spPr>
      <dsp:style>
        <a:lnRef idx="2">
          <a:schemeClr val="accent1"/>
        </a:lnRef>
        <a:fillRef idx="1">
          <a:schemeClr val="accent1"/>
        </a:fillRef>
        <a:effectRef idx="0">
          <a:scrgbClr r="0" g="0" b="0"/>
        </a:effectRef>
        <a:fontRef idx="minor">
          <a:schemeClr val="lt1"/>
        </a:fontRef>
      </dsp:style>
      <dsp:txXfrm>
        <a:off x="0" y="0"/>
        <a:ext cx="10423913" cy="0"/>
      </dsp:txXfrm>
    </dsp:sp>
    <dsp:sp modelId="{FD1299BD-ACF0-40AE-9825-3A4CB9305440}">
      <dsp:nvSpPr>
        <dsp:cNvPr id="4" name="矩形 3"/>
        <dsp:cNvSpPr/>
      </dsp:nvSpPr>
      <dsp:spPr bwMode="white">
        <a:xfrm>
          <a:off x="0" y="0"/>
          <a:ext cx="2084783" cy="2586377"/>
        </a:xfrm>
        <a:prstGeom prst="rect">
          <a:avLst/>
        </a:prstGeom>
      </dsp:spPr>
      <dsp:style>
        <a:lnRef idx="0">
          <a:schemeClr val="dk1">
            <a:alpha val="0"/>
          </a:schemeClr>
        </a:lnRef>
        <a:fillRef idx="0">
          <a:schemeClr val="lt1">
            <a:alpha val="0"/>
          </a:schemeClr>
        </a:fillRef>
        <a:effectRef idx="0">
          <a:scrgbClr r="0" g="0" b="0"/>
        </a:effectRef>
        <a:fontRef idx="minor"/>
      </dsp:style>
      <dsp:txBody>
        <a:bodyPr lIns="91439" tIns="91439" rIns="91439" bIns="91439"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2400" dirty="0" smtClean="0">
              <a:solidFill>
                <a:schemeClr val="tx1"/>
              </a:solidFill>
              <a:latin typeface="微软雅黑" panose="020B0503020204020204" pitchFamily="34" charset="-122"/>
              <a:ea typeface="微软雅黑" panose="020B0503020204020204" pitchFamily="34" charset="-122"/>
            </a:rPr>
            <a:t>跟踪的方式有三种</a:t>
          </a:r>
          <a:r>
            <a:rPr lang="zh-CN" altLang="en-US" sz="2000" dirty="0" smtClean="0">
              <a:solidFill>
                <a:schemeClr val="tx1"/>
              </a:solidFill>
              <a:latin typeface="微软雅黑" panose="020B0503020204020204" pitchFamily="34" charset="-122"/>
              <a:ea typeface="微软雅黑" panose="020B0503020204020204" pitchFamily="34" charset="-122"/>
            </a:rPr>
            <a:t>：</a:t>
          </a:r>
          <a:endParaRPr lang="zh-CN" altLang="en-US" sz="2000" dirty="0">
            <a:solidFill>
              <a:schemeClr val="tx1"/>
            </a:solidFill>
            <a:latin typeface="微软雅黑" panose="020B0503020204020204" pitchFamily="34" charset="-122"/>
            <a:ea typeface="微软雅黑" panose="020B0503020204020204" pitchFamily="34" charset="-122"/>
          </a:endParaRPr>
        </a:p>
      </dsp:txBody>
      <dsp:txXfrm>
        <a:off x="0" y="0"/>
        <a:ext cx="2084783" cy="2586377"/>
      </dsp:txXfrm>
    </dsp:sp>
    <dsp:sp modelId="{B0DC99D7-1D40-4F4C-93DD-54B2C98B08C4}">
      <dsp:nvSpPr>
        <dsp:cNvPr id="5" name="矩形 4"/>
        <dsp:cNvSpPr/>
      </dsp:nvSpPr>
      <dsp:spPr bwMode="white">
        <a:xfrm>
          <a:off x="2241141" y="40412"/>
          <a:ext cx="8182772" cy="80824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2000" dirty="0" smtClean="0">
              <a:solidFill>
                <a:schemeClr val="tx1"/>
              </a:solidFill>
              <a:latin typeface="微软雅黑" panose="020B0503020204020204" pitchFamily="34" charset="-122"/>
              <a:ea typeface="微软雅黑" panose="020B0503020204020204" pitchFamily="34" charset="-122"/>
            </a:rPr>
            <a:t>周跟踪；</a:t>
          </a:r>
          <a:endParaRPr lang="zh-CN" altLang="en-US" sz="2000" dirty="0">
            <a:solidFill>
              <a:schemeClr val="tx1"/>
            </a:solidFill>
            <a:latin typeface="微软雅黑" panose="020B0503020204020204" pitchFamily="34" charset="-122"/>
            <a:ea typeface="微软雅黑" panose="020B0503020204020204" pitchFamily="34" charset="-122"/>
          </a:endParaRPr>
        </a:p>
      </dsp:txBody>
      <dsp:txXfrm>
        <a:off x="2241141" y="40412"/>
        <a:ext cx="8182772" cy="808243"/>
      </dsp:txXfrm>
    </dsp:sp>
    <dsp:sp modelId="{6246F295-627C-46BD-80D1-477A266462EF}">
      <dsp:nvSpPr>
        <dsp:cNvPr id="6" name="直接连接符 5"/>
        <dsp:cNvSpPr/>
      </dsp:nvSpPr>
      <dsp:spPr bwMode="white">
        <a:xfrm>
          <a:off x="2084783" y="848655"/>
          <a:ext cx="8339130" cy="0"/>
        </a:xfrm>
        <a:prstGeom prst="line">
          <a:avLst/>
        </a:prstGeom>
      </dsp:spPr>
      <dsp:style>
        <a:lnRef idx="2">
          <a:schemeClr val="accent1">
            <a:tint val="50000"/>
          </a:schemeClr>
        </a:lnRef>
        <a:fillRef idx="1">
          <a:schemeClr val="accent1"/>
        </a:fillRef>
        <a:effectRef idx="0">
          <a:scrgbClr r="0" g="0" b="0"/>
        </a:effectRef>
        <a:fontRef idx="minor"/>
      </dsp:style>
      <dsp:txXfrm>
        <a:off x="2084783" y="848655"/>
        <a:ext cx="8339130" cy="0"/>
      </dsp:txXfrm>
    </dsp:sp>
    <dsp:sp modelId="{8F2F0E86-27D9-4616-A9F8-F3BA0E487AD4}">
      <dsp:nvSpPr>
        <dsp:cNvPr id="7" name="矩形 6"/>
        <dsp:cNvSpPr/>
      </dsp:nvSpPr>
      <dsp:spPr bwMode="white">
        <a:xfrm>
          <a:off x="2241141" y="889067"/>
          <a:ext cx="8182772" cy="80824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sz="2000" dirty="0" smtClean="0">
              <a:solidFill>
                <a:schemeClr val="tx1"/>
              </a:solidFill>
              <a:latin typeface="微软雅黑" panose="020B0503020204020204" pitchFamily="34" charset="-122"/>
              <a:ea typeface="微软雅黑" panose="020B0503020204020204" pitchFamily="34" charset="-122"/>
            </a:rPr>
            <a:t>里程碑</a:t>
          </a:r>
          <a:r>
            <a:rPr lang="en-US" sz="2000" dirty="0" smtClean="0">
              <a:solidFill>
                <a:schemeClr val="tx1"/>
              </a:solidFill>
              <a:latin typeface="微软雅黑" panose="020B0503020204020204" pitchFamily="34" charset="-122"/>
              <a:ea typeface="微软雅黑" panose="020B0503020204020204" pitchFamily="34" charset="-122"/>
            </a:rPr>
            <a:t>/</a:t>
          </a:r>
          <a:r>
            <a:rPr lang="zh-CN" sz="2000" dirty="0" smtClean="0">
              <a:solidFill>
                <a:schemeClr val="tx1"/>
              </a:solidFill>
              <a:latin typeface="微软雅黑" panose="020B0503020204020204" pitchFamily="34" charset="-122"/>
              <a:ea typeface="微软雅黑" panose="020B0503020204020204" pitchFamily="34" charset="-122"/>
            </a:rPr>
            <a:t>绩效节点跟踪；</a:t>
          </a:r>
          <a:endParaRPr lang="zh-CN" sz="2000" dirty="0">
            <a:solidFill>
              <a:schemeClr val="tx1"/>
            </a:solidFill>
            <a:latin typeface="微软雅黑" panose="020B0503020204020204" pitchFamily="34" charset="-122"/>
            <a:ea typeface="微软雅黑" panose="020B0503020204020204" pitchFamily="34" charset="-122"/>
          </a:endParaRPr>
        </a:p>
      </dsp:txBody>
      <dsp:txXfrm>
        <a:off x="2241141" y="889067"/>
        <a:ext cx="8182772" cy="808243"/>
      </dsp:txXfrm>
    </dsp:sp>
    <dsp:sp modelId="{6B2ADF54-FEF7-4BD4-903C-43A55AED3854}">
      <dsp:nvSpPr>
        <dsp:cNvPr id="8" name="直接连接符 7"/>
        <dsp:cNvSpPr/>
      </dsp:nvSpPr>
      <dsp:spPr bwMode="white">
        <a:xfrm>
          <a:off x="2084783" y="1697310"/>
          <a:ext cx="8339130" cy="0"/>
        </a:xfrm>
        <a:prstGeom prst="line">
          <a:avLst/>
        </a:prstGeom>
      </dsp:spPr>
      <dsp:style>
        <a:lnRef idx="2">
          <a:schemeClr val="accent1">
            <a:tint val="50000"/>
          </a:schemeClr>
        </a:lnRef>
        <a:fillRef idx="1">
          <a:schemeClr val="accent1"/>
        </a:fillRef>
        <a:effectRef idx="0">
          <a:scrgbClr r="0" g="0" b="0"/>
        </a:effectRef>
        <a:fontRef idx="minor"/>
      </dsp:style>
      <dsp:txXfrm>
        <a:off x="2084783" y="1697310"/>
        <a:ext cx="8339130" cy="0"/>
      </dsp:txXfrm>
    </dsp:sp>
    <dsp:sp modelId="{82EF38A3-CB88-4E79-9CA0-1CEF20AE0CE6}">
      <dsp:nvSpPr>
        <dsp:cNvPr id="9" name="矩形 8"/>
        <dsp:cNvSpPr/>
      </dsp:nvSpPr>
      <dsp:spPr bwMode="white">
        <a:xfrm>
          <a:off x="2241141" y="1737722"/>
          <a:ext cx="8182772" cy="808243"/>
        </a:xfrm>
        <a:prstGeom prst="rect">
          <a:avLst/>
        </a:prstGeom>
      </dsp:spPr>
      <dsp:style>
        <a:lnRef idx="0">
          <a:schemeClr val="dk1">
            <a:alpha val="0"/>
          </a:schemeClr>
        </a:lnRef>
        <a:fillRef idx="0">
          <a:schemeClr val="lt1">
            <a:alpha val="0"/>
          </a:schemeClr>
        </a:fillRef>
        <a:effectRef idx="0">
          <a:scrgbClr r="0" g="0" b="0"/>
        </a:effectRef>
        <a:fontRef idx="minor"/>
      </dsp:style>
      <dsp:txBody>
        <a:bodyPr lIns="76200" tIns="76200" rIns="76200" bIns="7620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rtl="0">
            <a:lnSpc>
              <a:spcPct val="100000"/>
            </a:lnSpc>
            <a:spcBef>
              <a:spcPct val="0"/>
            </a:spcBef>
            <a:spcAft>
              <a:spcPct val="35000"/>
            </a:spcAft>
          </a:pPr>
          <a:r>
            <a:rPr lang="zh-CN" altLang="en-US" sz="2000" dirty="0" smtClean="0">
              <a:solidFill>
                <a:schemeClr val="tx1"/>
              </a:solidFill>
              <a:latin typeface="微软雅黑" panose="020B0503020204020204" pitchFamily="34" charset="-122"/>
              <a:ea typeface="微软雅黑" panose="020B0503020204020204" pitchFamily="34" charset="-122"/>
            </a:rPr>
            <a:t>不定期跟踪</a:t>
          </a:r>
          <a:endParaRPr lang="zh-CN" altLang="en-US" sz="2000" dirty="0">
            <a:solidFill>
              <a:schemeClr val="tx1"/>
            </a:solidFill>
            <a:latin typeface="微软雅黑" panose="020B0503020204020204" pitchFamily="34" charset="-122"/>
            <a:ea typeface="微软雅黑" panose="020B0503020204020204" pitchFamily="34" charset="-122"/>
          </a:endParaRPr>
        </a:p>
      </dsp:txBody>
      <dsp:txXfrm>
        <a:off x="2241141" y="1737722"/>
        <a:ext cx="8182772" cy="808243"/>
      </dsp:txXfrm>
    </dsp:sp>
    <dsp:sp modelId="{80C8C927-4A6B-4A03-A15D-FA40B1215D40}">
      <dsp:nvSpPr>
        <dsp:cNvPr id="10" name="直接连接符 9"/>
        <dsp:cNvSpPr/>
      </dsp:nvSpPr>
      <dsp:spPr bwMode="white">
        <a:xfrm>
          <a:off x="2084783" y="2545965"/>
          <a:ext cx="8339130" cy="0"/>
        </a:xfrm>
        <a:prstGeom prst="line">
          <a:avLst/>
        </a:prstGeom>
      </dsp:spPr>
      <dsp:style>
        <a:lnRef idx="2">
          <a:schemeClr val="accent1">
            <a:tint val="50000"/>
          </a:schemeClr>
        </a:lnRef>
        <a:fillRef idx="1">
          <a:schemeClr val="accent1"/>
        </a:fillRef>
        <a:effectRef idx="0">
          <a:scrgbClr r="0" g="0" b="0"/>
        </a:effectRef>
        <a:fontRef idx="minor"/>
      </dsp:style>
      <dsp:txXfrm>
        <a:off x="2084783" y="2545965"/>
        <a:ext cx="8339130" cy="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128000" cy="2268855"/>
        <a:chOff x="0" y="0"/>
        <a:chExt cx="8128000" cy="2268855"/>
      </a:xfrm>
    </dsp:grpSpPr>
    <dsp:sp modelId="{24E3F4AB-32FB-4CE0-9DAC-FC4DD26B5900}">
      <dsp:nvSpPr>
        <dsp:cNvPr id="3" name="圆角矩形 2"/>
        <dsp:cNvSpPr/>
      </dsp:nvSpPr>
      <dsp:spPr bwMode="white">
        <a:xfrm>
          <a:off x="900092" y="957498"/>
          <a:ext cx="1665215" cy="83260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研发人员奖金</a:t>
          </a:r>
          <a:endParaRPr lang="zh-CN" altLang="en-US"/>
        </a:p>
      </dsp:txBody>
      <dsp:txXfrm>
        <a:off x="900092" y="957498"/>
        <a:ext cx="1665215" cy="832607"/>
      </dsp:txXfrm>
    </dsp:sp>
    <dsp:sp modelId="{B47BD6C9-6D53-4A69-975F-9CF96E25F10F}">
      <dsp:nvSpPr>
        <dsp:cNvPr id="4" name="任意多边形 3"/>
        <dsp:cNvSpPr/>
      </dsp:nvSpPr>
      <dsp:spPr bwMode="white">
        <a:xfrm>
          <a:off x="2488206" y="1101400"/>
          <a:ext cx="820287" cy="66055"/>
        </a:xfrm>
        <a:custGeom>
          <a:avLst/>
          <a:gdLst/>
          <a:ahLst/>
          <a:cxnLst/>
          <a:pathLst>
            <a:path w="1292" h="104">
              <a:moveTo>
                <a:pt x="121" y="429"/>
              </a:moveTo>
              <a:lnTo>
                <a:pt x="1170" y="-325"/>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488206" y="1101400"/>
        <a:ext cx="820287" cy="66055"/>
      </dsp:txXfrm>
    </dsp:sp>
    <dsp:sp modelId="{3C0D5057-54F2-42F8-ADAD-AA27A1CC1A1B}">
      <dsp:nvSpPr>
        <dsp:cNvPr id="5" name="圆角矩形 4"/>
        <dsp:cNvSpPr/>
      </dsp:nvSpPr>
      <dsp:spPr bwMode="white">
        <a:xfrm>
          <a:off x="3231393" y="478749"/>
          <a:ext cx="1665215" cy="83260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研发绩效奖金</a:t>
          </a:r>
          <a:endParaRPr lang="zh-CN" altLang="en-US"/>
        </a:p>
      </dsp:txBody>
      <dsp:txXfrm>
        <a:off x="3231393" y="478749"/>
        <a:ext cx="1665215" cy="832607"/>
      </dsp:txXfrm>
    </dsp:sp>
    <dsp:sp modelId="{FA61825B-C877-4D42-AAFB-0586288A9783}">
      <dsp:nvSpPr>
        <dsp:cNvPr id="6" name="任意多边形 5"/>
        <dsp:cNvSpPr/>
      </dsp:nvSpPr>
      <dsp:spPr bwMode="white">
        <a:xfrm>
          <a:off x="4819507" y="622651"/>
          <a:ext cx="820287" cy="66055"/>
        </a:xfrm>
        <a:custGeom>
          <a:avLst/>
          <a:gdLst/>
          <a:ahLst/>
          <a:cxnLst/>
          <a:pathLst>
            <a:path w="1292" h="104">
              <a:moveTo>
                <a:pt x="121" y="429"/>
              </a:moveTo>
              <a:lnTo>
                <a:pt x="1170" y="-325"/>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4819507" y="622651"/>
        <a:ext cx="820287" cy="66055"/>
      </dsp:txXfrm>
    </dsp:sp>
    <dsp:sp modelId="{63712EDC-9AF8-41BC-8F72-ADF8D554FF07}">
      <dsp:nvSpPr>
        <dsp:cNvPr id="7" name="圆角矩形 6"/>
        <dsp:cNvSpPr/>
      </dsp:nvSpPr>
      <dsp:spPr bwMode="white">
        <a:xfrm>
          <a:off x="5562693" y="0"/>
          <a:ext cx="1665215" cy="83260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年度</a:t>
          </a:r>
          <a:r>
            <a:rPr lang="zh-CN" altLang="en-US"/>
            <a:t>研发项目奖金</a:t>
          </a:r>
          <a:endParaRPr lang="zh-CN" altLang="en-US"/>
        </a:p>
      </dsp:txBody>
      <dsp:txXfrm>
        <a:off x="5562693" y="0"/>
        <a:ext cx="1665215" cy="832607"/>
      </dsp:txXfrm>
    </dsp:sp>
    <dsp:sp modelId="{E81582B1-A130-479F-ACE3-61EF727591CE}">
      <dsp:nvSpPr>
        <dsp:cNvPr id="8" name="任意多边形 7"/>
        <dsp:cNvSpPr/>
      </dsp:nvSpPr>
      <dsp:spPr bwMode="white">
        <a:xfrm>
          <a:off x="4819507" y="1101400"/>
          <a:ext cx="820287" cy="66055"/>
        </a:xfrm>
        <a:custGeom>
          <a:avLst/>
          <a:gdLst/>
          <a:ahLst/>
          <a:cxnLst/>
          <a:pathLst>
            <a:path w="1292" h="104">
              <a:moveTo>
                <a:pt x="121" y="-325"/>
              </a:moveTo>
              <a:lnTo>
                <a:pt x="1170" y="429"/>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4819507" y="1101400"/>
        <a:ext cx="820287" cy="66055"/>
      </dsp:txXfrm>
    </dsp:sp>
    <dsp:sp modelId="{29F748CF-C0E7-4DEA-B3A3-0E8AEB5CA964}">
      <dsp:nvSpPr>
        <dsp:cNvPr id="9" name="圆角矩形 8"/>
        <dsp:cNvSpPr/>
      </dsp:nvSpPr>
      <dsp:spPr bwMode="white">
        <a:xfrm>
          <a:off x="5562693" y="957498"/>
          <a:ext cx="1665215" cy="83260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年度综合事务奖金</a:t>
          </a:r>
          <a:endParaRPr lang="zh-CN" altLang="en-US"/>
        </a:p>
      </dsp:txBody>
      <dsp:txXfrm>
        <a:off x="5562693" y="957498"/>
        <a:ext cx="1665215" cy="832607"/>
      </dsp:txXfrm>
    </dsp:sp>
    <dsp:sp modelId="{2E81B90F-7494-41FF-808F-F7F82B993B40}">
      <dsp:nvSpPr>
        <dsp:cNvPr id="10" name="任意多边形 9"/>
        <dsp:cNvSpPr/>
      </dsp:nvSpPr>
      <dsp:spPr bwMode="white">
        <a:xfrm>
          <a:off x="2488206" y="1580149"/>
          <a:ext cx="820287" cy="66055"/>
        </a:xfrm>
        <a:custGeom>
          <a:avLst/>
          <a:gdLst/>
          <a:ahLst/>
          <a:cxnLst/>
          <a:pathLst>
            <a:path w="1292" h="104">
              <a:moveTo>
                <a:pt x="121" y="-325"/>
              </a:moveTo>
              <a:lnTo>
                <a:pt x="1170" y="429"/>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p>
      </dsp:txBody>
      <dsp:txXfrm>
        <a:off x="2488206" y="1580149"/>
        <a:ext cx="820287" cy="66055"/>
      </dsp:txXfrm>
    </dsp:sp>
    <dsp:sp modelId="{3D382021-A429-4403-82FF-5A95DD3EBB20}">
      <dsp:nvSpPr>
        <dsp:cNvPr id="11" name="圆角矩形 10"/>
        <dsp:cNvSpPr/>
      </dsp:nvSpPr>
      <dsp:spPr bwMode="white">
        <a:xfrm>
          <a:off x="3231393" y="1436248"/>
          <a:ext cx="1665215" cy="832607"/>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vert="horz" wrap="square" lIns="14605" tIns="14605" rIns="14605" bIns="14605"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a:t>偶发性奖金</a:t>
          </a:r>
          <a:endParaRPr lang="zh-CN" altLang="en-US"/>
        </a:p>
      </dsp:txBody>
      <dsp:txXfrm>
        <a:off x="3231393" y="1436248"/>
        <a:ext cx="1665215" cy="832607"/>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84A849-E912-4B0B-9F04-30B2F0F820C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C7C58-76DD-4CF7-8FEB-6BEC1B649C4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normAutofit/>
          </a:bodyPr>
          <a:lstStyle/>
          <a:p>
            <a:endParaRPr lang="zh-CN" altLang="en-US" sz="900" dirty="0"/>
          </a:p>
        </p:txBody>
      </p:sp>
      <p:sp>
        <p:nvSpPr>
          <p:cNvPr id="4" name="灯片编号占位符 3"/>
          <p:cNvSpPr>
            <a:spLocks noGrp="1"/>
          </p:cNvSpPr>
          <p:nvPr>
            <p:ph type="sldNum" sz="quarter" idx="10"/>
          </p:nvPr>
        </p:nvSpPr>
        <p:spPr/>
        <p:txBody>
          <a:bodyPr/>
          <a:lstStyle/>
          <a:p>
            <a:fld id="{11AC7C58-76DD-4CF7-8FEB-6BEC1B649C4D}" type="slidenum">
              <a:rPr lang="zh-CN" altLang="en-US" smtClean="0">
                <a:solidFill>
                  <a:prstClr val="black"/>
                </a:solidFill>
              </a:rPr>
            </a:fld>
            <a:endParaRPr lang="zh-CN" alt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4" Type="http://schemas.openxmlformats.org/officeDocument/2006/relationships/image" Target="../media/image9.png"/><Relationship Id="rId3" Type="http://schemas.openxmlformats.org/officeDocument/2006/relationships/image" Target="../media/image7.emf"/><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封面（无副标题）">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44057"/>
            <a:ext cx="12190992" cy="1907891"/>
          </a:xfrm>
          <a:prstGeom prst="rect">
            <a:avLst/>
          </a:prstGeom>
        </p:spPr>
      </p:pic>
      <p:sp>
        <p:nvSpPr>
          <p:cNvPr id="9" name="矩形 8"/>
          <p:cNvSpPr/>
          <p:nvPr userDrawn="1"/>
        </p:nvSpPr>
        <p:spPr>
          <a:xfrm>
            <a:off x="7" y="3852000"/>
            <a:ext cx="12192001" cy="180000"/>
          </a:xfrm>
          <a:prstGeom prst="rect">
            <a:avLst/>
          </a:prstGeom>
          <a:solidFill>
            <a:schemeClr val="bg1">
              <a:lumMod val="6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lIns="91438" tIns="45719" rIns="91438" bIns="45719" rtlCol="0" anchor="ctr"/>
          <a:lstStyle/>
          <a:p>
            <a:pPr algn="ctr"/>
            <a:endParaRPr lang="zh-CN" altLang="en-US" sz="2000"/>
          </a:p>
        </p:txBody>
      </p:sp>
      <p:sp>
        <p:nvSpPr>
          <p:cNvPr id="2" name="标题 1"/>
          <p:cNvSpPr>
            <a:spLocks noGrp="1"/>
          </p:cNvSpPr>
          <p:nvPr>
            <p:ph type="ctrTitle"/>
          </p:nvPr>
        </p:nvSpPr>
        <p:spPr>
          <a:xfrm>
            <a:off x="180000" y="2124000"/>
            <a:ext cx="8712000" cy="1548000"/>
          </a:xfrm>
          <a:prstGeom prst="rect">
            <a:avLst/>
          </a:prstGeom>
        </p:spPr>
        <p:txBody>
          <a:bodyPr anchor="ctr">
            <a:normAutofit/>
          </a:bodyPr>
          <a:lstStyle>
            <a:lvl1pPr>
              <a:lnSpc>
                <a:spcPct val="150000"/>
              </a:lnSpc>
              <a:defRPr sz="3200">
                <a:solidFill>
                  <a:schemeClr val="bg1"/>
                </a:solidFill>
                <a:latin typeface="黑体" panose="02010609060101010101" pitchFamily="49" charset="-122"/>
                <a:ea typeface="黑体" panose="02010609060101010101" pitchFamily="49" charset="-122"/>
                <a:cs typeface="黑体" panose="02010609060101010101" pitchFamily="49" charset="-122"/>
              </a:defRPr>
            </a:lvl1pPr>
          </a:lstStyle>
          <a:p>
            <a:r>
              <a:rPr kumimoji="1" lang="zh-CN" altLang="en-US" dirty="0"/>
              <a:t>单击此处编辑母版标题样式</a:t>
            </a:r>
            <a:endParaRPr kumimoji="1" lang="zh-CN" altLang="en-US" dirty="0"/>
          </a:p>
        </p:txBody>
      </p:sp>
      <p:sp>
        <p:nvSpPr>
          <p:cNvPr id="11" name="文本框 10"/>
          <p:cNvSpPr txBox="1"/>
          <p:nvPr userDrawn="1"/>
        </p:nvSpPr>
        <p:spPr>
          <a:xfrm>
            <a:off x="9984010" y="208313"/>
            <a:ext cx="2041793" cy="323163"/>
          </a:xfrm>
          <a:prstGeom prst="rect">
            <a:avLst/>
          </a:prstGeom>
          <a:noFill/>
        </p:spPr>
        <p:txBody>
          <a:bodyPr wrap="square" lIns="91438" tIns="45719" rIns="91438" bIns="45719" rtlCol="0" anchor="ctr">
            <a:spAutoFit/>
          </a:bodyPr>
          <a:lstStyle/>
          <a:p>
            <a:pPr algn="ctr"/>
            <a:r>
              <a:rPr lang="en-US" altLang="zh-CN" sz="1500" b="0" i="0" dirty="0">
                <a:solidFill>
                  <a:srgbClr val="9FA0A0"/>
                </a:solidFill>
                <a:latin typeface="Arial" panose="020B0604020202020204" pitchFamily="34" charset="0"/>
                <a:cs typeface="Arial" panose="020B0604020202020204" pitchFamily="34" charset="0"/>
              </a:rPr>
              <a:t>www.sciyon.com</a:t>
            </a:r>
            <a:endParaRPr lang="zh-CN" altLang="en-US" sz="1200" b="0" i="0" dirty="0">
              <a:solidFill>
                <a:srgbClr val="9FA0A0"/>
              </a:solidFill>
              <a:latin typeface="Arial" panose="020B0604020202020204" pitchFamily="34" charset="0"/>
              <a:cs typeface="Arial" panose="020B0604020202020204" pitchFamily="34" charset="0"/>
            </a:endParaRPr>
          </a:p>
        </p:txBody>
      </p:sp>
      <p:sp>
        <p:nvSpPr>
          <p:cNvPr id="12" name="文本框 11"/>
          <p:cNvSpPr txBox="1"/>
          <p:nvPr userDrawn="1"/>
        </p:nvSpPr>
        <p:spPr>
          <a:xfrm>
            <a:off x="4608000" y="5802853"/>
            <a:ext cx="2976000" cy="274320"/>
          </a:xfrm>
          <a:prstGeom prst="rect">
            <a:avLst/>
          </a:prstGeom>
          <a:noFill/>
        </p:spPr>
        <p:txBody>
          <a:bodyPr wrap="square" lIns="91438" tIns="45719" rIns="91438" bIns="45719" rtlCol="0" anchor="ctr">
            <a:spAutoFit/>
          </a:bodyPr>
          <a:lstStyle/>
          <a:p>
            <a:pPr algn="ctr"/>
            <a:r>
              <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智 慧 产 业 建</a:t>
            </a:r>
            <a:r>
              <a:rPr lang="en-US" altLang="zh-CN"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 </a:t>
            </a:r>
            <a:r>
              <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设</a:t>
            </a:r>
            <a:r>
              <a:rPr lang="en-US" altLang="zh-CN"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 </a:t>
            </a:r>
            <a:r>
              <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引</a:t>
            </a:r>
            <a:r>
              <a:rPr lang="en-US" altLang="zh-CN"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 </a:t>
            </a:r>
            <a:r>
              <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领</a:t>
            </a:r>
            <a:r>
              <a:rPr lang="en-US" altLang="zh-CN"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 </a:t>
            </a:r>
            <a:r>
              <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rPr>
              <a:t>者</a:t>
            </a:r>
            <a:endParaRPr lang="zh-CN" altLang="en-US" sz="1200" b="0" i="0" dirty="0">
              <a:solidFill>
                <a:srgbClr val="9FA0A0"/>
              </a:solidFill>
              <a:latin typeface="黑体" panose="02010609060101010101" pitchFamily="49" charset="-122"/>
              <a:ea typeface="黑体" panose="02010609060101010101" pitchFamily="49" charset="-122"/>
              <a:cs typeface="Arial" panose="020B0604020202020204" pitchFamily="34" charset="0"/>
            </a:endParaRPr>
          </a:p>
        </p:txBody>
      </p:sp>
      <p:pic>
        <p:nvPicPr>
          <p:cNvPr id="3" name="图片 2" descr="Logo+科远智慧（白色）"/>
          <p:cNvPicPr>
            <a:picLocks noChangeAspect="1"/>
          </p:cNvPicPr>
          <p:nvPr userDrawn="1"/>
        </p:nvPicPr>
        <p:blipFill>
          <a:blip r:embed="rId3"/>
          <a:stretch>
            <a:fillRect/>
          </a:stretch>
        </p:blipFill>
        <p:spPr>
          <a:xfrm>
            <a:off x="9665335" y="2553348"/>
            <a:ext cx="2160000" cy="69870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a:xfrm>
            <a:off x="951867" y="214984"/>
            <a:ext cx="8640000" cy="576000"/>
          </a:xfrm>
        </p:spPr>
        <p:txBody>
          <a:bodyPr>
            <a:normAutofit/>
          </a:bodyPr>
          <a:lstStyle>
            <a:lvl1pPr algn="just">
              <a:defRPr sz="2800" b="1">
                <a:solidFill>
                  <a:srgbClr val="1E577E"/>
                </a:solidFill>
              </a:defRPr>
            </a:lvl1pPr>
          </a:lstStyle>
          <a:p>
            <a:r>
              <a:rPr lang="zh-CN" altLang="en-US" dirty="0"/>
              <a:t>单击此处编辑母版标题样式</a:t>
            </a:r>
            <a:endParaRPr lang="zh-CN" altLang="en-US" dirty="0"/>
          </a:p>
        </p:txBody>
      </p:sp>
      <p:sp>
        <p:nvSpPr>
          <p:cNvPr id="11" name="内容占位符 10"/>
          <p:cNvSpPr>
            <a:spLocks noGrp="1"/>
          </p:cNvSpPr>
          <p:nvPr>
            <p:ph sz="quarter" idx="10"/>
          </p:nvPr>
        </p:nvSpPr>
        <p:spPr>
          <a:xfrm>
            <a:off x="336549" y="1080000"/>
            <a:ext cx="11520000" cy="5220000"/>
          </a:xfrm>
        </p:spPr>
        <p:txBody>
          <a:bodyPr vert="horz" lIns="91438" tIns="45719" rIns="91438" bIns="45719" rtlCol="0">
            <a:normAutofit/>
          </a:bodyPr>
          <a:lstStyle>
            <a:lvl1pPr>
              <a:defRPr lang="zh-CN" altLang="en-US" dirty="0" smtClean="0"/>
            </a:lvl1pPr>
            <a:lvl2pPr>
              <a:defRPr lang="zh-CN" altLang="en-US" dirty="0" smtClean="0"/>
            </a:lvl2pPr>
            <a:lvl3pPr>
              <a:defRPr lang="zh-CN" altLang="en-US" dirty="0" smtClean="0"/>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en-US" altLang="zh-CN" dirty="0"/>
          </a:p>
          <a:p>
            <a:pPr lvl="3"/>
            <a:r>
              <a:rPr lang="zh-CN" altLang="en-US" dirty="0"/>
              <a:t>第四级</a:t>
            </a:r>
            <a:endParaRPr lang="zh-CN" altLang="en-US" dirty="0"/>
          </a:p>
        </p:txBody>
      </p:sp>
      <p:sp>
        <p:nvSpPr>
          <p:cNvPr id="24" name="灯片编号占位符 23"/>
          <p:cNvSpPr>
            <a:spLocks noGrp="1"/>
          </p:cNvSpPr>
          <p:nvPr>
            <p:ph type="sldNum" sz="quarter" idx="4"/>
          </p:nvPr>
        </p:nvSpPr>
        <p:spPr>
          <a:xfrm>
            <a:off x="288000" y="6538203"/>
            <a:ext cx="480000" cy="261608"/>
          </a:xfrm>
          <a:prstGeom prst="rect">
            <a:avLst/>
          </a:prstGeom>
          <a:noFill/>
        </p:spPr>
        <p:txBody>
          <a:bodyPr wrap="square" rtlCol="0" anchor="ctr">
            <a:spAutoFit/>
          </a:bodyPr>
          <a:lstStyle>
            <a:lvl1pPr>
              <a:defRPr lang="zh-CN" altLang="en-US" sz="11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a:fld id="{3AD9866C-B8E1-4B55-A986-B90A7612EBA6}" type="slidenum">
              <a:rPr lang="en-US" altLang="zh-CN" smtClean="0"/>
            </a:fld>
            <a:endParaRPr lang="en-US" dirty="0"/>
          </a:p>
        </p:txBody>
      </p:sp>
      <p:cxnSp>
        <p:nvCxnSpPr>
          <p:cNvPr id="9" name="直接连接符 8"/>
          <p:cNvCxnSpPr/>
          <p:nvPr userDrawn="1"/>
        </p:nvCxnSpPr>
        <p:spPr>
          <a:xfrm>
            <a:off x="371385" y="839437"/>
            <a:ext cx="8934451" cy="1907"/>
          </a:xfrm>
          <a:prstGeom prst="line">
            <a:avLst/>
          </a:prstGeom>
          <a:ln w="190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grpSp>
        <p:nvGrpSpPr>
          <p:cNvPr id="10" name="Group 7"/>
          <p:cNvGrpSpPr/>
          <p:nvPr userDrawn="1"/>
        </p:nvGrpSpPr>
        <p:grpSpPr bwMode="auto">
          <a:xfrm>
            <a:off x="431371" y="390530"/>
            <a:ext cx="520496" cy="274639"/>
            <a:chOff x="0" y="0"/>
            <a:chExt cx="1041399" cy="549275"/>
          </a:xfrm>
        </p:grpSpPr>
        <p:sp>
          <p:nvSpPr>
            <p:cNvPr id="12"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sp>
          <p:nvSpPr>
            <p:cNvPr id="13"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sp>
          <p:nvSpPr>
            <p:cNvPr id="14"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76000" y="2880000"/>
            <a:ext cx="8640000" cy="1440000"/>
          </a:xfrm>
          <a:prstGeom prst="rect">
            <a:avLst/>
          </a:prstGeom>
        </p:spPr>
        <p:txBody>
          <a:bodyPr anchor="t">
            <a:normAutofit/>
          </a:bodyPr>
          <a:lstStyle>
            <a:lvl1pPr marL="0" indent="0" algn="ctr">
              <a:buNone/>
              <a:defRPr sz="3600">
                <a:solidFill>
                  <a:srgbClr val="006EA0"/>
                </a:solidFill>
              </a:defRPr>
            </a:lvl1pPr>
            <a:lvl2pPr marL="725170" indent="0">
              <a:buNone/>
              <a:defRPr sz="2900">
                <a:solidFill>
                  <a:schemeClr val="tx1">
                    <a:tint val="75000"/>
                  </a:schemeClr>
                </a:solidFill>
              </a:defRPr>
            </a:lvl2pPr>
            <a:lvl3pPr marL="1450340" indent="0">
              <a:buNone/>
              <a:defRPr sz="2500">
                <a:solidFill>
                  <a:schemeClr val="tx1">
                    <a:tint val="75000"/>
                  </a:schemeClr>
                </a:solidFill>
              </a:defRPr>
            </a:lvl3pPr>
            <a:lvl4pPr marL="2175510" indent="0">
              <a:buNone/>
              <a:defRPr sz="2300">
                <a:solidFill>
                  <a:schemeClr val="tx1">
                    <a:tint val="75000"/>
                  </a:schemeClr>
                </a:solidFill>
              </a:defRPr>
            </a:lvl4pPr>
            <a:lvl5pPr marL="2901315" indent="0">
              <a:buNone/>
              <a:defRPr sz="2300">
                <a:solidFill>
                  <a:schemeClr val="tx1">
                    <a:tint val="75000"/>
                  </a:schemeClr>
                </a:solidFill>
              </a:defRPr>
            </a:lvl5pPr>
            <a:lvl6pPr marL="3626485" indent="0">
              <a:buNone/>
              <a:defRPr sz="2300">
                <a:solidFill>
                  <a:schemeClr val="tx1">
                    <a:tint val="75000"/>
                  </a:schemeClr>
                </a:solidFill>
              </a:defRPr>
            </a:lvl6pPr>
            <a:lvl7pPr marL="4351655" indent="0">
              <a:buNone/>
              <a:defRPr sz="2300">
                <a:solidFill>
                  <a:schemeClr val="tx1">
                    <a:tint val="75000"/>
                  </a:schemeClr>
                </a:solidFill>
              </a:defRPr>
            </a:lvl7pPr>
            <a:lvl8pPr marL="5076825" indent="0">
              <a:buNone/>
              <a:defRPr sz="2300">
                <a:solidFill>
                  <a:schemeClr val="tx1">
                    <a:tint val="75000"/>
                  </a:schemeClr>
                </a:solidFill>
              </a:defRPr>
            </a:lvl8pPr>
            <a:lvl9pPr marL="5801995" indent="0">
              <a:buNone/>
              <a:defRPr sz="2300">
                <a:solidFill>
                  <a:schemeClr val="tx1">
                    <a:tint val="75000"/>
                  </a:schemeClr>
                </a:solidFill>
              </a:defRPr>
            </a:lvl9pPr>
          </a:lstStyle>
          <a:p>
            <a:pPr lvl="0"/>
            <a:r>
              <a:rPr kumimoji="1" lang="zh-CN" altLang="en-US" dirty="0"/>
              <a:t>单击此处编辑母版文本样式</a:t>
            </a:r>
            <a:endParaRPr kumimoji="1" lang="zh-CN" altLang="en-US" dirty="0"/>
          </a:p>
        </p:txBody>
      </p:sp>
      <p:sp>
        <p:nvSpPr>
          <p:cNvPr id="8" name="灯片编号占位符 7"/>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9" name="标题 8"/>
          <p:cNvSpPr>
            <a:spLocks noGrp="1"/>
          </p:cNvSpPr>
          <p:nvPr>
            <p:ph type="title"/>
          </p:nvPr>
        </p:nvSpPr>
        <p:spPr>
          <a:xfrm>
            <a:off x="1776000" y="1440000"/>
            <a:ext cx="8640000" cy="1440000"/>
          </a:xfrm>
        </p:spPr>
        <p:txBody>
          <a:bodyPr/>
          <a:lstStyle/>
          <a:p>
            <a:r>
              <a:rPr lang="zh-CN" altLang="en-US" dirty="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1_封底">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200" y="6267716"/>
            <a:ext cx="12189600" cy="603083"/>
          </a:xfrm>
          <a:prstGeom prst="rect">
            <a:avLst/>
          </a:prstGeom>
        </p:spPr>
      </p:pic>
      <p:pic>
        <p:nvPicPr>
          <p:cNvPr id="6" name="图片 5" descr="Logo+科远智慧（白色）"/>
          <p:cNvPicPr>
            <a:picLocks noChangeAspect="1"/>
          </p:cNvPicPr>
          <p:nvPr userDrawn="1"/>
        </p:nvPicPr>
        <p:blipFill>
          <a:blip r:embed="rId3"/>
          <a:stretch>
            <a:fillRect/>
          </a:stretch>
        </p:blipFill>
        <p:spPr>
          <a:xfrm>
            <a:off x="10292715" y="6394579"/>
            <a:ext cx="1080000" cy="349355"/>
          </a:xfrm>
          <a:prstGeom prst="rect">
            <a:avLst/>
          </a:prstGeom>
        </p:spPr>
      </p:pic>
      <p:sp>
        <p:nvSpPr>
          <p:cNvPr id="9" name="文本框 8"/>
          <p:cNvSpPr txBox="1"/>
          <p:nvPr userDrawn="1"/>
        </p:nvSpPr>
        <p:spPr>
          <a:xfrm>
            <a:off x="1992000" y="6431462"/>
            <a:ext cx="4704000" cy="275591"/>
          </a:xfrm>
          <a:prstGeom prst="rect">
            <a:avLst/>
          </a:prstGeom>
          <a:noFill/>
        </p:spPr>
        <p:txBody>
          <a:bodyPr wrap="square" lIns="91438" tIns="45719" rIns="91438" bIns="45719" rtlCol="0" anchor="ctr">
            <a:spAutoFit/>
          </a:bodyPr>
          <a:lstStyle/>
          <a:p>
            <a:pPr algn="ctr"/>
            <a:r>
              <a:rPr lang="zh-CN" altLang="en-US" sz="1200" dirty="0">
                <a:solidFill>
                  <a:schemeClr val="bg1"/>
                </a:solidFill>
                <a:latin typeface="黑体" panose="02010609060101010101" pitchFamily="49" charset="-122"/>
                <a:ea typeface="黑体" panose="02010609060101010101" pitchFamily="49" charset="-122"/>
                <a:cs typeface="Arial" panose="020B0604020202020204" pitchFamily="34" charset="0"/>
                <a:sym typeface="+mn-ea"/>
              </a:rPr>
              <a:t>全 方 位 智 慧 产 业 领 导 者</a:t>
            </a:r>
            <a:endParaRPr lang="zh-CN" altLang="en-US" sz="1200" dirty="0">
              <a:solidFill>
                <a:schemeClr val="bg1"/>
              </a:solidFill>
              <a:latin typeface="黑体" panose="02010609060101010101" pitchFamily="49" charset="-122"/>
              <a:ea typeface="黑体" panose="02010609060101010101" pitchFamily="49" charset="-122"/>
              <a:cs typeface="Arial" panose="020B0604020202020204" pitchFamily="34" charset="0"/>
              <a:sym typeface="+mn-ea"/>
            </a:endParaRPr>
          </a:p>
        </p:txBody>
      </p:sp>
      <p:sp>
        <p:nvSpPr>
          <p:cNvPr id="2" name="标题 1"/>
          <p:cNvSpPr>
            <a:spLocks noGrp="1"/>
          </p:cNvSpPr>
          <p:nvPr>
            <p:ph type="title"/>
          </p:nvPr>
        </p:nvSpPr>
        <p:spPr>
          <a:xfrm>
            <a:off x="1776000" y="1800000"/>
            <a:ext cx="8640000" cy="1800000"/>
          </a:xfrm>
        </p:spPr>
        <p:txBody>
          <a:bodyPr/>
          <a:lstStyle/>
          <a:p>
            <a:r>
              <a:rPr lang="zh-CN" altLang="en-US"/>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6" name="标题 5"/>
          <p:cNvSpPr>
            <a:spLocks noGrp="1"/>
          </p:cNvSpPr>
          <p:nvPr>
            <p:ph type="title"/>
          </p:nvPr>
        </p:nvSpPr>
        <p:spPr>
          <a:xfrm>
            <a:off x="951867" y="214984"/>
            <a:ext cx="8640000" cy="576000"/>
          </a:xfrm>
        </p:spPr>
        <p:txBody>
          <a:bodyPr>
            <a:normAutofit/>
          </a:bodyPr>
          <a:lstStyle>
            <a:lvl1pPr algn="just">
              <a:defRPr sz="2800" b="1">
                <a:solidFill>
                  <a:srgbClr val="1E577E"/>
                </a:solidFill>
              </a:defRPr>
            </a:lvl1pPr>
          </a:lstStyle>
          <a:p>
            <a:r>
              <a:rPr lang="zh-CN" altLang="en-US" dirty="0"/>
              <a:t>单击此处编辑母版标题样式</a:t>
            </a:r>
            <a:endParaRPr lang="zh-CN" altLang="en-US" dirty="0"/>
          </a:p>
        </p:txBody>
      </p:sp>
      <p:sp>
        <p:nvSpPr>
          <p:cNvPr id="11" name="内容占位符 10"/>
          <p:cNvSpPr>
            <a:spLocks noGrp="1"/>
          </p:cNvSpPr>
          <p:nvPr>
            <p:ph sz="quarter" idx="10"/>
          </p:nvPr>
        </p:nvSpPr>
        <p:spPr>
          <a:xfrm>
            <a:off x="336549" y="1080000"/>
            <a:ext cx="11520000" cy="5220000"/>
          </a:xfrm>
        </p:spPr>
        <p:txBody>
          <a:bodyPr vert="horz" lIns="91438" tIns="45719" rIns="91438" bIns="45719" rtlCol="0">
            <a:normAutofit/>
          </a:bodyPr>
          <a:lstStyle>
            <a:lvl1pPr>
              <a:defRPr lang="zh-CN" altLang="en-US" dirty="0" smtClean="0"/>
            </a:lvl1pPr>
            <a:lvl2pPr>
              <a:defRPr lang="zh-CN" altLang="en-US" dirty="0" smtClean="0"/>
            </a:lvl2pPr>
            <a:lvl3pPr>
              <a:defRPr lang="zh-CN" altLang="en-US" dirty="0" smtClean="0"/>
            </a:lvl3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en-US" altLang="zh-CN" dirty="0"/>
          </a:p>
          <a:p>
            <a:pPr lvl="3"/>
            <a:r>
              <a:rPr lang="zh-CN" altLang="en-US" dirty="0"/>
              <a:t>第四级</a:t>
            </a:r>
            <a:endParaRPr lang="zh-CN" altLang="en-US" dirty="0"/>
          </a:p>
        </p:txBody>
      </p:sp>
      <p:sp>
        <p:nvSpPr>
          <p:cNvPr id="24" name="灯片编号占位符 23"/>
          <p:cNvSpPr>
            <a:spLocks noGrp="1"/>
          </p:cNvSpPr>
          <p:nvPr>
            <p:ph type="sldNum" sz="quarter" idx="4"/>
          </p:nvPr>
        </p:nvSpPr>
        <p:spPr>
          <a:xfrm>
            <a:off x="288000" y="6538203"/>
            <a:ext cx="480000" cy="261608"/>
          </a:xfrm>
          <a:prstGeom prst="rect">
            <a:avLst/>
          </a:prstGeom>
          <a:noFill/>
        </p:spPr>
        <p:txBody>
          <a:bodyPr wrap="square" rtlCol="0" anchor="ctr">
            <a:spAutoFit/>
          </a:bodyPr>
          <a:lstStyle>
            <a:lvl1pPr>
              <a:defRPr lang="zh-CN" altLang="en-US" sz="11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a:fld id="{3AD9866C-B8E1-4B55-A986-B90A7612EBA6}" type="slidenum">
              <a:rPr lang="en-US" altLang="zh-CN" smtClean="0"/>
            </a:fld>
            <a:endParaRPr lang="en-US" dirty="0"/>
          </a:p>
        </p:txBody>
      </p:sp>
      <p:cxnSp>
        <p:nvCxnSpPr>
          <p:cNvPr id="9" name="直接连接符 8"/>
          <p:cNvCxnSpPr/>
          <p:nvPr userDrawn="1"/>
        </p:nvCxnSpPr>
        <p:spPr>
          <a:xfrm>
            <a:off x="371385" y="839437"/>
            <a:ext cx="8934451" cy="1907"/>
          </a:xfrm>
          <a:prstGeom prst="line">
            <a:avLst/>
          </a:prstGeom>
          <a:ln w="190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grpSp>
        <p:nvGrpSpPr>
          <p:cNvPr id="10" name="Group 7"/>
          <p:cNvGrpSpPr/>
          <p:nvPr userDrawn="1"/>
        </p:nvGrpSpPr>
        <p:grpSpPr bwMode="auto">
          <a:xfrm>
            <a:off x="431371" y="390530"/>
            <a:ext cx="520496" cy="274639"/>
            <a:chOff x="0" y="0"/>
            <a:chExt cx="1041399" cy="549275"/>
          </a:xfrm>
        </p:grpSpPr>
        <p:sp>
          <p:nvSpPr>
            <p:cNvPr id="12" name="Freeform 16"/>
            <p:cNvSpPr/>
            <p:nvPr/>
          </p:nvSpPr>
          <p:spPr bwMode="auto">
            <a:xfrm>
              <a:off x="0" y="0"/>
              <a:ext cx="361950" cy="549275"/>
            </a:xfrm>
            <a:custGeom>
              <a:avLst/>
              <a:gdLst>
                <a:gd name="T0" fmla="*/ 4 w 400"/>
                <a:gd name="T1" fmla="*/ 92 h 608"/>
                <a:gd name="T2" fmla="*/ 96 w 400"/>
                <a:gd name="T3" fmla="*/ 0 h 608"/>
                <a:gd name="T4" fmla="*/ 400 w 400"/>
                <a:gd name="T5" fmla="*/ 304 h 608"/>
                <a:gd name="T6" fmla="*/ 96 w 400"/>
                <a:gd name="T7" fmla="*/ 608 h 608"/>
                <a:gd name="T8" fmla="*/ 0 w 400"/>
                <a:gd name="T9" fmla="*/ 512 h 608"/>
                <a:gd name="T10" fmla="*/ 212 w 400"/>
                <a:gd name="T11" fmla="*/ 300 h 608"/>
                <a:gd name="T12" fmla="*/ 4 w 400"/>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400" h="608">
                  <a:moveTo>
                    <a:pt x="4" y="92"/>
                  </a:moveTo>
                  <a:lnTo>
                    <a:pt x="96" y="0"/>
                  </a:lnTo>
                  <a:lnTo>
                    <a:pt x="400" y="304"/>
                  </a:lnTo>
                  <a:lnTo>
                    <a:pt x="96" y="608"/>
                  </a:lnTo>
                  <a:lnTo>
                    <a:pt x="0" y="512"/>
                  </a:lnTo>
                  <a:lnTo>
                    <a:pt x="212" y="300"/>
                  </a:lnTo>
                  <a:lnTo>
                    <a:pt x="4" y="92"/>
                  </a:lnTo>
                  <a:close/>
                </a:path>
              </a:pathLst>
            </a:custGeom>
            <a:solidFill>
              <a:srgbClr val="005DA2"/>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sp>
          <p:nvSpPr>
            <p:cNvPr id="13" name="Freeform 17"/>
            <p:cNvSpPr/>
            <p:nvPr/>
          </p:nvSpPr>
          <p:spPr bwMode="auto">
            <a:xfrm>
              <a:off x="338137" y="0"/>
              <a:ext cx="360362" cy="549275"/>
            </a:xfrm>
            <a:custGeom>
              <a:avLst/>
              <a:gdLst>
                <a:gd name="T0" fmla="*/ 4 w 399"/>
                <a:gd name="T1" fmla="*/ 92 h 608"/>
                <a:gd name="T2" fmla="*/ 96 w 399"/>
                <a:gd name="T3" fmla="*/ 0 h 608"/>
                <a:gd name="T4" fmla="*/ 399 w 399"/>
                <a:gd name="T5" fmla="*/ 304 h 608"/>
                <a:gd name="T6" fmla="*/ 96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6" y="0"/>
                  </a:lnTo>
                  <a:lnTo>
                    <a:pt x="399" y="304"/>
                  </a:lnTo>
                  <a:lnTo>
                    <a:pt x="96" y="608"/>
                  </a:lnTo>
                  <a:lnTo>
                    <a:pt x="0" y="512"/>
                  </a:lnTo>
                  <a:lnTo>
                    <a:pt x="212" y="300"/>
                  </a:lnTo>
                  <a:lnTo>
                    <a:pt x="4" y="92"/>
                  </a:lnTo>
                  <a:close/>
                </a:path>
              </a:pathLst>
            </a:custGeom>
            <a:solidFill>
              <a:srgbClr val="3992DB"/>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sp>
          <p:nvSpPr>
            <p:cNvPr id="14" name="Freeform 18"/>
            <p:cNvSpPr/>
            <p:nvPr/>
          </p:nvSpPr>
          <p:spPr bwMode="auto">
            <a:xfrm>
              <a:off x="681037" y="0"/>
              <a:ext cx="360362" cy="549275"/>
            </a:xfrm>
            <a:custGeom>
              <a:avLst/>
              <a:gdLst>
                <a:gd name="T0" fmla="*/ 4 w 399"/>
                <a:gd name="T1" fmla="*/ 92 h 608"/>
                <a:gd name="T2" fmla="*/ 95 w 399"/>
                <a:gd name="T3" fmla="*/ 0 h 608"/>
                <a:gd name="T4" fmla="*/ 399 w 399"/>
                <a:gd name="T5" fmla="*/ 304 h 608"/>
                <a:gd name="T6" fmla="*/ 95 w 399"/>
                <a:gd name="T7" fmla="*/ 608 h 608"/>
                <a:gd name="T8" fmla="*/ 0 w 399"/>
                <a:gd name="T9" fmla="*/ 512 h 608"/>
                <a:gd name="T10" fmla="*/ 212 w 399"/>
                <a:gd name="T11" fmla="*/ 300 h 608"/>
                <a:gd name="T12" fmla="*/ 4 w 399"/>
                <a:gd name="T13" fmla="*/ 92 h 608"/>
              </a:gdLst>
              <a:ahLst/>
              <a:cxnLst>
                <a:cxn ang="0">
                  <a:pos x="T0" y="T1"/>
                </a:cxn>
                <a:cxn ang="0">
                  <a:pos x="T2" y="T3"/>
                </a:cxn>
                <a:cxn ang="0">
                  <a:pos x="T4" y="T5"/>
                </a:cxn>
                <a:cxn ang="0">
                  <a:pos x="T6" y="T7"/>
                </a:cxn>
                <a:cxn ang="0">
                  <a:pos x="T8" y="T9"/>
                </a:cxn>
                <a:cxn ang="0">
                  <a:pos x="T10" y="T11"/>
                </a:cxn>
                <a:cxn ang="0">
                  <a:pos x="T12" y="T13"/>
                </a:cxn>
              </a:cxnLst>
              <a:rect l="0" t="0" r="r" b="b"/>
              <a:pathLst>
                <a:path w="399" h="608">
                  <a:moveTo>
                    <a:pt x="4" y="92"/>
                  </a:moveTo>
                  <a:lnTo>
                    <a:pt x="95" y="0"/>
                  </a:lnTo>
                  <a:lnTo>
                    <a:pt x="399" y="304"/>
                  </a:lnTo>
                  <a:lnTo>
                    <a:pt x="95" y="608"/>
                  </a:lnTo>
                  <a:lnTo>
                    <a:pt x="0" y="512"/>
                  </a:lnTo>
                  <a:lnTo>
                    <a:pt x="212" y="300"/>
                  </a:lnTo>
                  <a:lnTo>
                    <a:pt x="4" y="92"/>
                  </a:lnTo>
                  <a:close/>
                </a:path>
              </a:pathLst>
            </a:custGeom>
            <a:solidFill>
              <a:srgbClr val="F79600"/>
            </a:solidFill>
            <a:ln>
              <a:noFill/>
            </a:ln>
            <a:extLst>
              <a:ext uri="{91240B29-F687-4F45-9708-019B960494DF}">
                <a14:hiddenLine xmlns:a14="http://schemas.microsoft.com/office/drawing/2010/main" w="9525">
                  <a:solidFill>
                    <a:srgbClr val="000000"/>
                  </a:solidFill>
                  <a:round/>
                </a14:hiddenLine>
              </a:ext>
            </a:extLst>
          </p:spPr>
          <p:txBody>
            <a:bodyPr/>
            <a:lstStyle/>
            <a:p>
              <a:pPr defTabSz="1219200"/>
              <a:endParaRPr lang="zh-CN" altLang="en-US" sz="2400">
                <a:solidFill>
                  <a:prstClr val="black"/>
                </a:solidFill>
              </a:endParaRPr>
            </a:p>
          </p:txBody>
        </p:sp>
      </p:grpSp>
      <p:sp>
        <p:nvSpPr>
          <p:cNvPr id="2" name="文本框 1"/>
          <p:cNvSpPr txBox="1"/>
          <p:nvPr userDrawn="1"/>
        </p:nvSpPr>
        <p:spPr>
          <a:xfrm>
            <a:off x="10590530" y="6612255"/>
            <a:ext cx="309880" cy="398780"/>
          </a:xfrm>
          <a:prstGeom prst="rect">
            <a:avLst/>
          </a:prstGeom>
          <a:noFill/>
        </p:spPr>
        <p:txBody>
          <a:bodyPr wrap="none" rtlCol="0">
            <a:spAutoFit/>
          </a:bodyPr>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0-#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内容占位符 10"/>
          <p:cNvSpPr>
            <a:spLocks noGrp="1"/>
          </p:cNvSpPr>
          <p:nvPr>
            <p:ph sz="quarter" idx="10"/>
          </p:nvPr>
        </p:nvSpPr>
        <p:spPr>
          <a:xfrm>
            <a:off x="336549" y="1080000"/>
            <a:ext cx="11520000" cy="5220000"/>
          </a:xfr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en-US" altLang="zh-CN" strike="noStrike" noProof="1"/>
          </a:p>
          <a:p>
            <a:pPr lvl="3" fontAlgn="auto"/>
            <a:r>
              <a:rPr lang="zh-CN" altLang="en-US" strike="noStrike" noProof="1"/>
              <a:t>第四级</a:t>
            </a:r>
            <a:endParaRPr lang="zh-CN" altLang="en-US" strike="noStrike" noProof="1"/>
          </a:p>
        </p:txBody>
      </p:sp>
      <p:sp>
        <p:nvSpPr>
          <p:cNvPr id="24" name="灯片编号占位符 23"/>
          <p:cNvSpPr>
            <a:spLocks noGrp="1"/>
          </p:cNvSpPr>
          <p:nvPr>
            <p:ph type="sldNum" sz="quarter" idx="4"/>
          </p:nvPr>
        </p:nvSpPr>
        <p:spPr>
          <a:xfrm>
            <a:off x="287867" y="6545263"/>
            <a:ext cx="480484" cy="246063"/>
          </a:xfrm>
          <a:prstGeom prst="rect">
            <a:avLst/>
          </a:prstGeom>
          <a:noFill/>
        </p:spPr>
        <p:txBody>
          <a:bodyPr wrap="square" rtlCol="0" anchor="ctr">
            <a:spAutoFit/>
          </a:bodyPr>
          <a:lstStyle>
            <a:lvl1pPr>
              <a:defRPr lang="zh-CN" altLang="en-US" sz="10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fontAlgn="base"/>
            <a:fld id="{3AD9866C-B8E1-4B55-A986-B90A7612EBA6}" type="slidenum">
              <a:rPr lang="en-US" altLang="zh-CN" strike="noStrike" noProof="1" smtClean="0">
                <a:latin typeface="Arial" panose="020B0604020202020204" pitchFamily="34" charset="0"/>
                <a:ea typeface="黑体" panose="02010609060101010101" pitchFamily="49" charset="-122"/>
                <a:cs typeface="Arial" panose="020B0604020202020204" pitchFamily="34" charset="0"/>
              </a:rPr>
            </a:fld>
            <a:endParaRPr lang="en-US" strike="noStrike" noProof="1"/>
          </a:p>
        </p:txBody>
      </p:sp>
      <p:grpSp>
        <p:nvGrpSpPr>
          <p:cNvPr id="8194" name="组合 48"/>
          <p:cNvGrpSpPr/>
          <p:nvPr userDrawn="1"/>
        </p:nvGrpSpPr>
        <p:grpSpPr>
          <a:xfrm>
            <a:off x="167958" y="254000"/>
            <a:ext cx="9120187" cy="612775"/>
            <a:chOff x="0" y="0"/>
            <a:chExt cx="9144000" cy="816487"/>
          </a:xfrm>
        </p:grpSpPr>
        <p:sp>
          <p:nvSpPr>
            <p:cNvPr id="8195" name="直接连接符 3"/>
            <p:cNvSpPr/>
            <p:nvPr/>
          </p:nvSpPr>
          <p:spPr>
            <a:xfrm>
              <a:off x="0" y="727587"/>
              <a:ext cx="6115050" cy="1"/>
            </a:xfrm>
            <a:prstGeom prst="line">
              <a:avLst/>
            </a:prstGeom>
            <a:ln w="19050" cap="flat" cmpd="sng">
              <a:solidFill>
                <a:schemeClr val="accent1"/>
              </a:solidFill>
              <a:prstDash val="solid"/>
              <a:round/>
              <a:headEnd type="none" w="med" len="med"/>
              <a:tailEnd type="none" w="med" len="med"/>
            </a:ln>
          </p:spPr>
        </p:sp>
        <p:sp>
          <p:nvSpPr>
            <p:cNvPr id="8196" name="直接连接符 4"/>
            <p:cNvSpPr/>
            <p:nvPr/>
          </p:nvSpPr>
          <p:spPr>
            <a:xfrm>
              <a:off x="3805238" y="816487"/>
              <a:ext cx="5338762" cy="1"/>
            </a:xfrm>
            <a:prstGeom prst="line">
              <a:avLst/>
            </a:prstGeom>
            <a:ln w="19050" cap="flat" cmpd="sng">
              <a:solidFill>
                <a:schemeClr val="accent1"/>
              </a:solidFill>
              <a:prstDash val="solid"/>
              <a:round/>
              <a:headEnd type="none" w="med" len="med"/>
              <a:tailEnd type="none" w="med" len="med"/>
            </a:ln>
          </p:spPr>
        </p:sp>
        <p:sp>
          <p:nvSpPr>
            <p:cNvPr id="8197" name="标题 5"/>
            <p:cNvSpPr/>
            <p:nvPr/>
          </p:nvSpPr>
          <p:spPr>
            <a:xfrm>
              <a:off x="178157" y="0"/>
              <a:ext cx="6724544" cy="620714"/>
            </a:xfrm>
            <a:prstGeom prst="rect">
              <a:avLst/>
            </a:prstGeom>
            <a:noFill/>
            <a:ln w="9525">
              <a:noFill/>
            </a:ln>
          </p:spPr>
          <p:txBody>
            <a:bodyPr bIns="0" anchor="b"/>
            <a:lstStyle/>
            <a:p>
              <a:pPr>
                <a:lnSpc>
                  <a:spcPct val="90000"/>
                </a:lnSpc>
              </a:pPr>
              <a:endParaRPr lang="zh-CN" altLang="en-US" sz="2400" b="1" dirty="0">
                <a:solidFill>
                  <a:schemeClr val="tx1"/>
                </a:solidFill>
                <a:latin typeface="Arial Black" panose="020B0A04020102020204" pitchFamily="34" charset="0"/>
                <a:ea typeface="微软雅黑" panose="020B0503020204020204" pitchFamily="34" charset="-122"/>
                <a:sym typeface="Arial" panose="020B0604020202020204" pitchFamily="34" charset="0"/>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封面（无副标题）">
    <p:spTree>
      <p:nvGrpSpPr>
        <p:cNvPr id="1" name=""/>
        <p:cNvGrpSpPr/>
        <p:nvPr/>
      </p:nvGrpSpPr>
      <p:grpSpPr>
        <a:xfrm>
          <a:off x="0" y="0"/>
          <a:ext cx="0" cy="0"/>
          <a:chOff x="0" y="0"/>
          <a:chExt cx="0" cy="0"/>
        </a:xfrm>
      </p:grpSpPr>
      <p:sp>
        <p:nvSpPr>
          <p:cNvPr id="9" name="矩形 8"/>
          <p:cNvSpPr/>
          <p:nvPr userDrawn="1"/>
        </p:nvSpPr>
        <p:spPr>
          <a:xfrm>
            <a:off x="1" y="3852000"/>
            <a:ext cx="12192001" cy="180000"/>
          </a:xfrm>
          <a:prstGeom prst="rect">
            <a:avLst/>
          </a:prstGeom>
          <a:solidFill>
            <a:schemeClr val="bg1">
              <a:lumMod val="6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944000"/>
            <a:ext cx="12192000" cy="1908000"/>
          </a:xfrm>
          <a:prstGeom prst="rect">
            <a:avLst/>
          </a:prstGeom>
        </p:spPr>
      </p:pic>
      <p:sp>
        <p:nvSpPr>
          <p:cNvPr id="2" name="标题 1"/>
          <p:cNvSpPr>
            <a:spLocks noGrp="1"/>
          </p:cNvSpPr>
          <p:nvPr>
            <p:ph type="ctrTitle"/>
          </p:nvPr>
        </p:nvSpPr>
        <p:spPr>
          <a:xfrm>
            <a:off x="240000" y="2124000"/>
            <a:ext cx="6960000" cy="1548000"/>
          </a:xfrm>
          <a:prstGeom prst="rect">
            <a:avLst/>
          </a:prstGeom>
        </p:spPr>
        <p:txBody>
          <a:bodyPr anchor="ctr">
            <a:normAutofit/>
          </a:bodyPr>
          <a:lstStyle>
            <a:lvl1pPr>
              <a:lnSpc>
                <a:spcPct val="150000"/>
              </a:lnSpc>
              <a:defRPr sz="3200">
                <a:solidFill>
                  <a:schemeClr val="bg1"/>
                </a:solidFill>
                <a:latin typeface="黑体" panose="02010609060101010101" pitchFamily="49" charset="-122"/>
                <a:ea typeface="黑体" panose="02010609060101010101" pitchFamily="49" charset="-122"/>
                <a:cs typeface="黑体" panose="02010609060101010101" pitchFamily="49" charset="-122"/>
              </a:defRPr>
            </a:lvl1pPr>
          </a:lstStyle>
          <a:p>
            <a:r>
              <a:rPr kumimoji="1" lang="zh-CN" altLang="en-US" dirty="0" smtClean="0"/>
              <a:t>单击此处编辑母版标题样式</a:t>
            </a:r>
            <a:endParaRPr kumimoji="1" lang="zh-CN" altLang="en-US" dirty="0"/>
          </a:p>
        </p:txBody>
      </p:sp>
      <p:sp>
        <p:nvSpPr>
          <p:cNvPr id="11" name="文本框 10"/>
          <p:cNvSpPr txBox="1"/>
          <p:nvPr userDrawn="1"/>
        </p:nvSpPr>
        <p:spPr>
          <a:xfrm>
            <a:off x="9984001" y="216001"/>
            <a:ext cx="2041793" cy="307777"/>
          </a:xfrm>
          <a:prstGeom prst="rect">
            <a:avLst/>
          </a:prstGeom>
          <a:noFill/>
        </p:spPr>
        <p:txBody>
          <a:bodyPr wrap="square" rtlCol="0" anchor="ctr">
            <a:spAutoFit/>
          </a:bodyPr>
          <a:lstStyle/>
          <a:p>
            <a:pPr algn="ctr"/>
            <a:r>
              <a:rPr lang="en-US" altLang="zh-CN" sz="1400" b="0" i="0" dirty="0" smtClean="0">
                <a:solidFill>
                  <a:srgbClr val="9FA0A0"/>
                </a:solidFill>
                <a:latin typeface="Arial" panose="020B0604020202020204" pitchFamily="34" charset="0"/>
                <a:cs typeface="Arial" panose="020B0604020202020204" pitchFamily="34" charset="0"/>
              </a:rPr>
              <a:t>www.sciyon.com</a:t>
            </a:r>
            <a:endParaRPr lang="zh-CN" altLang="en-US" sz="1200" b="0" i="0" dirty="0">
              <a:solidFill>
                <a:srgbClr val="9FA0A0"/>
              </a:solidFill>
              <a:latin typeface="Arial" panose="020B0604020202020204" pitchFamily="34" charset="0"/>
              <a:cs typeface="Arial" panose="020B0604020202020204" pitchFamily="34" charset="0"/>
            </a:endParaRPr>
          </a:p>
        </p:txBody>
      </p:sp>
      <p:sp>
        <p:nvSpPr>
          <p:cNvPr id="12" name="文本框 11"/>
          <p:cNvSpPr txBox="1"/>
          <p:nvPr userDrawn="1"/>
        </p:nvSpPr>
        <p:spPr>
          <a:xfrm>
            <a:off x="4608000" y="5795999"/>
            <a:ext cx="2976000" cy="288000"/>
          </a:xfrm>
          <a:prstGeom prst="rect">
            <a:avLst/>
          </a:prstGeom>
          <a:noFill/>
        </p:spPr>
        <p:txBody>
          <a:bodyPr wrap="square" rtlCol="0" anchor="ctr">
            <a:spAutoFit/>
          </a:bodyPr>
          <a:lstStyle/>
          <a:p>
            <a:pPr algn="ctr"/>
            <a:r>
              <a:rPr lang="zh-CN" altLang="en-US" sz="1200" b="0" i="0" dirty="0" smtClean="0">
                <a:solidFill>
                  <a:srgbClr val="9FA0A0"/>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b="0" i="0" dirty="0">
              <a:solidFill>
                <a:srgbClr val="9FA0A0"/>
              </a:solidFill>
              <a:latin typeface="黑体" panose="02010609060101010101" pitchFamily="49" charset="-122"/>
              <a:ea typeface="黑体" panose="02010609060101010101" pitchFamily="49" charset="-122"/>
              <a:cs typeface="Arial" panose="020B0604020202020204" pitchFamily="34" charset="0"/>
            </a:endParaRPr>
          </a:p>
        </p:txBody>
      </p:sp>
      <p:pic>
        <p:nvPicPr>
          <p:cNvPr id="2054" name="图片 2" descr="Logo+科远智慧（白色）"/>
          <p:cNvPicPr>
            <a:picLocks noChangeAspect="1"/>
          </p:cNvPicPr>
          <p:nvPr userDrawn="1"/>
        </p:nvPicPr>
        <p:blipFill>
          <a:blip r:embed="rId3" cstate="print"/>
          <a:stretch>
            <a:fillRect/>
          </a:stretch>
        </p:blipFill>
        <p:spPr>
          <a:xfrm>
            <a:off x="8498205" y="2548255"/>
            <a:ext cx="2811145" cy="700405"/>
          </a:xfrm>
          <a:prstGeom prst="rect">
            <a:avLst/>
          </a:prstGeom>
          <a:noFill/>
          <a:ln w="9525">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封面（带副标题）">
    <p:spTree>
      <p:nvGrpSpPr>
        <p:cNvPr id="1" name=""/>
        <p:cNvGrpSpPr/>
        <p:nvPr/>
      </p:nvGrpSpPr>
      <p:grpSpPr>
        <a:xfrm>
          <a:off x="0" y="0"/>
          <a:ext cx="0" cy="0"/>
          <a:chOff x="0" y="0"/>
          <a:chExt cx="0" cy="0"/>
        </a:xfrm>
      </p:grpSpPr>
      <p:sp>
        <p:nvSpPr>
          <p:cNvPr id="9" name="矩形 8"/>
          <p:cNvSpPr/>
          <p:nvPr userDrawn="1"/>
        </p:nvSpPr>
        <p:spPr>
          <a:xfrm>
            <a:off x="1" y="3852000"/>
            <a:ext cx="12192001" cy="180000"/>
          </a:xfrm>
          <a:prstGeom prst="rect">
            <a:avLst/>
          </a:prstGeom>
          <a:solidFill>
            <a:schemeClr val="bg1">
              <a:lumMod val="6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80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944000"/>
            <a:ext cx="12192000" cy="1908000"/>
          </a:xfrm>
          <a:prstGeom prst="rect">
            <a:avLst/>
          </a:prstGeom>
        </p:spPr>
      </p:pic>
      <p:sp>
        <p:nvSpPr>
          <p:cNvPr id="2" name="标题 1"/>
          <p:cNvSpPr>
            <a:spLocks noGrp="1"/>
          </p:cNvSpPr>
          <p:nvPr>
            <p:ph type="ctrTitle"/>
          </p:nvPr>
        </p:nvSpPr>
        <p:spPr>
          <a:xfrm>
            <a:off x="240000" y="2124000"/>
            <a:ext cx="6960000" cy="936000"/>
          </a:xfrm>
          <a:prstGeom prst="rect">
            <a:avLst/>
          </a:prstGeom>
        </p:spPr>
        <p:txBody>
          <a:bodyPr anchor="ctr">
            <a:normAutofit/>
          </a:bodyPr>
          <a:lstStyle>
            <a:lvl1pPr>
              <a:lnSpc>
                <a:spcPct val="150000"/>
              </a:lnSpc>
              <a:defRPr sz="3200">
                <a:solidFill>
                  <a:schemeClr val="bg1"/>
                </a:solidFill>
                <a:latin typeface="黑体" panose="02010609060101010101" pitchFamily="49" charset="-122"/>
                <a:ea typeface="黑体" panose="02010609060101010101" pitchFamily="49" charset="-122"/>
                <a:cs typeface="黑体" panose="02010609060101010101" pitchFamily="49" charset="-122"/>
              </a:defRPr>
            </a:lvl1pPr>
          </a:lstStyle>
          <a:p>
            <a:r>
              <a:rPr kumimoji="1" lang="zh-CN" altLang="en-US" dirty="0" smtClean="0"/>
              <a:t>单击此处编辑母版标题样式</a:t>
            </a:r>
            <a:endParaRPr kumimoji="1" lang="zh-CN" altLang="en-US" dirty="0"/>
          </a:p>
        </p:txBody>
      </p:sp>
      <p:sp>
        <p:nvSpPr>
          <p:cNvPr id="11" name="文本框 10"/>
          <p:cNvSpPr txBox="1"/>
          <p:nvPr userDrawn="1"/>
        </p:nvSpPr>
        <p:spPr>
          <a:xfrm>
            <a:off x="9984001" y="216001"/>
            <a:ext cx="2041793" cy="307777"/>
          </a:xfrm>
          <a:prstGeom prst="rect">
            <a:avLst/>
          </a:prstGeom>
          <a:noFill/>
        </p:spPr>
        <p:txBody>
          <a:bodyPr wrap="square" rtlCol="0" anchor="ctr">
            <a:spAutoFit/>
          </a:bodyPr>
          <a:lstStyle/>
          <a:p>
            <a:pPr algn="ctr"/>
            <a:r>
              <a:rPr lang="en-US" altLang="zh-CN" sz="1400" b="0" i="0" dirty="0" smtClean="0">
                <a:solidFill>
                  <a:srgbClr val="9FA0A0"/>
                </a:solidFill>
                <a:latin typeface="Arial" panose="020B0604020202020204" pitchFamily="34" charset="0"/>
                <a:cs typeface="Arial" panose="020B0604020202020204" pitchFamily="34" charset="0"/>
              </a:rPr>
              <a:t>www.sciyon.com</a:t>
            </a:r>
            <a:endParaRPr lang="zh-CN" altLang="en-US" sz="1200" b="0" i="0" dirty="0">
              <a:solidFill>
                <a:srgbClr val="9FA0A0"/>
              </a:solidFill>
              <a:latin typeface="Arial" panose="020B0604020202020204" pitchFamily="34" charset="0"/>
              <a:cs typeface="Arial" panose="020B0604020202020204" pitchFamily="34" charset="0"/>
            </a:endParaRPr>
          </a:p>
        </p:txBody>
      </p:sp>
      <p:sp>
        <p:nvSpPr>
          <p:cNvPr id="12" name="文本框 11"/>
          <p:cNvSpPr txBox="1"/>
          <p:nvPr userDrawn="1"/>
        </p:nvSpPr>
        <p:spPr>
          <a:xfrm>
            <a:off x="4608000" y="5795999"/>
            <a:ext cx="2976000" cy="288000"/>
          </a:xfrm>
          <a:prstGeom prst="rect">
            <a:avLst/>
          </a:prstGeom>
          <a:noFill/>
        </p:spPr>
        <p:txBody>
          <a:bodyPr wrap="square" rtlCol="0" anchor="ctr">
            <a:spAutoFit/>
          </a:bodyPr>
          <a:lstStyle/>
          <a:p>
            <a:pPr algn="ctr"/>
            <a:r>
              <a:rPr lang="zh-CN" altLang="en-US" sz="1200" b="0" i="0" dirty="0" smtClean="0">
                <a:solidFill>
                  <a:srgbClr val="9FA0A0"/>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b="0" i="0" dirty="0">
              <a:solidFill>
                <a:srgbClr val="9FA0A0"/>
              </a:solidFill>
              <a:latin typeface="黑体" panose="02010609060101010101" pitchFamily="49" charset="-122"/>
              <a:ea typeface="黑体" panose="02010609060101010101" pitchFamily="49" charset="-122"/>
              <a:cs typeface="Arial" panose="020B0604020202020204" pitchFamily="34" charset="0"/>
            </a:endParaRPr>
          </a:p>
        </p:txBody>
      </p:sp>
      <p:pic>
        <p:nvPicPr>
          <p:cNvPr id="14" name="图片 13"/>
          <p:cNvPicPr>
            <a:picLocks noChangeAspect="1"/>
          </p:cNvPicPr>
          <p:nvPr userDrawn="1"/>
        </p:nvPicPr>
        <p:blipFill>
          <a:blip r:embed="rId3" cstate="print"/>
          <a:stretch>
            <a:fillRect/>
          </a:stretch>
        </p:blipFill>
        <p:spPr>
          <a:xfrm>
            <a:off x="8424000" y="2547862"/>
            <a:ext cx="2880000" cy="700276"/>
          </a:xfrm>
          <a:prstGeom prst="rect">
            <a:avLst/>
          </a:prstGeom>
        </p:spPr>
      </p:pic>
      <p:sp>
        <p:nvSpPr>
          <p:cNvPr id="10" name="副标题 16"/>
          <p:cNvSpPr>
            <a:spLocks noGrp="1"/>
          </p:cNvSpPr>
          <p:nvPr>
            <p:ph type="subTitle" idx="1"/>
          </p:nvPr>
        </p:nvSpPr>
        <p:spPr>
          <a:xfrm>
            <a:off x="240000" y="3060000"/>
            <a:ext cx="6960000" cy="612000"/>
          </a:xfrm>
        </p:spPr>
        <p:txBody>
          <a:bodyPr lIns="45720" rIns="45720"/>
          <a:lstStyle>
            <a:lvl1pPr marL="0" marR="64135" indent="0" algn="r">
              <a:buNone/>
              <a:defRPr>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内容占位符 10"/>
          <p:cNvSpPr>
            <a:spLocks noGrp="1"/>
          </p:cNvSpPr>
          <p:nvPr>
            <p:ph sz="quarter" idx="10"/>
          </p:nvPr>
        </p:nvSpPr>
        <p:spPr>
          <a:xfrm>
            <a:off x="336549" y="1080000"/>
            <a:ext cx="11520000" cy="5220000"/>
          </a:xfr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76000" y="2880000"/>
            <a:ext cx="8640000" cy="1440000"/>
          </a:xfrm>
          <a:prstGeom prst="rect">
            <a:avLst/>
          </a:prstGeom>
        </p:spPr>
        <p:txBody>
          <a:bodyPr anchor="t">
            <a:normAutofit/>
          </a:bodyPr>
          <a:lstStyle>
            <a:lvl1pPr marL="0" indent="0" algn="ctr">
              <a:buNone/>
              <a:defRPr sz="3600">
                <a:solidFill>
                  <a:srgbClr val="006EA0"/>
                </a:solidFill>
              </a:defRPr>
            </a:lvl1pPr>
            <a:lvl2pPr marL="725170" indent="0">
              <a:buNone/>
              <a:defRPr sz="2900">
                <a:solidFill>
                  <a:schemeClr val="tx1">
                    <a:tint val="75000"/>
                  </a:schemeClr>
                </a:solidFill>
              </a:defRPr>
            </a:lvl2pPr>
            <a:lvl3pPr marL="1450340" indent="0">
              <a:buNone/>
              <a:defRPr sz="2500">
                <a:solidFill>
                  <a:schemeClr val="tx1">
                    <a:tint val="75000"/>
                  </a:schemeClr>
                </a:solidFill>
              </a:defRPr>
            </a:lvl3pPr>
            <a:lvl4pPr marL="2175510" indent="0">
              <a:buNone/>
              <a:defRPr sz="2200">
                <a:solidFill>
                  <a:schemeClr val="tx1">
                    <a:tint val="75000"/>
                  </a:schemeClr>
                </a:solidFill>
              </a:defRPr>
            </a:lvl4pPr>
            <a:lvl5pPr marL="2901315" indent="0">
              <a:buNone/>
              <a:defRPr sz="2200">
                <a:solidFill>
                  <a:schemeClr val="tx1">
                    <a:tint val="75000"/>
                  </a:schemeClr>
                </a:solidFill>
              </a:defRPr>
            </a:lvl5pPr>
            <a:lvl6pPr marL="3626485" indent="0">
              <a:buNone/>
              <a:defRPr sz="2200">
                <a:solidFill>
                  <a:schemeClr val="tx1">
                    <a:tint val="75000"/>
                  </a:schemeClr>
                </a:solidFill>
              </a:defRPr>
            </a:lvl6pPr>
            <a:lvl7pPr marL="4351655" indent="0">
              <a:buNone/>
              <a:defRPr sz="2200">
                <a:solidFill>
                  <a:schemeClr val="tx1">
                    <a:tint val="75000"/>
                  </a:schemeClr>
                </a:solidFill>
              </a:defRPr>
            </a:lvl7pPr>
            <a:lvl8pPr marL="5076825" indent="0">
              <a:buNone/>
              <a:defRPr sz="2200">
                <a:solidFill>
                  <a:schemeClr val="tx1">
                    <a:tint val="75000"/>
                  </a:schemeClr>
                </a:solidFill>
              </a:defRPr>
            </a:lvl8pPr>
            <a:lvl9pPr marL="5801995" indent="0">
              <a:buNone/>
              <a:defRPr sz="2200">
                <a:solidFill>
                  <a:schemeClr val="tx1">
                    <a:tint val="75000"/>
                  </a:schemeClr>
                </a:solidFill>
              </a:defRPr>
            </a:lvl9pPr>
          </a:lstStyle>
          <a:p>
            <a:pPr lvl="0"/>
            <a:r>
              <a:rPr kumimoji="1" lang="zh-CN" altLang="en-US" dirty="0" smtClean="0"/>
              <a:t>单击此处编辑母版文本样式</a:t>
            </a:r>
            <a:endParaRPr kumimoji="1" lang="zh-CN" altLang="en-US" dirty="0" smtClean="0"/>
          </a:p>
        </p:txBody>
      </p:sp>
      <p:sp>
        <p:nvSpPr>
          <p:cNvPr id="8" name="灯片编号占位符 7"/>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9" name="标题 8"/>
          <p:cNvSpPr>
            <a:spLocks noGrp="1"/>
          </p:cNvSpPr>
          <p:nvPr>
            <p:ph type="title"/>
          </p:nvPr>
        </p:nvSpPr>
        <p:spPr>
          <a:xfrm>
            <a:off x="1776000" y="1440000"/>
            <a:ext cx="8640000" cy="1440000"/>
          </a:xfrm>
        </p:spPr>
        <p:txBody>
          <a:bodyPr/>
          <a:lstStyle/>
          <a:p>
            <a:r>
              <a:rPr lang="zh-CN" altLang="en-US" dirty="0" smtClean="0"/>
              <a:t>单击此处编辑母版标题样式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5220000"/>
          </a:xfrm>
        </p:spPr>
        <p:txBody>
          <a:bodyPr/>
          <a:lstStyle>
            <a:lvl4pPr marL="1080135" marR="0" indent="0" algn="just" defTabSz="725170" rtl="0" eaLnBrk="1" fontAlgn="auto" latinLnBrk="0" hangingPunct="1">
              <a:lnSpc>
                <a:spcPct val="150000"/>
              </a:lnSpc>
              <a:spcBef>
                <a:spcPts val="0"/>
              </a:spcBef>
              <a:spcAft>
                <a:spcPts val="0"/>
              </a:spcAft>
              <a:buClrTx/>
              <a:buSzTx/>
              <a:buFont typeface="Arial" panose="020B0604020202020204"/>
              <a:buNone/>
              <a:defRPr/>
            </a:lvl4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marL="1080135" marR="0" lvl="3" indent="0" algn="just" defTabSz="725170" rtl="0" eaLnBrk="1" fontAlgn="auto" latinLnBrk="0" hangingPunct="1">
              <a:lnSpc>
                <a:spcPct val="150000"/>
              </a:lnSpc>
              <a:spcBef>
                <a:spcPts val="0"/>
              </a:spcBef>
              <a:spcAft>
                <a:spcPts val="0"/>
              </a:spcAft>
              <a:buClrTx/>
              <a:buSzTx/>
              <a:buFont typeface="Arial" panose="020B0604020202020204"/>
              <a:buNone/>
              <a:defRPr/>
            </a:pPr>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5220000"/>
          </a:xfrm>
        </p:spPr>
        <p:txBody>
          <a:bodyPr/>
          <a:lstStyle>
            <a:lvl3pPr marL="1080135" marR="0" indent="-360045" algn="just" defTabSz="725170" rtl="0" eaLnBrk="1" fontAlgn="auto" latinLnBrk="0" hangingPunct="1">
              <a:lnSpc>
                <a:spcPct val="150000"/>
              </a:lnSpc>
              <a:spcBef>
                <a:spcPts val="0"/>
              </a:spcBef>
              <a:spcAft>
                <a:spcPts val="0"/>
              </a:spcAft>
              <a:buClrTx/>
              <a:buSzTx/>
              <a:buFont typeface="黑体" panose="02010609060101010101" pitchFamily="49" charset="-122"/>
              <a:buChar char="-"/>
              <a:defRPr/>
            </a:lvl3pPr>
            <a:lvl4pPr marL="1080135" indent="0">
              <a:buNone/>
              <a:defRPr/>
            </a:lvl4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三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3648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4272000" y="10795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8208000" y="10800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6" y="1080000"/>
            <a:ext cx="7584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8208000" y="10800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右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3648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4272000" y="1080000"/>
            <a:ext cx="7584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四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上一下二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上二下一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11520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06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06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500000"/>
            <a:ext cx="11520000"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5999" y="3780000"/>
            <a:ext cx="11519999"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060000"/>
            <a:ext cx="11520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1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500000"/>
            <a:ext cx="11520000"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2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680000"/>
            <a:ext cx="11520000"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0"/>
          <p:cNvSpPr>
            <a:spLocks noGrp="1"/>
          </p:cNvSpPr>
          <p:nvPr>
            <p:ph sz="quarter" idx="14"/>
          </p:nvPr>
        </p:nvSpPr>
        <p:spPr>
          <a:xfrm>
            <a:off x="336001" y="2880000"/>
            <a:ext cx="11520001"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6000" y="108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4" name="内容占位符 3"/>
          <p:cNvSpPr>
            <a:spLocks noGrp="1"/>
          </p:cNvSpPr>
          <p:nvPr>
            <p:ph sz="half" idx="2"/>
          </p:nvPr>
        </p:nvSpPr>
        <p:spPr>
          <a:xfrm>
            <a:off x="336000" y="1620000"/>
            <a:ext cx="5616000" cy="4680000"/>
          </a:xfrm>
          <a:prstGeom prst="rect">
            <a:avLst/>
          </a:prstGeo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lang="zh-CN" altLang="en-US" dirty="0" smtClean="0"/>
              <a:t>四级</a:t>
            </a:r>
            <a:endParaRPr kumimoji="1" lang="zh-CN" altLang="en-US" dirty="0" smtClean="0"/>
          </a:p>
        </p:txBody>
      </p:sp>
      <p:sp>
        <p:nvSpPr>
          <p:cNvPr id="5" name="文本占位符 4"/>
          <p:cNvSpPr>
            <a:spLocks noGrp="1"/>
          </p:cNvSpPr>
          <p:nvPr>
            <p:ph type="body" sz="quarter" idx="3"/>
          </p:nvPr>
        </p:nvSpPr>
        <p:spPr>
          <a:xfrm>
            <a:off x="6240000" y="108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6" name="内容占位符 5"/>
          <p:cNvSpPr>
            <a:spLocks noGrp="1"/>
          </p:cNvSpPr>
          <p:nvPr>
            <p:ph sz="quarter" idx="4"/>
          </p:nvPr>
        </p:nvSpPr>
        <p:spPr>
          <a:xfrm>
            <a:off x="6240000" y="1620000"/>
            <a:ext cx="5616000" cy="4680000"/>
          </a:xfrm>
          <a:prstGeom prst="rect">
            <a:avLst/>
          </a:prstGeom>
        </p:spPr>
        <p:txBody>
          <a:bodyPr vert="horz" lIns="91440" tIns="45720" rIns="91440" bIns="45720" rtlCol="0">
            <a:normAutofit/>
          </a:bodyPr>
          <a:lstStyle>
            <a:lvl1pPr>
              <a:defRPr kumimoji="1" lang="zh-CN" altLang="en-US" dirty="0" smtClean="0"/>
            </a:lvl1pPr>
            <a:lvl2pPr>
              <a:defRPr kumimoji="1" lang="zh-CN" altLang="en-US" dirty="0" smtClean="0"/>
            </a:lvl2pPr>
            <a:lvl3pPr>
              <a:defRPr kumimoji="1" lang="en-US" altLang="zh-CN" dirty="0" smtClean="0"/>
            </a:lvl3pPr>
            <a:lvl4pPr>
              <a:defRPr lang="zh-CN" altLang="en-US" dirty="0" smtClean="0"/>
            </a:lvl4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lang="zh-CN" altLang="en-US" dirty="0" smtClean="0"/>
              <a:t>四级</a:t>
            </a:r>
            <a:endParaRPr kumimoji="1" lang="zh-CN" altLang="en-US" dirty="0" smtClean="0"/>
          </a:p>
        </p:txBody>
      </p:sp>
      <p:sp>
        <p:nvSpPr>
          <p:cNvPr id="10" name="标题 9"/>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灯片编号占位符 10"/>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6000" y="576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4" name="内容占位符 3"/>
          <p:cNvSpPr>
            <a:spLocks noGrp="1"/>
          </p:cNvSpPr>
          <p:nvPr>
            <p:ph sz="half" idx="2"/>
          </p:nvPr>
        </p:nvSpPr>
        <p:spPr>
          <a:xfrm>
            <a:off x="336000" y="1080000"/>
            <a:ext cx="5616000" cy="4680000"/>
          </a:xfrm>
          <a:prstGeom prst="rect">
            <a:avLst/>
          </a:prstGeo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5" name="文本占位符 4"/>
          <p:cNvSpPr>
            <a:spLocks noGrp="1"/>
          </p:cNvSpPr>
          <p:nvPr>
            <p:ph type="body" sz="quarter" idx="3"/>
          </p:nvPr>
        </p:nvSpPr>
        <p:spPr>
          <a:xfrm>
            <a:off x="6240000" y="576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6" name="内容占位符 5"/>
          <p:cNvSpPr>
            <a:spLocks noGrp="1"/>
          </p:cNvSpPr>
          <p:nvPr>
            <p:ph sz="quarter" idx="4"/>
          </p:nvPr>
        </p:nvSpPr>
        <p:spPr>
          <a:xfrm>
            <a:off x="6240000" y="1080000"/>
            <a:ext cx="5616000" cy="4680000"/>
          </a:xfrm>
          <a:prstGeom prst="rect">
            <a:avLst/>
          </a:prstGeom>
        </p:spPr>
        <p:txBody>
          <a:bodyPr vert="horz" lIns="91440" tIns="45720" rIns="91440" bIns="45720" rtlCol="0">
            <a:normAutofit/>
          </a:bodyPr>
          <a:lstStyle>
            <a:lvl1pPr>
              <a:defRPr kumimoji="1" lang="zh-CN" altLang="en-US" dirty="0" smtClean="0"/>
            </a:lvl1pPr>
            <a:lvl2pPr>
              <a:defRPr kumimoji="1" lang="zh-CN" altLang="en-US" dirty="0" smtClean="0"/>
            </a:lvl2pPr>
            <a:lvl3pPr>
              <a:defRPr kumimoji="1" lang="zh-CN" altLang="en-US" dirty="0" smtClean="0"/>
            </a:lvl3pPr>
            <a:lvl4pPr>
              <a:defRPr kumimoji="1" lang="zh-CN" altLang="en-US" dirty="0" smtClean="0"/>
            </a:lvl4pPr>
            <a:lvl5pPr>
              <a:defRPr kumimoji="1"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10" name="标题 9"/>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灯片编号占位符 10"/>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7" name="灯片编号占位符 6"/>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0000" y="5796000"/>
            <a:ext cx="10752000" cy="504000"/>
          </a:xfrm>
          <a:prstGeom prst="rect">
            <a:avLst/>
          </a:prstGeom>
        </p:spPr>
        <p:txBody>
          <a:bodyPr anchor="ctr">
            <a:normAutofit/>
          </a:bodyPr>
          <a:lstStyle>
            <a:lvl1pPr algn="ctr">
              <a:defRPr sz="2400" b="1"/>
            </a:lvl1pPr>
          </a:lstStyle>
          <a:p>
            <a:r>
              <a:rPr kumimoji="1" lang="zh-CN" altLang="en-US" dirty="0" smtClean="0"/>
              <a:t>单击此处编辑母版标题样式</a:t>
            </a:r>
            <a:endParaRPr kumimoji="1" lang="zh-CN" altLang="en-US" dirty="0"/>
          </a:p>
        </p:txBody>
      </p:sp>
      <p:sp>
        <p:nvSpPr>
          <p:cNvPr id="3" name="图片占位符 2"/>
          <p:cNvSpPr>
            <a:spLocks noGrp="1" noChangeAspect="1"/>
          </p:cNvSpPr>
          <p:nvPr>
            <p:ph type="pic" idx="1"/>
          </p:nvPr>
        </p:nvSpPr>
        <p:spPr>
          <a:xfrm>
            <a:off x="720000" y="1080000"/>
            <a:ext cx="10752000" cy="4536000"/>
          </a:xfrm>
          <a:prstGeom prst="rect">
            <a:avLst/>
          </a:prstGeom>
        </p:spPr>
        <p:txBody>
          <a:bodyPr anchor="ctr"/>
          <a:lstStyle>
            <a:lvl1pPr marL="0" indent="0" algn="ctr">
              <a:buNone/>
              <a:defRPr sz="5100"/>
            </a:lvl1pPr>
            <a:lvl2pPr marL="725170" indent="0">
              <a:buNone/>
              <a:defRPr sz="4400"/>
            </a:lvl2pPr>
            <a:lvl3pPr marL="1450340" indent="0">
              <a:buNone/>
              <a:defRPr sz="3800"/>
            </a:lvl3pPr>
            <a:lvl4pPr marL="2175510" indent="0">
              <a:buNone/>
              <a:defRPr sz="3200"/>
            </a:lvl4pPr>
            <a:lvl5pPr marL="2901315" indent="0">
              <a:buNone/>
              <a:defRPr sz="3200"/>
            </a:lvl5pPr>
            <a:lvl6pPr marL="3626485" indent="0">
              <a:buNone/>
              <a:defRPr sz="3200"/>
            </a:lvl6pPr>
            <a:lvl7pPr marL="4351655" indent="0">
              <a:buNone/>
              <a:defRPr sz="3200"/>
            </a:lvl7pPr>
            <a:lvl8pPr marL="5076825" indent="0">
              <a:buNone/>
              <a:defRPr sz="3200"/>
            </a:lvl8pPr>
            <a:lvl9pPr marL="5801995" indent="0">
              <a:buNone/>
              <a:defRPr sz="3200"/>
            </a:lvl9pPr>
          </a:lstStyle>
          <a:p>
            <a:endParaRPr kumimoji="1" lang="zh-CN" altLang="en-US" dirty="0"/>
          </a:p>
        </p:txBody>
      </p:sp>
      <p:sp>
        <p:nvSpPr>
          <p:cNvPr id="10" name="灯片编号占位符 9"/>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和竖排文本">
    <p:spTree>
      <p:nvGrpSpPr>
        <p:cNvPr id="1" name=""/>
        <p:cNvGrpSpPr/>
        <p:nvPr/>
      </p:nvGrpSpPr>
      <p:grpSpPr>
        <a:xfrm>
          <a:off x="0" y="0"/>
          <a:ext cx="0" cy="0"/>
          <a:chOff x="0" y="0"/>
          <a:chExt cx="0" cy="0"/>
        </a:xfrm>
      </p:grpSpPr>
      <p:sp>
        <p:nvSpPr>
          <p:cNvPr id="3" name="竖排文本占位符 2"/>
          <p:cNvSpPr>
            <a:spLocks noGrp="1"/>
          </p:cNvSpPr>
          <p:nvPr>
            <p:ph type="body" orient="vert" idx="1"/>
          </p:nvPr>
        </p:nvSpPr>
        <p:spPr>
          <a:xfrm>
            <a:off x="336000" y="1079999"/>
            <a:ext cx="11520000" cy="5220000"/>
          </a:xfrm>
          <a:prstGeom prst="rect">
            <a:avLst/>
          </a:prstGeom>
        </p:spPr>
        <p:txBody>
          <a:bodyPr vert="eaVert"/>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7" name="标题 6"/>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8" name="灯片编号占位符 7"/>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16000" y="1079999"/>
            <a:ext cx="1440000" cy="5220000"/>
          </a:xfrm>
          <a:prstGeom prst="rect">
            <a:avLst/>
          </a:prstGeo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336000" y="1079999"/>
            <a:ext cx="9792000" cy="5220000"/>
          </a:xfrm>
          <a:prstGeom prst="rect">
            <a:avLst/>
          </a:prstGeom>
        </p:spPr>
        <p:txBody>
          <a:bodyPr vert="eaVert"/>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7" name="灯片编号占位符 6"/>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showMasterSp="0" userDrawn="1">
  <p:cSld name="1_封底">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algn="ctr"/>
            <a:fld id="{3AD9866C-B8E1-4B55-A986-B90A7612EBA6}" type="slidenum">
              <a:rPr lang="en-US" altLang="zh-CN" smtClean="0"/>
            </a:fld>
            <a:endParaRPr 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54496"/>
            <a:ext cx="12192000" cy="603504"/>
          </a:xfrm>
          <a:prstGeom prst="rect">
            <a:avLst/>
          </a:prstGeom>
        </p:spPr>
      </p:pic>
      <p:sp>
        <p:nvSpPr>
          <p:cNvPr id="9" name="文本框 8"/>
          <p:cNvSpPr txBox="1"/>
          <p:nvPr userDrawn="1"/>
        </p:nvSpPr>
        <p:spPr>
          <a:xfrm>
            <a:off x="1992000" y="6417750"/>
            <a:ext cx="4704000" cy="276999"/>
          </a:xfrm>
          <a:prstGeom prst="rect">
            <a:avLst/>
          </a:prstGeom>
          <a:noFill/>
        </p:spPr>
        <p:txBody>
          <a:bodyPr wrap="square" rtlCol="0" anchor="ctr">
            <a:spAutoFit/>
          </a:bodyPr>
          <a:lstStyle/>
          <a:p>
            <a:pPr algn="ctr"/>
            <a:r>
              <a:rPr lang="zh-CN" altLang="en-US" sz="1200" dirty="0" smtClean="0">
                <a:solidFill>
                  <a:schemeClr val="bg1"/>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dirty="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pic>
        <p:nvPicPr>
          <p:cNvPr id="10" name="图片 9"/>
          <p:cNvPicPr>
            <a:picLocks noChangeAspect="1"/>
          </p:cNvPicPr>
          <p:nvPr userDrawn="1"/>
        </p:nvPicPr>
        <p:blipFill>
          <a:blip r:embed="rId3" cstate="print"/>
          <a:stretch>
            <a:fillRect/>
          </a:stretch>
        </p:blipFill>
        <p:spPr>
          <a:xfrm>
            <a:off x="9723719" y="6365890"/>
            <a:ext cx="1480556" cy="360000"/>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635573"/>
            <a:ext cx="12192000" cy="981191"/>
          </a:xfrm>
          <a:prstGeom prst="rect">
            <a:avLst/>
          </a:prstGeom>
        </p:spPr>
      </p:pic>
      <p:sp>
        <p:nvSpPr>
          <p:cNvPr id="2" name="标题 1"/>
          <p:cNvSpPr>
            <a:spLocks noGrp="1"/>
          </p:cNvSpPr>
          <p:nvPr>
            <p:ph type="title"/>
          </p:nvPr>
        </p:nvSpPr>
        <p:spPr>
          <a:xfrm>
            <a:off x="1776000" y="1800000"/>
            <a:ext cx="8640000" cy="1800000"/>
          </a:xfrm>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565CE74E-AB26-4998-AD42-012C4C1AD076}" type="slidenum">
              <a:rPr lang="zh-CN" altLang="en-US" smtClean="0"/>
            </a:fld>
            <a:endParaRPr lang="zh-CN" altLang="en-US"/>
          </a:p>
        </p:txBody>
      </p:sp>
    </p:spTree>
  </p:cSld>
  <p:clrMapOvr>
    <a:masterClrMapping/>
  </p:clrMapOvr>
  <p:transition advTm="3000">
    <p:rand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showMasterSp="0" userDrawn="1">
  <p:cSld name="封面（无副标题）">
    <p:spTree>
      <p:nvGrpSpPr>
        <p:cNvPr id="1" name=""/>
        <p:cNvGrpSpPr/>
        <p:nvPr/>
      </p:nvGrpSpPr>
      <p:grpSpPr>
        <a:xfrm>
          <a:off x="0" y="0"/>
          <a:ext cx="0" cy="0"/>
          <a:chOff x="0" y="0"/>
          <a:chExt cx="0" cy="0"/>
        </a:xfrm>
      </p:grpSpPr>
      <p:sp>
        <p:nvSpPr>
          <p:cNvPr id="9" name="矩形 8"/>
          <p:cNvSpPr/>
          <p:nvPr userDrawn="1"/>
        </p:nvSpPr>
        <p:spPr>
          <a:xfrm>
            <a:off x="1" y="3852000"/>
            <a:ext cx="12192001" cy="180000"/>
          </a:xfrm>
          <a:prstGeom prst="rect">
            <a:avLst/>
          </a:prstGeom>
          <a:solidFill>
            <a:schemeClr val="bg1">
              <a:lumMod val="6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200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944000"/>
            <a:ext cx="12192000" cy="1908000"/>
          </a:xfrm>
          <a:prstGeom prst="rect">
            <a:avLst/>
          </a:prstGeom>
        </p:spPr>
      </p:pic>
      <p:sp>
        <p:nvSpPr>
          <p:cNvPr id="2" name="标题 1"/>
          <p:cNvSpPr>
            <a:spLocks noGrp="1"/>
          </p:cNvSpPr>
          <p:nvPr>
            <p:ph type="ctrTitle"/>
          </p:nvPr>
        </p:nvSpPr>
        <p:spPr>
          <a:xfrm>
            <a:off x="240000" y="2124000"/>
            <a:ext cx="6960000" cy="1548000"/>
          </a:xfrm>
          <a:prstGeom prst="rect">
            <a:avLst/>
          </a:prstGeom>
        </p:spPr>
        <p:txBody>
          <a:bodyPr anchor="ctr">
            <a:normAutofit/>
          </a:bodyPr>
          <a:lstStyle>
            <a:lvl1pPr>
              <a:lnSpc>
                <a:spcPct val="150000"/>
              </a:lnSpc>
              <a:defRPr sz="3200">
                <a:solidFill>
                  <a:schemeClr val="bg1"/>
                </a:solidFill>
                <a:latin typeface="黑体" panose="02010609060101010101" pitchFamily="49" charset="-122"/>
                <a:ea typeface="黑体" panose="02010609060101010101" pitchFamily="49" charset="-122"/>
                <a:cs typeface="黑体" panose="02010609060101010101" pitchFamily="49" charset="-122"/>
              </a:defRPr>
            </a:lvl1pPr>
          </a:lstStyle>
          <a:p>
            <a:r>
              <a:rPr kumimoji="1" lang="zh-CN" altLang="en-US" dirty="0" smtClean="0"/>
              <a:t>单击此处编辑母版标题样式</a:t>
            </a:r>
            <a:endParaRPr kumimoji="1" lang="zh-CN" altLang="en-US" dirty="0"/>
          </a:p>
        </p:txBody>
      </p:sp>
      <p:sp>
        <p:nvSpPr>
          <p:cNvPr id="11" name="文本框 10"/>
          <p:cNvSpPr txBox="1"/>
          <p:nvPr userDrawn="1"/>
        </p:nvSpPr>
        <p:spPr>
          <a:xfrm>
            <a:off x="9984001" y="216001"/>
            <a:ext cx="2041793" cy="307777"/>
          </a:xfrm>
          <a:prstGeom prst="rect">
            <a:avLst/>
          </a:prstGeom>
          <a:noFill/>
        </p:spPr>
        <p:txBody>
          <a:bodyPr wrap="square" rtlCol="0" anchor="ctr">
            <a:spAutoFit/>
          </a:bodyPr>
          <a:lstStyle/>
          <a:p>
            <a:pPr algn="ctr"/>
            <a:r>
              <a:rPr lang="en-US" altLang="zh-CN" sz="1400" b="0" i="0" dirty="0" smtClean="0">
                <a:solidFill>
                  <a:srgbClr val="9FA0A0"/>
                </a:solidFill>
                <a:latin typeface="Arial" panose="020B0604020202020204" pitchFamily="34" charset="0"/>
                <a:cs typeface="Arial" panose="020B0604020202020204" pitchFamily="34" charset="0"/>
              </a:rPr>
              <a:t>www.sciyon.com</a:t>
            </a:r>
            <a:endParaRPr lang="zh-CN" altLang="en-US" sz="1200" b="0" i="0" dirty="0">
              <a:solidFill>
                <a:srgbClr val="9FA0A0"/>
              </a:solidFill>
              <a:latin typeface="Arial" panose="020B0604020202020204" pitchFamily="34" charset="0"/>
              <a:cs typeface="Arial" panose="020B0604020202020204" pitchFamily="34" charset="0"/>
            </a:endParaRPr>
          </a:p>
        </p:txBody>
      </p:sp>
      <p:sp>
        <p:nvSpPr>
          <p:cNvPr id="12" name="文本框 11"/>
          <p:cNvSpPr txBox="1"/>
          <p:nvPr userDrawn="1"/>
        </p:nvSpPr>
        <p:spPr>
          <a:xfrm>
            <a:off x="4608000" y="5795999"/>
            <a:ext cx="2976000" cy="288000"/>
          </a:xfrm>
          <a:prstGeom prst="rect">
            <a:avLst/>
          </a:prstGeom>
          <a:noFill/>
        </p:spPr>
        <p:txBody>
          <a:bodyPr wrap="square" rtlCol="0" anchor="ctr">
            <a:spAutoFit/>
          </a:bodyPr>
          <a:lstStyle/>
          <a:p>
            <a:pPr algn="ctr"/>
            <a:r>
              <a:rPr lang="zh-CN" altLang="en-US" sz="1200" b="0" i="0" dirty="0" smtClean="0">
                <a:solidFill>
                  <a:srgbClr val="9FA0A0"/>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b="0" i="0" dirty="0">
              <a:solidFill>
                <a:srgbClr val="9FA0A0"/>
              </a:solidFill>
              <a:latin typeface="黑体" panose="02010609060101010101" pitchFamily="49" charset="-122"/>
              <a:ea typeface="黑体" panose="02010609060101010101" pitchFamily="49" charset="-122"/>
              <a:cs typeface="Arial" panose="020B0604020202020204" pitchFamily="34" charset="0"/>
            </a:endParaRPr>
          </a:p>
        </p:txBody>
      </p:sp>
      <p:pic>
        <p:nvPicPr>
          <p:cNvPr id="14" name="图片 13"/>
          <p:cNvPicPr>
            <a:picLocks noChangeAspect="1"/>
          </p:cNvPicPr>
          <p:nvPr userDrawn="1"/>
        </p:nvPicPr>
        <p:blipFill>
          <a:blip r:embed="rId3"/>
          <a:stretch>
            <a:fillRect/>
          </a:stretch>
        </p:blipFill>
        <p:spPr>
          <a:xfrm>
            <a:off x="8424000" y="2547862"/>
            <a:ext cx="2880000" cy="700276"/>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showMasterSp="0" userDrawn="1">
  <p:cSld name="封面（带副标题）">
    <p:spTree>
      <p:nvGrpSpPr>
        <p:cNvPr id="1" name=""/>
        <p:cNvGrpSpPr/>
        <p:nvPr/>
      </p:nvGrpSpPr>
      <p:grpSpPr>
        <a:xfrm>
          <a:off x="0" y="0"/>
          <a:ext cx="0" cy="0"/>
          <a:chOff x="0" y="0"/>
          <a:chExt cx="0" cy="0"/>
        </a:xfrm>
      </p:grpSpPr>
      <p:sp>
        <p:nvSpPr>
          <p:cNvPr id="9" name="矩形 8"/>
          <p:cNvSpPr/>
          <p:nvPr userDrawn="1"/>
        </p:nvSpPr>
        <p:spPr>
          <a:xfrm>
            <a:off x="1" y="3852000"/>
            <a:ext cx="12192001" cy="180000"/>
          </a:xfrm>
          <a:prstGeom prst="rect">
            <a:avLst/>
          </a:prstGeom>
          <a:solidFill>
            <a:schemeClr val="bg1">
              <a:lumMod val="65000"/>
            </a:schemeClr>
          </a:solidFill>
          <a:ln>
            <a:solidFill>
              <a:schemeClr val="bg1">
                <a:lumMod val="65000"/>
              </a:schemeClr>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2000"/>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1944000"/>
            <a:ext cx="12192000" cy="1908000"/>
          </a:xfrm>
          <a:prstGeom prst="rect">
            <a:avLst/>
          </a:prstGeom>
        </p:spPr>
      </p:pic>
      <p:sp>
        <p:nvSpPr>
          <p:cNvPr id="2" name="标题 1"/>
          <p:cNvSpPr>
            <a:spLocks noGrp="1"/>
          </p:cNvSpPr>
          <p:nvPr>
            <p:ph type="ctrTitle"/>
          </p:nvPr>
        </p:nvSpPr>
        <p:spPr>
          <a:xfrm>
            <a:off x="240000" y="2124000"/>
            <a:ext cx="6960000" cy="936000"/>
          </a:xfrm>
          <a:prstGeom prst="rect">
            <a:avLst/>
          </a:prstGeom>
        </p:spPr>
        <p:txBody>
          <a:bodyPr anchor="ctr">
            <a:normAutofit/>
          </a:bodyPr>
          <a:lstStyle>
            <a:lvl1pPr>
              <a:lnSpc>
                <a:spcPct val="150000"/>
              </a:lnSpc>
              <a:defRPr sz="3200">
                <a:solidFill>
                  <a:schemeClr val="bg1"/>
                </a:solidFill>
                <a:latin typeface="黑体" panose="02010609060101010101" pitchFamily="49" charset="-122"/>
                <a:ea typeface="黑体" panose="02010609060101010101" pitchFamily="49" charset="-122"/>
                <a:cs typeface="黑体" panose="02010609060101010101" pitchFamily="49" charset="-122"/>
              </a:defRPr>
            </a:lvl1pPr>
          </a:lstStyle>
          <a:p>
            <a:r>
              <a:rPr kumimoji="1" lang="zh-CN" altLang="en-US" dirty="0" smtClean="0"/>
              <a:t>单击此处编辑母版标题样式</a:t>
            </a:r>
            <a:endParaRPr kumimoji="1" lang="zh-CN" altLang="en-US" dirty="0"/>
          </a:p>
        </p:txBody>
      </p:sp>
      <p:sp>
        <p:nvSpPr>
          <p:cNvPr id="11" name="文本框 10"/>
          <p:cNvSpPr txBox="1"/>
          <p:nvPr userDrawn="1"/>
        </p:nvSpPr>
        <p:spPr>
          <a:xfrm>
            <a:off x="9984001" y="216001"/>
            <a:ext cx="2041793" cy="307777"/>
          </a:xfrm>
          <a:prstGeom prst="rect">
            <a:avLst/>
          </a:prstGeom>
          <a:noFill/>
        </p:spPr>
        <p:txBody>
          <a:bodyPr wrap="square" rtlCol="0" anchor="ctr">
            <a:spAutoFit/>
          </a:bodyPr>
          <a:lstStyle/>
          <a:p>
            <a:pPr algn="ctr"/>
            <a:r>
              <a:rPr lang="en-US" altLang="zh-CN" sz="1400" b="0" i="0" dirty="0" smtClean="0">
                <a:solidFill>
                  <a:srgbClr val="9FA0A0"/>
                </a:solidFill>
                <a:latin typeface="Arial" panose="020B0604020202020204" pitchFamily="34" charset="0"/>
                <a:cs typeface="Arial" panose="020B0604020202020204" pitchFamily="34" charset="0"/>
              </a:rPr>
              <a:t>www.sciyon.com</a:t>
            </a:r>
            <a:endParaRPr lang="zh-CN" altLang="en-US" sz="1200" b="0" i="0" dirty="0">
              <a:solidFill>
                <a:srgbClr val="9FA0A0"/>
              </a:solidFill>
              <a:latin typeface="Arial" panose="020B0604020202020204" pitchFamily="34" charset="0"/>
              <a:cs typeface="Arial" panose="020B0604020202020204" pitchFamily="34" charset="0"/>
            </a:endParaRPr>
          </a:p>
        </p:txBody>
      </p:sp>
      <p:sp>
        <p:nvSpPr>
          <p:cNvPr id="12" name="文本框 11"/>
          <p:cNvSpPr txBox="1"/>
          <p:nvPr userDrawn="1"/>
        </p:nvSpPr>
        <p:spPr>
          <a:xfrm>
            <a:off x="4608000" y="5795999"/>
            <a:ext cx="2976000" cy="288000"/>
          </a:xfrm>
          <a:prstGeom prst="rect">
            <a:avLst/>
          </a:prstGeom>
          <a:noFill/>
        </p:spPr>
        <p:txBody>
          <a:bodyPr wrap="square" rtlCol="0" anchor="ctr">
            <a:spAutoFit/>
          </a:bodyPr>
          <a:lstStyle/>
          <a:p>
            <a:pPr algn="ctr"/>
            <a:r>
              <a:rPr lang="zh-CN" altLang="en-US" sz="1200" b="0" i="0" dirty="0" smtClean="0">
                <a:solidFill>
                  <a:srgbClr val="9FA0A0"/>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b="0" i="0" dirty="0">
              <a:solidFill>
                <a:srgbClr val="9FA0A0"/>
              </a:solidFill>
              <a:latin typeface="黑体" panose="02010609060101010101" pitchFamily="49" charset="-122"/>
              <a:ea typeface="黑体" panose="02010609060101010101" pitchFamily="49" charset="-122"/>
              <a:cs typeface="Arial" panose="020B0604020202020204" pitchFamily="34" charset="0"/>
            </a:endParaRPr>
          </a:p>
        </p:txBody>
      </p:sp>
      <p:pic>
        <p:nvPicPr>
          <p:cNvPr id="14" name="图片 13"/>
          <p:cNvPicPr>
            <a:picLocks noChangeAspect="1"/>
          </p:cNvPicPr>
          <p:nvPr userDrawn="1"/>
        </p:nvPicPr>
        <p:blipFill>
          <a:blip r:embed="rId3"/>
          <a:stretch>
            <a:fillRect/>
          </a:stretch>
        </p:blipFill>
        <p:spPr>
          <a:xfrm>
            <a:off x="8424000" y="2547862"/>
            <a:ext cx="2880000" cy="700276"/>
          </a:xfrm>
          <a:prstGeom prst="rect">
            <a:avLst/>
          </a:prstGeom>
        </p:spPr>
      </p:pic>
      <p:sp>
        <p:nvSpPr>
          <p:cNvPr id="10" name="副标题 16"/>
          <p:cNvSpPr>
            <a:spLocks noGrp="1"/>
          </p:cNvSpPr>
          <p:nvPr>
            <p:ph type="subTitle" idx="1"/>
          </p:nvPr>
        </p:nvSpPr>
        <p:spPr>
          <a:xfrm>
            <a:off x="240000" y="3060000"/>
            <a:ext cx="6960000" cy="612000"/>
          </a:xfrm>
        </p:spPr>
        <p:txBody>
          <a:bodyPr lIns="45720" rIns="45720"/>
          <a:lstStyle>
            <a:lvl1pPr marL="0" marR="64135" indent="0" algn="r">
              <a:buNone/>
              <a:defRPr>
                <a:solidFill>
                  <a:schemeClr val="bg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内容占位符 10"/>
          <p:cNvSpPr>
            <a:spLocks noGrp="1"/>
          </p:cNvSpPr>
          <p:nvPr>
            <p:ph sz="quarter" idx="10"/>
          </p:nvPr>
        </p:nvSpPr>
        <p:spPr>
          <a:xfrm>
            <a:off x="336549" y="1080000"/>
            <a:ext cx="11520000" cy="5220000"/>
          </a:xfr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776000" y="2880000"/>
            <a:ext cx="8640000" cy="1440000"/>
          </a:xfrm>
          <a:prstGeom prst="rect">
            <a:avLst/>
          </a:prstGeom>
        </p:spPr>
        <p:txBody>
          <a:bodyPr anchor="t">
            <a:normAutofit/>
          </a:bodyPr>
          <a:lstStyle>
            <a:lvl1pPr marL="0" indent="0" algn="ctr">
              <a:buNone/>
              <a:defRPr sz="3600">
                <a:solidFill>
                  <a:srgbClr val="006EA0"/>
                </a:solidFill>
              </a:defRPr>
            </a:lvl1pPr>
            <a:lvl2pPr marL="725170" indent="0">
              <a:buNone/>
              <a:defRPr sz="2900">
                <a:solidFill>
                  <a:schemeClr val="tx1">
                    <a:tint val="75000"/>
                  </a:schemeClr>
                </a:solidFill>
              </a:defRPr>
            </a:lvl2pPr>
            <a:lvl3pPr marL="1450340" indent="0">
              <a:buNone/>
              <a:defRPr sz="2500">
                <a:solidFill>
                  <a:schemeClr val="tx1">
                    <a:tint val="75000"/>
                  </a:schemeClr>
                </a:solidFill>
              </a:defRPr>
            </a:lvl3pPr>
            <a:lvl4pPr marL="2175510" indent="0">
              <a:buNone/>
              <a:defRPr sz="2200">
                <a:solidFill>
                  <a:schemeClr val="tx1">
                    <a:tint val="75000"/>
                  </a:schemeClr>
                </a:solidFill>
              </a:defRPr>
            </a:lvl4pPr>
            <a:lvl5pPr marL="2901315" indent="0">
              <a:buNone/>
              <a:defRPr sz="2200">
                <a:solidFill>
                  <a:schemeClr val="tx1">
                    <a:tint val="75000"/>
                  </a:schemeClr>
                </a:solidFill>
              </a:defRPr>
            </a:lvl5pPr>
            <a:lvl6pPr marL="3626485" indent="0">
              <a:buNone/>
              <a:defRPr sz="2200">
                <a:solidFill>
                  <a:schemeClr val="tx1">
                    <a:tint val="75000"/>
                  </a:schemeClr>
                </a:solidFill>
              </a:defRPr>
            </a:lvl6pPr>
            <a:lvl7pPr marL="4351655" indent="0">
              <a:buNone/>
              <a:defRPr sz="2200">
                <a:solidFill>
                  <a:schemeClr val="tx1">
                    <a:tint val="75000"/>
                  </a:schemeClr>
                </a:solidFill>
              </a:defRPr>
            </a:lvl7pPr>
            <a:lvl8pPr marL="5076825" indent="0">
              <a:buNone/>
              <a:defRPr sz="2200">
                <a:solidFill>
                  <a:schemeClr val="tx1">
                    <a:tint val="75000"/>
                  </a:schemeClr>
                </a:solidFill>
              </a:defRPr>
            </a:lvl8pPr>
            <a:lvl9pPr marL="5801995" indent="0">
              <a:buNone/>
              <a:defRPr sz="2200">
                <a:solidFill>
                  <a:schemeClr val="tx1">
                    <a:tint val="75000"/>
                  </a:schemeClr>
                </a:solidFill>
              </a:defRPr>
            </a:lvl9pPr>
          </a:lstStyle>
          <a:p>
            <a:pPr lvl="0"/>
            <a:r>
              <a:rPr kumimoji="1" lang="zh-CN" altLang="en-US" dirty="0" smtClean="0"/>
              <a:t>单击此处编辑母版文本样式</a:t>
            </a:r>
            <a:endParaRPr kumimoji="1" lang="zh-CN" altLang="en-US" dirty="0" smtClean="0"/>
          </a:p>
        </p:txBody>
      </p:sp>
      <p:sp>
        <p:nvSpPr>
          <p:cNvPr id="8" name="灯片编号占位符 7"/>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9" name="标题 8"/>
          <p:cNvSpPr>
            <a:spLocks noGrp="1"/>
          </p:cNvSpPr>
          <p:nvPr>
            <p:ph type="title"/>
          </p:nvPr>
        </p:nvSpPr>
        <p:spPr>
          <a:xfrm>
            <a:off x="1776000" y="1440000"/>
            <a:ext cx="8640000" cy="1440000"/>
          </a:xfrm>
        </p:spPr>
        <p:txBody>
          <a:bodyPr/>
          <a:lstStyle/>
          <a:p>
            <a:r>
              <a:rPr lang="zh-CN" altLang="en-US" dirty="0" smtClean="0"/>
              <a:t>单击此处编辑母版标题样式</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5220000"/>
          </a:xfrm>
        </p:spPr>
        <p:txBody>
          <a:bodyPr/>
          <a:lstStyle>
            <a:lvl4pPr marL="1080135" marR="0" indent="0" algn="just" defTabSz="725170" rtl="0" eaLnBrk="1" fontAlgn="auto" latinLnBrk="0" hangingPunct="1">
              <a:lnSpc>
                <a:spcPct val="150000"/>
              </a:lnSpc>
              <a:spcBef>
                <a:spcPts val="0"/>
              </a:spcBef>
              <a:spcAft>
                <a:spcPts val="0"/>
              </a:spcAft>
              <a:buClrTx/>
              <a:buSzTx/>
              <a:buFont typeface="Arial" panose="020B0604020202020204"/>
              <a:buNone/>
              <a:defRPr/>
            </a:lvl4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marL="1080135" marR="0" lvl="3" indent="0" algn="just" defTabSz="725170" rtl="0" eaLnBrk="1" fontAlgn="auto" latinLnBrk="0" hangingPunct="1">
              <a:lnSpc>
                <a:spcPct val="150000"/>
              </a:lnSpc>
              <a:spcBef>
                <a:spcPts val="0"/>
              </a:spcBef>
              <a:spcAft>
                <a:spcPts val="0"/>
              </a:spcAft>
              <a:buClrTx/>
              <a:buSzTx/>
              <a:buFont typeface="Arial" panose="020B0604020202020204"/>
              <a:buNone/>
              <a:defRPr/>
            </a:pPr>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5220000"/>
          </a:xfrm>
        </p:spPr>
        <p:txBody>
          <a:bodyPr/>
          <a:lstStyle>
            <a:lvl3pPr marL="1080135" marR="0" indent="-360045" algn="just" defTabSz="725170" rtl="0" eaLnBrk="1" fontAlgn="auto" latinLnBrk="0" hangingPunct="1">
              <a:lnSpc>
                <a:spcPct val="150000"/>
              </a:lnSpc>
              <a:spcBef>
                <a:spcPts val="0"/>
              </a:spcBef>
              <a:spcAft>
                <a:spcPts val="0"/>
              </a:spcAft>
              <a:buClrTx/>
              <a:buSzTx/>
              <a:buFont typeface="黑体" panose="02010609060101010101" pitchFamily="49" charset="-122"/>
              <a:buChar char="-"/>
              <a:defRPr/>
            </a:lvl3pPr>
            <a:lvl4pPr marL="1080135" indent="0">
              <a:buNone/>
              <a:defRPr/>
            </a:lvl4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三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3648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4272000" y="10795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8208000" y="10800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左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6" y="1080000"/>
            <a:ext cx="7584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8208000" y="1080000"/>
            <a:ext cx="3648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右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3648000" cy="5220000"/>
          </a:xfrm>
        </p:spPr>
        <p:txBody>
          <a:bodyPr>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2"/>
          <p:cNvSpPr>
            <a:spLocks noGrp="1"/>
          </p:cNvSpPr>
          <p:nvPr>
            <p:ph sz="quarter" idx="13"/>
          </p:nvPr>
        </p:nvSpPr>
        <p:spPr>
          <a:xfrm>
            <a:off x="4272000" y="1080000"/>
            <a:ext cx="7584000" cy="52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四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上一下二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7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上二下一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780000"/>
            <a:ext cx="11520000"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7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06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2"/>
          <p:cNvSpPr>
            <a:spLocks noGrp="1"/>
          </p:cNvSpPr>
          <p:nvPr>
            <p:ph sz="quarter" idx="14"/>
          </p:nvPr>
        </p:nvSpPr>
        <p:spPr>
          <a:xfrm>
            <a:off x="6240000" y="306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9" y="10800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3" name="内容占位符 12"/>
          <p:cNvSpPr>
            <a:spLocks noGrp="1"/>
          </p:cNvSpPr>
          <p:nvPr>
            <p:ph sz="quarter" idx="12"/>
          </p:nvPr>
        </p:nvSpPr>
        <p:spPr>
          <a:xfrm>
            <a:off x="6240000" y="1079500"/>
            <a:ext cx="5616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500000"/>
            <a:ext cx="11520000"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5999" y="3780000"/>
            <a:ext cx="11519999" cy="25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0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3060000"/>
            <a:ext cx="11520000"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1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324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500000"/>
            <a:ext cx="11520000" cy="180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2_两项内容">
    <p:spTree>
      <p:nvGrpSpPr>
        <p:cNvPr id="1" name=""/>
        <p:cNvGrpSpPr/>
        <p:nvPr/>
      </p:nvGrpSpPr>
      <p:grpSpPr>
        <a:xfrm>
          <a:off x="0" y="0"/>
          <a:ext cx="0" cy="0"/>
          <a:chOff x="0" y="0"/>
          <a:chExt cx="0" cy="0"/>
        </a:xfrm>
      </p:grpSpPr>
      <p:sp>
        <p:nvSpPr>
          <p:cNvPr id="9" name="灯片编号占位符 8"/>
          <p:cNvSpPr>
            <a:spLocks noGrp="1"/>
          </p:cNvSpPr>
          <p:nvPr>
            <p:ph type="sldNum" sz="quarter" idx="10"/>
          </p:nvPr>
        </p:nvSpPr>
        <p:spPr/>
        <p:txBody>
          <a:bodyPr/>
          <a:lstStyle/>
          <a:p>
            <a:pPr algn="ctr"/>
            <a:fld id="{3AD9866C-B8E1-4B55-A986-B90A7612EBA6}" type="slidenum">
              <a:rPr lang="en-US" altLang="zh-CN" smtClean="0"/>
            </a:fld>
            <a:endParaRPr lang="en-US" dirty="0"/>
          </a:p>
        </p:txBody>
      </p:sp>
      <p:sp>
        <p:nvSpPr>
          <p:cNvPr id="11" name="内容占位符 10"/>
          <p:cNvSpPr>
            <a:spLocks noGrp="1"/>
          </p:cNvSpPr>
          <p:nvPr>
            <p:ph sz="quarter" idx="11"/>
          </p:nvPr>
        </p:nvSpPr>
        <p:spPr>
          <a:xfrm>
            <a:off x="335998" y="1080000"/>
            <a:ext cx="11520001"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14" name="标题 13"/>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6" name="内容占位符 10"/>
          <p:cNvSpPr>
            <a:spLocks noGrp="1"/>
          </p:cNvSpPr>
          <p:nvPr>
            <p:ph sz="quarter" idx="13"/>
          </p:nvPr>
        </p:nvSpPr>
        <p:spPr>
          <a:xfrm>
            <a:off x="336000" y="4680000"/>
            <a:ext cx="11520000"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
        <p:nvSpPr>
          <p:cNvPr id="7" name="内容占位符 10"/>
          <p:cNvSpPr>
            <a:spLocks noGrp="1"/>
          </p:cNvSpPr>
          <p:nvPr>
            <p:ph sz="quarter" idx="14"/>
          </p:nvPr>
        </p:nvSpPr>
        <p:spPr>
          <a:xfrm>
            <a:off x="336001" y="2880000"/>
            <a:ext cx="11520001" cy="162000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6000" y="108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4" name="内容占位符 3"/>
          <p:cNvSpPr>
            <a:spLocks noGrp="1"/>
          </p:cNvSpPr>
          <p:nvPr>
            <p:ph sz="half" idx="2"/>
          </p:nvPr>
        </p:nvSpPr>
        <p:spPr>
          <a:xfrm>
            <a:off x="336000" y="1620000"/>
            <a:ext cx="5616000" cy="4680000"/>
          </a:xfrm>
          <a:prstGeom prst="rect">
            <a:avLst/>
          </a:prstGeo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lang="zh-CN" altLang="en-US" dirty="0" smtClean="0"/>
              <a:t>四级</a:t>
            </a:r>
            <a:endParaRPr kumimoji="1" lang="zh-CN" altLang="en-US" dirty="0" smtClean="0"/>
          </a:p>
        </p:txBody>
      </p:sp>
      <p:sp>
        <p:nvSpPr>
          <p:cNvPr id="5" name="文本占位符 4"/>
          <p:cNvSpPr>
            <a:spLocks noGrp="1"/>
          </p:cNvSpPr>
          <p:nvPr>
            <p:ph type="body" sz="quarter" idx="3"/>
          </p:nvPr>
        </p:nvSpPr>
        <p:spPr>
          <a:xfrm>
            <a:off x="6240000" y="108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6" name="内容占位符 5"/>
          <p:cNvSpPr>
            <a:spLocks noGrp="1"/>
          </p:cNvSpPr>
          <p:nvPr>
            <p:ph sz="quarter" idx="4"/>
          </p:nvPr>
        </p:nvSpPr>
        <p:spPr>
          <a:xfrm>
            <a:off x="6240000" y="1620000"/>
            <a:ext cx="5616000" cy="4680000"/>
          </a:xfrm>
          <a:prstGeom prst="rect">
            <a:avLst/>
          </a:prstGeom>
        </p:spPr>
        <p:txBody>
          <a:bodyPr vert="horz" lIns="91440" tIns="45720" rIns="91440" bIns="45720" rtlCol="0">
            <a:normAutofit/>
          </a:bodyPr>
          <a:lstStyle>
            <a:lvl1pPr>
              <a:defRPr kumimoji="1" lang="zh-CN" altLang="en-US" dirty="0" smtClean="0"/>
            </a:lvl1pPr>
            <a:lvl2pPr>
              <a:defRPr kumimoji="1" lang="zh-CN" altLang="en-US" dirty="0" smtClean="0"/>
            </a:lvl2pPr>
            <a:lvl3pPr>
              <a:defRPr kumimoji="1" lang="en-US" altLang="zh-CN" dirty="0" smtClean="0"/>
            </a:lvl3pPr>
            <a:lvl4pPr>
              <a:defRPr lang="zh-CN" altLang="en-US" dirty="0" smtClean="0"/>
            </a:lvl4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lang="zh-CN" altLang="en-US" dirty="0" smtClean="0"/>
              <a:t>四级</a:t>
            </a:r>
            <a:endParaRPr kumimoji="1" lang="zh-CN" altLang="en-US" dirty="0" smtClean="0"/>
          </a:p>
        </p:txBody>
      </p:sp>
      <p:sp>
        <p:nvSpPr>
          <p:cNvPr id="10" name="标题 9"/>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灯片编号占位符 10"/>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336000" y="576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4" name="内容占位符 3"/>
          <p:cNvSpPr>
            <a:spLocks noGrp="1"/>
          </p:cNvSpPr>
          <p:nvPr>
            <p:ph sz="half" idx="2"/>
          </p:nvPr>
        </p:nvSpPr>
        <p:spPr>
          <a:xfrm>
            <a:off x="336000" y="1080000"/>
            <a:ext cx="5616000" cy="4680000"/>
          </a:xfrm>
          <a:prstGeom prst="rect">
            <a:avLst/>
          </a:prstGeom>
        </p:spPr>
        <p:txBody>
          <a:bodyPr vert="horz" lIns="91440" tIns="45720" rIns="91440" bIns="45720" rtlCol="0">
            <a:normAutofit/>
          </a:bodyPr>
          <a:lstStyle>
            <a:lvl1pPr>
              <a:defRPr lang="zh-CN" altLang="en-US" dirty="0" smtClean="0"/>
            </a:lvl1pPr>
            <a:lvl2pPr>
              <a:defRPr lang="zh-CN" altLang="en-US" dirty="0" smtClean="0"/>
            </a:lvl2pPr>
            <a:lvl3pPr>
              <a:defRPr lang="zh-CN" altLang="en-US" dirty="0" smtClean="0"/>
            </a:lvl3pPr>
            <a:lvl4pPr>
              <a:defRPr lang="zh-CN" altLang="en-US" dirty="0" smtClean="0"/>
            </a:lvl4pPr>
            <a:lvl5pPr>
              <a:defRPr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5" name="文本占位符 4"/>
          <p:cNvSpPr>
            <a:spLocks noGrp="1"/>
          </p:cNvSpPr>
          <p:nvPr>
            <p:ph type="body" sz="quarter" idx="3"/>
          </p:nvPr>
        </p:nvSpPr>
        <p:spPr>
          <a:xfrm>
            <a:off x="6240000" y="5760000"/>
            <a:ext cx="5616000" cy="504000"/>
          </a:xfrm>
          <a:prstGeom prst="rect">
            <a:avLst/>
          </a:prstGeom>
        </p:spPr>
        <p:txBody>
          <a:bodyPr anchor="ctr">
            <a:noAutofit/>
          </a:bodyPr>
          <a:lstStyle>
            <a:lvl1pPr marL="0" indent="0">
              <a:buNone/>
              <a:defRPr sz="2400" b="1"/>
            </a:lvl1pPr>
            <a:lvl2pPr marL="725170" indent="0">
              <a:buNone/>
              <a:defRPr sz="3200" b="1"/>
            </a:lvl2pPr>
            <a:lvl3pPr marL="1450340" indent="0">
              <a:buNone/>
              <a:defRPr sz="2900" b="1"/>
            </a:lvl3pPr>
            <a:lvl4pPr marL="2175510" indent="0">
              <a:buNone/>
              <a:defRPr sz="2500" b="1"/>
            </a:lvl4pPr>
            <a:lvl5pPr marL="2901315" indent="0">
              <a:buNone/>
              <a:defRPr sz="2500" b="1"/>
            </a:lvl5pPr>
            <a:lvl6pPr marL="3626485" indent="0">
              <a:buNone/>
              <a:defRPr sz="2500" b="1"/>
            </a:lvl6pPr>
            <a:lvl7pPr marL="4351655" indent="0">
              <a:buNone/>
              <a:defRPr sz="2500" b="1"/>
            </a:lvl7pPr>
            <a:lvl8pPr marL="5076825" indent="0">
              <a:buNone/>
              <a:defRPr sz="2500" b="1"/>
            </a:lvl8pPr>
            <a:lvl9pPr marL="5801995" indent="0">
              <a:buNone/>
              <a:defRPr sz="2500" b="1"/>
            </a:lvl9pPr>
          </a:lstStyle>
          <a:p>
            <a:pPr lvl="0"/>
            <a:r>
              <a:rPr kumimoji="1" lang="zh-CN" altLang="en-US" dirty="0" smtClean="0"/>
              <a:t>单击此处编辑母版文本样式</a:t>
            </a:r>
            <a:endParaRPr kumimoji="1" lang="zh-CN" altLang="en-US" dirty="0" smtClean="0"/>
          </a:p>
        </p:txBody>
      </p:sp>
      <p:sp>
        <p:nvSpPr>
          <p:cNvPr id="6" name="内容占位符 5"/>
          <p:cNvSpPr>
            <a:spLocks noGrp="1"/>
          </p:cNvSpPr>
          <p:nvPr>
            <p:ph sz="quarter" idx="4"/>
          </p:nvPr>
        </p:nvSpPr>
        <p:spPr>
          <a:xfrm>
            <a:off x="6240000" y="1080000"/>
            <a:ext cx="5616000" cy="4680000"/>
          </a:xfrm>
          <a:prstGeom prst="rect">
            <a:avLst/>
          </a:prstGeom>
        </p:spPr>
        <p:txBody>
          <a:bodyPr vert="horz" lIns="91440" tIns="45720" rIns="91440" bIns="45720" rtlCol="0">
            <a:normAutofit/>
          </a:bodyPr>
          <a:lstStyle>
            <a:lvl1pPr>
              <a:defRPr kumimoji="1" lang="zh-CN" altLang="en-US" dirty="0" smtClean="0"/>
            </a:lvl1pPr>
            <a:lvl2pPr>
              <a:defRPr kumimoji="1" lang="zh-CN" altLang="en-US" dirty="0" smtClean="0"/>
            </a:lvl2pPr>
            <a:lvl3pPr>
              <a:defRPr kumimoji="1" lang="zh-CN" altLang="en-US" dirty="0" smtClean="0"/>
            </a:lvl3pPr>
            <a:lvl4pPr>
              <a:defRPr kumimoji="1" lang="zh-CN" altLang="en-US" dirty="0" smtClean="0"/>
            </a:lvl4pPr>
            <a:lvl5pPr>
              <a:defRPr kumimoji="1" lang="zh-CN" altLang="en-US" dirty="0"/>
            </a:lvl5pPr>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10" name="标题 9"/>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11" name="灯片编号占位符 10"/>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7" name="灯片编号占位符 6"/>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720000" y="5796000"/>
            <a:ext cx="10752000" cy="504000"/>
          </a:xfrm>
          <a:prstGeom prst="rect">
            <a:avLst/>
          </a:prstGeom>
        </p:spPr>
        <p:txBody>
          <a:bodyPr anchor="ctr">
            <a:normAutofit/>
          </a:bodyPr>
          <a:lstStyle>
            <a:lvl1pPr algn="ctr">
              <a:defRPr sz="2400" b="1"/>
            </a:lvl1pPr>
          </a:lstStyle>
          <a:p>
            <a:r>
              <a:rPr kumimoji="1" lang="zh-CN" altLang="en-US" dirty="0" smtClean="0"/>
              <a:t>单击此处编辑母版标题样式</a:t>
            </a:r>
            <a:endParaRPr kumimoji="1" lang="zh-CN" altLang="en-US" dirty="0"/>
          </a:p>
        </p:txBody>
      </p:sp>
      <p:sp>
        <p:nvSpPr>
          <p:cNvPr id="3" name="图片占位符 2"/>
          <p:cNvSpPr>
            <a:spLocks noGrp="1" noChangeAspect="1"/>
          </p:cNvSpPr>
          <p:nvPr>
            <p:ph type="pic" idx="1"/>
          </p:nvPr>
        </p:nvSpPr>
        <p:spPr>
          <a:xfrm>
            <a:off x="720000" y="1080000"/>
            <a:ext cx="10752000" cy="4536000"/>
          </a:xfrm>
          <a:prstGeom prst="rect">
            <a:avLst/>
          </a:prstGeom>
        </p:spPr>
        <p:txBody>
          <a:bodyPr anchor="ctr"/>
          <a:lstStyle>
            <a:lvl1pPr marL="0" indent="0" algn="ctr">
              <a:buNone/>
              <a:defRPr sz="5100"/>
            </a:lvl1pPr>
            <a:lvl2pPr marL="725170" indent="0">
              <a:buNone/>
              <a:defRPr sz="4400"/>
            </a:lvl2pPr>
            <a:lvl3pPr marL="1450340" indent="0">
              <a:buNone/>
              <a:defRPr sz="3800"/>
            </a:lvl3pPr>
            <a:lvl4pPr marL="2175510" indent="0">
              <a:buNone/>
              <a:defRPr sz="3200"/>
            </a:lvl4pPr>
            <a:lvl5pPr marL="2901315" indent="0">
              <a:buNone/>
              <a:defRPr sz="3200"/>
            </a:lvl5pPr>
            <a:lvl6pPr marL="3626485" indent="0">
              <a:buNone/>
              <a:defRPr sz="3200"/>
            </a:lvl6pPr>
            <a:lvl7pPr marL="4351655" indent="0">
              <a:buNone/>
              <a:defRPr sz="3200"/>
            </a:lvl7pPr>
            <a:lvl8pPr marL="5076825" indent="0">
              <a:buNone/>
              <a:defRPr sz="3200"/>
            </a:lvl8pPr>
            <a:lvl9pPr marL="5801995" indent="0">
              <a:buNone/>
              <a:defRPr sz="3200"/>
            </a:lvl9pPr>
          </a:lstStyle>
          <a:p>
            <a:endParaRPr kumimoji="1" lang="zh-CN" altLang="en-US" dirty="0"/>
          </a:p>
        </p:txBody>
      </p:sp>
      <p:sp>
        <p:nvSpPr>
          <p:cNvPr id="10" name="灯片编号占位符 9"/>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标题和竖排文本">
    <p:spTree>
      <p:nvGrpSpPr>
        <p:cNvPr id="1" name=""/>
        <p:cNvGrpSpPr/>
        <p:nvPr/>
      </p:nvGrpSpPr>
      <p:grpSpPr>
        <a:xfrm>
          <a:off x="0" y="0"/>
          <a:ext cx="0" cy="0"/>
          <a:chOff x="0" y="0"/>
          <a:chExt cx="0" cy="0"/>
        </a:xfrm>
      </p:grpSpPr>
      <p:sp>
        <p:nvSpPr>
          <p:cNvPr id="3" name="竖排文本占位符 2"/>
          <p:cNvSpPr>
            <a:spLocks noGrp="1"/>
          </p:cNvSpPr>
          <p:nvPr>
            <p:ph type="body" orient="vert" idx="1"/>
          </p:nvPr>
        </p:nvSpPr>
        <p:spPr>
          <a:xfrm>
            <a:off x="336000" y="1079999"/>
            <a:ext cx="11520000" cy="5220000"/>
          </a:xfrm>
          <a:prstGeom prst="rect">
            <a:avLst/>
          </a:prstGeom>
        </p:spPr>
        <p:txBody>
          <a:bodyPr vert="eaVert"/>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7" name="标题 6"/>
          <p:cNvSpPr>
            <a:spLocks noGrp="1"/>
          </p:cNvSpPr>
          <p:nvPr>
            <p:ph type="title"/>
          </p:nvPr>
        </p:nvSpPr>
        <p:spPr/>
        <p:txBody>
          <a:bodyPr/>
          <a:lstStyle>
            <a:lvl1pPr algn="just">
              <a:defRPr/>
            </a:lvl1pPr>
          </a:lstStyle>
          <a:p>
            <a:r>
              <a:rPr lang="zh-CN" altLang="en-US" dirty="0" smtClean="0"/>
              <a:t>单击此处编辑母版标题样式</a:t>
            </a:r>
            <a:endParaRPr lang="zh-CN" altLang="en-US" dirty="0"/>
          </a:p>
        </p:txBody>
      </p:sp>
      <p:sp>
        <p:nvSpPr>
          <p:cNvPr id="8" name="灯片编号占位符 7"/>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10416000" y="1079999"/>
            <a:ext cx="1440000" cy="5220000"/>
          </a:xfrm>
          <a:prstGeom prst="rect">
            <a:avLst/>
          </a:prstGeom>
        </p:spPr>
        <p:txBody>
          <a:bodyPr vert="eaVert"/>
          <a:lstStyle/>
          <a:p>
            <a:r>
              <a:rPr kumimoji="1" lang="zh-CN" altLang="en-US" smtClean="0"/>
              <a:t>单击此处编辑母版标题样式</a:t>
            </a:r>
            <a:endParaRPr kumimoji="1" lang="zh-CN" altLang="en-US"/>
          </a:p>
        </p:txBody>
      </p:sp>
      <p:sp>
        <p:nvSpPr>
          <p:cNvPr id="3" name="竖排文本占位符 2"/>
          <p:cNvSpPr>
            <a:spLocks noGrp="1"/>
          </p:cNvSpPr>
          <p:nvPr>
            <p:ph type="body" orient="vert" idx="1"/>
          </p:nvPr>
        </p:nvSpPr>
        <p:spPr>
          <a:xfrm>
            <a:off x="336000" y="1079999"/>
            <a:ext cx="9792000" cy="5220000"/>
          </a:xfrm>
          <a:prstGeom prst="rect">
            <a:avLst/>
          </a:prstGeom>
        </p:spPr>
        <p:txBody>
          <a:bodyPr vert="eaVert"/>
          <a:lstStyle/>
          <a:p>
            <a:pPr lvl="0"/>
            <a:r>
              <a:rPr kumimoji="1" lang="zh-CN" altLang="en-US" dirty="0" smtClean="0"/>
              <a:t>单击此处编辑母版文本样式</a:t>
            </a:r>
            <a:endParaRPr kumimoji="1" lang="zh-CN" altLang="en-US" dirty="0" smtClean="0"/>
          </a:p>
          <a:p>
            <a:pPr lvl="1"/>
            <a:r>
              <a:rPr kumimoji="1" lang="zh-CN" altLang="en-US" dirty="0" smtClean="0"/>
              <a:t>二级</a:t>
            </a:r>
            <a:endParaRPr kumimoji="1" lang="zh-CN" altLang="en-US" dirty="0" smtClean="0"/>
          </a:p>
          <a:p>
            <a:pPr lvl="2"/>
            <a:r>
              <a:rPr kumimoji="1" lang="zh-CN" altLang="en-US" dirty="0" smtClean="0"/>
              <a:t>三级</a:t>
            </a:r>
            <a:endParaRPr kumimoji="1" lang="en-US" altLang="zh-CN" dirty="0" smtClean="0"/>
          </a:p>
          <a:p>
            <a:pPr lvl="3"/>
            <a:r>
              <a:rPr kumimoji="1" lang="zh-CN" altLang="en-US" dirty="0" smtClean="0"/>
              <a:t>四级</a:t>
            </a:r>
            <a:endParaRPr kumimoji="1" lang="zh-CN" altLang="en-US" dirty="0" smtClean="0"/>
          </a:p>
        </p:txBody>
      </p:sp>
      <p:sp>
        <p:nvSpPr>
          <p:cNvPr id="7" name="灯片编号占位符 6"/>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showMasterSp="0" userDrawn="1">
  <p:cSld name="1_封底">
    <p:spTree>
      <p:nvGrpSpPr>
        <p:cNvPr id="1" name=""/>
        <p:cNvGrpSpPr/>
        <p:nvPr/>
      </p:nvGrpSpPr>
      <p:grpSpPr>
        <a:xfrm>
          <a:off x="0" y="0"/>
          <a:ext cx="0" cy="0"/>
          <a:chOff x="0" y="0"/>
          <a:chExt cx="0" cy="0"/>
        </a:xfrm>
      </p:grpSpPr>
      <p:sp>
        <p:nvSpPr>
          <p:cNvPr id="5" name="灯片编号占位符 4"/>
          <p:cNvSpPr>
            <a:spLocks noGrp="1"/>
          </p:cNvSpPr>
          <p:nvPr>
            <p:ph type="sldNum" sz="quarter" idx="10"/>
          </p:nvPr>
        </p:nvSpPr>
        <p:spPr/>
        <p:txBody>
          <a:bodyPr/>
          <a:lstStyle/>
          <a:p>
            <a:pPr algn="ctr"/>
            <a:fld id="{3AD9866C-B8E1-4B55-A986-B90A7612EBA6}" type="slidenum">
              <a:rPr lang="en-US" altLang="zh-CN" smtClean="0"/>
            </a:fld>
            <a:endParaRPr 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254496"/>
            <a:ext cx="12192000" cy="603504"/>
          </a:xfrm>
          <a:prstGeom prst="rect">
            <a:avLst/>
          </a:prstGeom>
        </p:spPr>
      </p:pic>
      <p:sp>
        <p:nvSpPr>
          <p:cNvPr id="9" name="文本框 8"/>
          <p:cNvSpPr txBox="1"/>
          <p:nvPr userDrawn="1"/>
        </p:nvSpPr>
        <p:spPr>
          <a:xfrm>
            <a:off x="1992000" y="6417750"/>
            <a:ext cx="4704000" cy="276999"/>
          </a:xfrm>
          <a:prstGeom prst="rect">
            <a:avLst/>
          </a:prstGeom>
          <a:noFill/>
        </p:spPr>
        <p:txBody>
          <a:bodyPr wrap="square" rtlCol="0" anchor="ctr">
            <a:spAutoFit/>
          </a:bodyPr>
          <a:lstStyle/>
          <a:p>
            <a:pPr algn="ctr"/>
            <a:r>
              <a:rPr lang="zh-CN" altLang="en-US" sz="1200" dirty="0" smtClean="0">
                <a:solidFill>
                  <a:schemeClr val="bg1"/>
                </a:solidFill>
                <a:latin typeface="黑体" panose="02010609060101010101" pitchFamily="49" charset="-122"/>
                <a:ea typeface="黑体" panose="02010609060101010101" pitchFamily="49" charset="-122"/>
                <a:cs typeface="Arial" panose="020B0604020202020204" pitchFamily="34" charset="0"/>
              </a:rPr>
              <a:t>让  工  业  充  满  智  慧</a:t>
            </a:r>
            <a:endParaRPr lang="zh-CN" altLang="en-US" sz="1100" dirty="0">
              <a:solidFill>
                <a:schemeClr val="bg1"/>
              </a:solidFill>
              <a:latin typeface="黑体" panose="02010609060101010101" pitchFamily="49" charset="-122"/>
              <a:ea typeface="黑体" panose="02010609060101010101" pitchFamily="49" charset="-122"/>
              <a:cs typeface="Arial" panose="020B0604020202020204" pitchFamily="34" charset="0"/>
            </a:endParaRPr>
          </a:p>
        </p:txBody>
      </p:sp>
      <p:pic>
        <p:nvPicPr>
          <p:cNvPr id="10" name="图片 9"/>
          <p:cNvPicPr>
            <a:picLocks noChangeAspect="1"/>
          </p:cNvPicPr>
          <p:nvPr userDrawn="1"/>
        </p:nvPicPr>
        <p:blipFill>
          <a:blip r:embed="rId3"/>
          <a:stretch>
            <a:fillRect/>
          </a:stretch>
        </p:blipFill>
        <p:spPr>
          <a:xfrm>
            <a:off x="9723719" y="6365890"/>
            <a:ext cx="1480556" cy="360000"/>
          </a:xfrm>
          <a:prstGeom prst="rect">
            <a:avLst/>
          </a:prstGeom>
        </p:spPr>
      </p:pic>
      <p:pic>
        <p:nvPicPr>
          <p:cNvPr id="15" name="图片 1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635573"/>
            <a:ext cx="12192000" cy="981191"/>
          </a:xfrm>
          <a:prstGeom prst="rect">
            <a:avLst/>
          </a:prstGeom>
        </p:spPr>
      </p:pic>
      <p:sp>
        <p:nvSpPr>
          <p:cNvPr id="2" name="标题 1"/>
          <p:cNvSpPr>
            <a:spLocks noGrp="1"/>
          </p:cNvSpPr>
          <p:nvPr>
            <p:ph type="title"/>
          </p:nvPr>
        </p:nvSpPr>
        <p:spPr>
          <a:xfrm>
            <a:off x="1776000" y="1800000"/>
            <a:ext cx="8640000" cy="1800000"/>
          </a:xfrm>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5.xml"/><Relationship Id="rId8" Type="http://schemas.openxmlformats.org/officeDocument/2006/relationships/slideLayout" Target="../slideLayouts/slideLayout14.xml"/><Relationship Id="rId7" Type="http://schemas.openxmlformats.org/officeDocument/2006/relationships/slideLayout" Target="../slideLayouts/slideLayout13.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 Id="rId31" Type="http://schemas.openxmlformats.org/officeDocument/2006/relationships/theme" Target="../theme/theme2.xml"/><Relationship Id="rId30" Type="http://schemas.openxmlformats.org/officeDocument/2006/relationships/image" Target="../media/image4.png"/><Relationship Id="rId3" Type="http://schemas.openxmlformats.org/officeDocument/2006/relationships/slideLayout" Target="../slideLayouts/slideLayout9.xml"/><Relationship Id="rId29" Type="http://schemas.openxmlformats.org/officeDocument/2006/relationships/image" Target="../media/image10.png"/><Relationship Id="rId28" Type="http://schemas.openxmlformats.org/officeDocument/2006/relationships/slideLayout" Target="../slideLayouts/slideLayout34.xml"/><Relationship Id="rId27" Type="http://schemas.openxmlformats.org/officeDocument/2006/relationships/slideLayout" Target="../slideLayouts/slideLayout33.xml"/><Relationship Id="rId26" Type="http://schemas.openxmlformats.org/officeDocument/2006/relationships/slideLayout" Target="../slideLayouts/slideLayout32.xml"/><Relationship Id="rId25" Type="http://schemas.openxmlformats.org/officeDocument/2006/relationships/slideLayout" Target="../slideLayouts/slideLayout31.xml"/><Relationship Id="rId24" Type="http://schemas.openxmlformats.org/officeDocument/2006/relationships/slideLayout" Target="../slideLayouts/slideLayout30.xml"/><Relationship Id="rId23" Type="http://schemas.openxmlformats.org/officeDocument/2006/relationships/slideLayout" Target="../slideLayouts/slideLayout29.xml"/><Relationship Id="rId22" Type="http://schemas.openxmlformats.org/officeDocument/2006/relationships/slideLayout" Target="../slideLayouts/slideLayout28.xml"/><Relationship Id="rId21" Type="http://schemas.openxmlformats.org/officeDocument/2006/relationships/slideLayout" Target="../slideLayouts/slideLayout27.xml"/><Relationship Id="rId20" Type="http://schemas.openxmlformats.org/officeDocument/2006/relationships/slideLayout" Target="../slideLayouts/slideLayout26.xml"/><Relationship Id="rId2" Type="http://schemas.openxmlformats.org/officeDocument/2006/relationships/slideLayout" Target="../slideLayouts/slideLayout8.xml"/><Relationship Id="rId19" Type="http://schemas.openxmlformats.org/officeDocument/2006/relationships/slideLayout" Target="../slideLayouts/slideLayout25.xml"/><Relationship Id="rId18" Type="http://schemas.openxmlformats.org/officeDocument/2006/relationships/slideLayout" Target="../slideLayouts/slideLayout24.xml"/><Relationship Id="rId17" Type="http://schemas.openxmlformats.org/officeDocument/2006/relationships/slideLayout" Target="../slideLayouts/slideLayout23.xml"/><Relationship Id="rId16" Type="http://schemas.openxmlformats.org/officeDocument/2006/relationships/slideLayout" Target="../slideLayouts/slideLayout22.xml"/><Relationship Id="rId15" Type="http://schemas.openxmlformats.org/officeDocument/2006/relationships/slideLayout" Target="../slideLayouts/slideLayout21.xml"/><Relationship Id="rId14" Type="http://schemas.openxmlformats.org/officeDocument/2006/relationships/slideLayout" Target="../slideLayouts/slideLayout20.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 Type="http://schemas.openxmlformats.org/officeDocument/2006/relationships/slideLayout" Target="../slideLayouts/slideLayout7.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8" Type="http://schemas.openxmlformats.org/officeDocument/2006/relationships/theme" Target="../theme/theme3.xml"/><Relationship Id="rId27" Type="http://schemas.openxmlformats.org/officeDocument/2006/relationships/image" Target="../media/image10.png"/><Relationship Id="rId26" Type="http://schemas.openxmlformats.org/officeDocument/2006/relationships/image" Target="../media/image11.emf"/><Relationship Id="rId25" Type="http://schemas.openxmlformats.org/officeDocument/2006/relationships/slideLayout" Target="../slideLayouts/slideLayout59.xml"/><Relationship Id="rId24" Type="http://schemas.openxmlformats.org/officeDocument/2006/relationships/slideLayout" Target="../slideLayouts/slideLayout58.xml"/><Relationship Id="rId23" Type="http://schemas.openxmlformats.org/officeDocument/2006/relationships/slideLayout" Target="../slideLayouts/slideLayout57.xml"/><Relationship Id="rId22" Type="http://schemas.openxmlformats.org/officeDocument/2006/relationships/slideLayout" Target="../slideLayouts/slideLayout56.xml"/><Relationship Id="rId21" Type="http://schemas.openxmlformats.org/officeDocument/2006/relationships/slideLayout" Target="../slideLayouts/slideLayout55.xml"/><Relationship Id="rId20" Type="http://schemas.openxmlformats.org/officeDocument/2006/relationships/slideLayout" Target="../slideLayouts/slideLayout54.xml"/><Relationship Id="rId2" Type="http://schemas.openxmlformats.org/officeDocument/2006/relationships/slideLayout" Target="../slideLayouts/slideLayout36.xml"/><Relationship Id="rId19" Type="http://schemas.openxmlformats.org/officeDocument/2006/relationships/slideLayout" Target="../slideLayouts/slideLayout53.xml"/><Relationship Id="rId18" Type="http://schemas.openxmlformats.org/officeDocument/2006/relationships/slideLayout" Target="../slideLayouts/slideLayout52.xml"/><Relationship Id="rId17" Type="http://schemas.openxmlformats.org/officeDocument/2006/relationships/slideLayout" Target="../slideLayouts/slideLayout51.xml"/><Relationship Id="rId16" Type="http://schemas.openxmlformats.org/officeDocument/2006/relationships/slideLayout" Target="../slideLayouts/slideLayout50.xml"/><Relationship Id="rId15" Type="http://schemas.openxmlformats.org/officeDocument/2006/relationships/slideLayout" Target="../slideLayouts/slideLayout49.xml"/><Relationship Id="rId14" Type="http://schemas.openxmlformats.org/officeDocument/2006/relationships/slideLayout" Target="../slideLayouts/slideLayout48.xml"/><Relationship Id="rId13" Type="http://schemas.openxmlformats.org/officeDocument/2006/relationships/slideLayout" Target="../slideLayouts/slideLayout47.xml"/><Relationship Id="rId12" Type="http://schemas.openxmlformats.org/officeDocument/2006/relationships/slideLayout" Target="../slideLayouts/slideLayout46.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图片 2" descr="Logo+科远智慧（标准色）"/>
          <p:cNvPicPr>
            <a:picLocks noChangeAspect="1"/>
          </p:cNvPicPr>
          <p:nvPr userDrawn="1"/>
        </p:nvPicPr>
        <p:blipFill>
          <a:blip r:embed="rId7"/>
          <a:stretch>
            <a:fillRect/>
          </a:stretch>
        </p:blipFill>
        <p:spPr>
          <a:xfrm>
            <a:off x="10081895" y="252094"/>
            <a:ext cx="1800000" cy="582259"/>
          </a:xfrm>
          <a:prstGeom prst="rect">
            <a:avLst/>
          </a:prstGeom>
        </p:spPr>
      </p:pic>
      <p:pic>
        <p:nvPicPr>
          <p:cNvPr id="2" name="图片 1"/>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04" y="6480093"/>
            <a:ext cx="12190992" cy="377921"/>
          </a:xfrm>
          <a:prstGeom prst="rect">
            <a:avLst/>
          </a:prstGeom>
        </p:spPr>
      </p:pic>
      <p:sp>
        <p:nvSpPr>
          <p:cNvPr id="12" name="标题占位符 1"/>
          <p:cNvSpPr>
            <a:spLocks noGrp="1"/>
          </p:cNvSpPr>
          <p:nvPr>
            <p:ph type="title"/>
          </p:nvPr>
        </p:nvSpPr>
        <p:spPr bwMode="auto">
          <a:xfrm>
            <a:off x="336000" y="252000"/>
            <a:ext cx="8640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pPr lvl="0" algn="just" fontAlgn="base">
              <a:lnSpc>
                <a:spcPct val="100000"/>
              </a:lnSpc>
              <a:spcAft>
                <a:spcPct val="0"/>
              </a:spcAft>
            </a:pPr>
            <a:r>
              <a:rPr lang="zh-CN" altLang="en-US" dirty="0"/>
              <a:t>单击此处编辑母版标题样式</a:t>
            </a:r>
            <a:endParaRPr lang="zh-CN" altLang="en-US" dirty="0"/>
          </a:p>
        </p:txBody>
      </p:sp>
      <p:sp>
        <p:nvSpPr>
          <p:cNvPr id="18" name="文本框 17"/>
          <p:cNvSpPr txBox="1"/>
          <p:nvPr userDrawn="1"/>
        </p:nvSpPr>
        <p:spPr>
          <a:xfrm>
            <a:off x="9840645" y="6531854"/>
            <a:ext cx="2041793" cy="274320"/>
          </a:xfrm>
          <a:prstGeom prst="rect">
            <a:avLst/>
          </a:prstGeom>
          <a:noFill/>
        </p:spPr>
        <p:txBody>
          <a:bodyPr wrap="square" lIns="91438" tIns="45719" rIns="91438" bIns="45719" rtlCol="0" anchor="ctr">
            <a:spAutoFit/>
          </a:bodyPr>
          <a:lstStyle>
            <a:defPPr>
              <a:defRPr lang="zh-CN"/>
            </a:defPPr>
            <a:lvl1pPr marL="0" algn="ctr" defTabSz="484505" eaLnBrk="1" latinLnBrk="0" hangingPunct="1">
              <a:defRPr sz="1400">
                <a:solidFill>
                  <a:schemeClr val="bg1"/>
                </a:solidFill>
                <a:latin typeface="Arial" panose="020B0604020202020204" pitchFamily="34" charset="0"/>
                <a:ea typeface="+mn-ea"/>
                <a:cs typeface="Arial" panose="020B0604020202020204" pitchFamily="34" charset="0"/>
              </a:defRPr>
            </a:lvl1pPr>
            <a:lvl2pPr marL="484505" defTabSz="484505" eaLnBrk="1" latinLnBrk="0" hangingPunct="1">
              <a:defRPr sz="1940">
                <a:latin typeface="+mn-lt"/>
                <a:ea typeface="+mn-ea"/>
              </a:defRPr>
            </a:lvl2pPr>
            <a:lvl3pPr marL="969645" defTabSz="484505" eaLnBrk="1" latinLnBrk="0" hangingPunct="1">
              <a:defRPr sz="1940">
                <a:latin typeface="+mn-lt"/>
                <a:ea typeface="+mn-ea"/>
              </a:defRPr>
            </a:lvl3pPr>
            <a:lvl4pPr marL="1454150" defTabSz="484505" eaLnBrk="1" latinLnBrk="0" hangingPunct="1">
              <a:defRPr sz="1940">
                <a:latin typeface="+mn-lt"/>
                <a:ea typeface="+mn-ea"/>
              </a:defRPr>
            </a:lvl4pPr>
            <a:lvl5pPr marL="1939290" defTabSz="484505" eaLnBrk="1" latinLnBrk="0" hangingPunct="1">
              <a:defRPr sz="1940">
                <a:latin typeface="+mn-lt"/>
                <a:ea typeface="+mn-ea"/>
              </a:defRPr>
            </a:lvl5pPr>
            <a:lvl6pPr marL="2423795" defTabSz="484505">
              <a:defRPr sz="1940">
                <a:latin typeface="+mn-lt"/>
                <a:ea typeface="+mn-ea"/>
              </a:defRPr>
            </a:lvl6pPr>
            <a:lvl7pPr marL="2908300" defTabSz="484505">
              <a:defRPr sz="1940">
                <a:latin typeface="+mn-lt"/>
                <a:ea typeface="+mn-ea"/>
              </a:defRPr>
            </a:lvl7pPr>
            <a:lvl8pPr marL="3393440" defTabSz="484505">
              <a:defRPr sz="1940">
                <a:latin typeface="+mn-lt"/>
                <a:ea typeface="+mn-ea"/>
              </a:defRPr>
            </a:lvl8pPr>
            <a:lvl9pPr marL="3877945" defTabSz="484505">
              <a:defRPr sz="1940">
                <a:latin typeface="+mn-lt"/>
                <a:ea typeface="+mn-ea"/>
              </a:defRPr>
            </a:lvl9pPr>
          </a:lstStyle>
          <a:p>
            <a:pPr algn="ctr"/>
            <a:r>
              <a:rPr lang="zh-CN" altLang="en-US" sz="1200" dirty="0">
                <a:solidFill>
                  <a:schemeClr val="bg1"/>
                </a:solidFill>
                <a:latin typeface="黑体" panose="02010609060101010101" pitchFamily="49" charset="-122"/>
                <a:ea typeface="黑体" panose="02010609060101010101" pitchFamily="49" charset="-122"/>
                <a:sym typeface="+mn-ea"/>
              </a:rPr>
              <a:t>智慧产业建设引领者</a:t>
            </a:r>
            <a:endParaRPr lang="zh-CN" altLang="en-US" sz="1200" b="0" i="0" dirty="0">
              <a:solidFill>
                <a:schemeClr val="bg1"/>
              </a:solidFill>
              <a:latin typeface="黑体" panose="02010609060101010101" pitchFamily="49" charset="-122"/>
              <a:ea typeface="黑体" panose="02010609060101010101" pitchFamily="49" charset="-122"/>
              <a:sym typeface="+mn-ea"/>
            </a:endParaRPr>
          </a:p>
        </p:txBody>
      </p:sp>
      <p:sp>
        <p:nvSpPr>
          <p:cNvPr id="24" name="灯片编号占位符 23"/>
          <p:cNvSpPr>
            <a:spLocks noGrp="1"/>
          </p:cNvSpPr>
          <p:nvPr>
            <p:ph type="sldNum" sz="quarter" idx="4"/>
          </p:nvPr>
        </p:nvSpPr>
        <p:spPr>
          <a:xfrm>
            <a:off x="288000" y="6538203"/>
            <a:ext cx="480000" cy="261608"/>
          </a:xfrm>
          <a:prstGeom prst="rect">
            <a:avLst/>
          </a:prstGeom>
          <a:noFill/>
        </p:spPr>
        <p:txBody>
          <a:bodyPr wrap="square" lIns="91438" tIns="45719" rIns="91438" bIns="45719" rtlCol="0" anchor="ctr">
            <a:spAutoFit/>
          </a:bodyPr>
          <a:lstStyle>
            <a:lvl1pPr>
              <a:defRPr lang="zh-CN" altLang="en-US" sz="11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a:fld id="{3AD9866C-B8E1-4B55-A986-B90A7612EBA6}" type="slidenum">
              <a:rPr lang="en-US" altLang="zh-CN" smtClean="0"/>
            </a:fld>
            <a:endParaRPr lang="en-US" dirty="0"/>
          </a:p>
        </p:txBody>
      </p:sp>
      <p:sp>
        <p:nvSpPr>
          <p:cNvPr id="26" name="文本占位符 25"/>
          <p:cNvSpPr>
            <a:spLocks noGrp="1"/>
          </p:cNvSpPr>
          <p:nvPr>
            <p:ph type="body" idx="1"/>
          </p:nvPr>
        </p:nvSpPr>
        <p:spPr>
          <a:xfrm>
            <a:off x="336000" y="1080000"/>
            <a:ext cx="11520000" cy="5220000"/>
          </a:xfrm>
          <a:prstGeom prst="rect">
            <a:avLst/>
          </a:prstGeom>
        </p:spPr>
        <p:txBody>
          <a:bodyPr vert="horz" lIns="91438" tIns="45719" rIns="91438" bIns="45719"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en-US" altLang="zh-CN" dirty="0"/>
          </a:p>
          <a:p>
            <a:pPr lvl="3"/>
            <a:r>
              <a:rPr lang="zh-CN" altLang="en-US" dirty="0"/>
              <a:t>第四级</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ctr" defTabSz="725170" rtl="0" eaLnBrk="1" latinLnBrk="0" hangingPunct="1">
        <a:spcBef>
          <a:spcPct val="0"/>
        </a:spcBef>
        <a:buNone/>
        <a:defRPr lang="zh-CN" altLang="en-US" sz="3200" kern="1200" dirty="0"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j-cs"/>
        </a:defRPr>
      </a:lvl1pPr>
    </p:titleStyle>
    <p:bodyStyle>
      <a:lvl1pPr marL="360045" indent="-360045" algn="just" defTabSz="719455" rtl="0" eaLnBrk="1" latinLnBrk="0" hangingPunct="1">
        <a:lnSpc>
          <a:spcPct val="150000"/>
        </a:lnSpc>
        <a:spcBef>
          <a:spcPts val="0"/>
        </a:spcBef>
        <a:buClr>
          <a:schemeClr val="tx2"/>
        </a:buClr>
        <a:buFont typeface="Wingdings" panose="05000000000000000000" pitchFamily="2" charset="2"/>
        <a:buChar char="n"/>
        <a:defRPr lang="zh-CN" altLang="en-US" sz="2400" kern="1200" smtClean="0">
          <a:solidFill>
            <a:srgbClr val="006EA0"/>
          </a:solidFill>
          <a:latin typeface="黑体" panose="02010609060101010101" pitchFamily="49" charset="-122"/>
          <a:ea typeface="黑体" panose="02010609060101010101" pitchFamily="49" charset="-122"/>
          <a:cs typeface="+mn-cs"/>
        </a:defRPr>
      </a:lvl1pPr>
      <a:lvl2pPr marL="720090" indent="-360045" algn="just" defTabSz="725170" rtl="0" eaLnBrk="1" latinLnBrk="0" hangingPunct="1">
        <a:lnSpc>
          <a:spcPct val="150000"/>
        </a:lnSpc>
        <a:spcBef>
          <a:spcPts val="0"/>
        </a:spcBef>
        <a:buClr>
          <a:schemeClr val="tx2"/>
        </a:buClr>
        <a:buFont typeface="Wingdings 3" panose="05040102010807070707" pitchFamily="18" charset="2"/>
        <a:buChar char=""/>
        <a:defRPr lang="zh-CN" altLang="en-US" sz="2000" kern="1200" smtClean="0">
          <a:solidFill>
            <a:srgbClr val="006EA0"/>
          </a:solidFill>
          <a:latin typeface="黑体" panose="02010609060101010101" pitchFamily="49" charset="-122"/>
          <a:ea typeface="黑体" panose="02010609060101010101" pitchFamily="49" charset="-122"/>
          <a:cs typeface="+mn-cs"/>
        </a:defRPr>
      </a:lvl2pPr>
      <a:lvl3pPr marL="1080135" indent="-360045" algn="just" defTabSz="725170" rtl="0" eaLnBrk="1" latinLnBrk="0" hangingPunct="1">
        <a:lnSpc>
          <a:spcPct val="150000"/>
        </a:lnSpc>
        <a:spcBef>
          <a:spcPts val="0"/>
        </a:spcBef>
        <a:buFont typeface="黑体" panose="02010609060101010101" pitchFamily="49" charset="-122"/>
        <a:buChar char="-"/>
        <a:defRPr lang="zh-CN" altLang="en-US" sz="1900" kern="1200" smtClean="0">
          <a:solidFill>
            <a:srgbClr val="006EA0"/>
          </a:solidFill>
          <a:latin typeface="黑体" panose="02010609060101010101" pitchFamily="49" charset="-122"/>
          <a:ea typeface="黑体" panose="02010609060101010101" pitchFamily="49" charset="-122"/>
          <a:cs typeface="+mn-cs"/>
        </a:defRPr>
      </a:lvl3pPr>
      <a:lvl4pPr marL="1080135" indent="0" algn="just" defTabSz="725170" rtl="0" eaLnBrk="1" latinLnBrk="0" hangingPunct="1">
        <a:lnSpc>
          <a:spcPct val="150000"/>
        </a:lnSpc>
        <a:spcBef>
          <a:spcPts val="0"/>
        </a:spcBef>
        <a:buFont typeface="Arial" panose="020B0604020202020204"/>
        <a:buNone/>
        <a:defRPr lang="zh-CN" altLang="en-US" sz="1600" kern="1200" smtClean="0">
          <a:solidFill>
            <a:srgbClr val="006EA0"/>
          </a:solidFill>
          <a:latin typeface="黑体" panose="02010609060101010101" pitchFamily="49" charset="-122"/>
          <a:ea typeface="黑体" panose="02010609060101010101" pitchFamily="49" charset="-122"/>
          <a:cs typeface="+mn-cs"/>
        </a:defRPr>
      </a:lvl4pPr>
      <a:lvl5pPr marL="3263900" indent="-362585" algn="l" defTabSz="725170" rtl="0" eaLnBrk="1" latinLnBrk="0" hangingPunct="1">
        <a:lnSpc>
          <a:spcPct val="150000"/>
        </a:lnSpc>
        <a:spcBef>
          <a:spcPct val="20000"/>
        </a:spcBef>
        <a:buFont typeface="Arial" panose="020B0604020202020204"/>
        <a:buChar char="»"/>
        <a:defRPr lang="zh-CN" altLang="en-US" sz="1500" kern="1200">
          <a:solidFill>
            <a:srgbClr val="006EA0"/>
          </a:solidFill>
          <a:latin typeface="黑体" panose="02010609060101010101" pitchFamily="49" charset="-122"/>
          <a:ea typeface="黑体" panose="02010609060101010101" pitchFamily="49" charset="-122"/>
          <a:cs typeface="+mn-cs"/>
        </a:defRPr>
      </a:lvl5pPr>
      <a:lvl6pPr marL="398907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6pPr>
      <a:lvl7pPr marL="471424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7pPr>
      <a:lvl8pPr marL="543941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8pPr>
      <a:lvl9pPr marL="616458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9pPr>
    </p:bodyStyle>
    <p:otherStyle>
      <a:defPPr>
        <a:defRPr lang="zh-CN"/>
      </a:defPPr>
      <a:lvl1pPr marL="0" algn="l" defTabSz="725170" rtl="0" eaLnBrk="1" latinLnBrk="0" hangingPunct="1">
        <a:defRPr sz="2900" kern="1200">
          <a:solidFill>
            <a:schemeClr val="tx1"/>
          </a:solidFill>
          <a:latin typeface="+mn-lt"/>
          <a:ea typeface="+mn-ea"/>
          <a:cs typeface="+mn-cs"/>
        </a:defRPr>
      </a:lvl1pPr>
      <a:lvl2pPr marL="725170" algn="l" defTabSz="725170" rtl="0" eaLnBrk="1" latinLnBrk="0" hangingPunct="1">
        <a:defRPr sz="2900" kern="1200">
          <a:solidFill>
            <a:schemeClr val="tx1"/>
          </a:solidFill>
          <a:latin typeface="+mn-lt"/>
          <a:ea typeface="+mn-ea"/>
          <a:cs typeface="+mn-cs"/>
        </a:defRPr>
      </a:lvl2pPr>
      <a:lvl3pPr marL="1450340" algn="l" defTabSz="725170" rtl="0" eaLnBrk="1" latinLnBrk="0" hangingPunct="1">
        <a:defRPr sz="2900" kern="1200">
          <a:solidFill>
            <a:schemeClr val="tx1"/>
          </a:solidFill>
          <a:latin typeface="+mn-lt"/>
          <a:ea typeface="+mn-ea"/>
          <a:cs typeface="+mn-cs"/>
        </a:defRPr>
      </a:lvl3pPr>
      <a:lvl4pPr marL="2175510" algn="l" defTabSz="725170" rtl="0" eaLnBrk="1" latinLnBrk="0" hangingPunct="1">
        <a:defRPr sz="2900" kern="1200">
          <a:solidFill>
            <a:schemeClr val="tx1"/>
          </a:solidFill>
          <a:latin typeface="+mn-lt"/>
          <a:ea typeface="+mn-ea"/>
          <a:cs typeface="+mn-cs"/>
        </a:defRPr>
      </a:lvl4pPr>
      <a:lvl5pPr marL="2901315" algn="l" defTabSz="725170" rtl="0" eaLnBrk="1" latinLnBrk="0" hangingPunct="1">
        <a:defRPr sz="2900" kern="1200">
          <a:solidFill>
            <a:schemeClr val="tx1"/>
          </a:solidFill>
          <a:latin typeface="+mn-lt"/>
          <a:ea typeface="+mn-ea"/>
          <a:cs typeface="+mn-cs"/>
        </a:defRPr>
      </a:lvl5pPr>
      <a:lvl6pPr marL="3626485" algn="l" defTabSz="725170" rtl="0" eaLnBrk="1" latinLnBrk="0" hangingPunct="1">
        <a:defRPr sz="2900" kern="1200">
          <a:solidFill>
            <a:schemeClr val="tx1"/>
          </a:solidFill>
          <a:latin typeface="+mn-lt"/>
          <a:ea typeface="+mn-ea"/>
          <a:cs typeface="+mn-cs"/>
        </a:defRPr>
      </a:lvl6pPr>
      <a:lvl7pPr marL="4351655" algn="l" defTabSz="725170" rtl="0" eaLnBrk="1" latinLnBrk="0" hangingPunct="1">
        <a:defRPr sz="2900" kern="1200">
          <a:solidFill>
            <a:schemeClr val="tx1"/>
          </a:solidFill>
          <a:latin typeface="+mn-lt"/>
          <a:ea typeface="+mn-ea"/>
          <a:cs typeface="+mn-cs"/>
        </a:defRPr>
      </a:lvl7pPr>
      <a:lvl8pPr marL="5076825" algn="l" defTabSz="725170" rtl="0" eaLnBrk="1" latinLnBrk="0" hangingPunct="1">
        <a:defRPr sz="2900" kern="1200">
          <a:solidFill>
            <a:schemeClr val="tx1"/>
          </a:solidFill>
          <a:latin typeface="+mn-lt"/>
          <a:ea typeface="+mn-ea"/>
          <a:cs typeface="+mn-cs"/>
        </a:defRPr>
      </a:lvl8pPr>
      <a:lvl9pPr marL="5801995" algn="l" defTabSz="725170" rtl="0" eaLnBrk="1" latinLnBrk="0" hangingPunct="1">
        <a:defRPr sz="2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标题占位符 1"/>
          <p:cNvSpPr>
            <a:spLocks noGrp="1"/>
          </p:cNvSpPr>
          <p:nvPr>
            <p:ph type="title"/>
          </p:nvPr>
        </p:nvSpPr>
        <p:spPr bwMode="auto">
          <a:xfrm>
            <a:off x="336000" y="252000"/>
            <a:ext cx="8640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2000" tIns="36000" rIns="72000" bIns="36000" numCol="1" anchor="ctr" anchorCtr="0" compatLnSpc="1">
            <a:normAutofit/>
          </a:bodyPr>
          <a:lstStyle/>
          <a:p>
            <a:pPr lvl="0" algn="just" fontAlgn="base">
              <a:lnSpc>
                <a:spcPct val="100000"/>
              </a:lnSpc>
              <a:spcAft>
                <a:spcPct val="0"/>
              </a:spcAft>
            </a:pPr>
            <a:r>
              <a:rPr lang="zh-CN" altLang="en-US" dirty="0" smtClean="0"/>
              <a:t>单击此处编辑母版标题样式</a:t>
            </a:r>
            <a:endParaRPr lang="zh-CN" altLang="en-US" dirty="0" smtClean="0"/>
          </a:p>
        </p:txBody>
      </p:sp>
      <p:pic>
        <p:nvPicPr>
          <p:cNvPr id="17" name="图片 16"/>
          <p:cNvPicPr/>
          <p:nvPr userDrawn="1"/>
        </p:nvPicPr>
        <p:blipFill>
          <a:blip r:embed="rId29" cstate="print">
            <a:extLst>
              <a:ext uri="{28A0092B-C50C-407E-A947-70E740481C1C}">
                <a14:useLocalDpi xmlns:a14="http://schemas.microsoft.com/office/drawing/2010/main" val="0"/>
              </a:ext>
            </a:extLst>
          </a:blip>
          <a:stretch>
            <a:fillRect/>
          </a:stretch>
        </p:blipFill>
        <p:spPr>
          <a:xfrm>
            <a:off x="0" y="6480000"/>
            <a:ext cx="12192000" cy="378000"/>
          </a:xfrm>
          <a:prstGeom prst="rect">
            <a:avLst/>
          </a:prstGeom>
        </p:spPr>
      </p:pic>
      <p:sp>
        <p:nvSpPr>
          <p:cNvPr id="18" name="文本框 17"/>
          <p:cNvSpPr txBox="1"/>
          <p:nvPr userDrawn="1"/>
        </p:nvSpPr>
        <p:spPr>
          <a:xfrm>
            <a:off x="9840001" y="6530502"/>
            <a:ext cx="2041793" cy="276999"/>
          </a:xfrm>
          <a:prstGeom prst="rect">
            <a:avLst/>
          </a:prstGeom>
          <a:noFill/>
        </p:spPr>
        <p:txBody>
          <a:bodyPr wrap="square" rtlCol="0" anchor="ctr">
            <a:spAutoFit/>
          </a:bodyPr>
          <a:lstStyle>
            <a:defPPr>
              <a:defRPr lang="zh-CN"/>
            </a:defPPr>
            <a:lvl1pPr marL="0" algn="ctr" defTabSz="484505" eaLnBrk="1" latinLnBrk="0" hangingPunct="1">
              <a:defRPr sz="1400">
                <a:solidFill>
                  <a:schemeClr val="bg1"/>
                </a:solidFill>
                <a:latin typeface="Arial" panose="020B0604020202020204" pitchFamily="34" charset="0"/>
                <a:ea typeface="+mn-ea"/>
                <a:cs typeface="Arial" panose="020B0604020202020204" pitchFamily="34" charset="0"/>
              </a:defRPr>
            </a:lvl1pPr>
            <a:lvl2pPr marL="484505" defTabSz="484505" eaLnBrk="1" latinLnBrk="0" hangingPunct="1">
              <a:defRPr sz="1940">
                <a:latin typeface="+mn-lt"/>
                <a:ea typeface="+mn-ea"/>
              </a:defRPr>
            </a:lvl2pPr>
            <a:lvl3pPr marL="969645" defTabSz="484505" eaLnBrk="1" latinLnBrk="0" hangingPunct="1">
              <a:defRPr sz="1940">
                <a:latin typeface="+mn-lt"/>
                <a:ea typeface="+mn-ea"/>
              </a:defRPr>
            </a:lvl3pPr>
            <a:lvl4pPr marL="1454150" defTabSz="484505" eaLnBrk="1" latinLnBrk="0" hangingPunct="1">
              <a:defRPr sz="1940">
                <a:latin typeface="+mn-lt"/>
                <a:ea typeface="+mn-ea"/>
              </a:defRPr>
            </a:lvl4pPr>
            <a:lvl5pPr marL="1939290" defTabSz="484505" eaLnBrk="1" latinLnBrk="0" hangingPunct="1">
              <a:defRPr sz="1940">
                <a:latin typeface="+mn-lt"/>
                <a:ea typeface="+mn-ea"/>
              </a:defRPr>
            </a:lvl5pPr>
            <a:lvl6pPr marL="2423795" defTabSz="484505">
              <a:defRPr sz="1940">
                <a:latin typeface="+mn-lt"/>
                <a:ea typeface="+mn-ea"/>
              </a:defRPr>
            </a:lvl6pPr>
            <a:lvl7pPr marL="2908300" defTabSz="484505">
              <a:defRPr sz="1940">
                <a:latin typeface="+mn-lt"/>
                <a:ea typeface="+mn-ea"/>
              </a:defRPr>
            </a:lvl7pPr>
            <a:lvl8pPr marL="3393440" defTabSz="484505">
              <a:defRPr sz="1940">
                <a:latin typeface="+mn-lt"/>
                <a:ea typeface="+mn-ea"/>
              </a:defRPr>
            </a:lvl8pPr>
            <a:lvl9pPr marL="3877945" defTabSz="484505">
              <a:defRPr sz="1940">
                <a:latin typeface="+mn-lt"/>
                <a:ea typeface="+mn-ea"/>
              </a:defRPr>
            </a:lvl9pPr>
          </a:lstStyle>
          <a:p>
            <a:pPr lvl="0"/>
            <a:r>
              <a:rPr lang="zh-CN" altLang="en-US" sz="1200" b="0" i="0" dirty="0" smtClean="0"/>
              <a:t>让 工 业 充 满 智 慧</a:t>
            </a:r>
            <a:endParaRPr lang="zh-CN" altLang="en-US" sz="1200" b="0" i="0" dirty="0"/>
          </a:p>
        </p:txBody>
      </p:sp>
      <p:sp>
        <p:nvSpPr>
          <p:cNvPr id="24" name="灯片编号占位符 23"/>
          <p:cNvSpPr>
            <a:spLocks noGrp="1"/>
          </p:cNvSpPr>
          <p:nvPr>
            <p:ph type="sldNum" sz="quarter" idx="4"/>
          </p:nvPr>
        </p:nvSpPr>
        <p:spPr>
          <a:xfrm>
            <a:off x="288000" y="6545891"/>
            <a:ext cx="480000" cy="246221"/>
          </a:xfrm>
          <a:prstGeom prst="rect">
            <a:avLst/>
          </a:prstGeom>
          <a:noFill/>
        </p:spPr>
        <p:txBody>
          <a:bodyPr wrap="square" rtlCol="0" anchor="ctr">
            <a:spAutoFit/>
          </a:bodyPr>
          <a:lstStyle>
            <a:lvl1pPr>
              <a:defRPr lang="zh-CN" altLang="en-US" sz="10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a:fld id="{3AD9866C-B8E1-4B55-A986-B90A7612EBA6}" type="slidenum">
              <a:rPr lang="en-US" altLang="zh-CN" smtClean="0"/>
            </a:fld>
            <a:endParaRPr lang="en-US" dirty="0"/>
          </a:p>
        </p:txBody>
      </p:sp>
      <p:sp>
        <p:nvSpPr>
          <p:cNvPr id="26" name="文本占位符 25"/>
          <p:cNvSpPr>
            <a:spLocks noGrp="1"/>
          </p:cNvSpPr>
          <p:nvPr>
            <p:ph type="body" idx="1"/>
          </p:nvPr>
        </p:nvSpPr>
        <p:spPr>
          <a:xfrm>
            <a:off x="336000" y="1080000"/>
            <a:ext cx="11520000" cy="522000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pic>
        <p:nvPicPr>
          <p:cNvPr id="1026" name="图片 2" descr="Logo+科远智慧（标准色）"/>
          <p:cNvPicPr>
            <a:picLocks noChangeAspect="1"/>
          </p:cNvPicPr>
          <p:nvPr userDrawn="1"/>
        </p:nvPicPr>
        <p:blipFill>
          <a:blip r:embed="rId30" cstate="print"/>
          <a:stretch>
            <a:fillRect/>
          </a:stretch>
        </p:blipFill>
        <p:spPr>
          <a:xfrm>
            <a:off x="10186035" y="252095"/>
            <a:ext cx="1503680" cy="5810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0" r:id="rId25"/>
    <p:sldLayoutId id="2147483681" r:id="rId26"/>
    <p:sldLayoutId id="2147483682" r:id="rId27"/>
    <p:sldLayoutId id="2147483683" r:id="rId28"/>
  </p:sldLayoutIdLst>
  <p:timing>
    <p:tnLst>
      <p:par>
        <p:cTn id="1" dur="indefinite" restart="never" nodeType="tmRoot"/>
      </p:par>
    </p:tnLst>
  </p:timing>
  <p:txStyles>
    <p:titleStyle>
      <a:lvl1pPr algn="ctr" defTabSz="725170" rtl="0" eaLnBrk="1" latinLnBrk="0" hangingPunct="1">
        <a:spcBef>
          <a:spcPct val="0"/>
        </a:spcBef>
        <a:buNone/>
        <a:defRPr lang="zh-CN" altLang="en-US" sz="3200" kern="1200" dirty="0"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j-cs"/>
        </a:defRPr>
      </a:lvl1pPr>
    </p:titleStyle>
    <p:bodyStyle>
      <a:lvl1pPr marL="360045" indent="-360045" algn="just" defTabSz="720090" rtl="0" eaLnBrk="1" latinLnBrk="0" hangingPunct="1">
        <a:lnSpc>
          <a:spcPct val="150000"/>
        </a:lnSpc>
        <a:spcBef>
          <a:spcPts val="0"/>
        </a:spcBef>
        <a:buClr>
          <a:schemeClr val="tx2"/>
        </a:buClr>
        <a:buFont typeface="Wingdings" panose="05000000000000000000" pitchFamily="2" charset="2"/>
        <a:buChar char="n"/>
        <a:defRPr lang="zh-CN" altLang="en-US" sz="2400" kern="1200" smtClean="0">
          <a:solidFill>
            <a:srgbClr val="006EA0"/>
          </a:solidFill>
          <a:latin typeface="黑体" panose="02010609060101010101" pitchFamily="49" charset="-122"/>
          <a:ea typeface="黑体" panose="02010609060101010101" pitchFamily="49" charset="-122"/>
          <a:cs typeface="+mn-cs"/>
        </a:defRPr>
      </a:lvl1pPr>
      <a:lvl2pPr marL="720090" indent="-360045" algn="just" defTabSz="725170" rtl="0" eaLnBrk="1" latinLnBrk="0" hangingPunct="1">
        <a:lnSpc>
          <a:spcPct val="150000"/>
        </a:lnSpc>
        <a:spcBef>
          <a:spcPts val="0"/>
        </a:spcBef>
        <a:buClr>
          <a:schemeClr val="tx2"/>
        </a:buClr>
        <a:buFont typeface="Wingdings 3" panose="05040102010807070707" pitchFamily="18" charset="2"/>
        <a:buChar char=""/>
        <a:defRPr lang="zh-CN" altLang="en-US" sz="2000" kern="1200" smtClean="0">
          <a:solidFill>
            <a:srgbClr val="006EA0"/>
          </a:solidFill>
          <a:latin typeface="黑体" panose="02010609060101010101" pitchFamily="49" charset="-122"/>
          <a:ea typeface="黑体" panose="02010609060101010101" pitchFamily="49" charset="-122"/>
          <a:cs typeface="+mn-cs"/>
        </a:defRPr>
      </a:lvl2pPr>
      <a:lvl3pPr marL="1080135" indent="-360045" algn="just" defTabSz="725170" rtl="0" eaLnBrk="1" latinLnBrk="0" hangingPunct="1">
        <a:lnSpc>
          <a:spcPct val="150000"/>
        </a:lnSpc>
        <a:spcBef>
          <a:spcPts val="0"/>
        </a:spcBef>
        <a:buFont typeface="黑体" panose="02010609060101010101" pitchFamily="49" charset="-122"/>
        <a:buChar char="-"/>
        <a:defRPr lang="zh-CN" altLang="en-US" sz="1800" kern="1200" smtClean="0">
          <a:solidFill>
            <a:srgbClr val="006EA0"/>
          </a:solidFill>
          <a:latin typeface="黑体" panose="02010609060101010101" pitchFamily="49" charset="-122"/>
          <a:ea typeface="黑体" panose="02010609060101010101" pitchFamily="49" charset="-122"/>
          <a:cs typeface="+mn-cs"/>
        </a:defRPr>
      </a:lvl3pPr>
      <a:lvl4pPr marL="1080135" indent="0" algn="just" defTabSz="725170" rtl="0" eaLnBrk="1" latinLnBrk="0" hangingPunct="1">
        <a:lnSpc>
          <a:spcPct val="150000"/>
        </a:lnSpc>
        <a:spcBef>
          <a:spcPts val="0"/>
        </a:spcBef>
        <a:buFont typeface="Arial" panose="020B0604020202020204"/>
        <a:buNone/>
        <a:defRPr lang="zh-CN" altLang="en-US" sz="1600" kern="1200" smtClean="0">
          <a:solidFill>
            <a:srgbClr val="006EA0"/>
          </a:solidFill>
          <a:latin typeface="黑体" panose="02010609060101010101" pitchFamily="49" charset="-122"/>
          <a:ea typeface="黑体" panose="02010609060101010101" pitchFamily="49" charset="-122"/>
          <a:cs typeface="+mn-cs"/>
        </a:defRPr>
      </a:lvl4pPr>
      <a:lvl5pPr marL="3263900" indent="-362585" algn="l" defTabSz="725170" rtl="0" eaLnBrk="1" latinLnBrk="0" hangingPunct="1">
        <a:lnSpc>
          <a:spcPct val="150000"/>
        </a:lnSpc>
        <a:spcBef>
          <a:spcPct val="20000"/>
        </a:spcBef>
        <a:buFont typeface="Arial" panose="020B0604020202020204"/>
        <a:buChar char="»"/>
        <a:defRPr lang="zh-CN" altLang="en-US" sz="1400" kern="1200">
          <a:solidFill>
            <a:srgbClr val="006EA0"/>
          </a:solidFill>
          <a:latin typeface="黑体" panose="02010609060101010101" pitchFamily="49" charset="-122"/>
          <a:ea typeface="黑体" panose="02010609060101010101" pitchFamily="49" charset="-122"/>
          <a:cs typeface="+mn-cs"/>
        </a:defRPr>
      </a:lvl5pPr>
      <a:lvl6pPr marL="398907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6pPr>
      <a:lvl7pPr marL="471424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7pPr>
      <a:lvl8pPr marL="543941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8pPr>
      <a:lvl9pPr marL="616458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9pPr>
    </p:bodyStyle>
    <p:otherStyle>
      <a:defPPr>
        <a:defRPr lang="zh-CN"/>
      </a:defPPr>
      <a:lvl1pPr marL="0" algn="l" defTabSz="725170" rtl="0" eaLnBrk="1" latinLnBrk="0" hangingPunct="1">
        <a:defRPr sz="2900" kern="1200">
          <a:solidFill>
            <a:schemeClr val="tx1"/>
          </a:solidFill>
          <a:latin typeface="+mn-lt"/>
          <a:ea typeface="+mn-ea"/>
          <a:cs typeface="+mn-cs"/>
        </a:defRPr>
      </a:lvl1pPr>
      <a:lvl2pPr marL="725170" algn="l" defTabSz="725170" rtl="0" eaLnBrk="1" latinLnBrk="0" hangingPunct="1">
        <a:defRPr sz="2900" kern="1200">
          <a:solidFill>
            <a:schemeClr val="tx1"/>
          </a:solidFill>
          <a:latin typeface="+mn-lt"/>
          <a:ea typeface="+mn-ea"/>
          <a:cs typeface="+mn-cs"/>
        </a:defRPr>
      </a:lvl2pPr>
      <a:lvl3pPr marL="1450340" algn="l" defTabSz="725170" rtl="0" eaLnBrk="1" latinLnBrk="0" hangingPunct="1">
        <a:defRPr sz="2900" kern="1200">
          <a:solidFill>
            <a:schemeClr val="tx1"/>
          </a:solidFill>
          <a:latin typeface="+mn-lt"/>
          <a:ea typeface="+mn-ea"/>
          <a:cs typeface="+mn-cs"/>
        </a:defRPr>
      </a:lvl3pPr>
      <a:lvl4pPr marL="2175510" algn="l" defTabSz="725170" rtl="0" eaLnBrk="1" latinLnBrk="0" hangingPunct="1">
        <a:defRPr sz="2900" kern="1200">
          <a:solidFill>
            <a:schemeClr val="tx1"/>
          </a:solidFill>
          <a:latin typeface="+mn-lt"/>
          <a:ea typeface="+mn-ea"/>
          <a:cs typeface="+mn-cs"/>
        </a:defRPr>
      </a:lvl4pPr>
      <a:lvl5pPr marL="2901315" algn="l" defTabSz="725170" rtl="0" eaLnBrk="1" latinLnBrk="0" hangingPunct="1">
        <a:defRPr sz="2900" kern="1200">
          <a:solidFill>
            <a:schemeClr val="tx1"/>
          </a:solidFill>
          <a:latin typeface="+mn-lt"/>
          <a:ea typeface="+mn-ea"/>
          <a:cs typeface="+mn-cs"/>
        </a:defRPr>
      </a:lvl5pPr>
      <a:lvl6pPr marL="3626485" algn="l" defTabSz="725170" rtl="0" eaLnBrk="1" latinLnBrk="0" hangingPunct="1">
        <a:defRPr sz="2900" kern="1200">
          <a:solidFill>
            <a:schemeClr val="tx1"/>
          </a:solidFill>
          <a:latin typeface="+mn-lt"/>
          <a:ea typeface="+mn-ea"/>
          <a:cs typeface="+mn-cs"/>
        </a:defRPr>
      </a:lvl6pPr>
      <a:lvl7pPr marL="4351655" algn="l" defTabSz="725170" rtl="0" eaLnBrk="1" latinLnBrk="0" hangingPunct="1">
        <a:defRPr sz="2900" kern="1200">
          <a:solidFill>
            <a:schemeClr val="tx1"/>
          </a:solidFill>
          <a:latin typeface="+mn-lt"/>
          <a:ea typeface="+mn-ea"/>
          <a:cs typeface="+mn-cs"/>
        </a:defRPr>
      </a:lvl7pPr>
      <a:lvl8pPr marL="5076825" algn="l" defTabSz="725170" rtl="0" eaLnBrk="1" latinLnBrk="0" hangingPunct="1">
        <a:defRPr sz="2900" kern="1200">
          <a:solidFill>
            <a:schemeClr val="tx1"/>
          </a:solidFill>
          <a:latin typeface="+mn-lt"/>
          <a:ea typeface="+mn-ea"/>
          <a:cs typeface="+mn-cs"/>
        </a:defRPr>
      </a:lvl8pPr>
      <a:lvl9pPr marL="5801995" algn="l" defTabSz="725170" rtl="0" eaLnBrk="1" latinLnBrk="0" hangingPunct="1">
        <a:defRPr sz="29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 name="标题占位符 1"/>
          <p:cNvSpPr>
            <a:spLocks noGrp="1"/>
          </p:cNvSpPr>
          <p:nvPr>
            <p:ph type="title"/>
          </p:nvPr>
        </p:nvSpPr>
        <p:spPr bwMode="auto">
          <a:xfrm>
            <a:off x="336000" y="252000"/>
            <a:ext cx="8640000"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2000" tIns="36000" rIns="72000" bIns="36000" numCol="1" anchor="ctr" anchorCtr="0" compatLnSpc="1">
            <a:normAutofit/>
          </a:bodyPr>
          <a:lstStyle/>
          <a:p>
            <a:pPr lvl="0" algn="just" fontAlgn="base">
              <a:lnSpc>
                <a:spcPct val="100000"/>
              </a:lnSpc>
              <a:spcAft>
                <a:spcPct val="0"/>
              </a:spcAft>
            </a:pPr>
            <a:r>
              <a:rPr lang="zh-CN" altLang="en-US" dirty="0" smtClean="0"/>
              <a:t>单击此处编辑母版标题样式</a:t>
            </a:r>
            <a:endParaRPr lang="zh-CN" altLang="en-US" dirty="0" smtClean="0"/>
          </a:p>
        </p:txBody>
      </p:sp>
      <p:pic>
        <p:nvPicPr>
          <p:cNvPr id="14" name="图片 13"/>
          <p:cNvPicPr>
            <a:picLocks noChangeAspect="1"/>
          </p:cNvPicPr>
          <p:nvPr userDrawn="1"/>
        </p:nvPicPr>
        <p:blipFill>
          <a:blip r:embed="rId26"/>
          <a:stretch>
            <a:fillRect/>
          </a:stretch>
        </p:blipFill>
        <p:spPr>
          <a:xfrm>
            <a:off x="9487096" y="252000"/>
            <a:ext cx="2368904" cy="576000"/>
          </a:xfrm>
          <a:prstGeom prst="rect">
            <a:avLst/>
          </a:prstGeom>
        </p:spPr>
      </p:pic>
      <p:pic>
        <p:nvPicPr>
          <p:cNvPr id="17" name="图片 16"/>
          <p:cNvPicPr/>
          <p:nvPr userDrawn="1"/>
        </p:nvPicPr>
        <p:blipFill>
          <a:blip r:embed="rId27" cstate="print">
            <a:extLst>
              <a:ext uri="{28A0092B-C50C-407E-A947-70E740481C1C}">
                <a14:useLocalDpi xmlns:a14="http://schemas.microsoft.com/office/drawing/2010/main" val="0"/>
              </a:ext>
            </a:extLst>
          </a:blip>
          <a:stretch>
            <a:fillRect/>
          </a:stretch>
        </p:blipFill>
        <p:spPr>
          <a:xfrm>
            <a:off x="0" y="6480000"/>
            <a:ext cx="12192000" cy="378000"/>
          </a:xfrm>
          <a:prstGeom prst="rect">
            <a:avLst/>
          </a:prstGeom>
        </p:spPr>
      </p:pic>
      <p:sp>
        <p:nvSpPr>
          <p:cNvPr id="18" name="文本框 17"/>
          <p:cNvSpPr txBox="1"/>
          <p:nvPr userDrawn="1"/>
        </p:nvSpPr>
        <p:spPr>
          <a:xfrm>
            <a:off x="9840001" y="6530502"/>
            <a:ext cx="2041793" cy="276999"/>
          </a:xfrm>
          <a:prstGeom prst="rect">
            <a:avLst/>
          </a:prstGeom>
          <a:noFill/>
        </p:spPr>
        <p:txBody>
          <a:bodyPr wrap="square" rtlCol="0" anchor="ctr">
            <a:spAutoFit/>
          </a:bodyPr>
          <a:lstStyle>
            <a:defPPr>
              <a:defRPr lang="zh-CN"/>
            </a:defPPr>
            <a:lvl1pPr marL="0" algn="ctr" defTabSz="484505" eaLnBrk="1" latinLnBrk="0" hangingPunct="1">
              <a:defRPr sz="1400">
                <a:solidFill>
                  <a:schemeClr val="bg1"/>
                </a:solidFill>
                <a:latin typeface="Arial" panose="020B0604020202020204" pitchFamily="34" charset="0"/>
                <a:ea typeface="+mn-ea"/>
                <a:cs typeface="Arial" panose="020B0604020202020204" pitchFamily="34" charset="0"/>
              </a:defRPr>
            </a:lvl1pPr>
            <a:lvl2pPr marL="484505" defTabSz="484505" eaLnBrk="1" latinLnBrk="0" hangingPunct="1">
              <a:defRPr sz="1940">
                <a:latin typeface="+mn-lt"/>
                <a:ea typeface="+mn-ea"/>
              </a:defRPr>
            </a:lvl2pPr>
            <a:lvl3pPr marL="969645" defTabSz="484505" eaLnBrk="1" latinLnBrk="0" hangingPunct="1">
              <a:defRPr sz="1940">
                <a:latin typeface="+mn-lt"/>
                <a:ea typeface="+mn-ea"/>
              </a:defRPr>
            </a:lvl3pPr>
            <a:lvl4pPr marL="1454150" defTabSz="484505" eaLnBrk="1" latinLnBrk="0" hangingPunct="1">
              <a:defRPr sz="1940">
                <a:latin typeface="+mn-lt"/>
                <a:ea typeface="+mn-ea"/>
              </a:defRPr>
            </a:lvl4pPr>
            <a:lvl5pPr marL="1939290" defTabSz="484505" eaLnBrk="1" latinLnBrk="0" hangingPunct="1">
              <a:defRPr sz="1940">
                <a:latin typeface="+mn-lt"/>
                <a:ea typeface="+mn-ea"/>
              </a:defRPr>
            </a:lvl5pPr>
            <a:lvl6pPr marL="2423795" defTabSz="484505">
              <a:defRPr sz="1940">
                <a:latin typeface="+mn-lt"/>
                <a:ea typeface="+mn-ea"/>
              </a:defRPr>
            </a:lvl6pPr>
            <a:lvl7pPr marL="2908300" defTabSz="484505">
              <a:defRPr sz="1940">
                <a:latin typeface="+mn-lt"/>
                <a:ea typeface="+mn-ea"/>
              </a:defRPr>
            </a:lvl7pPr>
            <a:lvl8pPr marL="3393440" defTabSz="484505">
              <a:defRPr sz="1940">
                <a:latin typeface="+mn-lt"/>
                <a:ea typeface="+mn-ea"/>
              </a:defRPr>
            </a:lvl8pPr>
            <a:lvl9pPr marL="3877945" defTabSz="484505">
              <a:defRPr sz="1940">
                <a:latin typeface="+mn-lt"/>
                <a:ea typeface="+mn-ea"/>
              </a:defRPr>
            </a:lvl9pPr>
          </a:lstStyle>
          <a:p>
            <a:pPr lvl="0"/>
            <a:r>
              <a:rPr lang="zh-CN" altLang="en-US" sz="1200" b="0" i="0" dirty="0" smtClean="0"/>
              <a:t>让 工 业 充 满 智 慧</a:t>
            </a:r>
            <a:endParaRPr lang="zh-CN" altLang="en-US" sz="1200" b="0" i="0" dirty="0"/>
          </a:p>
        </p:txBody>
      </p:sp>
      <p:sp>
        <p:nvSpPr>
          <p:cNvPr id="24" name="灯片编号占位符 23"/>
          <p:cNvSpPr>
            <a:spLocks noGrp="1"/>
          </p:cNvSpPr>
          <p:nvPr>
            <p:ph type="sldNum" sz="quarter" idx="4"/>
          </p:nvPr>
        </p:nvSpPr>
        <p:spPr>
          <a:xfrm>
            <a:off x="288000" y="6545891"/>
            <a:ext cx="480000" cy="246221"/>
          </a:xfrm>
          <a:prstGeom prst="rect">
            <a:avLst/>
          </a:prstGeom>
          <a:noFill/>
        </p:spPr>
        <p:txBody>
          <a:bodyPr wrap="square" rtlCol="0" anchor="ctr">
            <a:spAutoFit/>
          </a:bodyPr>
          <a:lstStyle>
            <a:lvl1pPr>
              <a:defRPr lang="zh-CN" altLang="en-US" sz="1000" b="0" i="0" smtClean="0">
                <a:solidFill>
                  <a:schemeClr val="bg1">
                    <a:lumMod val="50000"/>
                  </a:schemeClr>
                </a:solidFill>
                <a:latin typeface="Arial" panose="020B0604020202020204" pitchFamily="34" charset="0"/>
                <a:ea typeface="黑体" panose="02010609060101010101" pitchFamily="49" charset="-122"/>
                <a:cs typeface="Arial" panose="020B0604020202020204" pitchFamily="34" charset="0"/>
              </a:defRPr>
            </a:lvl1pPr>
          </a:lstStyle>
          <a:p>
            <a:pPr algn="ctr"/>
            <a:fld id="{3AD9866C-B8E1-4B55-A986-B90A7612EBA6}" type="slidenum">
              <a:rPr lang="en-US" altLang="zh-CN" smtClean="0"/>
            </a:fld>
            <a:endParaRPr lang="en-US" dirty="0"/>
          </a:p>
        </p:txBody>
      </p:sp>
      <p:sp>
        <p:nvSpPr>
          <p:cNvPr id="26" name="文本占位符 25"/>
          <p:cNvSpPr>
            <a:spLocks noGrp="1"/>
          </p:cNvSpPr>
          <p:nvPr>
            <p:ph type="body" idx="1"/>
          </p:nvPr>
        </p:nvSpPr>
        <p:spPr>
          <a:xfrm>
            <a:off x="336000" y="1080000"/>
            <a:ext cx="11520000" cy="522000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en-US" altLang="zh-CN" dirty="0" smtClean="0"/>
          </a:p>
          <a:p>
            <a:pPr lvl="3"/>
            <a:r>
              <a:rPr lang="zh-CN" altLang="en-US" dirty="0" smtClean="0"/>
              <a:t>第四级</a:t>
            </a:r>
            <a:endParaRPr lang="zh-CN" altLang="en-US" dirty="0" smtClean="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Lst>
  <p:timing>
    <p:tnLst>
      <p:par>
        <p:cTn id="1" dur="indefinite" restart="never" nodeType="tmRoot"/>
      </p:par>
    </p:tnLst>
  </p:timing>
  <p:txStyles>
    <p:titleStyle>
      <a:lvl1pPr algn="ctr" defTabSz="725170" rtl="0" eaLnBrk="1" latinLnBrk="0" hangingPunct="1">
        <a:spcBef>
          <a:spcPct val="0"/>
        </a:spcBef>
        <a:buNone/>
        <a:defRPr lang="zh-CN" altLang="en-US" sz="3200" kern="1200" dirty="0"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j-cs"/>
        </a:defRPr>
      </a:lvl1pPr>
    </p:titleStyle>
    <p:bodyStyle>
      <a:lvl1pPr marL="360045" indent="-360045" algn="just" defTabSz="720090" rtl="0" eaLnBrk="1" latinLnBrk="0" hangingPunct="1">
        <a:lnSpc>
          <a:spcPct val="150000"/>
        </a:lnSpc>
        <a:spcBef>
          <a:spcPts val="0"/>
        </a:spcBef>
        <a:buClr>
          <a:schemeClr val="tx2"/>
        </a:buClr>
        <a:buFont typeface="Wingdings" panose="05000000000000000000" pitchFamily="2" charset="2"/>
        <a:buChar char="n"/>
        <a:defRPr lang="zh-CN" altLang="en-US" sz="2400" kern="1200" smtClean="0">
          <a:solidFill>
            <a:srgbClr val="006EA0"/>
          </a:solidFill>
          <a:latin typeface="黑体" panose="02010609060101010101" pitchFamily="49" charset="-122"/>
          <a:ea typeface="黑体" panose="02010609060101010101" pitchFamily="49" charset="-122"/>
          <a:cs typeface="+mn-cs"/>
        </a:defRPr>
      </a:lvl1pPr>
      <a:lvl2pPr marL="720090" indent="-360045" algn="just" defTabSz="725170" rtl="0" eaLnBrk="1" latinLnBrk="0" hangingPunct="1">
        <a:lnSpc>
          <a:spcPct val="150000"/>
        </a:lnSpc>
        <a:spcBef>
          <a:spcPts val="0"/>
        </a:spcBef>
        <a:buClr>
          <a:schemeClr val="tx2"/>
        </a:buClr>
        <a:buFont typeface="Wingdings 3" panose="05040102010807070707" pitchFamily="18" charset="2"/>
        <a:buChar char=""/>
        <a:defRPr lang="zh-CN" altLang="en-US" sz="2000" kern="1200" smtClean="0">
          <a:solidFill>
            <a:srgbClr val="006EA0"/>
          </a:solidFill>
          <a:latin typeface="黑体" panose="02010609060101010101" pitchFamily="49" charset="-122"/>
          <a:ea typeface="黑体" panose="02010609060101010101" pitchFamily="49" charset="-122"/>
          <a:cs typeface="+mn-cs"/>
        </a:defRPr>
      </a:lvl2pPr>
      <a:lvl3pPr marL="1080135" indent="-360045" algn="just" defTabSz="725170" rtl="0" eaLnBrk="1" latinLnBrk="0" hangingPunct="1">
        <a:lnSpc>
          <a:spcPct val="150000"/>
        </a:lnSpc>
        <a:spcBef>
          <a:spcPts val="0"/>
        </a:spcBef>
        <a:buFont typeface="黑体" panose="02010609060101010101" pitchFamily="49" charset="-122"/>
        <a:buChar char="-"/>
        <a:defRPr lang="zh-CN" altLang="en-US" sz="1800" kern="1200" smtClean="0">
          <a:solidFill>
            <a:srgbClr val="006EA0"/>
          </a:solidFill>
          <a:latin typeface="黑体" panose="02010609060101010101" pitchFamily="49" charset="-122"/>
          <a:ea typeface="黑体" panose="02010609060101010101" pitchFamily="49" charset="-122"/>
          <a:cs typeface="+mn-cs"/>
        </a:defRPr>
      </a:lvl3pPr>
      <a:lvl4pPr marL="1080135" indent="0" algn="just" defTabSz="725170" rtl="0" eaLnBrk="1" latinLnBrk="0" hangingPunct="1">
        <a:lnSpc>
          <a:spcPct val="150000"/>
        </a:lnSpc>
        <a:spcBef>
          <a:spcPts val="0"/>
        </a:spcBef>
        <a:buFont typeface="Arial" panose="020B0604020202020204"/>
        <a:buNone/>
        <a:defRPr lang="zh-CN" altLang="en-US" sz="1600" kern="1200" smtClean="0">
          <a:solidFill>
            <a:srgbClr val="006EA0"/>
          </a:solidFill>
          <a:latin typeface="黑体" panose="02010609060101010101" pitchFamily="49" charset="-122"/>
          <a:ea typeface="黑体" panose="02010609060101010101" pitchFamily="49" charset="-122"/>
          <a:cs typeface="+mn-cs"/>
        </a:defRPr>
      </a:lvl4pPr>
      <a:lvl5pPr marL="3263900" indent="-362585" algn="l" defTabSz="725170" rtl="0" eaLnBrk="1" latinLnBrk="0" hangingPunct="1">
        <a:lnSpc>
          <a:spcPct val="150000"/>
        </a:lnSpc>
        <a:spcBef>
          <a:spcPct val="20000"/>
        </a:spcBef>
        <a:buFont typeface="Arial" panose="020B0604020202020204"/>
        <a:buChar char="»"/>
        <a:defRPr lang="zh-CN" altLang="en-US" sz="1400" kern="1200">
          <a:solidFill>
            <a:srgbClr val="006EA0"/>
          </a:solidFill>
          <a:latin typeface="黑体" panose="02010609060101010101" pitchFamily="49" charset="-122"/>
          <a:ea typeface="黑体" panose="02010609060101010101" pitchFamily="49" charset="-122"/>
          <a:cs typeface="+mn-cs"/>
        </a:defRPr>
      </a:lvl5pPr>
      <a:lvl6pPr marL="398907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6pPr>
      <a:lvl7pPr marL="471424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7pPr>
      <a:lvl8pPr marL="543941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8pPr>
      <a:lvl9pPr marL="6164580" indent="-362585" algn="l" defTabSz="725170" rtl="0" eaLnBrk="1" latinLnBrk="0" hangingPunct="1">
        <a:spcBef>
          <a:spcPct val="20000"/>
        </a:spcBef>
        <a:buFont typeface="Arial" panose="020B0604020202020204"/>
        <a:buChar char="•"/>
        <a:defRPr sz="3200" kern="1200">
          <a:solidFill>
            <a:schemeClr val="tx1"/>
          </a:solidFill>
          <a:latin typeface="+mn-lt"/>
          <a:ea typeface="+mn-ea"/>
          <a:cs typeface="+mn-cs"/>
        </a:defRPr>
      </a:lvl9pPr>
    </p:bodyStyle>
    <p:otherStyle>
      <a:defPPr>
        <a:defRPr lang="zh-CN"/>
      </a:defPPr>
      <a:lvl1pPr marL="0" algn="l" defTabSz="725170" rtl="0" eaLnBrk="1" latinLnBrk="0" hangingPunct="1">
        <a:defRPr sz="2900" kern="1200">
          <a:solidFill>
            <a:schemeClr val="tx1"/>
          </a:solidFill>
          <a:latin typeface="+mn-lt"/>
          <a:ea typeface="+mn-ea"/>
          <a:cs typeface="+mn-cs"/>
        </a:defRPr>
      </a:lvl1pPr>
      <a:lvl2pPr marL="725170" algn="l" defTabSz="725170" rtl="0" eaLnBrk="1" latinLnBrk="0" hangingPunct="1">
        <a:defRPr sz="2900" kern="1200">
          <a:solidFill>
            <a:schemeClr val="tx1"/>
          </a:solidFill>
          <a:latin typeface="+mn-lt"/>
          <a:ea typeface="+mn-ea"/>
          <a:cs typeface="+mn-cs"/>
        </a:defRPr>
      </a:lvl2pPr>
      <a:lvl3pPr marL="1450340" algn="l" defTabSz="725170" rtl="0" eaLnBrk="1" latinLnBrk="0" hangingPunct="1">
        <a:defRPr sz="2900" kern="1200">
          <a:solidFill>
            <a:schemeClr val="tx1"/>
          </a:solidFill>
          <a:latin typeface="+mn-lt"/>
          <a:ea typeface="+mn-ea"/>
          <a:cs typeface="+mn-cs"/>
        </a:defRPr>
      </a:lvl3pPr>
      <a:lvl4pPr marL="2175510" algn="l" defTabSz="725170" rtl="0" eaLnBrk="1" latinLnBrk="0" hangingPunct="1">
        <a:defRPr sz="2900" kern="1200">
          <a:solidFill>
            <a:schemeClr val="tx1"/>
          </a:solidFill>
          <a:latin typeface="+mn-lt"/>
          <a:ea typeface="+mn-ea"/>
          <a:cs typeface="+mn-cs"/>
        </a:defRPr>
      </a:lvl4pPr>
      <a:lvl5pPr marL="2901315" algn="l" defTabSz="725170" rtl="0" eaLnBrk="1" latinLnBrk="0" hangingPunct="1">
        <a:defRPr sz="2900" kern="1200">
          <a:solidFill>
            <a:schemeClr val="tx1"/>
          </a:solidFill>
          <a:latin typeface="+mn-lt"/>
          <a:ea typeface="+mn-ea"/>
          <a:cs typeface="+mn-cs"/>
        </a:defRPr>
      </a:lvl5pPr>
      <a:lvl6pPr marL="3626485" algn="l" defTabSz="725170" rtl="0" eaLnBrk="1" latinLnBrk="0" hangingPunct="1">
        <a:defRPr sz="2900" kern="1200">
          <a:solidFill>
            <a:schemeClr val="tx1"/>
          </a:solidFill>
          <a:latin typeface="+mn-lt"/>
          <a:ea typeface="+mn-ea"/>
          <a:cs typeface="+mn-cs"/>
        </a:defRPr>
      </a:lvl6pPr>
      <a:lvl7pPr marL="4351655" algn="l" defTabSz="725170" rtl="0" eaLnBrk="1" latinLnBrk="0" hangingPunct="1">
        <a:defRPr sz="2900" kern="1200">
          <a:solidFill>
            <a:schemeClr val="tx1"/>
          </a:solidFill>
          <a:latin typeface="+mn-lt"/>
          <a:ea typeface="+mn-ea"/>
          <a:cs typeface="+mn-cs"/>
        </a:defRPr>
      </a:lvl7pPr>
      <a:lvl8pPr marL="5076825" algn="l" defTabSz="725170" rtl="0" eaLnBrk="1" latinLnBrk="0" hangingPunct="1">
        <a:defRPr sz="2900" kern="1200">
          <a:solidFill>
            <a:schemeClr val="tx1"/>
          </a:solidFill>
          <a:latin typeface="+mn-lt"/>
          <a:ea typeface="+mn-ea"/>
          <a:cs typeface="+mn-cs"/>
        </a:defRPr>
      </a:lvl8pPr>
      <a:lvl9pPr marL="5801995" algn="l" defTabSz="725170" rtl="0" eaLnBrk="1" latinLnBrk="0" hangingPunct="1">
        <a:defRPr sz="2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tags" Target="../tags/tag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oleObject" Target="../embeddings/oleObject2.bin"/></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31.xml"/><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5.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0" Type="http://schemas.openxmlformats.org/officeDocument/2006/relationships/notesSlide" Target="../notesSlides/notesSlide32.xml"/><Relationship Id="rId3" Type="http://schemas.openxmlformats.org/officeDocument/2006/relationships/tags" Target="../tags/tag8.xml"/><Relationship Id="rId29" Type="http://schemas.openxmlformats.org/officeDocument/2006/relationships/slideLayout" Target="../slideLayouts/slideLayout2.xml"/><Relationship Id="rId28" Type="http://schemas.openxmlformats.org/officeDocument/2006/relationships/tags" Target="../tags/tag33.xml"/><Relationship Id="rId27" Type="http://schemas.openxmlformats.org/officeDocument/2006/relationships/tags" Target="../tags/tag32.xml"/><Relationship Id="rId26" Type="http://schemas.openxmlformats.org/officeDocument/2006/relationships/tags" Target="../tags/tag31.xml"/><Relationship Id="rId25" Type="http://schemas.openxmlformats.org/officeDocument/2006/relationships/tags" Target="../tags/tag30.xml"/><Relationship Id="rId24" Type="http://schemas.openxmlformats.org/officeDocument/2006/relationships/tags" Target="../tags/tag29.xml"/><Relationship Id="rId23" Type="http://schemas.openxmlformats.org/officeDocument/2006/relationships/tags" Target="../tags/tag28.xml"/><Relationship Id="rId22" Type="http://schemas.openxmlformats.org/officeDocument/2006/relationships/tags" Target="../tags/tag27.xml"/><Relationship Id="rId21" Type="http://schemas.openxmlformats.org/officeDocument/2006/relationships/tags" Target="../tags/tag26.xml"/><Relationship Id="rId20" Type="http://schemas.openxmlformats.org/officeDocument/2006/relationships/tags" Target="../tags/tag25.xml"/><Relationship Id="rId2" Type="http://schemas.openxmlformats.org/officeDocument/2006/relationships/tags" Target="../tags/tag7.xml"/><Relationship Id="rId19" Type="http://schemas.openxmlformats.org/officeDocument/2006/relationships/tags" Target="../tags/tag24.xml"/><Relationship Id="rId18" Type="http://schemas.openxmlformats.org/officeDocument/2006/relationships/tags" Target="../tags/tag23.xml"/><Relationship Id="rId17" Type="http://schemas.openxmlformats.org/officeDocument/2006/relationships/tags" Target="../tags/tag22.xml"/><Relationship Id="rId16" Type="http://schemas.openxmlformats.org/officeDocument/2006/relationships/tags" Target="../tags/tag21.xml"/><Relationship Id="rId15" Type="http://schemas.openxmlformats.org/officeDocument/2006/relationships/tags" Target="../tags/tag20.xml"/><Relationship Id="rId14" Type="http://schemas.openxmlformats.org/officeDocument/2006/relationships/tags" Target="../tags/tag19.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tags" Target="../tags/tag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3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5" Type="http://schemas.openxmlformats.org/officeDocument/2006/relationships/notesSlide" Target="../notesSlides/notesSlide38.xml"/><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18.emf"/><Relationship Id="rId1"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6.xml"/><Relationship Id="rId2" Type="http://schemas.openxmlformats.org/officeDocument/2006/relationships/tags" Target="../tags/tag39.xml"/><Relationship Id="rId1" Type="http://schemas.openxmlformats.org/officeDocument/2006/relationships/tags" Target="../tags/tag38.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1.xml"/><Relationship Id="rId1" Type="http://schemas.openxmlformats.org/officeDocument/2006/relationships/tags" Target="../tags/tag4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2.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6.xml"/><Relationship Id="rId1" Type="http://schemas.openxmlformats.org/officeDocument/2006/relationships/tags" Target="../tags/tag44.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6.xml"/><Relationship Id="rId1" Type="http://schemas.openxmlformats.org/officeDocument/2006/relationships/tags" Target="../tags/tag45.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6.xml"/><Relationship Id="rId1" Type="http://schemas.openxmlformats.org/officeDocument/2006/relationships/tags" Target="../tags/tag4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7.xml"/></Relationships>
</file>

<file path=ppt/slides/_rels/slide5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7" Type="http://schemas.openxmlformats.org/officeDocument/2006/relationships/notesSlide" Target="../notesSlides/notesSlide51.xml"/><Relationship Id="rId6" Type="http://schemas.openxmlformats.org/officeDocument/2006/relationships/slideLayout" Target="../slideLayouts/slideLayout6.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6.xml"/><Relationship Id="rId1" Type="http://schemas.openxmlformats.org/officeDocument/2006/relationships/tags" Target="../tags/tag5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3.xml"/><Relationship Id="rId1" Type="http://schemas.openxmlformats.org/officeDocument/2006/relationships/tags" Target="../tags/tag52.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67.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21.emf"/><Relationship Id="rId1" Type="http://schemas.openxmlformats.org/officeDocument/2006/relationships/oleObject" Target="../embeddings/oleObject4.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7.xml"/><Relationship Id="rId1" Type="http://schemas.openxmlformats.org/officeDocument/2006/relationships/tags" Target="../tags/tag5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normAutofit/>
          </a:bodyPr>
          <a:lstStyle/>
          <a:p>
            <a:r>
              <a:rPr lang="zh-CN" altLang="en-US" sz="3600" smtClean="0">
                <a:latin typeface="+mn-ea"/>
                <a:ea typeface="+mn-ea"/>
              </a:rPr>
              <a:t>科远项目</a:t>
            </a:r>
            <a:r>
              <a:rPr lang="zh-CN" altLang="en-US" sz="3600" dirty="0" smtClean="0">
                <a:latin typeface="+mn-ea"/>
                <a:ea typeface="+mn-ea"/>
              </a:rPr>
              <a:t>经理培训</a:t>
            </a:r>
            <a:r>
              <a:rPr lang="en-US" altLang="zh-CN" sz="3600" dirty="0" smtClean="0">
                <a:latin typeface="+mn-ea"/>
                <a:ea typeface="+mn-ea"/>
              </a:rPr>
              <a:t>-</a:t>
            </a:r>
            <a:r>
              <a:rPr sz="3600" dirty="0" smtClean="0">
                <a:latin typeface="+mn-ea"/>
                <a:ea typeface="+mn-ea"/>
              </a:rPr>
              <a:t>管理活动</a:t>
            </a:r>
            <a:r>
              <a:rPr lang="en-US" altLang="zh-CN" sz="3600" dirty="0" smtClean="0">
                <a:latin typeface="+mn-ea"/>
                <a:ea typeface="+mn-ea"/>
              </a:rPr>
              <a:t>2</a:t>
            </a:r>
            <a:endParaRPr lang="zh-CN" altLang="en-US" sz="3600" dirty="0">
              <a:latin typeface="+mn-ea"/>
              <a:ea typeface="+mn-ea"/>
            </a:endParaRP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9" name="Rectangle 12"/>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0"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1"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2"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3"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4"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5"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6"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cxnSp>
        <p:nvCxnSpPr>
          <p:cNvPr id="17" name="直接连接符 16"/>
          <p:cNvCxnSpPr/>
          <p:nvPr/>
        </p:nvCxnSpPr>
        <p:spPr>
          <a:xfrm>
            <a:off x="3523676" y="2306030"/>
            <a:ext cx="519934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3523676" y="4145007"/>
            <a:ext cx="519934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文本框 7"/>
          <p:cNvSpPr txBox="1"/>
          <p:nvPr/>
        </p:nvSpPr>
        <p:spPr>
          <a:xfrm>
            <a:off x="3523673" y="2529860"/>
            <a:ext cx="1728578" cy="1392844"/>
          </a:xfrm>
          <a:prstGeom prst="rect">
            <a:avLst/>
          </a:prstGeom>
          <a:noFill/>
        </p:spPr>
        <p:txBody>
          <a:bodyPr lIns="0" tIns="0" rIns="0" bIns="0" anchor="ctr"/>
          <a:lstStyle/>
          <a:p>
            <a:pPr algn="ctr">
              <a:defRPr/>
            </a:pPr>
            <a:r>
              <a:rPr lang="en-US" altLang="zh-CN" sz="10955" spc="-476" dirty="0">
                <a:solidFill>
                  <a:schemeClr val="accent1"/>
                </a:solidFill>
                <a:latin typeface="Arial" panose="020B0604020202020204" pitchFamily="34" charset="0"/>
                <a:ea typeface="微软雅黑" panose="020B0503020204020204" pitchFamily="34" charset="-122"/>
              </a:rPr>
              <a:t>01</a:t>
            </a:r>
            <a:endParaRPr lang="en-US" altLang="zh-CN" sz="10955" spc="-476" dirty="0">
              <a:solidFill>
                <a:schemeClr val="accent1"/>
              </a:solidFill>
              <a:latin typeface="Arial" panose="020B0604020202020204" pitchFamily="34" charset="0"/>
              <a:ea typeface="微软雅黑" panose="020B0503020204020204" pitchFamily="34" charset="-122"/>
            </a:endParaRPr>
          </a:p>
        </p:txBody>
      </p:sp>
      <p:sp>
        <p:nvSpPr>
          <p:cNvPr id="20" name="文本框 8"/>
          <p:cNvSpPr txBox="1">
            <a:spLocks noChangeArrowheads="1"/>
          </p:cNvSpPr>
          <p:nvPr/>
        </p:nvSpPr>
        <p:spPr bwMode="auto">
          <a:xfrm>
            <a:off x="6018998" y="2306031"/>
            <a:ext cx="2926332" cy="1838978"/>
          </a:xfrm>
          <a:prstGeom prst="rect">
            <a:avLst/>
          </a:prstGeom>
          <a:noFill/>
          <a:ln w="9525">
            <a:noFill/>
            <a:miter lim="800000"/>
          </a:ln>
        </p:spPr>
        <p:txBody>
          <a:bodyPr lIns="0" tIns="0" rIns="0" bIns="0" anchor="ctr"/>
          <a:lstStyle/>
          <a:p>
            <a:pPr lvl="0" algn="ctr">
              <a:lnSpc>
                <a:spcPct val="110000"/>
              </a:lnSpc>
            </a:pPr>
            <a:r>
              <a:rPr lang="zh-CN" altLang="en-US" sz="3810" b="1" dirty="0">
                <a:latin typeface="Arial" panose="020B0604020202020204" pitchFamily="34" charset="0"/>
                <a:ea typeface="微软雅黑" panose="020B0503020204020204" pitchFamily="34" charset="-122"/>
              </a:rPr>
              <a:t>评审管理</a:t>
            </a:r>
            <a:endParaRPr lang="en-US" altLang="zh-CN" sz="3810" b="1" dirty="0">
              <a:latin typeface="Arial" panose="020B0604020202020204" pitchFamily="34" charset="0"/>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评审类型</a:t>
            </a:r>
            <a:endParaRPr lang="zh-CN" altLang="en-US" dirty="0">
              <a:solidFill>
                <a:srgbClr val="FF0000"/>
              </a:solidFill>
            </a:endParaRPr>
          </a:p>
        </p:txBody>
      </p:sp>
      <p:sp>
        <p:nvSpPr>
          <p:cNvPr id="11" name="Rectangle 35"/>
          <p:cNvSpPr>
            <a:spLocks noChangeArrowheads="1"/>
          </p:cNvSpPr>
          <p:nvPr/>
        </p:nvSpPr>
        <p:spPr bwMode="auto">
          <a:xfrm>
            <a:off x="465919" y="903508"/>
            <a:ext cx="10881558" cy="3876675"/>
          </a:xfrm>
          <a:prstGeom prst="rect">
            <a:avLst/>
          </a:prstGeom>
          <a:noFill/>
          <a:ln w="9525">
            <a:noFill/>
            <a:miter lim="800000"/>
          </a:ln>
        </p:spPr>
        <p:txBody>
          <a:bodyPr wrap="square" anchor="ctr">
            <a:spAutoFit/>
          </a:bodyPr>
          <a:lstStyle/>
          <a:p>
            <a:pPr lvl="0">
              <a:lnSpc>
                <a:spcPct val="150000"/>
              </a:lnSpc>
            </a:pPr>
            <a:r>
              <a:rPr lang="zh-CN" altLang="en-US" b="1" dirty="0">
                <a:latin typeface="微软雅黑" panose="020B0503020204020204" pitchFamily="34" charset="-122"/>
                <a:ea typeface="微软雅黑" panose="020B0503020204020204" pitchFamily="34" charset="-122"/>
              </a:rPr>
              <a:t>评审类型</a:t>
            </a:r>
            <a:endParaRPr lang="zh-CN" altLang="en-US" b="1" dirty="0">
              <a:latin typeface="微软雅黑" panose="020B0503020204020204" pitchFamily="34" charset="-122"/>
              <a:ea typeface="微软雅黑" panose="020B0503020204020204" pitchFamily="34" charset="-122"/>
            </a:endParaRPr>
          </a:p>
          <a:p>
            <a:pPr lvl="0">
              <a:lnSpc>
                <a:spcPct val="150000"/>
              </a:lnSpc>
            </a:pPr>
            <a:r>
              <a:rPr lang="zh-CN" altLang="en-US" sz="1800" b="1" dirty="0">
                <a:latin typeface="微软雅黑" panose="020B0503020204020204" pitchFamily="34" charset="-122"/>
                <a:ea typeface="微软雅黑" panose="020B0503020204020204" pitchFamily="34" charset="-122"/>
              </a:rPr>
              <a:t>管理类评审</a:t>
            </a:r>
            <a:r>
              <a:rPr lang="zh-CN" altLang="en-US" sz="1800" dirty="0">
                <a:latin typeface="微软雅黑" panose="020B0503020204020204" pitchFamily="34" charset="-122"/>
                <a:ea typeface="微软雅黑" panose="020B0503020204020204" pitchFamily="34" charset="-122"/>
              </a:rPr>
              <a:t>：与管理相关的评审活动，如立项评审、项目计划评审、里程碑评审、结项评审等。管理评审方式包括：</a:t>
            </a:r>
            <a:r>
              <a:rPr lang="zh-CN" altLang="en-US" sz="1800" dirty="0">
                <a:solidFill>
                  <a:srgbClr val="FF0000"/>
                </a:solidFill>
                <a:latin typeface="微软雅黑" panose="020B0503020204020204" pitchFamily="34" charset="-122"/>
                <a:ea typeface="微软雅黑" panose="020B0503020204020204" pitchFamily="34" charset="-122"/>
              </a:rPr>
              <a:t>会议、审批</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lvl="0">
              <a:lnSpc>
                <a:spcPct val="150000"/>
              </a:lnSpc>
            </a:pPr>
            <a:r>
              <a:rPr lang="zh-CN" altLang="en-US" sz="1800" b="1" dirty="0">
                <a:latin typeface="微软雅黑" panose="020B0503020204020204" pitchFamily="34" charset="-122"/>
                <a:ea typeface="微软雅黑" panose="020B0503020204020204" pitchFamily="34" charset="-122"/>
              </a:rPr>
              <a:t>技术类评审</a:t>
            </a:r>
            <a:r>
              <a:rPr lang="zh-CN" altLang="en-US" sz="1800" dirty="0">
                <a:latin typeface="微软雅黑" panose="020B0503020204020204" pitchFamily="34" charset="-122"/>
                <a:ea typeface="微软雅黑" panose="020B0503020204020204" pitchFamily="34" charset="-122"/>
              </a:rPr>
              <a:t>：与技术相关的评审活动，如需求评审、概要设计评审、详细设计评审、代码走查、测试用例评审、</a:t>
            </a:r>
            <a:r>
              <a:rPr lang="zh-CN" altLang="en-US" sz="1800" dirty="0">
                <a:solidFill>
                  <a:srgbClr val="FF0000"/>
                </a:solidFill>
                <a:latin typeface="微软雅黑" panose="020B0503020204020204" pitchFamily="34" charset="-122"/>
                <a:ea typeface="微软雅黑" panose="020B0503020204020204" pitchFamily="34" charset="-122"/>
              </a:rPr>
              <a:t>手册评审</a:t>
            </a:r>
            <a:r>
              <a:rPr lang="zh-CN" altLang="en-US" sz="1800" dirty="0">
                <a:latin typeface="微软雅黑" panose="020B0503020204020204" pitchFamily="34" charset="-122"/>
                <a:ea typeface="微软雅黑" panose="020B0503020204020204" pitchFamily="34" charset="-122"/>
              </a:rPr>
              <a:t>、试生产发布评审、正式发布评审等。技术评审一般采用同行评审方式，主要包括：</a:t>
            </a:r>
            <a:r>
              <a:rPr lang="zh-CN" altLang="en-US" sz="1800" dirty="0">
                <a:solidFill>
                  <a:srgbClr val="FF0000"/>
                </a:solidFill>
                <a:latin typeface="微软雅黑" panose="020B0503020204020204" pitchFamily="34" charset="-122"/>
                <a:ea typeface="微软雅黑" panose="020B0503020204020204" pitchFamily="34" charset="-122"/>
              </a:rPr>
              <a:t>技术评审会议、组内评审、审批</a:t>
            </a:r>
            <a:r>
              <a:rPr lang="zh-CN" altLang="en-US" sz="1800" dirty="0">
                <a:latin typeface="微软雅黑" panose="020B0503020204020204" pitchFamily="34" charset="-122"/>
                <a:ea typeface="微软雅黑" panose="020B0503020204020204" pitchFamily="34" charset="-122"/>
              </a:rPr>
              <a:t>等。</a:t>
            </a:r>
            <a:endParaRPr lang="zh-CN" altLang="en-US" sz="1800" dirty="0">
              <a:latin typeface="微软雅黑" panose="020B0503020204020204" pitchFamily="34" charset="-122"/>
              <a:ea typeface="微软雅黑" panose="020B0503020204020204" pitchFamily="34" charset="-122"/>
            </a:endParaRPr>
          </a:p>
          <a:p>
            <a:pPr lvl="0">
              <a:lnSpc>
                <a:spcPct val="150000"/>
              </a:lnSpc>
            </a:pPr>
            <a:r>
              <a:rPr lang="zh-CN" altLang="en-US" sz="1800" b="1" dirty="0">
                <a:latin typeface="微软雅黑" panose="020B0503020204020204" pitchFamily="34" charset="-122"/>
                <a:ea typeface="微软雅黑" panose="020B0503020204020204" pitchFamily="34" charset="-122"/>
              </a:rPr>
              <a:t>决策评审</a:t>
            </a:r>
            <a:r>
              <a:rPr lang="zh-CN" altLang="en-US" sz="1800" dirty="0">
                <a:latin typeface="微软雅黑" panose="020B0503020204020204" pitchFamily="34" charset="-122"/>
                <a:ea typeface="微软雅黑" panose="020B0503020204020204" pitchFamily="34" charset="-122"/>
              </a:rPr>
              <a:t>：与决策术相关的评审活动，如立项决策评审、方案决策评审等，决策评审主要采用</a:t>
            </a:r>
            <a:r>
              <a:rPr lang="zh-CN" altLang="en-US" sz="1800" dirty="0">
                <a:solidFill>
                  <a:srgbClr val="FF0000"/>
                </a:solidFill>
                <a:latin typeface="微软雅黑" panose="020B0503020204020204" pitchFamily="34" charset="-122"/>
                <a:ea typeface="微软雅黑" panose="020B0503020204020204" pitchFamily="34" charset="-122"/>
              </a:rPr>
              <a:t>会议</a:t>
            </a:r>
            <a:r>
              <a:rPr lang="zh-CN" altLang="en-US" sz="1800" dirty="0">
                <a:latin typeface="微软雅黑" panose="020B0503020204020204" pitchFamily="34" charset="-122"/>
                <a:ea typeface="微软雅黑" panose="020B0503020204020204" pitchFamily="34" charset="-122"/>
              </a:rPr>
              <a:t>的方式</a:t>
            </a:r>
            <a:r>
              <a:rPr lang="zh-CN" altLang="en-US"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lvl="0">
              <a:lnSpc>
                <a:spcPct val="150000"/>
              </a:lnSpc>
            </a:pPr>
            <a:endParaRPr lang="en-US" altLang="zh-CN" sz="1800" dirty="0">
              <a:latin typeface="微软雅黑" panose="020B0503020204020204" pitchFamily="34" charset="-122"/>
              <a:ea typeface="微软雅黑" panose="020B0503020204020204" pitchFamily="34" charset="-122"/>
            </a:endParaRPr>
          </a:p>
          <a:p>
            <a:pPr lvl="0">
              <a:lnSpc>
                <a:spcPct val="150000"/>
              </a:lnSpc>
            </a:pPr>
            <a:endParaRPr lang="zh-CN" altLang="en-US" sz="1800" dirty="0">
              <a:latin typeface="微软雅黑" panose="020B0503020204020204" pitchFamily="34" charset="-122"/>
              <a:ea typeface="微软雅黑" panose="020B0503020204020204" pitchFamily="34" charset="-122"/>
            </a:endParaRPr>
          </a:p>
        </p:txBody>
      </p:sp>
      <p:sp>
        <p:nvSpPr>
          <p:cNvPr id="100" name="文本框 99"/>
          <p:cNvSpPr txBox="1"/>
          <p:nvPr/>
        </p:nvSpPr>
        <p:spPr>
          <a:xfrm>
            <a:off x="466090" y="4122420"/>
            <a:ext cx="10052050" cy="2214880"/>
          </a:xfrm>
          <a:prstGeom prst="rect">
            <a:avLst/>
          </a:prstGeom>
          <a:noFill/>
          <a:ln w="9525">
            <a:noFill/>
          </a:ln>
        </p:spPr>
        <p:txBody>
          <a:bodyPr wrap="square">
            <a:spAutoFit/>
          </a:bodyPr>
          <a:p>
            <a:pPr indent="0">
              <a:lnSpc>
                <a:spcPct val="150000"/>
              </a:lnSpc>
            </a:pPr>
            <a:r>
              <a:rPr lang="zh-CN" b="1">
                <a:latin typeface="微软雅黑" panose="020B0503020204020204" pitchFamily="34" charset="-122"/>
                <a:ea typeface="微软雅黑" panose="020B0503020204020204" pitchFamily="34" charset="-122"/>
                <a:cs typeface="微软雅黑" panose="020B0503020204020204" pitchFamily="34" charset="-122"/>
              </a:rPr>
              <a:t>问题状态</a:t>
            </a:r>
            <a:endParaRPr lang="zh-CN" b="1">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lang="zh-CN" sz="1800" b="0">
                <a:latin typeface="微软雅黑" panose="020B0503020204020204" pitchFamily="34" charset="-122"/>
                <a:ea typeface="微软雅黑" panose="020B0503020204020204" pitchFamily="34" charset="-122"/>
                <a:cs typeface="微软雅黑" panose="020B0503020204020204" pitchFamily="34" charset="-122"/>
              </a:rPr>
              <a:t>Close问题：问题已处理验证关闭的问题；</a:t>
            </a:r>
            <a:r>
              <a:rPr lang="zh-CN" sz="18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Delay问题：</a:t>
            </a:r>
            <a:r>
              <a:rPr lang="zh-CN" sz="1800" b="0">
                <a:latin typeface="微软雅黑" panose="020B0503020204020204" pitchFamily="34" charset="-122"/>
                <a:ea typeface="微软雅黑" panose="020B0503020204020204" pitchFamily="34" charset="-122"/>
                <a:cs typeface="微软雅黑" panose="020B0503020204020204" pitchFamily="34" charset="-122"/>
              </a:rPr>
              <a:t>此问题在本项目中会处理，但是处理周期预计超过一周，先记录为delay，流程先提交；等问题处理验证完后，再close或者有其他的决议（例如suspend）；</a:t>
            </a:r>
            <a:endParaRPr lang="zh-CN" sz="18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50000"/>
              </a:lnSpc>
            </a:pPr>
            <a:r>
              <a:rPr lang="en-US" altLang="zh-CN" sz="18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a:t>
            </a:r>
            <a:r>
              <a:rPr lang="zh-CN" sz="1800" b="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uspend问题：</a:t>
            </a:r>
            <a:r>
              <a:rPr lang="zh-CN" sz="1800" b="0">
                <a:latin typeface="微软雅黑" panose="020B0503020204020204" pitchFamily="34" charset="-122"/>
                <a:ea typeface="微软雅黑" panose="020B0503020204020204" pitchFamily="34" charset="-122"/>
                <a:cs typeface="微软雅黑" panose="020B0503020204020204" pitchFamily="34" charset="-122"/>
              </a:rPr>
              <a:t>此问题项目中可能不处理，挂起。</a:t>
            </a:r>
            <a:endParaRPr lang="zh-CN" altLang="en-US" sz="1800" b="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blinds(horizontal)">
                                      <p:cBhvr>
                                        <p:cTn id="23"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0"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评审会议组织</a:t>
            </a:r>
            <a:endParaRPr lang="zh-CN" altLang="en-US" dirty="0">
              <a:solidFill>
                <a:srgbClr val="FF0000"/>
              </a:solidFill>
            </a:endParaRPr>
          </a:p>
        </p:txBody>
      </p:sp>
      <p:sp>
        <p:nvSpPr>
          <p:cNvPr id="4" name="矩形 16"/>
          <p:cNvSpPr>
            <a:spLocks noChangeArrowheads="1"/>
          </p:cNvSpPr>
          <p:nvPr/>
        </p:nvSpPr>
        <p:spPr bwMode="auto">
          <a:xfrm>
            <a:off x="325755" y="839470"/>
            <a:ext cx="11392535" cy="5584190"/>
          </a:xfrm>
          <a:prstGeom prst="rect">
            <a:avLst/>
          </a:prstGeom>
          <a:noFill/>
          <a:ln w="9525">
            <a:noFill/>
            <a:miter lim="800000"/>
          </a:ln>
        </p:spPr>
        <p:txBody>
          <a:bodyPr wrap="square">
            <a:noAutofit/>
          </a:bodyPr>
          <a:lstStyle/>
          <a:p>
            <a:pPr marL="342900" lvl="0" indent="-342900">
              <a:lnSpc>
                <a:spcPct val="130000"/>
              </a:lnSpc>
              <a:buFont typeface="Wingdings" panose="05000000000000000000" pitchFamily="2" charset="2"/>
              <a:buChar char="Ø"/>
            </a:pPr>
            <a:r>
              <a:rPr lang="zh-CN" altLang="en-US" sz="1800" b="1" dirty="0">
                <a:latin typeface="微软雅黑" panose="020B0503020204020204" pitchFamily="34" charset="-122"/>
                <a:ea typeface="微软雅黑" panose="020B0503020204020204" pitchFamily="34" charset="-122"/>
              </a:rPr>
              <a:t>准备阶段</a:t>
            </a:r>
            <a:endParaRPr lang="zh-CN" altLang="en-US" sz="1800" b="1" dirty="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将评审资料发与评审人员进行</a:t>
            </a:r>
            <a:r>
              <a:rPr lang="zh-CN" altLang="en-US" sz="1800" dirty="0" smtClean="0">
                <a:latin typeface="微软雅黑" panose="020B0503020204020204" pitchFamily="34" charset="-122"/>
                <a:ea typeface="微软雅黑" panose="020B0503020204020204" pitchFamily="34" charset="-122"/>
              </a:rPr>
              <a:t>预审，明确反馈意见的收集时间；</a:t>
            </a:r>
            <a:endParaRPr lang="zh-CN" altLang="en-US" sz="1800" dirty="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选择评审组成员，</a:t>
            </a:r>
            <a:r>
              <a:rPr lang="zh-CN" altLang="en-US" sz="1800" dirty="0">
                <a:solidFill>
                  <a:srgbClr val="FF0000"/>
                </a:solidFill>
                <a:latin typeface="微软雅黑" panose="020B0503020204020204" pitchFamily="34" charset="-122"/>
                <a:ea typeface="微软雅黑" panose="020B0503020204020204" pitchFamily="34" charset="-122"/>
              </a:rPr>
              <a:t>确定核心评审人员</a:t>
            </a:r>
            <a:r>
              <a:rPr lang="zh-CN" altLang="en-US" sz="1800" dirty="0">
                <a:latin typeface="微软雅黑" panose="020B0503020204020204" pitchFamily="34" charset="-122"/>
                <a:ea typeface="微软雅黑" panose="020B0503020204020204" pitchFamily="34" charset="-122"/>
              </a:rPr>
              <a:t>，确定会议记录人；</a:t>
            </a:r>
            <a:endParaRPr lang="zh-CN" altLang="en-US" sz="1800" dirty="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en-US" sz="1800" dirty="0">
                <a:solidFill>
                  <a:srgbClr val="FF0000"/>
                </a:solidFill>
                <a:latin typeface="微软雅黑" panose="020B0503020204020204" pitchFamily="34" charset="-122"/>
                <a:ea typeface="微软雅黑" panose="020B0503020204020204" pitchFamily="34" charset="-122"/>
                <a:sym typeface="+mn-ea"/>
              </a:rPr>
              <a:t>与分管领导确定评审负责人；</a:t>
            </a:r>
            <a:endParaRPr lang="zh-CN" altLang="en-US" sz="1800" dirty="0">
              <a:solidFill>
                <a:srgbClr val="FF0000"/>
              </a:solidFill>
              <a:latin typeface="微软雅黑" panose="020B0503020204020204" pitchFamily="34" charset="-122"/>
              <a:ea typeface="微软雅黑" panose="020B0503020204020204" pitchFamily="34" charset="-122"/>
              <a:sym typeface="+mn-ea"/>
            </a:endParaRPr>
          </a:p>
          <a:p>
            <a:pPr marL="628650" indent="-285750">
              <a:lnSpc>
                <a:spcPct val="130000"/>
              </a:lnSpc>
              <a:buFont typeface="Arial" panose="020B0604020202020204" pitchFamily="34" charset="0"/>
              <a:buChar char="•"/>
            </a:pPr>
            <a:r>
              <a:rPr lang="zh-CN" altLang="en-US" sz="1800" dirty="0">
                <a:solidFill>
                  <a:srgbClr val="FF0000"/>
                </a:solidFill>
                <a:latin typeface="微软雅黑" panose="020B0503020204020204" pitchFamily="34" charset="-122"/>
                <a:ea typeface="微软雅黑" panose="020B0503020204020204" pitchFamily="34" charset="-122"/>
                <a:sym typeface="+mn-ea"/>
              </a:rPr>
              <a:t>填写</a:t>
            </a:r>
            <a:r>
              <a:rPr lang="en-US" altLang="zh-CN" sz="1800" dirty="0">
                <a:solidFill>
                  <a:srgbClr val="FF0000"/>
                </a:solidFill>
                <a:latin typeface="微软雅黑" panose="020B0503020204020204" pitchFamily="34" charset="-122"/>
                <a:ea typeface="微软雅黑" panose="020B0503020204020204" pitchFamily="34" charset="-122"/>
                <a:sym typeface="+mn-ea"/>
              </a:rPr>
              <a:t>ERP</a:t>
            </a:r>
            <a:r>
              <a:rPr lang="zh-CN" altLang="en-US" sz="1800" dirty="0">
                <a:solidFill>
                  <a:srgbClr val="FF0000"/>
                </a:solidFill>
                <a:latin typeface="微软雅黑" panose="020B0503020204020204" pitchFamily="34" charset="-122"/>
                <a:ea typeface="微软雅黑" panose="020B0503020204020204" pitchFamily="34" charset="-122"/>
                <a:sym typeface="+mn-ea"/>
              </a:rPr>
              <a:t>评审登记，提交流程收集预评审意见；</a:t>
            </a:r>
            <a:endParaRPr lang="zh-CN" altLang="en-US" sz="1800" dirty="0">
              <a:highlight>
                <a:srgbClr val="FFFF00"/>
              </a:highlight>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en-US" sz="1800" dirty="0">
                <a:latin typeface="微软雅黑" panose="020B0503020204020204" pitchFamily="34" charset="-122"/>
                <a:ea typeface="微软雅黑" panose="020B0503020204020204" pitchFamily="34" charset="-122"/>
              </a:rPr>
              <a:t>预定会议室、编写并发布</a:t>
            </a:r>
            <a:r>
              <a:rPr lang="zh-CN" altLang="en-US" sz="1800" dirty="0">
                <a:solidFill>
                  <a:srgbClr val="FF0000"/>
                </a:solidFill>
                <a:latin typeface="微软雅黑" panose="020B0503020204020204" pitchFamily="34" charset="-122"/>
                <a:ea typeface="微软雅黑" panose="020B0503020204020204" pitchFamily="34" charset="-122"/>
              </a:rPr>
              <a:t>会议通知、提交会议日程</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342900" indent="-342900">
              <a:lnSpc>
                <a:spcPct val="130000"/>
              </a:lnSpc>
              <a:buFont typeface="Wingdings" panose="05000000000000000000" pitchFamily="2" charset="2"/>
              <a:buChar char="Ø"/>
            </a:pPr>
            <a:r>
              <a:rPr lang="zh-CN" altLang="en-US" sz="1800" b="1" dirty="0" smtClean="0">
                <a:latin typeface="微软雅黑" panose="020B0503020204020204" pitchFamily="34" charset="-122"/>
                <a:ea typeface="微软雅黑" panose="020B0503020204020204" pitchFamily="34" charset="-122"/>
              </a:rPr>
              <a:t>关注</a:t>
            </a:r>
            <a:r>
              <a:rPr lang="zh-CN" altLang="en-US" sz="1800" b="1" dirty="0">
                <a:latin typeface="微软雅黑" panose="020B0503020204020204" pitchFamily="34" charset="-122"/>
                <a:ea typeface="微软雅黑" panose="020B0503020204020204" pitchFamily="34" charset="-122"/>
              </a:rPr>
              <a:t>点</a:t>
            </a:r>
            <a:endParaRPr lang="en-US" altLang="zh-CN" sz="1800" b="1" dirty="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rPr>
              <a:t>预审时间要求</a:t>
            </a:r>
            <a:r>
              <a:rPr lang="zh-CN" altLang="en-US" sz="1800" dirty="0" smtClean="0">
                <a:latin typeface="微软雅黑" panose="020B0503020204020204" pitchFamily="34" charset="-122"/>
                <a:ea typeface="微软雅黑" panose="020B0503020204020204" pitchFamily="34" charset="-122"/>
              </a:rPr>
              <a:t>：对于</a:t>
            </a:r>
            <a:r>
              <a:rPr lang="zh-CN" altLang="en-US" sz="1800" dirty="0">
                <a:latin typeface="微软雅黑" panose="020B0503020204020204" pitchFamily="34" charset="-122"/>
                <a:ea typeface="微软雅黑" panose="020B0503020204020204" pitchFamily="34" charset="-122"/>
              </a:rPr>
              <a:t>技术类的评审一般评审资料为</a:t>
            </a:r>
            <a:r>
              <a:rPr lang="en-US" altLang="zh-CN" sz="1800" dirty="0">
                <a:latin typeface="微软雅黑" panose="020B0503020204020204" pitchFamily="34" charset="-122"/>
                <a:ea typeface="微软雅黑" panose="020B0503020204020204" pitchFamily="34" charset="-122"/>
              </a:rPr>
              <a:t>30</a:t>
            </a:r>
            <a:r>
              <a:rPr lang="zh-CN" altLang="en-US" sz="1800" dirty="0">
                <a:latin typeface="微软雅黑" panose="020B0503020204020204" pitchFamily="34" charset="-122"/>
                <a:ea typeface="微软雅黑" panose="020B0503020204020204" pitchFamily="34" charset="-122"/>
              </a:rPr>
              <a:t>页以下的，提前一天；</a:t>
            </a:r>
            <a:r>
              <a:rPr lang="en-US" altLang="zh-CN" sz="1800" dirty="0">
                <a:latin typeface="微软雅黑" panose="020B0503020204020204" pitchFamily="34" charset="-122"/>
                <a:ea typeface="微软雅黑" panose="020B0503020204020204" pitchFamily="34" charset="-122"/>
              </a:rPr>
              <a:t>30-60</a:t>
            </a:r>
            <a:r>
              <a:rPr lang="zh-CN" altLang="en-US" sz="1800" dirty="0">
                <a:latin typeface="微软雅黑" panose="020B0503020204020204" pitchFamily="34" charset="-122"/>
                <a:ea typeface="微软雅黑" panose="020B0503020204020204" pitchFamily="34" charset="-122"/>
              </a:rPr>
              <a:t>页的提前</a:t>
            </a:r>
            <a:r>
              <a:rPr lang="en-US" altLang="zh-CN" sz="1800" dirty="0">
                <a:latin typeface="微软雅黑" panose="020B0503020204020204" pitchFamily="34" charset="-122"/>
                <a:ea typeface="微软雅黑" panose="020B0503020204020204" pitchFamily="34" charset="-122"/>
              </a:rPr>
              <a:t>1-2</a:t>
            </a:r>
            <a:r>
              <a:rPr lang="zh-CN" altLang="en-US" sz="1800" dirty="0">
                <a:latin typeface="微软雅黑" panose="020B0503020204020204" pitchFamily="34" charset="-122"/>
                <a:ea typeface="微软雅黑" panose="020B0503020204020204" pitchFamily="34" charset="-122"/>
              </a:rPr>
              <a:t>天；</a:t>
            </a:r>
            <a:r>
              <a:rPr lang="en-US" altLang="zh-CN" sz="1800" dirty="0">
                <a:latin typeface="微软雅黑" panose="020B0503020204020204" pitchFamily="34" charset="-122"/>
                <a:ea typeface="微软雅黑" panose="020B0503020204020204" pitchFamily="34" charset="-122"/>
              </a:rPr>
              <a:t>60</a:t>
            </a:r>
            <a:r>
              <a:rPr lang="zh-CN" altLang="en-US" sz="1800" dirty="0">
                <a:latin typeface="微软雅黑" panose="020B0503020204020204" pitchFamily="34" charset="-122"/>
                <a:ea typeface="微软雅黑" panose="020B0503020204020204" pitchFamily="34" charset="-122"/>
              </a:rPr>
              <a:t>页以上一般需要</a:t>
            </a:r>
            <a:r>
              <a:rPr lang="zh-CN" altLang="en-US" sz="1800" dirty="0" smtClean="0">
                <a:latin typeface="微软雅黑" panose="020B0503020204020204" pitchFamily="34" charset="-122"/>
                <a:ea typeface="微软雅黑" panose="020B0503020204020204" pitchFamily="34" charset="-122"/>
              </a:rPr>
              <a:t>提前</a:t>
            </a:r>
            <a:r>
              <a:rPr lang="en-US" altLang="zh-CN" sz="1800" dirty="0" smtClean="0">
                <a:latin typeface="微软雅黑" panose="020B0503020204020204" pitchFamily="34" charset="-122"/>
                <a:ea typeface="微软雅黑" panose="020B0503020204020204" pitchFamily="34" charset="-122"/>
              </a:rPr>
              <a:t>2</a:t>
            </a:r>
            <a:r>
              <a:rPr lang="zh-CN" altLang="en-US" sz="1800" dirty="0" smtClean="0">
                <a:latin typeface="微软雅黑" panose="020B0503020204020204" pitchFamily="34" charset="-122"/>
                <a:ea typeface="微软雅黑" panose="020B0503020204020204" pitchFamily="34" charset="-122"/>
              </a:rPr>
              <a:t>天</a:t>
            </a:r>
            <a:r>
              <a:rPr lang="zh-CN" altLang="en-US" sz="1800" dirty="0">
                <a:latin typeface="微软雅黑" panose="020B0503020204020204" pitchFamily="34" charset="-122"/>
                <a:ea typeface="微软雅黑" panose="020B0503020204020204" pitchFamily="34" charset="-122"/>
              </a:rPr>
              <a:t>以上；页数更多的可以时间更长些或者安排评审人员集中消化下再评审，避免裸评。</a:t>
            </a:r>
            <a:endParaRPr lang="en-US" altLang="zh-CN" sz="1800" dirty="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zh-CN" sz="1800" dirty="0">
                <a:latin typeface="微软雅黑" panose="020B0503020204020204" pitchFamily="34" charset="-122"/>
                <a:ea typeface="微软雅黑" panose="020B0503020204020204" pitchFamily="34" charset="-122"/>
              </a:rPr>
              <a:t>针对机密级以上的文档要有保密意识，不确定是否可以公开发的时候，可以询问分管领导</a:t>
            </a:r>
            <a:r>
              <a:rPr lang="zh-CN" altLang="en-US" sz="1800" dirty="0" smtClean="0">
                <a:latin typeface="微软雅黑" panose="020B0503020204020204" pitchFamily="34" charset="-122"/>
                <a:ea typeface="微软雅黑" panose="020B0503020204020204" pitchFamily="34" charset="-122"/>
              </a:rPr>
              <a:t>。</a:t>
            </a:r>
            <a:endParaRPr lang="zh-CN" altLang="en-US" sz="1800" dirty="0" smtClean="0">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zh-CN" sz="1800" dirty="0">
                <a:solidFill>
                  <a:srgbClr val="FF0000"/>
                </a:solidFill>
                <a:latin typeface="微软雅黑" panose="020B0503020204020204" pitchFamily="34" charset="-122"/>
                <a:ea typeface="微软雅黑" panose="020B0503020204020204" pitchFamily="34" charset="-122"/>
              </a:rPr>
              <a:t>评审负责人主要职责：评审组长，对整个评审最终结果决策的人，其中管理类的评审负责人最好是部门经理等带有管理职责的人。</a:t>
            </a:r>
            <a:endParaRPr lang="zh-CN" altLang="zh-CN" sz="1800" dirty="0">
              <a:solidFill>
                <a:srgbClr val="FF0000"/>
              </a:solidFill>
              <a:latin typeface="微软雅黑" panose="020B0503020204020204" pitchFamily="34" charset="-122"/>
              <a:ea typeface="微软雅黑" panose="020B0503020204020204" pitchFamily="34" charset="-122"/>
            </a:endParaRPr>
          </a:p>
          <a:p>
            <a:pPr marL="628650" indent="-285750">
              <a:lnSpc>
                <a:spcPct val="130000"/>
              </a:lnSpc>
              <a:buFont typeface="Arial" panose="020B0604020202020204" pitchFamily="34" charset="0"/>
              <a:buChar char="•"/>
            </a:pPr>
            <a:r>
              <a:rPr lang="zh-CN" altLang="zh-CN" sz="1800" dirty="0">
                <a:solidFill>
                  <a:srgbClr val="FF0000"/>
                </a:solidFill>
                <a:latin typeface="微软雅黑" panose="020B0503020204020204" pitchFamily="34" charset="-122"/>
                <a:ea typeface="微软雅黑" panose="020B0503020204020204" pitchFamily="34" charset="-122"/>
              </a:rPr>
              <a:t>预评审意见在评审会议前完成收集（有评审附件的技术类评审，</a:t>
            </a:r>
            <a:r>
              <a:rPr lang="en-US" altLang="zh-CN" sz="1800" dirty="0">
                <a:solidFill>
                  <a:srgbClr val="FF0000"/>
                </a:solidFill>
                <a:latin typeface="微软雅黑" panose="020B0503020204020204" pitchFamily="34" charset="-122"/>
                <a:ea typeface="微软雅黑" panose="020B0503020204020204" pitchFamily="34" charset="-122"/>
              </a:rPr>
              <a:t>9</a:t>
            </a:r>
            <a:r>
              <a:rPr lang="zh-CN" altLang="en-US" sz="1800" dirty="0">
                <a:solidFill>
                  <a:srgbClr val="FF0000"/>
                </a:solidFill>
                <a:latin typeface="微软雅黑" panose="020B0503020204020204" pitchFamily="34" charset="-122"/>
                <a:ea typeface="微软雅黑" panose="020B0503020204020204" pitchFamily="34" charset="-122"/>
              </a:rPr>
              <a:t>级以下人员至少提出</a:t>
            </a:r>
            <a:r>
              <a:rPr lang="en-US" altLang="zh-CN" sz="1800" dirty="0">
                <a:solidFill>
                  <a:srgbClr val="FF0000"/>
                </a:solidFill>
                <a:latin typeface="微软雅黑" panose="020B0503020204020204" pitchFamily="34" charset="-122"/>
                <a:ea typeface="微软雅黑" panose="020B0503020204020204" pitchFamily="34" charset="-122"/>
              </a:rPr>
              <a:t>2</a:t>
            </a:r>
            <a:r>
              <a:rPr lang="zh-CN" altLang="en-US" sz="1800" dirty="0">
                <a:solidFill>
                  <a:srgbClr val="FF0000"/>
                </a:solidFill>
                <a:latin typeface="微软雅黑" panose="020B0503020204020204" pitchFamily="34" charset="-122"/>
                <a:ea typeface="微软雅黑" panose="020B0503020204020204" pitchFamily="34" charset="-122"/>
              </a:rPr>
              <a:t>条预审意见才可参会（技术</a:t>
            </a:r>
            <a:r>
              <a:rPr lang="zh-CN" altLang="en-US" sz="1800" dirty="0">
                <a:solidFill>
                  <a:srgbClr val="FF0000"/>
                </a:solidFill>
                <a:latin typeface="微软雅黑" panose="020B0503020204020204" pitchFamily="34" charset="-122"/>
                <a:ea typeface="微软雅黑" panose="020B0503020204020204" pitchFamily="34" charset="-122"/>
              </a:rPr>
              <a:t>研究院））</a:t>
            </a:r>
            <a:endParaRPr lang="zh-CN" altLang="en-US" sz="1800" dirty="0">
              <a:solidFill>
                <a:srgbClr val="FF000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1"/>
          <a:stretch>
            <a:fillRect/>
          </a:stretch>
        </p:blipFill>
        <p:spPr>
          <a:xfrm>
            <a:off x="6905625" y="1555115"/>
            <a:ext cx="4744085" cy="1873885"/>
          </a:xfrm>
          <a:prstGeom prst="rect">
            <a:avLst/>
          </a:prstGeom>
        </p:spPr>
      </p:pic>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预审情况汇报（技术</a:t>
            </a:r>
            <a:r>
              <a:rPr lang="zh-CN" altLang="en-US" dirty="0" smtClean="0">
                <a:solidFill>
                  <a:srgbClr val="FF0000"/>
                </a:solidFill>
              </a:rPr>
              <a:t>研究院）</a:t>
            </a:r>
            <a:endParaRPr lang="zh-CN" altLang="en-US" dirty="0" smtClean="0">
              <a:solidFill>
                <a:srgbClr val="FF0000"/>
              </a:solidFill>
            </a:endParaRPr>
          </a:p>
        </p:txBody>
      </p:sp>
      <p:sp>
        <p:nvSpPr>
          <p:cNvPr id="5" name="Rectangle 35"/>
          <p:cNvSpPr>
            <a:spLocks noChangeArrowheads="1"/>
          </p:cNvSpPr>
          <p:nvPr/>
        </p:nvSpPr>
        <p:spPr bwMode="auto">
          <a:xfrm>
            <a:off x="378410" y="956825"/>
            <a:ext cx="10992039" cy="5492750"/>
          </a:xfrm>
          <a:prstGeom prst="rect">
            <a:avLst/>
          </a:prstGeom>
          <a:noFill/>
          <a:ln w="9525">
            <a:noFill/>
            <a:miter lim="800000"/>
          </a:ln>
        </p:spPr>
        <p:txBody>
          <a:bodyPr wrap="square" anchor="ctr">
            <a:spAutoFit/>
          </a:bodyPr>
          <a:lstStyle/>
          <a:p>
            <a:pPr marL="285750" indent="-285750">
              <a:lnSpc>
                <a:spcPct val="150000"/>
              </a:lnSpc>
              <a:buFont typeface="Wingdings" panose="05000000000000000000" charset="0"/>
              <a:buChar char="Ø"/>
            </a:pPr>
            <a:r>
              <a:rPr lang="en-US" sz="1800" dirty="0">
                <a:latin typeface="微软雅黑" panose="020B0503020204020204" pitchFamily="34" charset="-122"/>
                <a:ea typeface="微软雅黑" panose="020B0503020204020204" pitchFamily="34" charset="-122"/>
              </a:rPr>
              <a:t>评审会议</a:t>
            </a:r>
            <a:r>
              <a:rPr lang="en-US" sz="1800" b="1" dirty="0">
                <a:solidFill>
                  <a:srgbClr val="FF0000"/>
                </a:solidFill>
                <a:latin typeface="微软雅黑" panose="020B0503020204020204" pitchFamily="34" charset="-122"/>
                <a:ea typeface="微软雅黑" panose="020B0503020204020204" pitchFamily="34" charset="-122"/>
              </a:rPr>
              <a:t> 2 小时</a:t>
            </a:r>
            <a:r>
              <a:rPr lang="en-US" sz="1800" dirty="0">
                <a:latin typeface="微软雅黑" panose="020B0503020204020204" pitchFamily="34" charset="-122"/>
                <a:ea typeface="微软雅黑" panose="020B0503020204020204" pitchFamily="34" charset="-122"/>
              </a:rPr>
              <a:t>前，</a:t>
            </a:r>
            <a:r>
              <a:rPr lang="en-US" sz="1800" b="1" dirty="0">
                <a:solidFill>
                  <a:srgbClr val="FF0000"/>
                </a:solidFill>
                <a:latin typeface="微软雅黑" panose="020B0503020204020204" pitchFamily="34" charset="-122"/>
                <a:ea typeface="微软雅黑" panose="020B0503020204020204" pitchFamily="34" charset="-122"/>
              </a:rPr>
              <a:t>会议组织者在项目群汇报预审情况</a:t>
            </a:r>
            <a:r>
              <a:rPr lang="en-US" sz="1800" dirty="0">
                <a:latin typeface="微软雅黑" panose="020B0503020204020204" pitchFamily="34" charset="-122"/>
                <a:ea typeface="微软雅黑" panose="020B0503020204020204" pitchFamily="34" charset="-122"/>
              </a:rPr>
              <a:t>；</a:t>
            </a:r>
            <a:endParaRPr lang="en-US" sz="18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zh-CN" altLang="en-US" sz="1800" dirty="0">
                <a:latin typeface="微软雅黑" panose="020B0503020204020204" pitchFamily="34" charset="-122"/>
                <a:ea typeface="微软雅黑" panose="020B0503020204020204" pitchFamily="34" charset="-122"/>
              </a:rPr>
              <a:t>汇报模板</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latin typeface="微软雅黑" panose="020B0503020204020204" pitchFamily="34" charset="-122"/>
                <a:ea typeface="微软雅黑" panose="020B0503020204020204" pitchFamily="34" charset="-122"/>
              </a:rPr>
              <a:t>XXX</a:t>
            </a:r>
            <a:r>
              <a:rPr lang="en-US" sz="1800" dirty="0">
                <a:latin typeface="微软雅黑" panose="020B0503020204020204" pitchFamily="34" charset="-122"/>
                <a:ea typeface="微软雅黑" panose="020B0503020204020204" pitchFamily="34" charset="-122"/>
              </a:rPr>
              <a:t>会议预审情况汇报</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latin typeface="微软雅黑" panose="020B0503020204020204" pitchFamily="34" charset="-122"/>
                <a:ea typeface="微软雅黑" panose="020B0503020204020204" pitchFamily="34" charset="-122"/>
              </a:rPr>
              <a:t>评审人员：张三、王五（核心）、李四（核心）；</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latin typeface="微软雅黑" panose="020B0503020204020204" pitchFamily="34" charset="-122"/>
                <a:ea typeface="微软雅黑" panose="020B0503020204020204" pitchFamily="34" charset="-122"/>
              </a:rPr>
              <a:t>预审意见不足人员：张三、李四（核心）</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solidFill>
                  <a:schemeClr val="tx1"/>
                </a:solidFill>
                <a:latin typeface="微软雅黑" panose="020B0503020204020204" pitchFamily="34" charset="-122"/>
                <a:ea typeface="微软雅黑" panose="020B0503020204020204" pitchFamily="34" charset="-122"/>
              </a:rPr>
              <a:t>预审结论</a:t>
            </a:r>
            <a:r>
              <a:rPr lang="zh-CN" altLang="en-US" sz="1800" dirty="0">
                <a:solidFill>
                  <a:schemeClr val="tx1"/>
                </a:solidFill>
                <a:latin typeface="微软雅黑" panose="020B0503020204020204" pitchFamily="34" charset="-122"/>
                <a:ea typeface="微软雅黑" panose="020B0503020204020204" pitchFamily="34" charset="-122"/>
              </a:rPr>
              <a:t>（</a:t>
            </a:r>
            <a:r>
              <a:rPr lang="en-US" altLang="zh-CN" sz="1800" dirty="0">
                <a:solidFill>
                  <a:schemeClr val="tx1"/>
                </a:solidFill>
                <a:latin typeface="微软雅黑" panose="020B0503020204020204" pitchFamily="34" charset="-122"/>
                <a:ea typeface="微软雅黑" panose="020B0503020204020204" pitchFamily="34" charset="-122"/>
              </a:rPr>
              <a:t>4</a:t>
            </a:r>
            <a:r>
              <a:rPr lang="zh-CN" altLang="en-US" sz="1800" dirty="0">
                <a:solidFill>
                  <a:schemeClr val="tx1"/>
                </a:solidFill>
                <a:latin typeface="微软雅黑" panose="020B0503020204020204" pitchFamily="34" charset="-122"/>
                <a:ea typeface="微软雅黑" panose="020B0503020204020204" pitchFamily="34" charset="-122"/>
              </a:rPr>
              <a:t>选</a:t>
            </a:r>
            <a:r>
              <a:rPr lang="en-US" altLang="zh-CN" sz="1800" dirty="0">
                <a:solidFill>
                  <a:schemeClr val="tx1"/>
                </a:solidFill>
                <a:latin typeface="微软雅黑" panose="020B0503020204020204" pitchFamily="34" charset="-122"/>
                <a:ea typeface="微软雅黑" panose="020B0503020204020204" pitchFamily="34" charset="-122"/>
              </a:rPr>
              <a:t>1</a:t>
            </a:r>
            <a:r>
              <a:rPr lang="zh-CN" altLang="en-US" sz="1800" dirty="0">
                <a:solidFill>
                  <a:schemeClr val="tx1"/>
                </a:solidFill>
                <a:latin typeface="微软雅黑" panose="020B0503020204020204" pitchFamily="34" charset="-122"/>
                <a:ea typeface="微软雅黑" panose="020B0503020204020204" pitchFamily="34" charset="-122"/>
              </a:rPr>
              <a:t>）</a:t>
            </a:r>
            <a:r>
              <a:rPr lang="en-US" sz="1800" dirty="0">
                <a:solidFill>
                  <a:schemeClr val="tx1"/>
                </a:solidFill>
                <a:latin typeface="微软雅黑" panose="020B0503020204020204" pitchFamily="34" charset="-122"/>
                <a:ea typeface="微软雅黑" panose="020B0503020204020204" pitchFamily="34" charset="-122"/>
              </a:rPr>
              <a:t>：</a:t>
            </a:r>
            <a:endParaRPr lang="en-US" sz="1800" dirty="0">
              <a:solidFill>
                <a:schemeClr val="tx1"/>
              </a:solidFill>
              <a:latin typeface="微软雅黑" panose="020B0503020204020204" pitchFamily="34" charset="-122"/>
              <a:ea typeface="微软雅黑" panose="020B0503020204020204" pitchFamily="34" charset="-122"/>
            </a:endParaRPr>
          </a:p>
          <a:p>
            <a:pPr>
              <a:lnSpc>
                <a:spcPct val="150000"/>
              </a:lnSpc>
            </a:pPr>
            <a:r>
              <a:rPr lang="en-US" sz="1800" dirty="0">
                <a:solidFill>
                  <a:srgbClr val="FF0000"/>
                </a:solidFill>
                <a:latin typeface="微软雅黑" panose="020B0503020204020204" pitchFamily="34" charset="-122"/>
                <a:ea typeface="微软雅黑" panose="020B0503020204020204" pitchFamily="34" charset="-122"/>
              </a:rPr>
              <a:t>a. 预审达标，评审会议正常开展</a:t>
            </a:r>
            <a:endParaRPr lang="en-US" sz="1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sz="1800" dirty="0">
                <a:solidFill>
                  <a:srgbClr val="FF0000"/>
                </a:solidFill>
                <a:latin typeface="微软雅黑" panose="020B0503020204020204" pitchFamily="34" charset="-122"/>
                <a:ea typeface="微软雅黑" panose="020B0503020204020204" pitchFamily="34" charset="-122"/>
              </a:rPr>
              <a:t>b. 预审意见不足人员不参会，评审会议正常开展</a:t>
            </a:r>
            <a:endParaRPr lang="en-US" sz="1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sz="1800" dirty="0">
                <a:solidFill>
                  <a:srgbClr val="FF0000"/>
                </a:solidFill>
                <a:latin typeface="微软雅黑" panose="020B0503020204020204" pitchFamily="34" charset="-122"/>
                <a:ea typeface="微软雅黑" panose="020B0503020204020204" pitchFamily="34" charset="-122"/>
              </a:rPr>
              <a:t>c. 李四（核心）未提意见，本次评审会议推迟开展</a:t>
            </a:r>
            <a:endParaRPr lang="en-US" sz="1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en-US" sz="1800" dirty="0">
                <a:solidFill>
                  <a:srgbClr val="FF0000"/>
                </a:solidFill>
                <a:latin typeface="微软雅黑" panose="020B0503020204020204" pitchFamily="34" charset="-122"/>
                <a:ea typeface="微软雅黑" panose="020B0503020204020204" pitchFamily="34" charset="-122"/>
              </a:rPr>
              <a:t>d. 王五（核心）无法参会已提预审意见，分管领导已决策评审会议正常开展</a:t>
            </a:r>
            <a:endParaRPr lang="en-US" sz="18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Ø"/>
            </a:pPr>
            <a:r>
              <a:rPr lang="en-US" sz="1800" dirty="0">
                <a:latin typeface="微软雅黑" panose="020B0503020204020204" pitchFamily="34" charset="-122"/>
                <a:ea typeface="微软雅黑" panose="020B0503020204020204" pitchFamily="34" charset="-122"/>
              </a:rPr>
              <a:t>【原则】：</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latin typeface="微软雅黑" panose="020B0503020204020204" pitchFamily="34" charset="-122"/>
                <a:ea typeface="微软雅黑" panose="020B0503020204020204" pitchFamily="34" charset="-122"/>
              </a:rPr>
              <a:t> 预审意见数量不足的人员，不允许参加评审会议；</a:t>
            </a:r>
            <a:endParaRPr lang="en-US" sz="1800" dirty="0">
              <a:latin typeface="微软雅黑" panose="020B0503020204020204" pitchFamily="34" charset="-122"/>
              <a:ea typeface="微软雅黑" panose="020B0503020204020204" pitchFamily="34" charset="-122"/>
            </a:endParaRPr>
          </a:p>
          <a:p>
            <a:pPr>
              <a:lnSpc>
                <a:spcPct val="150000"/>
              </a:lnSpc>
            </a:pPr>
            <a:r>
              <a:rPr lang="en-US" sz="1800" dirty="0">
                <a:latin typeface="微软雅黑" panose="020B0503020204020204" pitchFamily="34" charset="-122"/>
                <a:ea typeface="微软雅黑" panose="020B0503020204020204" pitchFamily="34" charset="-122"/>
              </a:rPr>
              <a:t> 独立编写评审资料的人员，对预审意见不作硬性要求，但也可以提出一些想法或者讨论点</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会议通知</a:t>
            </a:r>
            <a:endParaRPr lang="zh-CN" altLang="en-US" dirty="0">
              <a:solidFill>
                <a:srgbClr val="FF0000"/>
              </a:solidFill>
            </a:endParaRPr>
          </a:p>
        </p:txBody>
      </p:sp>
      <p:sp>
        <p:nvSpPr>
          <p:cNvPr id="5" name="Rectangle 35"/>
          <p:cNvSpPr>
            <a:spLocks noChangeArrowheads="1"/>
          </p:cNvSpPr>
          <p:nvPr/>
        </p:nvSpPr>
        <p:spPr bwMode="auto">
          <a:xfrm>
            <a:off x="440005" y="791090"/>
            <a:ext cx="10992039" cy="5492750"/>
          </a:xfrm>
          <a:prstGeom prst="rect">
            <a:avLst/>
          </a:prstGeom>
          <a:noFill/>
          <a:ln w="9525">
            <a:noFill/>
            <a:miter lim="800000"/>
          </a:ln>
        </p:spPr>
        <p:txBody>
          <a:bodyPr wrap="square" anchor="ctr">
            <a:spAutoFit/>
          </a:bodyPr>
          <a:lstStyle/>
          <a:p>
            <a:pPr>
              <a:lnSpc>
                <a:spcPct val="150000"/>
              </a:lnSpc>
            </a:pPr>
            <a:r>
              <a:rPr lang="zh-CN" altLang="zh-CN" sz="1800" dirty="0">
                <a:latin typeface="微软雅黑" panose="020B0503020204020204" pitchFamily="34" charset="-122"/>
                <a:ea typeface="微软雅黑" panose="020B0503020204020204" pitchFamily="34" charset="-122"/>
              </a:rPr>
              <a:t>会议议题：</a:t>
            </a:r>
            <a:r>
              <a:rPr lang="en-US" altLang="zh-CN" sz="1800" dirty="0">
                <a:latin typeface="微软雅黑" panose="020B0503020204020204" pitchFamily="34" charset="-122"/>
                <a:ea typeface="微软雅黑" panose="020B0503020204020204" pitchFamily="34" charset="-122"/>
              </a:rPr>
              <a:t>XXX</a:t>
            </a:r>
            <a:r>
              <a:rPr lang="zh-CN" altLang="zh-CN" sz="1800" dirty="0">
                <a:latin typeface="微软雅黑" panose="020B0503020204020204" pitchFamily="34" charset="-122"/>
                <a:ea typeface="微软雅黑" panose="020B0503020204020204" pitchFamily="34" charset="-122"/>
              </a:rPr>
              <a:t>项目基准计划、</a:t>
            </a:r>
            <a:r>
              <a:rPr lang="en-US" altLang="zh-CN" sz="1800" dirty="0">
                <a:latin typeface="微软雅黑" panose="020B0503020204020204" pitchFamily="34" charset="-122"/>
                <a:ea typeface="微软雅黑" panose="020B0503020204020204" pitchFamily="34" charset="-122"/>
              </a:rPr>
              <a:t>WBS</a:t>
            </a:r>
            <a:r>
              <a:rPr lang="zh-CN" altLang="zh-CN" sz="1800" dirty="0">
                <a:latin typeface="微软雅黑" panose="020B0503020204020204" pitchFamily="34" charset="-122"/>
                <a:ea typeface="微软雅黑" panose="020B0503020204020204" pitchFamily="34" charset="-122"/>
              </a:rPr>
              <a:t>评审会议</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会议时间：</a:t>
            </a:r>
            <a:r>
              <a:rPr lang="en-US" altLang="zh-CN" sz="1800" dirty="0">
                <a:latin typeface="微软雅黑" panose="020B0503020204020204" pitchFamily="34" charset="-122"/>
                <a:ea typeface="微软雅黑" panose="020B0503020204020204" pitchFamily="34" charset="-122"/>
              </a:rPr>
              <a:t>10</a:t>
            </a:r>
            <a:r>
              <a:rPr lang="zh-CN" altLang="zh-CN" sz="1800" dirty="0">
                <a:latin typeface="微软雅黑" panose="020B0503020204020204" pitchFamily="34" charset="-122"/>
                <a:ea typeface="微软雅黑" panose="020B0503020204020204" pitchFamily="34" charset="-122"/>
              </a:rPr>
              <a:t>月</a:t>
            </a:r>
            <a:r>
              <a:rPr lang="en-US" altLang="zh-CN" sz="1800" dirty="0">
                <a:latin typeface="微软雅黑" panose="020B0503020204020204" pitchFamily="34" charset="-122"/>
                <a:ea typeface="微软雅黑" panose="020B0503020204020204" pitchFamily="34" charset="-122"/>
              </a:rPr>
              <a:t>25</a:t>
            </a:r>
            <a:r>
              <a:rPr lang="zh-CN" altLang="zh-CN" sz="1800" dirty="0">
                <a:latin typeface="微软雅黑" panose="020B0503020204020204" pitchFamily="34" charset="-122"/>
                <a:ea typeface="微软雅黑" panose="020B0503020204020204" pitchFamily="34" charset="-122"/>
              </a:rPr>
              <a:t>日下午</a:t>
            </a:r>
            <a:r>
              <a:rPr lang="en-US" sz="1800" dirty="0">
                <a:latin typeface="微软雅黑" panose="020B0503020204020204" pitchFamily="34" charset="-122"/>
                <a:ea typeface="微软雅黑" panose="020B0503020204020204" pitchFamily="34" charset="-122"/>
              </a:rPr>
              <a:t>15:00</a:t>
            </a:r>
            <a:r>
              <a:rPr lang="en-US" altLang="zh-CN" sz="1800" dirty="0">
                <a:latin typeface="微软雅黑" panose="020B0503020204020204" pitchFamily="34" charset="-122"/>
                <a:ea typeface="微软雅黑" panose="020B0503020204020204" pitchFamily="34" charset="-122"/>
              </a:rPr>
              <a:t> -16:30    </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会议地点：</a:t>
            </a:r>
            <a:r>
              <a:rPr lang="en-US" altLang="zh-CN" sz="1800" dirty="0">
                <a:latin typeface="微软雅黑" panose="020B0503020204020204" pitchFamily="34" charset="-122"/>
                <a:ea typeface="微软雅黑" panose="020B0503020204020204" pitchFamily="34" charset="-122"/>
              </a:rPr>
              <a:t>B325</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预计会议时间：</a:t>
            </a:r>
            <a:r>
              <a:rPr lang="en-US" altLang="zh-CN" sz="1800" dirty="0">
                <a:latin typeface="微软雅黑" panose="020B0503020204020204" pitchFamily="34" charset="-122"/>
                <a:ea typeface="微软雅黑" panose="020B0503020204020204" pitchFamily="34" charset="-122"/>
              </a:rPr>
              <a:t>1.5</a:t>
            </a:r>
            <a:r>
              <a:rPr lang="zh-CN" altLang="zh-CN" sz="1800" dirty="0">
                <a:latin typeface="微软雅黑" panose="020B0503020204020204" pitchFamily="34" charset="-122"/>
                <a:ea typeface="微软雅黑" panose="020B0503020204020204" pitchFamily="34" charset="-122"/>
              </a:rPr>
              <a:t>小时</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主持人</a:t>
            </a:r>
            <a:r>
              <a:rPr lang="en-US" altLang="zh-CN" sz="1800" dirty="0">
                <a:latin typeface="微软雅黑" panose="020B0503020204020204" pitchFamily="34" charset="-122"/>
                <a:ea typeface="微软雅黑" panose="020B0503020204020204" pitchFamily="34" charset="-122"/>
              </a:rPr>
              <a:t>   </a:t>
            </a:r>
            <a:r>
              <a:rPr lang="zh-CN" altLang="zh-CN" sz="1800" dirty="0">
                <a:latin typeface="微软雅黑" panose="020B0503020204020204" pitchFamily="34" charset="-122"/>
                <a:ea typeface="微软雅黑" panose="020B0503020204020204" pitchFamily="34" charset="-122"/>
              </a:rPr>
              <a:t>：张三</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记录人</a:t>
            </a:r>
            <a:r>
              <a:rPr lang="en-US" altLang="zh-CN" sz="1800" dirty="0">
                <a:latin typeface="微软雅黑" panose="020B0503020204020204" pitchFamily="34" charset="-122"/>
                <a:ea typeface="微软雅黑" panose="020B0503020204020204" pitchFamily="34" charset="-122"/>
              </a:rPr>
              <a:t>   </a:t>
            </a:r>
            <a:r>
              <a:rPr lang="zh-CN" altLang="zh-CN" sz="1800" dirty="0">
                <a:latin typeface="微软雅黑" panose="020B0503020204020204" pitchFamily="34" charset="-122"/>
                <a:ea typeface="微软雅黑" panose="020B0503020204020204" pitchFamily="34" charset="-122"/>
              </a:rPr>
              <a:t>：李四</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solidFill>
                  <a:srgbClr val="FF0000"/>
                </a:solidFill>
                <a:latin typeface="微软雅黑" panose="020B0503020204020204" pitchFamily="34" charset="-122"/>
                <a:ea typeface="微软雅黑" panose="020B0503020204020204" pitchFamily="34" charset="-122"/>
              </a:rPr>
              <a:t>评审负责人：王总</a:t>
            </a:r>
            <a:endParaRPr lang="zh-CN" altLang="zh-CN" sz="1800" dirty="0">
              <a:solidFill>
                <a:srgbClr val="FF0000"/>
              </a:solidFill>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参会人员：王五（核心）、赵六（</a:t>
            </a:r>
            <a:r>
              <a:rPr lang="en-US" sz="1800" dirty="0">
                <a:latin typeface="微软雅黑" panose="020B0503020204020204" pitchFamily="34" charset="-122"/>
                <a:ea typeface="微软雅黑" panose="020B0503020204020204" pitchFamily="34" charset="-122"/>
                <a:sym typeface="+mn-ea"/>
              </a:rPr>
              <a:t>核心</a:t>
            </a:r>
            <a:r>
              <a:rPr lang="zh-CN" altLang="zh-CN" sz="1800" dirty="0">
                <a:latin typeface="微软雅黑" panose="020B0503020204020204" pitchFamily="34" charset="-122"/>
                <a:ea typeface="微软雅黑" panose="020B0503020204020204" pitchFamily="34" charset="-122"/>
              </a:rPr>
              <a:t>）、钱七（</a:t>
            </a:r>
            <a:r>
              <a:rPr lang="en-US" sz="1800" dirty="0">
                <a:latin typeface="微软雅黑" panose="020B0503020204020204" pitchFamily="34" charset="-122"/>
                <a:ea typeface="微软雅黑" panose="020B0503020204020204" pitchFamily="34" charset="-122"/>
                <a:sym typeface="+mn-ea"/>
              </a:rPr>
              <a:t>核心</a:t>
            </a:r>
            <a:r>
              <a:rPr lang="zh-CN" altLang="zh-CN" sz="1800" dirty="0" smtClean="0">
                <a:latin typeface="微软雅黑" panose="020B0503020204020204" pitchFamily="34" charset="-122"/>
                <a:ea typeface="微软雅黑" panose="020B0503020204020204" pitchFamily="34" charset="-122"/>
              </a:rPr>
              <a:t>）</a:t>
            </a:r>
            <a:br>
              <a:rPr lang="en-US" altLang="zh-CN" sz="1800" dirty="0" smtClean="0">
                <a:latin typeface="微软雅黑" panose="020B0503020204020204" pitchFamily="34" charset="-122"/>
                <a:ea typeface="微软雅黑" panose="020B0503020204020204" pitchFamily="34" charset="-122"/>
              </a:rPr>
            </a:br>
            <a:r>
              <a:rPr lang="en-US" altLang="zh-CN" sz="1800" dirty="0" smtClean="0">
                <a:latin typeface="微软雅黑" panose="020B0503020204020204" pitchFamily="34" charset="-122"/>
                <a:ea typeface="微软雅黑" panose="020B0503020204020204" pitchFamily="34" charset="-122"/>
              </a:rPr>
              <a:t>                </a:t>
            </a:r>
            <a:r>
              <a:rPr lang="zh-CN" altLang="zh-CN" sz="1800" dirty="0" smtClean="0">
                <a:latin typeface="微软雅黑" panose="020B0503020204020204" pitchFamily="34" charset="-122"/>
                <a:ea typeface="微软雅黑" panose="020B0503020204020204" pitchFamily="34" charset="-122"/>
              </a:rPr>
              <a:t>项目</a:t>
            </a:r>
            <a:r>
              <a:rPr lang="zh-CN" altLang="zh-CN" sz="1800" dirty="0">
                <a:latin typeface="微软雅黑" panose="020B0503020204020204" pitchFamily="34" charset="-122"/>
                <a:ea typeface="微软雅黑" panose="020B0503020204020204" pitchFamily="34" charset="-122"/>
              </a:rPr>
              <a:t>组员：张一、李二、王三</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可选参会人员：赵四，钱五</a:t>
            </a: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特邀评审专家：李</a:t>
            </a:r>
            <a:r>
              <a:rPr lang="en-US" altLang="zh-CN" sz="1800" dirty="0">
                <a:latin typeface="微软雅黑" panose="020B0503020204020204" pitchFamily="34" charset="-122"/>
                <a:ea typeface="微软雅黑" panose="020B0503020204020204" pitchFamily="34" charset="-122"/>
              </a:rPr>
              <a:t>XXX</a:t>
            </a:r>
            <a:r>
              <a:rPr lang="zh-CN" altLang="zh-CN" sz="1800" dirty="0">
                <a:latin typeface="微软雅黑" panose="020B0503020204020204" pitchFamily="34" charset="-122"/>
                <a:ea typeface="微软雅黑" panose="020B0503020204020204" pitchFamily="34" charset="-122"/>
              </a:rPr>
              <a:t>（硬件），王</a:t>
            </a:r>
            <a:r>
              <a:rPr lang="en-US" altLang="zh-CN" sz="1800" dirty="0">
                <a:latin typeface="微软雅黑" panose="020B0503020204020204" pitchFamily="34" charset="-122"/>
                <a:ea typeface="微软雅黑" panose="020B0503020204020204" pitchFamily="34" charset="-122"/>
              </a:rPr>
              <a:t>XXX</a:t>
            </a:r>
            <a:r>
              <a:rPr lang="zh-CN" altLang="zh-CN" sz="1800" dirty="0">
                <a:latin typeface="微软雅黑" panose="020B0503020204020204" pitchFamily="34" charset="-122"/>
                <a:ea typeface="微软雅黑" panose="020B0503020204020204" pitchFamily="34" charset="-122"/>
              </a:rPr>
              <a:t>（软件），赵</a:t>
            </a:r>
            <a:r>
              <a:rPr lang="en-US" altLang="zh-CN" sz="1800" dirty="0">
                <a:latin typeface="微软雅黑" panose="020B0503020204020204" pitchFamily="34" charset="-122"/>
                <a:ea typeface="微软雅黑" panose="020B0503020204020204" pitchFamily="34" charset="-122"/>
              </a:rPr>
              <a:t>XXX</a:t>
            </a:r>
            <a:r>
              <a:rPr lang="zh-CN" altLang="zh-CN" sz="1800" dirty="0">
                <a:latin typeface="微软雅黑" panose="020B0503020204020204" pitchFamily="34" charset="-122"/>
                <a:ea typeface="微软雅黑" panose="020B0503020204020204" pitchFamily="34" charset="-122"/>
              </a:rPr>
              <a:t>（结构</a:t>
            </a:r>
            <a:r>
              <a:rPr lang="zh-CN" altLang="zh-CN" sz="1800" dirty="0" smtClean="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a:lnSpc>
                <a:spcPct val="150000"/>
              </a:lnSpc>
            </a:pPr>
            <a:br>
              <a:rPr lang="en-US" altLang="zh-CN" sz="1800" dirty="0">
                <a:latin typeface="微软雅黑" panose="020B0503020204020204" pitchFamily="34" charset="-122"/>
                <a:ea typeface="微软雅黑" panose="020B0503020204020204" pitchFamily="34" charset="-122"/>
              </a:rPr>
            </a:br>
            <a:r>
              <a:rPr lang="zh-CN" altLang="en-US" sz="1800" b="1" dirty="0" smtClean="0">
                <a:solidFill>
                  <a:srgbClr val="FF0000"/>
                </a:solidFill>
                <a:latin typeface="微软雅黑" panose="020B0503020204020204" pitchFamily="34" charset="-122"/>
                <a:ea typeface="微软雅黑" panose="020B0503020204020204" pitchFamily="34" charset="-122"/>
              </a:rPr>
              <a:t>注</a:t>
            </a:r>
            <a:r>
              <a:rPr lang="zh-CN" altLang="en-US" sz="1800" dirty="0" smtClean="0">
                <a:latin typeface="微软雅黑" panose="020B0503020204020204" pitchFamily="34" charset="-122"/>
                <a:ea typeface="微软雅黑" panose="020B0503020204020204" pitchFamily="34" charset="-122"/>
              </a:rPr>
              <a:t>：</a:t>
            </a:r>
            <a:r>
              <a:rPr lang="zh-CN" altLang="zh-CN" sz="1800" dirty="0" smtClean="0">
                <a:latin typeface="微软雅黑" panose="020B0503020204020204" pitchFamily="34" charset="-122"/>
                <a:ea typeface="微软雅黑" panose="020B0503020204020204" pitchFamily="34" charset="-122"/>
              </a:rPr>
              <a:t>所有</a:t>
            </a:r>
            <a:r>
              <a:rPr lang="zh-CN" altLang="zh-CN" sz="1800" dirty="0">
                <a:latin typeface="微软雅黑" panose="020B0503020204020204" pitchFamily="34" charset="-122"/>
                <a:ea typeface="微软雅黑" panose="020B0503020204020204" pitchFamily="34" charset="-122"/>
              </a:rPr>
              <a:t>的会议，必须明确指明主持人和记录人，会议主持人和会议记录人</a:t>
            </a:r>
            <a:r>
              <a:rPr lang="zh-CN" altLang="zh-CN" sz="1800" dirty="0">
                <a:solidFill>
                  <a:srgbClr val="FF0000"/>
                </a:solidFill>
                <a:latin typeface="微软雅黑" panose="020B0503020204020204" pitchFamily="34" charset="-122"/>
                <a:ea typeface="微软雅黑" panose="020B0503020204020204" pitchFamily="34" charset="-122"/>
              </a:rPr>
              <a:t>不应该是同</a:t>
            </a:r>
            <a:r>
              <a:rPr lang="zh-CN" altLang="zh-CN" sz="1800">
                <a:solidFill>
                  <a:srgbClr val="FF0000"/>
                </a:solidFill>
                <a:latin typeface="微软雅黑" panose="020B0503020204020204" pitchFamily="34" charset="-122"/>
                <a:ea typeface="微软雅黑" panose="020B0503020204020204" pitchFamily="34" charset="-122"/>
              </a:rPr>
              <a:t>一</a:t>
            </a:r>
            <a:r>
              <a:rPr lang="zh-CN" altLang="zh-CN" sz="1800" smtClean="0">
                <a:solidFill>
                  <a:srgbClr val="FF0000"/>
                </a:solidFill>
                <a:latin typeface="微软雅黑" panose="020B0503020204020204" pitchFamily="34" charset="-122"/>
                <a:ea typeface="微软雅黑" panose="020B0503020204020204" pitchFamily="34" charset="-122"/>
              </a:rPr>
              <a:t>人</a:t>
            </a:r>
            <a:r>
              <a:rPr lang="zh-CN" altLang="en-US" sz="1800" smtClean="0">
                <a:latin typeface="微软雅黑" panose="020B0503020204020204" pitchFamily="34" charset="-122"/>
                <a:ea typeface="微软雅黑" panose="020B0503020204020204" pitchFamily="34" charset="-122"/>
              </a:rPr>
              <a:t>。</a:t>
            </a:r>
            <a:endParaRPr lang="zh-CN" altLang="zh-CN"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会议进程</a:t>
            </a:r>
            <a:endParaRPr lang="zh-CN" altLang="en-US" dirty="0">
              <a:solidFill>
                <a:srgbClr val="FF0000"/>
              </a:solidFill>
            </a:endParaRPr>
          </a:p>
        </p:txBody>
      </p:sp>
      <p:sp>
        <p:nvSpPr>
          <p:cNvPr id="4" name="矩形 16"/>
          <p:cNvSpPr>
            <a:spLocks noChangeArrowheads="1"/>
          </p:cNvSpPr>
          <p:nvPr/>
        </p:nvSpPr>
        <p:spPr bwMode="auto">
          <a:xfrm>
            <a:off x="486520" y="982316"/>
            <a:ext cx="10348945" cy="4384675"/>
          </a:xfrm>
          <a:prstGeom prst="rect">
            <a:avLst/>
          </a:prstGeom>
          <a:noFill/>
          <a:ln w="9525">
            <a:noFill/>
            <a:miter lim="800000"/>
          </a:ln>
        </p:spPr>
        <p:txBody>
          <a:bodyPr wrap="square">
            <a:spAutoFit/>
          </a:bodyPr>
          <a:lstStyle/>
          <a:p>
            <a:pPr marL="284480" lvl="0" indent="-284480" fontAlgn="auto">
              <a:lnSpc>
                <a:spcPct val="150000"/>
              </a:lnSpc>
              <a:buFont typeface="Wingdings" panose="05000000000000000000" pitchFamily="2" charset="2"/>
              <a:buChar char="Ø"/>
            </a:pPr>
            <a:r>
              <a:rPr lang="zh-CN" altLang="en-US" sz="1800" dirty="0" smtClean="0">
                <a:latin typeface="微软雅黑" panose="020B0503020204020204" pitchFamily="34" charset="-122"/>
                <a:ea typeface="微软雅黑" panose="020B0503020204020204" pitchFamily="34" charset="-122"/>
              </a:rPr>
              <a:t>主持人</a:t>
            </a:r>
            <a:r>
              <a:rPr lang="zh-CN" altLang="en-US" sz="1800" dirty="0">
                <a:latin typeface="微软雅黑" panose="020B0503020204020204" pitchFamily="34" charset="-122"/>
                <a:ea typeface="微软雅黑" panose="020B0503020204020204" pitchFamily="34" charset="-122"/>
              </a:rPr>
              <a:t>主持会议，控制会议进程；</a:t>
            </a:r>
            <a:endParaRPr lang="en-US" altLang="zh-CN" sz="1800" dirty="0">
              <a:latin typeface="微软雅黑" panose="020B0503020204020204" pitchFamily="34" charset="-122"/>
              <a:ea typeface="微软雅黑" panose="020B0503020204020204" pitchFamily="34" charset="-122"/>
            </a:endParaRPr>
          </a:p>
          <a:p>
            <a:pPr marL="284480" indent="-284480" fontAlgn="auto">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大概介绍评审对象；</a:t>
            </a:r>
            <a:endParaRPr lang="en-US" altLang="zh-CN" sz="1800" dirty="0">
              <a:latin typeface="微软雅黑" panose="020B0503020204020204" pitchFamily="34" charset="-122"/>
              <a:ea typeface="微软雅黑" panose="020B0503020204020204" pitchFamily="34" charset="-122"/>
            </a:endParaRPr>
          </a:p>
          <a:p>
            <a:pPr marL="284480" indent="-284480" fontAlgn="auto">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若针对某一问题的讨论超过</a:t>
            </a:r>
            <a:r>
              <a:rPr lang="zh-CN" altLang="en-US" sz="1800" dirty="0">
                <a:solidFill>
                  <a:srgbClr val="FF0000"/>
                </a:solidFill>
                <a:latin typeface="微软雅黑" panose="020B0503020204020204" pitchFamily="34" charset="-122"/>
                <a:ea typeface="微软雅黑" panose="020B0503020204020204" pitchFamily="34" charset="-122"/>
              </a:rPr>
              <a:t>十分钟</a:t>
            </a:r>
            <a:r>
              <a:rPr lang="zh-CN" altLang="en-US" sz="1800" dirty="0">
                <a:latin typeface="微软雅黑" panose="020B0503020204020204" pitchFamily="34" charset="-122"/>
                <a:ea typeface="微软雅黑" panose="020B0503020204020204" pitchFamily="34" charset="-122"/>
              </a:rPr>
              <a:t>仍不能确定结果，则作为一个问题记录下来，并进入下</a:t>
            </a:r>
            <a:r>
              <a:rPr lang="zh-CN" altLang="en-US" sz="1800">
                <a:latin typeface="微软雅黑" panose="020B0503020204020204" pitchFamily="34" charset="-122"/>
                <a:ea typeface="微软雅黑" panose="020B0503020204020204" pitchFamily="34" charset="-122"/>
              </a:rPr>
              <a:t>一</a:t>
            </a:r>
            <a:r>
              <a:rPr lang="zh-CN" altLang="en-US" sz="1800" smtClean="0">
                <a:latin typeface="微软雅黑" panose="020B0503020204020204" pitchFamily="34" charset="-122"/>
                <a:ea typeface="微软雅黑" panose="020B0503020204020204" pitchFamily="34" charset="-122"/>
              </a:rPr>
              <a:t>议题，单独组织讨论会；</a:t>
            </a:r>
            <a:endParaRPr lang="en-US" altLang="zh-CN" sz="1800" dirty="0">
              <a:latin typeface="微软雅黑" panose="020B0503020204020204" pitchFamily="34" charset="-122"/>
              <a:ea typeface="微软雅黑" panose="020B0503020204020204" pitchFamily="34" charset="-122"/>
            </a:endParaRPr>
          </a:p>
          <a:p>
            <a:pPr marL="284480" lvl="0" indent="-284480" fontAlgn="auto">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逐条记录会议中提出的问题及讨论结果；</a:t>
            </a:r>
            <a:endParaRPr lang="zh-CN" altLang="en-US" sz="1800" dirty="0">
              <a:latin typeface="微软雅黑" panose="020B0503020204020204" pitchFamily="34" charset="-122"/>
              <a:ea typeface="微软雅黑" panose="020B0503020204020204" pitchFamily="34" charset="-122"/>
            </a:endParaRPr>
          </a:p>
          <a:p>
            <a:pPr marL="284480" indent="-284480" fontAlgn="auto">
              <a:lnSpc>
                <a:spcPct val="150000"/>
              </a:lnSpc>
              <a:buFont typeface="Wingdings" panose="05000000000000000000" pitchFamily="2" charset="2"/>
              <a:buChar char="Ø"/>
            </a:pPr>
            <a:r>
              <a:rPr lang="zh-CN" altLang="en-US" sz="1800" b="1" dirty="0">
                <a:solidFill>
                  <a:srgbClr val="FF0000"/>
                </a:solidFill>
                <a:latin typeface="微软雅黑" panose="020B0503020204020204" pitchFamily="34" charset="-122"/>
                <a:ea typeface="微软雅黑" panose="020B0503020204020204" pitchFamily="34" charset="-122"/>
              </a:rPr>
              <a:t>会议结束前，进行会议决议宣读</a:t>
            </a:r>
            <a:r>
              <a:rPr lang="zh-CN" altLang="en-US" sz="1800" b="1" dirty="0">
                <a:solidFill>
                  <a:schemeClr val="tx1"/>
                </a:solidFill>
                <a:latin typeface="微软雅黑" panose="020B0503020204020204" pitchFamily="34" charset="-122"/>
                <a:ea typeface="微软雅黑" panose="020B0503020204020204" pitchFamily="34" charset="-122"/>
              </a:rPr>
              <a:t>，确保会上提的问题记录全面不遗漏</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marL="284480" indent="-284480" fontAlgn="auto">
              <a:lnSpc>
                <a:spcPct val="150000"/>
              </a:lnSpc>
              <a:buFont typeface="Wingdings" panose="05000000000000000000" pitchFamily="2" charset="2"/>
              <a:buChar char="Ø"/>
            </a:pPr>
            <a:r>
              <a:rPr lang="en-US" altLang="zh-CN" sz="1800" dirty="0">
                <a:solidFill>
                  <a:srgbClr val="FF0000"/>
                </a:solidFill>
                <a:latin typeface="微软雅黑" panose="020B0503020204020204" pitchFamily="34" charset="-122"/>
                <a:ea typeface="微软雅黑" panose="020B0503020204020204" pitchFamily="34" charset="-122"/>
              </a:rPr>
              <a:t>ERP</a:t>
            </a:r>
            <a:r>
              <a:rPr lang="zh-CN" altLang="en-US" sz="1800" dirty="0">
                <a:solidFill>
                  <a:srgbClr val="FF0000"/>
                </a:solidFill>
                <a:latin typeface="微软雅黑" panose="020B0503020204020204" pitchFamily="34" charset="-122"/>
                <a:ea typeface="微软雅黑" panose="020B0503020204020204" pitchFamily="34" charset="-122"/>
              </a:rPr>
              <a:t>评审问题登记及时记录正式评审问题。</a:t>
            </a:r>
            <a:endParaRPr lang="en-US" altLang="zh-CN" sz="1800" dirty="0">
              <a:latin typeface="微软雅黑" panose="020B0503020204020204" pitchFamily="34" charset="-122"/>
              <a:ea typeface="微软雅黑" panose="020B0503020204020204" pitchFamily="34" charset="-122"/>
            </a:endParaRPr>
          </a:p>
          <a:p>
            <a:pPr lvl="0" indent="0">
              <a:lnSpc>
                <a:spcPct val="200000"/>
              </a:lnSpc>
              <a:buFont typeface="Wingdings" panose="05000000000000000000" pitchFamily="2" charset="2"/>
              <a:buNone/>
            </a:pPr>
            <a:endParaRPr lang="zh-CN" altLang="en-US" sz="1800" dirty="0">
              <a:solidFill>
                <a:srgbClr val="FF0000"/>
              </a:solidFill>
              <a:latin typeface="微软雅黑" panose="020B0503020204020204" pitchFamily="34" charset="-122"/>
              <a:ea typeface="微软雅黑" panose="020B0503020204020204" pitchFamily="34" charset="-122"/>
            </a:endParaRPr>
          </a:p>
          <a:p>
            <a:pPr lvl="0" indent="0" fontAlgn="auto">
              <a:lnSpc>
                <a:spcPct val="150000"/>
              </a:lnSpc>
              <a:buFont typeface="Wingdings" panose="05000000000000000000" pitchFamily="2" charset="2"/>
              <a:buNone/>
            </a:pPr>
            <a:r>
              <a:rPr lang="zh-CN" altLang="en-US" sz="1800" dirty="0">
                <a:solidFill>
                  <a:srgbClr val="FF0000"/>
                </a:solidFill>
                <a:latin typeface="微软雅黑" panose="020B0503020204020204" pitchFamily="34" charset="-122"/>
                <a:ea typeface="微软雅黑" panose="020B0503020204020204" pitchFamily="34" charset="-122"/>
              </a:rPr>
              <a:t>一般在</a:t>
            </a:r>
            <a:r>
              <a:rPr lang="en-US" sz="1800" dirty="0">
                <a:solidFill>
                  <a:srgbClr val="FF0000"/>
                </a:solidFill>
                <a:latin typeface="微软雅黑" panose="020B0503020204020204" pitchFamily="34" charset="-122"/>
                <a:ea typeface="微软雅黑" panose="020B0503020204020204" pitchFamily="34" charset="-122"/>
              </a:rPr>
              <a:t>2</a:t>
            </a:r>
            <a:r>
              <a:rPr lang="zh-CN" altLang="en-US" sz="1800" dirty="0">
                <a:solidFill>
                  <a:srgbClr val="FF0000"/>
                </a:solidFill>
                <a:latin typeface="微软雅黑" panose="020B0503020204020204" pitchFamily="34" charset="-122"/>
                <a:ea typeface="微软雅黑" panose="020B0503020204020204" pitchFamily="34" charset="-122"/>
              </a:rPr>
              <a:t>个工作日内</a:t>
            </a:r>
            <a:r>
              <a:rPr lang="zh-CN" altLang="en-US" sz="1800" dirty="0">
                <a:latin typeface="微软雅黑" panose="020B0503020204020204" pitchFamily="34" charset="-122"/>
                <a:ea typeface="微软雅黑" panose="020B0503020204020204" pitchFamily="34" charset="-122"/>
              </a:rPr>
              <a:t>完成正式问题记录和问题确认，通过评审问题截图形式在项目群及时确认评审问题是否有遗漏和错误。</a:t>
            </a:r>
            <a:endParaRPr lang="zh-CN" altLang="en-US" sz="1800"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评审结</a:t>
            </a:r>
            <a:r>
              <a:rPr lang="zh-CN" altLang="en-US" dirty="0" smtClean="0">
                <a:solidFill>
                  <a:srgbClr val="FF0000"/>
                </a:solidFill>
              </a:rPr>
              <a:t>论</a:t>
            </a:r>
            <a:endParaRPr lang="zh-CN" altLang="en-US" dirty="0" smtClean="0">
              <a:solidFill>
                <a:srgbClr val="FF0000"/>
              </a:solidFill>
            </a:endParaRPr>
          </a:p>
        </p:txBody>
      </p:sp>
      <p:graphicFrame>
        <p:nvGraphicFramePr>
          <p:cNvPr id="6" name="表格 5"/>
          <p:cNvGraphicFramePr>
            <a:graphicFrameLocks noGrp="1"/>
          </p:cNvGraphicFramePr>
          <p:nvPr>
            <p:custDataLst>
              <p:tags r:id="rId1"/>
            </p:custDataLst>
          </p:nvPr>
        </p:nvGraphicFramePr>
        <p:xfrm>
          <a:off x="463550" y="3489325"/>
          <a:ext cx="11342370" cy="2865755"/>
        </p:xfrm>
        <a:graphic>
          <a:graphicData uri="http://schemas.openxmlformats.org/drawingml/2006/table">
            <a:tbl>
              <a:tblPr firstRow="1" firstCol="1" bandRow="1" bandCol="1">
                <a:tableStyleId>{5C22544A-7EE6-4342-B048-85BDC9FD1C3A}</a:tableStyleId>
              </a:tblPr>
              <a:tblGrid>
                <a:gridCol w="1737995"/>
                <a:gridCol w="4344670"/>
                <a:gridCol w="5259705"/>
              </a:tblGrid>
              <a:tr h="274320">
                <a:tc>
                  <a:txBody>
                    <a:bodyPr/>
                    <a:lstStyle/>
                    <a:p>
                      <a:pPr algn="ctr">
                        <a:spcAft>
                          <a:spcPts val="0"/>
                        </a:spcAft>
                      </a:pPr>
                      <a:r>
                        <a:rPr lang="zh-CN" sz="1800" kern="100" dirty="0">
                          <a:effectLst/>
                          <a:latin typeface="微软雅黑" panose="020B0503020204020204" pitchFamily="34" charset="-122"/>
                          <a:ea typeface="微软雅黑" panose="020B0503020204020204" pitchFamily="34" charset="-122"/>
                        </a:rPr>
                        <a:t>评审结论</a:t>
                      </a:r>
                      <a:endParaRPr lang="zh-CN" sz="1800" kern="100" dirty="0">
                        <a:effectLst/>
                        <a:latin typeface="微软雅黑" panose="020B0503020204020204" pitchFamily="34" charset="-122"/>
                        <a:ea typeface="微软雅黑" panose="020B0503020204020204" pitchFamily="34" charset="-122"/>
                      </a:endParaRPr>
                    </a:p>
                  </a:txBody>
                  <a:tcPr marL="68583" marR="68583" marT="0" marB="0" anchor="ctr"/>
                </a:tc>
                <a:tc>
                  <a:txBody>
                    <a:bodyPr/>
                    <a:lstStyle/>
                    <a:p>
                      <a:pPr algn="ctr">
                        <a:spcAft>
                          <a:spcPts val="0"/>
                        </a:spcAft>
                      </a:pPr>
                      <a:r>
                        <a:rPr lang="zh-CN" sz="1800" kern="100">
                          <a:effectLst/>
                          <a:latin typeface="微软雅黑" panose="020B0503020204020204" pitchFamily="34" charset="-122"/>
                          <a:ea typeface="微软雅黑" panose="020B0503020204020204" pitchFamily="34" charset="-122"/>
                        </a:rPr>
                        <a:t>准则（参考）</a:t>
                      </a:r>
                      <a:endParaRPr lang="zh-CN" sz="1800" kern="100">
                        <a:effectLst/>
                        <a:latin typeface="微软雅黑" panose="020B0503020204020204" pitchFamily="34" charset="-122"/>
                        <a:ea typeface="微软雅黑" panose="020B0503020204020204" pitchFamily="34" charset="-122"/>
                      </a:endParaRPr>
                    </a:p>
                  </a:txBody>
                  <a:tcPr marL="68583" marR="68583" marT="0" marB="0" anchor="ctr"/>
                </a:tc>
                <a:tc>
                  <a:txBody>
                    <a:bodyPr/>
                    <a:lstStyle/>
                    <a:p>
                      <a:pPr algn="ctr">
                        <a:spcAft>
                          <a:spcPts val="0"/>
                        </a:spcAft>
                      </a:pPr>
                      <a:r>
                        <a:rPr lang="zh-CN" sz="1800" kern="100">
                          <a:effectLst/>
                          <a:latin typeface="微软雅黑" panose="020B0503020204020204" pitchFamily="34" charset="-122"/>
                          <a:ea typeface="微软雅黑" panose="020B0503020204020204" pitchFamily="34" charset="-122"/>
                        </a:rPr>
                        <a:t>后续工作</a:t>
                      </a:r>
                      <a:endParaRPr lang="zh-CN" sz="1800" kern="100">
                        <a:effectLst/>
                        <a:latin typeface="微软雅黑" panose="020B0503020204020204" pitchFamily="34" charset="-122"/>
                        <a:ea typeface="微软雅黑" panose="020B0503020204020204" pitchFamily="34" charset="-122"/>
                      </a:endParaRPr>
                    </a:p>
                  </a:txBody>
                  <a:tcPr marL="68583" marR="68583" marT="0" marB="0" anchor="ctr"/>
                </a:tc>
              </a:tr>
              <a:tr h="977900">
                <a:tc>
                  <a:txBody>
                    <a:bodyPr/>
                    <a:lstStyle/>
                    <a:p>
                      <a:pPr algn="just">
                        <a:spcAft>
                          <a:spcPts val="0"/>
                        </a:spcAft>
                      </a:pPr>
                      <a:r>
                        <a:rPr lang="zh-CN" sz="1800" kern="100">
                          <a:effectLst/>
                          <a:latin typeface="微软雅黑" panose="020B0503020204020204" pitchFamily="34" charset="-122"/>
                          <a:ea typeface="微软雅黑" panose="020B0503020204020204" pitchFamily="34" charset="-122"/>
                        </a:rPr>
                        <a:t>通过</a:t>
                      </a:r>
                      <a:endParaRPr lang="zh-CN" sz="1800" kern="100">
                        <a:effectLst/>
                        <a:latin typeface="微软雅黑" panose="020B0503020204020204" pitchFamily="34" charset="-122"/>
                        <a:ea typeface="微软雅黑" panose="020B0503020204020204" pitchFamily="34" charset="-122"/>
                      </a:endParaRPr>
                    </a:p>
                  </a:txBody>
                  <a:tcPr marL="68583" marR="68583" marT="0" marB="0" anchor="ctr"/>
                </a:tc>
                <a:tc>
                  <a:txBody>
                    <a:bodyPr/>
                    <a:lstStyle/>
                    <a:p>
                      <a:pPr>
                        <a:lnSpc>
                          <a:spcPct val="100000"/>
                        </a:lnSpc>
                        <a:buNone/>
                      </a:pPr>
                      <a:r>
                        <a:rPr lang="zh-CN" altLang="en-US" sz="1600" b="1">
                          <a:sym typeface="+mn-ea"/>
                        </a:rPr>
                        <a:t>满足以下条件:</a:t>
                      </a:r>
                      <a:endParaRPr lang="zh-CN" altLang="en-US" sz="1600" b="1"/>
                    </a:p>
                    <a:p>
                      <a:pPr>
                        <a:lnSpc>
                          <a:spcPct val="100000"/>
                        </a:lnSpc>
                        <a:buNone/>
                      </a:pPr>
                      <a:r>
                        <a:rPr lang="zh-CN" altLang="en-US" sz="1600" b="1">
                          <a:sym typeface="+mn-ea"/>
                        </a:rPr>
                        <a:t>不存在关键问题;</a:t>
                      </a:r>
                      <a:endParaRPr lang="zh-CN" altLang="en-US" sz="1600" b="1">
                        <a:sym typeface="+mn-ea"/>
                      </a:endParaRPr>
                    </a:p>
                  </a:txBody>
                  <a:tcPr anchor="ctr" anchorCtr="0"/>
                </a:tc>
                <a:tc>
                  <a:txBody>
                    <a:bodyPr/>
                    <a:lstStyle/>
                    <a:p>
                      <a:pPr>
                        <a:lnSpc>
                          <a:spcPct val="100000"/>
                        </a:lnSpc>
                        <a:buNone/>
                      </a:pPr>
                      <a:r>
                        <a:rPr lang="zh-CN" altLang="en-US" sz="1600" b="1"/>
                        <a:t>即可进行下一阶段工作(评审发现的轻微问题</a:t>
                      </a:r>
                      <a:endParaRPr lang="zh-CN" altLang="en-US" sz="1600" b="1"/>
                    </a:p>
                    <a:p>
                      <a:pPr>
                        <a:lnSpc>
                          <a:spcPct val="100000"/>
                        </a:lnSpc>
                        <a:buNone/>
                      </a:pPr>
                      <a:r>
                        <a:rPr lang="zh-CN" altLang="en-US" sz="1600" b="1"/>
                        <a:t>仍要处理，建议类问题根据实际情况决定是否</a:t>
                      </a:r>
                      <a:endParaRPr lang="zh-CN" altLang="en-US" sz="1600" b="1"/>
                    </a:p>
                    <a:p>
                      <a:pPr>
                        <a:lnSpc>
                          <a:spcPct val="100000"/>
                        </a:lnSpc>
                        <a:buNone/>
                      </a:pPr>
                      <a:r>
                        <a:rPr lang="zh-CN" altLang="en-US" sz="1600" b="1"/>
                        <a:t>处理)。</a:t>
                      </a:r>
                      <a:endParaRPr lang="zh-CN" altLang="en-US" sz="1600" b="1"/>
                    </a:p>
                  </a:txBody>
                  <a:tcPr anchor="ctr" anchorCtr="0"/>
                </a:tc>
              </a:tr>
              <a:tr h="976630">
                <a:tc>
                  <a:txBody>
                    <a:bodyPr/>
                    <a:lstStyle/>
                    <a:p>
                      <a:pPr algn="just">
                        <a:spcAft>
                          <a:spcPts val="0"/>
                        </a:spcAft>
                      </a:pPr>
                      <a:r>
                        <a:rPr lang="zh-CN" sz="1800" kern="100">
                          <a:effectLst/>
                          <a:latin typeface="微软雅黑" panose="020B0503020204020204" pitchFamily="34" charset="-122"/>
                          <a:ea typeface="微软雅黑" panose="020B0503020204020204" pitchFamily="34" charset="-122"/>
                        </a:rPr>
                        <a:t>有条件通过</a:t>
                      </a:r>
                      <a:endParaRPr lang="zh-CN" sz="1800" kern="100">
                        <a:effectLst/>
                        <a:latin typeface="微软雅黑" panose="020B0503020204020204" pitchFamily="34" charset="-122"/>
                        <a:ea typeface="微软雅黑" panose="020B0503020204020204" pitchFamily="34" charset="-122"/>
                      </a:endParaRPr>
                    </a:p>
                  </a:txBody>
                  <a:tcPr marL="68583" marR="68583" marT="0" marB="0" anchor="ctr"/>
                </a:tc>
                <a:tc>
                  <a:txBody>
                    <a:bodyPr/>
                    <a:lstStyle/>
                    <a:p>
                      <a:pPr algn="l">
                        <a:lnSpc>
                          <a:spcPct val="100000"/>
                        </a:lnSpc>
                        <a:buClrTx/>
                        <a:buSzTx/>
                        <a:buNone/>
                      </a:pPr>
                      <a:r>
                        <a:rPr lang="zh-CN" altLang="en-US" sz="1600" b="1"/>
                        <a:t>满足以下条件:</a:t>
                      </a:r>
                      <a:endParaRPr lang="zh-CN" altLang="en-US" sz="1600" b="1"/>
                    </a:p>
                    <a:p>
                      <a:pPr algn="l">
                        <a:lnSpc>
                          <a:spcPct val="100000"/>
                        </a:lnSpc>
                        <a:buClrTx/>
                        <a:buSzTx/>
                        <a:buNone/>
                      </a:pPr>
                      <a:r>
                        <a:rPr lang="zh-CN" altLang="en-US" sz="1600" b="1"/>
                        <a:t>关键问题较少;</a:t>
                      </a:r>
                      <a:endParaRPr lang="zh-CN" altLang="en-US" sz="1600" b="1"/>
                    </a:p>
                  </a:txBody>
                  <a:tcPr anchor="ctr" anchorCtr="0">
                    <a:solidFill>
                      <a:schemeClr val="accent1">
                        <a:lumMod val="20000"/>
                        <a:lumOff val="80000"/>
                      </a:schemeClr>
                    </a:solidFill>
                  </a:tcPr>
                </a:tc>
                <a:tc>
                  <a:txBody>
                    <a:bodyPr/>
                    <a:lstStyle/>
                    <a:p>
                      <a:pPr>
                        <a:lnSpc>
                          <a:spcPct val="100000"/>
                        </a:lnSpc>
                        <a:buNone/>
                      </a:pPr>
                      <a:r>
                        <a:rPr lang="en-US" altLang="zh-CN" sz="1600" b="1"/>
                        <a:t>1</a:t>
                      </a:r>
                      <a:r>
                        <a:rPr lang="zh-CN" altLang="en-US" sz="1600" b="1"/>
                        <a:t>、写明“有条件通过”的“条件”</a:t>
                      </a:r>
                      <a:endParaRPr lang="zh-CN" altLang="en-US" sz="1600" b="1"/>
                    </a:p>
                    <a:p>
                      <a:pPr>
                        <a:lnSpc>
                          <a:spcPct val="100000"/>
                        </a:lnSpc>
                        <a:buNone/>
                      </a:pPr>
                      <a:r>
                        <a:rPr lang="en-US" altLang="zh-CN" sz="1600" b="1"/>
                        <a:t>2</a:t>
                      </a:r>
                      <a:r>
                        <a:rPr lang="zh-CN" altLang="en-US" sz="1600" b="1"/>
                        <a:t>、跟踪问题处理人的改进工作，直到问题确认人确认问题解决，才可通过评审。</a:t>
                      </a:r>
                      <a:endParaRPr lang="zh-CN" altLang="en-US" sz="1600" b="1"/>
                    </a:p>
                  </a:txBody>
                  <a:tcPr anchor="ctr" anchorCtr="0">
                    <a:solidFill>
                      <a:schemeClr val="accent1">
                        <a:lumMod val="20000"/>
                        <a:lumOff val="80000"/>
                      </a:schemeClr>
                    </a:solidFill>
                  </a:tcPr>
                </a:tc>
              </a:tr>
              <a:tr h="636905">
                <a:tc>
                  <a:txBody>
                    <a:bodyPr/>
                    <a:lstStyle/>
                    <a:p>
                      <a:pPr algn="just">
                        <a:spcAft>
                          <a:spcPts val="0"/>
                        </a:spcAft>
                      </a:pPr>
                      <a:r>
                        <a:rPr lang="zh-CN" sz="1800" kern="100" dirty="0">
                          <a:effectLst/>
                          <a:latin typeface="微软雅黑" panose="020B0503020204020204" pitchFamily="34" charset="-122"/>
                          <a:ea typeface="微软雅黑" panose="020B0503020204020204" pitchFamily="34" charset="-122"/>
                        </a:rPr>
                        <a:t>不通过</a:t>
                      </a:r>
                      <a:endParaRPr lang="zh-CN" sz="1800" kern="100" dirty="0">
                        <a:effectLst/>
                        <a:latin typeface="微软雅黑" panose="020B0503020204020204" pitchFamily="34" charset="-122"/>
                        <a:ea typeface="微软雅黑" panose="020B0503020204020204" pitchFamily="34" charset="-122"/>
                      </a:endParaRPr>
                    </a:p>
                  </a:txBody>
                  <a:tcPr marL="68583" marR="68583" marT="0" marB="0" anchor="ctr"/>
                </a:tc>
                <a:tc>
                  <a:txBody>
                    <a:bodyPr/>
                    <a:lstStyle/>
                    <a:p>
                      <a:pPr>
                        <a:lnSpc>
                          <a:spcPct val="100000"/>
                        </a:lnSpc>
                        <a:buNone/>
                      </a:pPr>
                      <a:r>
                        <a:rPr lang="zh-CN" altLang="en-US" sz="1600" b="1">
                          <a:sym typeface="+mn-ea"/>
                        </a:rPr>
                        <a:t>满足下列条件之一:</a:t>
                      </a:r>
                      <a:endParaRPr lang="zh-CN" altLang="en-US" sz="1600" b="1"/>
                    </a:p>
                    <a:p>
                      <a:pPr>
                        <a:lnSpc>
                          <a:spcPct val="100000"/>
                        </a:lnSpc>
                        <a:buNone/>
                      </a:pPr>
                      <a:r>
                        <a:rPr lang="zh-CN" altLang="en-US" sz="1600" b="1">
                          <a:sym typeface="+mn-ea"/>
                        </a:rPr>
                        <a:t>关键问题和一般问题都较多</a:t>
                      </a:r>
                      <a:endParaRPr lang="zh-CN" altLang="en-US" sz="1600" b="1">
                        <a:sym typeface="+mn-ea"/>
                      </a:endParaRPr>
                    </a:p>
                  </a:txBody>
                  <a:tcPr anchor="ctr" anchorCtr="0"/>
                </a:tc>
                <a:tc>
                  <a:txBody>
                    <a:bodyPr/>
                    <a:lstStyle/>
                    <a:p>
                      <a:pPr>
                        <a:lnSpc>
                          <a:spcPct val="100000"/>
                        </a:lnSpc>
                        <a:buNone/>
                      </a:pPr>
                      <a:r>
                        <a:rPr lang="zh-CN" altLang="en-US" sz="1600" b="1"/>
                        <a:t>问题责任人进行改进，确定问题验证时间和方</a:t>
                      </a:r>
                      <a:endParaRPr lang="zh-CN" altLang="en-US" sz="1600" b="1"/>
                    </a:p>
                    <a:p>
                      <a:pPr>
                        <a:lnSpc>
                          <a:spcPct val="100000"/>
                        </a:lnSpc>
                        <a:buNone/>
                      </a:pPr>
                      <a:r>
                        <a:rPr lang="zh-CN" altLang="en-US" sz="1600" b="1"/>
                        <a:t>式，直到通过为止。</a:t>
                      </a:r>
                      <a:endParaRPr lang="zh-CN" altLang="en-US" sz="1600" b="1"/>
                    </a:p>
                  </a:txBody>
                  <a:tcPr anchor="ctr" anchorCtr="0"/>
                </a:tc>
              </a:tr>
            </a:tbl>
          </a:graphicData>
        </a:graphic>
      </p:graphicFrame>
      <p:sp>
        <p:nvSpPr>
          <p:cNvPr id="8" name="Rectangle 1"/>
          <p:cNvSpPr>
            <a:spLocks noChangeArrowheads="1"/>
          </p:cNvSpPr>
          <p:nvPr/>
        </p:nvSpPr>
        <p:spPr bwMode="auto">
          <a:xfrm>
            <a:off x="463696" y="2883214"/>
            <a:ext cx="6353029" cy="400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4" tIns="45722" rIns="91444" bIns="45722" numCol="1" anchor="ctr" anchorCtr="0" compatLnSpc="1">
            <a:spAutoFit/>
          </a:bodyPr>
          <a:lstStyle/>
          <a:p>
            <a:pPr indent="266700" defTabSz="914400" fontAlgn="base">
              <a:spcBef>
                <a:spcPct val="0"/>
              </a:spcBef>
              <a:spcAft>
                <a:spcPct val="0"/>
              </a:spcAft>
            </a:pPr>
            <a:r>
              <a:rPr lang="zh-CN" altLang="zh-CN" sz="2000" b="1" dirty="0">
                <a:latin typeface="微软雅黑" panose="020B0503020204020204" pitchFamily="34" charset="-122"/>
                <a:ea typeface="微软雅黑" panose="020B0503020204020204" pitchFamily="34" charset="-122"/>
                <a:cs typeface="Arial" panose="020B0604020202020204" pitchFamily="34" charset="0"/>
              </a:rPr>
              <a:t>评审结论一般有：</a:t>
            </a:r>
            <a:r>
              <a:rPr lang="zh-CN" altLang="zh-CN" sz="2000" b="1" dirty="0">
                <a:solidFill>
                  <a:srgbClr val="FF0000"/>
                </a:solidFill>
                <a:latin typeface="微软雅黑" panose="020B0503020204020204" pitchFamily="34" charset="-122"/>
                <a:ea typeface="微软雅黑" panose="020B0503020204020204" pitchFamily="34" charset="-122"/>
                <a:cs typeface="Arial" panose="020B0604020202020204" pitchFamily="34" charset="0"/>
              </a:rPr>
              <a:t>通过，有条件通过，不通过</a:t>
            </a:r>
            <a:r>
              <a:rPr lang="zh-CN" altLang="zh-CN" sz="2000" b="1" dirty="0">
                <a:latin typeface="微软雅黑" panose="020B0503020204020204" pitchFamily="34" charset="-122"/>
                <a:ea typeface="微软雅黑" panose="020B0503020204020204" pitchFamily="34" charset="-122"/>
                <a:cs typeface="Arial" panose="020B0604020202020204" pitchFamily="34" charset="0"/>
              </a:rPr>
              <a:t>三种。</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463550" y="893445"/>
            <a:ext cx="11186795" cy="1753235"/>
          </a:xfrm>
          <a:prstGeom prst="rect">
            <a:avLst/>
          </a:prstGeom>
          <a:noFill/>
        </p:spPr>
        <p:txBody>
          <a:bodyPr wrap="square" rtlCol="0" anchor="t">
            <a:spAutoFit/>
          </a:bodyPr>
          <a:p>
            <a:pPr>
              <a:lnSpc>
                <a:spcPct val="150000"/>
              </a:lnSpc>
            </a:pPr>
            <a:r>
              <a:rPr lang="zh-CN" altLang="zh-CN" sz="1800" dirty="0">
                <a:latin typeface="微软雅黑" panose="020B0503020204020204" pitchFamily="34" charset="-122"/>
                <a:ea typeface="微软雅黑" panose="020B0503020204020204" pitchFamily="34" charset="-122"/>
                <a:sym typeface="+mn-ea"/>
              </a:rPr>
              <a:t>评审发现的问题一般分为</a:t>
            </a:r>
            <a:r>
              <a:rPr lang="zh-CN" altLang="zh-CN" sz="1800" dirty="0">
                <a:solidFill>
                  <a:srgbClr val="FF0000"/>
                </a:solidFill>
                <a:latin typeface="微软雅黑" panose="020B0503020204020204" pitchFamily="34" charset="-122"/>
                <a:ea typeface="微软雅黑" panose="020B0503020204020204" pitchFamily="34" charset="-122"/>
                <a:sym typeface="+mn-ea"/>
              </a:rPr>
              <a:t>关键问题、一般问题、建议问题。</a:t>
            </a:r>
            <a:r>
              <a:rPr lang="zh-CN" altLang="zh-CN" sz="1800" dirty="0">
                <a:latin typeface="微软雅黑" panose="020B0503020204020204" pitchFamily="34" charset="-122"/>
                <a:ea typeface="微软雅黑" panose="020B0503020204020204" pitchFamily="34" charset="-122"/>
                <a:sym typeface="+mn-ea"/>
              </a:rPr>
              <a:t>一般由评审组判断是否为关键问题：</a:t>
            </a:r>
            <a:endParaRPr lang="zh-CN" altLang="zh-CN" sz="1800" dirty="0">
              <a:latin typeface="微软雅黑" panose="020B0503020204020204" pitchFamily="34" charset="-122"/>
              <a:ea typeface="微软雅黑" panose="020B0503020204020204" pitchFamily="34" charset="-122"/>
            </a:endParaRPr>
          </a:p>
          <a:p>
            <a:pPr marL="285750" lvl="0" indent="-285750">
              <a:lnSpc>
                <a:spcPct val="150000"/>
              </a:lnSpc>
              <a:buFont typeface="Arial" panose="020B0604020202020204" pitchFamily="34" charset="0"/>
              <a:buChar char="•"/>
            </a:pPr>
            <a:r>
              <a:rPr lang="zh-CN" altLang="zh-CN" sz="1800" b="1" dirty="0">
                <a:solidFill>
                  <a:srgbClr val="FF0000"/>
                </a:solidFill>
                <a:latin typeface="微软雅黑" panose="020B0503020204020204" pitchFamily="34" charset="-122"/>
                <a:ea typeface="微软雅黑" panose="020B0503020204020204" pitchFamily="34" charset="-122"/>
                <a:sym typeface="+mn-ea"/>
              </a:rPr>
              <a:t>关键问题</a:t>
            </a:r>
            <a:r>
              <a:rPr lang="zh-CN" altLang="zh-CN" sz="1800" dirty="0">
                <a:solidFill>
                  <a:srgbClr val="FF0000"/>
                </a:solidFill>
                <a:latin typeface="微软雅黑" panose="020B0503020204020204" pitchFamily="34" charset="-122"/>
                <a:ea typeface="微软雅黑" panose="020B0503020204020204" pitchFamily="34" charset="-122"/>
                <a:sym typeface="+mn-ea"/>
              </a:rPr>
              <a:t>：</a:t>
            </a:r>
            <a:r>
              <a:rPr lang="zh-CN" altLang="zh-CN" sz="1800" dirty="0">
                <a:latin typeface="微软雅黑" panose="020B0503020204020204" pitchFamily="34" charset="-122"/>
                <a:ea typeface="微软雅黑" panose="020B0503020204020204" pitchFamily="34" charset="-122"/>
                <a:sym typeface="+mn-ea"/>
              </a:rPr>
              <a:t>方向性、结构性错误、对结果产生关键作用的问题等；</a:t>
            </a:r>
            <a:r>
              <a:rPr lang="en-US" altLang="zh-CN" sz="1800" dirty="0">
                <a:latin typeface="微软雅黑" panose="020B0503020204020204" pitchFamily="34" charset="-122"/>
                <a:ea typeface="微软雅黑" panose="020B0503020204020204" pitchFamily="34" charset="-122"/>
                <a:sym typeface="+mn-ea"/>
              </a:rPr>
              <a:t>3</a:t>
            </a:r>
            <a:r>
              <a:rPr lang="zh-CN" altLang="en-US" sz="1800" dirty="0">
                <a:latin typeface="微软雅黑" panose="020B0503020204020204" pitchFamily="34" charset="-122"/>
                <a:ea typeface="微软雅黑" panose="020B0503020204020204" pitchFamily="34" charset="-122"/>
                <a:sym typeface="+mn-ea"/>
              </a:rPr>
              <a:t>分</a:t>
            </a:r>
            <a:endParaRPr lang="zh-CN" altLang="zh-CN" sz="1800" dirty="0">
              <a:latin typeface="微软雅黑" panose="020B0503020204020204" pitchFamily="34" charset="-122"/>
              <a:ea typeface="微软雅黑" panose="020B0503020204020204" pitchFamily="34" charset="-122"/>
            </a:endParaRPr>
          </a:p>
          <a:p>
            <a:pPr marL="285750" lvl="0" indent="-285750">
              <a:lnSpc>
                <a:spcPct val="150000"/>
              </a:lnSpc>
              <a:buFont typeface="Arial" panose="020B0604020202020204" pitchFamily="34" charset="0"/>
              <a:buChar char="•"/>
            </a:pPr>
            <a:r>
              <a:rPr lang="zh-CN" altLang="zh-CN" sz="1800" b="1" dirty="0">
                <a:solidFill>
                  <a:srgbClr val="FF0000"/>
                </a:solidFill>
                <a:latin typeface="微软雅黑" panose="020B0503020204020204" pitchFamily="34" charset="-122"/>
                <a:ea typeface="微软雅黑" panose="020B0503020204020204" pitchFamily="34" charset="-122"/>
                <a:sym typeface="+mn-ea"/>
              </a:rPr>
              <a:t>一般问题</a:t>
            </a:r>
            <a:r>
              <a:rPr lang="zh-CN" altLang="zh-CN" sz="1800" dirty="0">
                <a:solidFill>
                  <a:srgbClr val="FF0000"/>
                </a:solidFill>
                <a:latin typeface="微软雅黑" panose="020B0503020204020204" pitchFamily="34" charset="-122"/>
                <a:ea typeface="微软雅黑" panose="020B0503020204020204" pitchFamily="34" charset="-122"/>
                <a:sym typeface="+mn-ea"/>
              </a:rPr>
              <a:t>：</a:t>
            </a:r>
            <a:r>
              <a:rPr lang="zh-CN" altLang="zh-CN" sz="1800" dirty="0">
                <a:latin typeface="微软雅黑" panose="020B0503020204020204" pitchFamily="34" charset="-122"/>
                <a:ea typeface="微软雅黑" panose="020B0503020204020204" pitchFamily="34" charset="-122"/>
                <a:sym typeface="+mn-ea"/>
              </a:rPr>
              <a:t>重要程度一般/轻微的一些问题；</a:t>
            </a:r>
            <a:r>
              <a:rPr lang="en-US" altLang="zh-CN" sz="1800" dirty="0">
                <a:latin typeface="微软雅黑" panose="020B0503020204020204" pitchFamily="34" charset="-122"/>
                <a:ea typeface="微软雅黑" panose="020B0503020204020204" pitchFamily="34" charset="-122"/>
                <a:sym typeface="+mn-ea"/>
              </a:rPr>
              <a:t>1</a:t>
            </a:r>
            <a:r>
              <a:rPr lang="zh-CN" altLang="en-US" sz="1800" dirty="0">
                <a:latin typeface="微软雅黑" panose="020B0503020204020204" pitchFamily="34" charset="-122"/>
                <a:ea typeface="微软雅黑" panose="020B0503020204020204" pitchFamily="34" charset="-122"/>
                <a:sym typeface="+mn-ea"/>
              </a:rPr>
              <a:t>分</a:t>
            </a:r>
            <a:endParaRPr lang="zh-CN" altLang="zh-CN" sz="1800" dirty="0">
              <a:latin typeface="微软雅黑" panose="020B0503020204020204" pitchFamily="34" charset="-122"/>
              <a:ea typeface="微软雅黑" panose="020B0503020204020204" pitchFamily="34" charset="-122"/>
            </a:endParaRPr>
          </a:p>
          <a:p>
            <a:pPr marL="285750" lvl="0" indent="-285750">
              <a:lnSpc>
                <a:spcPct val="150000"/>
              </a:lnSpc>
              <a:buFont typeface="Arial" panose="020B0604020202020204" pitchFamily="34" charset="0"/>
              <a:buChar char="•"/>
            </a:pPr>
            <a:r>
              <a:rPr lang="zh-CN" altLang="zh-CN" sz="1800" b="1" dirty="0">
                <a:solidFill>
                  <a:srgbClr val="FF0000"/>
                </a:solidFill>
                <a:latin typeface="微软雅黑" panose="020B0503020204020204" pitchFamily="34" charset="-122"/>
                <a:ea typeface="微软雅黑" panose="020B0503020204020204" pitchFamily="34" charset="-122"/>
                <a:sym typeface="+mn-ea"/>
              </a:rPr>
              <a:t>建议问题：</a:t>
            </a:r>
            <a:r>
              <a:rPr lang="zh-CN" altLang="zh-CN" sz="1800" dirty="0">
                <a:latin typeface="微软雅黑" panose="020B0503020204020204" pitchFamily="34" charset="-122"/>
                <a:ea typeface="微软雅黑" panose="020B0503020204020204" pitchFamily="34" charset="-122"/>
                <a:sym typeface="+mn-ea"/>
              </a:rPr>
              <a:t>优化、改善等建议、文档编制格式类低级问题；</a:t>
            </a:r>
            <a:r>
              <a:rPr lang="en-US" altLang="zh-CN" sz="1800" dirty="0">
                <a:latin typeface="微软雅黑" panose="020B0503020204020204" pitchFamily="34" charset="-122"/>
                <a:ea typeface="微软雅黑" panose="020B0503020204020204" pitchFamily="34" charset="-122"/>
                <a:sym typeface="+mn-ea"/>
              </a:rPr>
              <a:t>0.5</a:t>
            </a:r>
            <a:r>
              <a:rPr lang="zh-CN" altLang="en-US" sz="1800" dirty="0">
                <a:latin typeface="微软雅黑" panose="020B0503020204020204" pitchFamily="34" charset="-122"/>
                <a:ea typeface="微软雅黑" panose="020B0503020204020204" pitchFamily="34" charset="-122"/>
                <a:sym typeface="+mn-ea"/>
              </a:rPr>
              <a:t>分</a:t>
            </a:r>
            <a:endParaRPr lang="zh-CN" altLang="en-US" sz="1800" dirty="0">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案例</a:t>
            </a:r>
            <a:r>
              <a:rPr lang="en-US" altLang="zh-CN" dirty="0" smtClean="0">
                <a:solidFill>
                  <a:srgbClr val="FF0000"/>
                </a:solidFill>
              </a:rPr>
              <a:t>1</a:t>
            </a:r>
            <a:endParaRPr dirty="0" smtClean="0">
              <a:solidFill>
                <a:srgbClr val="FF0000"/>
              </a:solidFill>
            </a:endParaRPr>
          </a:p>
        </p:txBody>
      </p:sp>
      <p:sp>
        <p:nvSpPr>
          <p:cNvPr id="2" name="文本框 1"/>
          <p:cNvSpPr txBox="1"/>
          <p:nvPr/>
        </p:nvSpPr>
        <p:spPr>
          <a:xfrm>
            <a:off x="951865" y="929640"/>
            <a:ext cx="9763760" cy="3200400"/>
          </a:xfrm>
          <a:prstGeom prst="rect">
            <a:avLst/>
          </a:prstGeom>
          <a:noFill/>
        </p:spPr>
        <p:txBody>
          <a:bodyPr wrap="square" rtlCol="0" anchor="t">
            <a:noAutofit/>
          </a:bodyPr>
          <a:p>
            <a:pPr lvl="0" rtl="0">
              <a:lnSpc>
                <a:spcPct val="150000"/>
              </a:lnSpc>
              <a:spcBef>
                <a:spcPct val="0"/>
              </a:spcBef>
              <a:spcAft>
                <a:spcPct val="35000"/>
              </a:spcAft>
            </a:pPr>
            <a:r>
              <a:rPr lang="zh-CN" altLang="en-US" sz="1800" dirty="0" smtClean="0">
                <a:latin typeface="微软雅黑" panose="020B0503020204020204" pitchFamily="34" charset="-122"/>
                <a:ea typeface="微软雅黑" panose="020B0503020204020204" pitchFamily="34" charset="-122"/>
                <a:sym typeface="+mn-ea"/>
              </a:rPr>
              <a:t>技术研究院开发项目（背景）</a:t>
            </a:r>
            <a:endParaRPr lang="zh-CN" altLang="en-US"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完成了设计架构编制工作，并于</a:t>
            </a:r>
            <a:r>
              <a:rPr lang="en-US" sz="1800" dirty="0" smtClean="0">
                <a:latin typeface="微软雅黑" panose="020B0503020204020204" pitchFamily="34" charset="-122"/>
                <a:ea typeface="微软雅黑" panose="020B0503020204020204" pitchFamily="34" charset="-122"/>
                <a:sym typeface="+mn-ea"/>
              </a:rPr>
              <a:t>2025.10.19</a:t>
            </a:r>
            <a:r>
              <a:rPr lang="zh-CN" altLang="en-US" sz="1800" dirty="0" smtClean="0">
                <a:latin typeface="微软雅黑" panose="020B0503020204020204" pitchFamily="34" charset="-122"/>
                <a:ea typeface="微软雅黑" panose="020B0503020204020204" pitchFamily="34" charset="-122"/>
                <a:sym typeface="+mn-ea"/>
              </a:rPr>
              <a:t>中午</a:t>
            </a:r>
            <a:r>
              <a:rPr lang="zh-CN" sz="1800" dirty="0" smtClean="0">
                <a:latin typeface="微软雅黑" panose="020B0503020204020204" pitchFamily="34" charset="-122"/>
                <a:ea typeface="微软雅黑" panose="020B0503020204020204" pitchFamily="34" charset="-122"/>
                <a:sym typeface="+mn-ea"/>
              </a:rPr>
              <a:t>整理好项目详细设计文档（文档规模为</a:t>
            </a:r>
            <a:r>
              <a:rPr lang="en-US" sz="1800" dirty="0" smtClean="0">
                <a:latin typeface="微软雅黑" panose="020B0503020204020204" pitchFamily="34" charset="-122"/>
                <a:ea typeface="微软雅黑" panose="020B0503020204020204" pitchFamily="34" charset="-122"/>
                <a:sym typeface="+mn-ea"/>
              </a:rPr>
              <a:t>70</a:t>
            </a:r>
            <a:r>
              <a:rPr lang="zh-CN" sz="1800" dirty="0" smtClean="0">
                <a:latin typeface="微软雅黑" panose="020B0503020204020204" pitchFamily="34" charset="-122"/>
                <a:ea typeface="微软雅黑" panose="020B0503020204020204" pitchFamily="34" charset="-122"/>
                <a:sym typeface="+mn-ea"/>
              </a:rPr>
              <a:t>页），计划召开设计评审会。</a:t>
            </a:r>
            <a:endParaRPr lang="zh-CN"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接下来项目经理建群通知了分管领导，项目组成员及相关专家，于</a:t>
            </a:r>
            <a:r>
              <a:rPr lang="en-US" sz="1800" dirty="0" smtClean="0">
                <a:latin typeface="微软雅黑" panose="020B0503020204020204" pitchFamily="34" charset="-122"/>
                <a:ea typeface="微软雅黑" panose="020B0503020204020204" pitchFamily="34" charset="-122"/>
                <a:sym typeface="+mn-ea"/>
              </a:rPr>
              <a:t>2025.10.20</a:t>
            </a:r>
            <a:r>
              <a:rPr lang="zh-CN" sz="1800" dirty="0" smtClean="0">
                <a:latin typeface="微软雅黑" panose="020B0503020204020204" pitchFamily="34" charset="-122"/>
                <a:ea typeface="微软雅黑" panose="020B0503020204020204" pitchFamily="34" charset="-122"/>
                <a:sym typeface="+mn-ea"/>
              </a:rPr>
              <a:t>上午</a:t>
            </a:r>
            <a:r>
              <a:rPr lang="en-US" sz="1800" dirty="0" smtClean="0">
                <a:latin typeface="微软雅黑" panose="020B0503020204020204" pitchFamily="34" charset="-122"/>
                <a:ea typeface="微软雅黑" panose="020B0503020204020204" pitchFamily="34" charset="-122"/>
                <a:sym typeface="+mn-ea"/>
              </a:rPr>
              <a:t>9:00</a:t>
            </a:r>
            <a:r>
              <a:rPr lang="zh-CN" sz="1800" dirty="0" smtClean="0">
                <a:latin typeface="微软雅黑" panose="020B0503020204020204" pitchFamily="34" charset="-122"/>
                <a:ea typeface="微软雅黑" panose="020B0503020204020204" pitchFamily="34" charset="-122"/>
                <a:sym typeface="+mn-ea"/>
              </a:rPr>
              <a:t>在</a:t>
            </a:r>
            <a:r>
              <a:rPr lang="en-US" sz="1800" dirty="0" smtClean="0">
                <a:latin typeface="微软雅黑" panose="020B0503020204020204" pitchFamily="34" charset="-122"/>
                <a:ea typeface="微软雅黑" panose="020B0503020204020204" pitchFamily="34" charset="-122"/>
                <a:sym typeface="+mn-ea"/>
              </a:rPr>
              <a:t>BXXX</a:t>
            </a:r>
            <a:r>
              <a:rPr lang="zh-CN" sz="1800" dirty="0" smtClean="0">
                <a:latin typeface="微软雅黑" panose="020B0503020204020204" pitchFamily="34" charset="-122"/>
                <a:ea typeface="微软雅黑" panose="020B0503020204020204" pitchFamily="34" charset="-122"/>
                <a:sym typeface="+mn-ea"/>
              </a:rPr>
              <a:t>会议室开会。</a:t>
            </a:r>
            <a:endParaRPr lang="zh-CN"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通知发出后，分管领导提出，同时间段会议有冲突，已经安排了其他会议。之后项目经理调整会议时间改为</a:t>
            </a:r>
            <a:r>
              <a:rPr lang="en-US" sz="1800" dirty="0" smtClean="0">
                <a:latin typeface="微软雅黑" panose="020B0503020204020204" pitchFamily="34" charset="-122"/>
                <a:ea typeface="微软雅黑" panose="020B0503020204020204" pitchFamily="34" charset="-122"/>
                <a:sym typeface="+mn-ea"/>
              </a:rPr>
              <a:t>2025.10.20</a:t>
            </a:r>
            <a:r>
              <a:rPr lang="zh-CN" sz="1800" dirty="0" smtClean="0">
                <a:latin typeface="微软雅黑" panose="020B0503020204020204" pitchFamily="34" charset="-122"/>
                <a:ea typeface="微软雅黑" panose="020B0503020204020204" pitchFamily="34" charset="-122"/>
                <a:sym typeface="+mn-ea"/>
              </a:rPr>
              <a:t>下午</a:t>
            </a:r>
            <a:r>
              <a:rPr lang="en-US" sz="1800" dirty="0" smtClean="0">
                <a:latin typeface="微软雅黑" panose="020B0503020204020204" pitchFamily="34" charset="-122"/>
                <a:ea typeface="微软雅黑" panose="020B0503020204020204" pitchFamily="34" charset="-122"/>
                <a:sym typeface="+mn-ea"/>
              </a:rPr>
              <a:t>1:00</a:t>
            </a:r>
            <a:r>
              <a:rPr lang="zh-CN" sz="1800" dirty="0" smtClean="0">
                <a:latin typeface="微软雅黑" panose="020B0503020204020204" pitchFamily="34" charset="-122"/>
                <a:ea typeface="微软雅黑" panose="020B0503020204020204" pitchFamily="34" charset="-122"/>
                <a:sym typeface="+mn-ea"/>
              </a:rPr>
              <a:t>召开会议。</a:t>
            </a:r>
            <a:endParaRPr lang="zh-CN"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评审会议顺利进行，会后三天后项目经理整理了相关意见并修改了设计文档直接上传配置库，项目组进入了开发阶段。</a:t>
            </a:r>
            <a:endParaRPr lang="zh-CN" sz="1800" dirty="0" smtClean="0">
              <a:latin typeface="微软雅黑" panose="020B0503020204020204" pitchFamily="34" charset="-122"/>
              <a:ea typeface="微软雅黑" panose="020B0503020204020204" pitchFamily="34" charset="-122"/>
              <a:sym typeface="+mn-ea"/>
            </a:endParaRPr>
          </a:p>
          <a:p>
            <a:pPr lvl="0" indent="0" rtl="0">
              <a:lnSpc>
                <a:spcPct val="100000"/>
              </a:lnSpc>
              <a:spcBef>
                <a:spcPct val="0"/>
              </a:spcBef>
              <a:spcAft>
                <a:spcPct val="35000"/>
              </a:spcAft>
              <a:buFont typeface="+mj-lt"/>
              <a:buNone/>
            </a:pPr>
            <a:endParaRPr lang="zh-CN" altLang="en-US" sz="1800" dirty="0">
              <a:solidFill>
                <a:schemeClr val="tx1"/>
              </a:solidFill>
              <a:latin typeface="+mn-ea"/>
              <a:ea typeface="+mn-ea"/>
            </a:endParaRPr>
          </a:p>
          <a:p>
            <a:pPr lvl="0" indent="0" rtl="0">
              <a:lnSpc>
                <a:spcPct val="100000"/>
              </a:lnSpc>
              <a:spcBef>
                <a:spcPct val="0"/>
              </a:spcBef>
              <a:spcAft>
                <a:spcPct val="35000"/>
              </a:spcAft>
              <a:buFont typeface="+mj-lt"/>
              <a:buNone/>
            </a:pPr>
            <a:endParaRPr lang="en-US" altLang="zh-CN" sz="1800" b="1" dirty="0" smtClean="0">
              <a:solidFill>
                <a:schemeClr val="tx1"/>
              </a:solidFill>
              <a:latin typeface="微软雅黑" panose="020B0503020204020204" pitchFamily="34" charset="-122"/>
              <a:ea typeface="微软雅黑" panose="020B0503020204020204" pitchFamily="34" charset="-122"/>
            </a:endParaRPr>
          </a:p>
          <a:p>
            <a:pPr lvl="0" indent="0" rtl="0">
              <a:lnSpc>
                <a:spcPct val="100000"/>
              </a:lnSpc>
              <a:spcBef>
                <a:spcPct val="0"/>
              </a:spcBef>
              <a:spcAft>
                <a:spcPct val="35000"/>
              </a:spcAft>
              <a:buFont typeface="+mj-lt"/>
              <a:buNone/>
            </a:pPr>
            <a:endParaRPr lang="zh-CN" altLang="en-US" sz="1800" dirty="0">
              <a:solidFill>
                <a:schemeClr val="tx1"/>
              </a:solidFill>
              <a:latin typeface="+mn-ea"/>
              <a:ea typeface="+mn-ea"/>
            </a:endParaRPr>
          </a:p>
          <a:p>
            <a:pPr lvl="0" rtl="0">
              <a:lnSpc>
                <a:spcPct val="100000"/>
              </a:lnSpc>
              <a:spcBef>
                <a:spcPct val="0"/>
              </a:spcBef>
              <a:spcAft>
                <a:spcPct val="35000"/>
              </a:spcAft>
            </a:pPr>
            <a:endParaRPr lang="en-US" altLang="zh-CN" sz="1800" dirty="0" smtClean="0">
              <a:solidFill>
                <a:schemeClr val="tx1"/>
              </a:solidFill>
              <a:latin typeface="微软雅黑" panose="020B0503020204020204" pitchFamily="34" charset="-122"/>
              <a:ea typeface="微软雅黑" panose="020B0503020204020204" pitchFamily="34" charset="-122"/>
            </a:endParaRPr>
          </a:p>
          <a:p>
            <a:pPr lvl="0" rtl="0">
              <a:lnSpc>
                <a:spcPct val="100000"/>
              </a:lnSpc>
              <a:spcBef>
                <a:spcPct val="0"/>
              </a:spcBef>
              <a:spcAft>
                <a:spcPct val="35000"/>
              </a:spcAft>
            </a:pPr>
            <a:endParaRPr lang="en-US" altLang="zh-CN" sz="1800" dirty="0" smtClean="0">
              <a:solidFill>
                <a:schemeClr val="tx1"/>
              </a:solidFill>
              <a:latin typeface="微软雅黑" panose="020B0503020204020204" pitchFamily="34" charset="-122"/>
              <a:ea typeface="微软雅黑" panose="020B0503020204020204" pitchFamily="34" charset="-122"/>
            </a:endParaRPr>
          </a:p>
          <a:p>
            <a:pPr lvl="0" rtl="0">
              <a:lnSpc>
                <a:spcPct val="100000"/>
              </a:lnSpc>
              <a:spcBef>
                <a:spcPct val="0"/>
              </a:spcBef>
              <a:spcAft>
                <a:spcPct val="35000"/>
              </a:spcAft>
            </a:pPr>
            <a:endParaRPr lang="zh-CN" sz="1800" dirty="0" smtClean="0">
              <a:latin typeface="微软雅黑" panose="020B0503020204020204" pitchFamily="34" charset="-122"/>
              <a:ea typeface="微软雅黑" panose="020B0503020204020204" pitchFamily="34" charset="-122"/>
              <a:sym typeface="+mn-ea"/>
            </a:endParaRPr>
          </a:p>
          <a:p>
            <a:pPr lvl="0" rtl="0">
              <a:lnSpc>
                <a:spcPct val="100000"/>
              </a:lnSpc>
              <a:spcBef>
                <a:spcPct val="0"/>
              </a:spcBef>
              <a:spcAft>
                <a:spcPct val="35000"/>
              </a:spcAft>
            </a:pPr>
            <a:endParaRPr lang="en-US" altLang="zh-CN" sz="1800" dirty="0" smtClean="0">
              <a:solidFill>
                <a:schemeClr val="tx1"/>
              </a:solidFill>
              <a:latin typeface="微软雅黑" panose="020B0503020204020204" pitchFamily="34" charset="-122"/>
              <a:ea typeface="微软雅黑" panose="020B0503020204020204" pitchFamily="34" charset="-122"/>
            </a:endParaRPr>
          </a:p>
          <a:p>
            <a:pPr lvl="0" rtl="0">
              <a:lnSpc>
                <a:spcPct val="100000"/>
              </a:lnSpc>
              <a:spcBef>
                <a:spcPct val="0"/>
              </a:spcBef>
              <a:spcAft>
                <a:spcPct val="35000"/>
              </a:spcAft>
            </a:pPr>
            <a:endParaRPr lang="zh-CN" altLang="en-US" sz="1800" dirty="0" smtClean="0">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案例</a:t>
            </a:r>
            <a:r>
              <a:rPr lang="en-US" altLang="zh-CN" dirty="0" smtClean="0">
                <a:solidFill>
                  <a:srgbClr val="FF0000"/>
                </a:solidFill>
              </a:rPr>
              <a:t>1</a:t>
            </a:r>
            <a:r>
              <a:rPr dirty="0" smtClean="0">
                <a:solidFill>
                  <a:srgbClr val="FF0000"/>
                </a:solidFill>
              </a:rPr>
              <a:t>分析</a:t>
            </a:r>
            <a:endParaRPr dirty="0" smtClean="0">
              <a:solidFill>
                <a:srgbClr val="FF0000"/>
              </a:solidFill>
            </a:endParaRPr>
          </a:p>
        </p:txBody>
      </p:sp>
      <p:sp>
        <p:nvSpPr>
          <p:cNvPr id="4" name="文本框 3"/>
          <p:cNvSpPr txBox="1"/>
          <p:nvPr/>
        </p:nvSpPr>
        <p:spPr>
          <a:xfrm>
            <a:off x="951865" y="984250"/>
            <a:ext cx="9797415" cy="3395980"/>
          </a:xfrm>
          <a:prstGeom prst="rect">
            <a:avLst/>
          </a:prstGeom>
          <a:noFill/>
        </p:spPr>
        <p:txBody>
          <a:bodyPr wrap="square" rtlCol="0">
            <a:spAutoFit/>
          </a:bodyPr>
          <a:p>
            <a:pPr lvl="0" indent="0" rtl="0">
              <a:lnSpc>
                <a:spcPct val="150000"/>
              </a:lnSpc>
              <a:spcBef>
                <a:spcPct val="0"/>
              </a:spcBef>
              <a:spcAft>
                <a:spcPct val="35000"/>
              </a:spcAft>
              <a:buFont typeface="+mj-lt"/>
              <a:buNone/>
            </a:pPr>
            <a:r>
              <a:rPr lang="zh-CN" sz="1800" b="1" dirty="0" smtClean="0">
                <a:latin typeface="微软雅黑" panose="020B0503020204020204" pitchFamily="34" charset="-122"/>
                <a:ea typeface="微软雅黑" panose="020B0503020204020204" pitchFamily="34" charset="-122"/>
                <a:sym typeface="+mn-ea"/>
              </a:rPr>
              <a:t>问题梳理</a:t>
            </a:r>
            <a:endParaRPr lang="zh-CN" sz="1800" b="1"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mn-ea"/>
                <a:sym typeface="+mn-ea"/>
              </a:rPr>
              <a:t>设计文档规模较大，因此需要提前</a:t>
            </a:r>
            <a:r>
              <a:rPr lang="en-US" sz="1800" dirty="0" smtClean="0">
                <a:solidFill>
                  <a:srgbClr val="FF0000"/>
                </a:solidFill>
                <a:latin typeface="+mn-ea"/>
                <a:sym typeface="+mn-ea"/>
              </a:rPr>
              <a:t>2</a:t>
            </a:r>
            <a:r>
              <a:rPr lang="zh-CN" sz="1800" dirty="0" smtClean="0">
                <a:solidFill>
                  <a:srgbClr val="FF0000"/>
                </a:solidFill>
                <a:latin typeface="+mn-ea"/>
                <a:sym typeface="+mn-ea"/>
              </a:rPr>
              <a:t>天</a:t>
            </a:r>
            <a:r>
              <a:rPr lang="zh-CN" sz="1800" dirty="0" smtClean="0">
                <a:latin typeface="+mn-ea"/>
                <a:sym typeface="+mn-ea"/>
              </a:rPr>
              <a:t>以上将资料发出，发起预审流程，让参会人员有时间进行文档消化。</a:t>
            </a:r>
            <a:endParaRPr lang="zh-CN" sz="1800" dirty="0" smtClean="0">
              <a:latin typeface="+mn-ea"/>
              <a:sym typeface="+mn-ea"/>
            </a:endParaRPr>
          </a:p>
          <a:p>
            <a:pPr marL="342900" lvl="0" indent="-342900" rtl="0">
              <a:lnSpc>
                <a:spcPct val="150000"/>
              </a:lnSpc>
              <a:spcBef>
                <a:spcPct val="0"/>
              </a:spcBef>
              <a:spcAft>
                <a:spcPct val="35000"/>
              </a:spcAft>
              <a:buFont typeface="+mj-lt"/>
              <a:buAutoNum type="arabicPeriod"/>
            </a:pPr>
            <a:r>
              <a:rPr lang="zh-CN" altLang="en-US" sz="1800" dirty="0" smtClean="0">
                <a:latin typeface="+mn-ea"/>
                <a:sym typeface="+mn-ea"/>
              </a:rPr>
              <a:t>进行会议时间预约时，应该提前先与相关领导确定好时间后再发出会议通知，避免出现会议冲突，影响会议开展。</a:t>
            </a:r>
            <a:endParaRPr lang="zh-CN" altLang="en-US" sz="1800" dirty="0" smtClean="0">
              <a:latin typeface="+mn-ea"/>
              <a:sym typeface="+mn-ea"/>
            </a:endParaRPr>
          </a:p>
          <a:p>
            <a:pPr marL="342900" lvl="0" indent="-342900" rtl="0">
              <a:lnSpc>
                <a:spcPct val="150000"/>
              </a:lnSpc>
              <a:spcBef>
                <a:spcPct val="0"/>
              </a:spcBef>
              <a:spcAft>
                <a:spcPct val="35000"/>
              </a:spcAft>
              <a:buFont typeface="+mj-lt"/>
              <a:buAutoNum type="arabicPeriod"/>
            </a:pPr>
            <a:r>
              <a:rPr lang="zh-CN" altLang="en-US" sz="1800" dirty="0" smtClean="0">
                <a:latin typeface="+mn-ea"/>
                <a:sym typeface="+mn-ea"/>
              </a:rPr>
              <a:t>评审会议结束后，相关责任人应该在</a:t>
            </a:r>
            <a:r>
              <a:rPr lang="zh-CN" altLang="en-US" sz="1800" dirty="0" smtClean="0">
                <a:solidFill>
                  <a:srgbClr val="FF0000"/>
                </a:solidFill>
                <a:latin typeface="+mn-ea"/>
                <a:sym typeface="+mn-ea"/>
              </a:rPr>
              <a:t>两天内</a:t>
            </a:r>
            <a:r>
              <a:rPr lang="zh-CN" altLang="en-US" sz="1800" dirty="0" smtClean="0">
                <a:latin typeface="+mn-ea"/>
                <a:sym typeface="+mn-ea"/>
              </a:rPr>
              <a:t>将整理好的</a:t>
            </a:r>
            <a:r>
              <a:rPr lang="en-US" altLang="zh-CN" sz="1800" dirty="0" smtClean="0">
                <a:solidFill>
                  <a:srgbClr val="FF0000"/>
                </a:solidFill>
                <a:latin typeface="+mn-ea"/>
                <a:sym typeface="+mn-ea"/>
              </a:rPr>
              <a:t>ERP</a:t>
            </a:r>
            <a:r>
              <a:rPr lang="zh-CN" altLang="en-US" sz="1800" dirty="0" smtClean="0">
                <a:solidFill>
                  <a:srgbClr val="FF0000"/>
                </a:solidFill>
                <a:latin typeface="+mn-ea"/>
                <a:sym typeface="+mn-ea"/>
              </a:rPr>
              <a:t>评审登记导出</a:t>
            </a:r>
            <a:r>
              <a:rPr lang="zh-CN" altLang="en-US" sz="1800" dirty="0" smtClean="0">
                <a:latin typeface="+mn-ea"/>
                <a:sym typeface="+mn-ea"/>
              </a:rPr>
              <a:t>及详细设计文档在评审群中发出，得到相关参会人员的确认后，方可将资料上传配置库，并进入下一阶段。</a:t>
            </a:r>
            <a:endParaRPr lang="zh-CN" altLang="en-US" sz="1800" dirty="0" smtClean="0">
              <a:latin typeface="+mn-ea"/>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案例</a:t>
            </a:r>
            <a:r>
              <a:rPr lang="en-US" altLang="zh-CN" dirty="0" smtClean="0">
                <a:solidFill>
                  <a:srgbClr val="FF0000"/>
                </a:solidFill>
              </a:rPr>
              <a:t>1</a:t>
            </a:r>
            <a:r>
              <a:rPr dirty="0" smtClean="0">
                <a:solidFill>
                  <a:srgbClr val="FF0000"/>
                </a:solidFill>
              </a:rPr>
              <a:t>分</a:t>
            </a:r>
            <a:r>
              <a:rPr dirty="0" smtClean="0">
                <a:solidFill>
                  <a:srgbClr val="FF0000"/>
                </a:solidFill>
              </a:rPr>
              <a:t>析</a:t>
            </a:r>
            <a:endParaRPr dirty="0" smtClean="0">
              <a:solidFill>
                <a:srgbClr val="FF0000"/>
              </a:solidFill>
            </a:endParaRPr>
          </a:p>
        </p:txBody>
      </p:sp>
      <p:sp>
        <p:nvSpPr>
          <p:cNvPr id="2" name="文本框 1"/>
          <p:cNvSpPr txBox="1"/>
          <p:nvPr/>
        </p:nvSpPr>
        <p:spPr>
          <a:xfrm>
            <a:off x="841375" y="930275"/>
            <a:ext cx="9675495" cy="7110095"/>
          </a:xfrm>
          <a:prstGeom prst="rect">
            <a:avLst/>
          </a:prstGeom>
          <a:noFill/>
        </p:spPr>
        <p:txBody>
          <a:bodyPr wrap="square" rtlCol="0" anchor="t">
            <a:spAutoFit/>
          </a:bodyPr>
          <a:p>
            <a:pPr lvl="0" rtl="0">
              <a:lnSpc>
                <a:spcPct val="150000"/>
              </a:lnSpc>
              <a:spcBef>
                <a:spcPct val="0"/>
              </a:spcBef>
              <a:spcAft>
                <a:spcPct val="35000"/>
              </a:spcAft>
            </a:pPr>
            <a:r>
              <a:rPr lang="zh-CN" altLang="en-US" sz="1800" dirty="0" smtClean="0">
                <a:latin typeface="+mn-ea"/>
                <a:sym typeface="+mn-ea"/>
              </a:rPr>
              <a:t>知识点梳理：</a:t>
            </a:r>
            <a:endParaRPr lang="zh-CN" altLang="en-US" sz="1800" dirty="0" smtClean="0">
              <a:latin typeface="+mn-ea"/>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mn-ea"/>
                <a:sym typeface="+mn-ea"/>
              </a:rPr>
              <a:t>评审会议组织流程：项目群将评审资料</a:t>
            </a:r>
            <a:r>
              <a:rPr lang="zh-CN" sz="1800" smtClean="0">
                <a:latin typeface="+mn-ea"/>
                <a:sym typeface="+mn-ea"/>
              </a:rPr>
              <a:t>发出预审</a:t>
            </a:r>
            <a:r>
              <a:rPr lang="zh-CN" altLang="en-US" sz="1800" smtClean="0">
                <a:latin typeface="+mn-ea"/>
                <a:sym typeface="+mn-ea"/>
              </a:rPr>
              <a:t>，</a:t>
            </a:r>
            <a:r>
              <a:rPr lang="zh-CN" altLang="en-US" sz="1800" smtClean="0">
                <a:solidFill>
                  <a:srgbClr val="FF0000"/>
                </a:solidFill>
                <a:latin typeface="+mn-ea"/>
                <a:sym typeface="+mn-ea"/>
              </a:rPr>
              <a:t>填写</a:t>
            </a:r>
            <a:r>
              <a:rPr lang="en-US" altLang="zh-CN" sz="1800" smtClean="0">
                <a:solidFill>
                  <a:srgbClr val="FF0000"/>
                </a:solidFill>
                <a:latin typeface="+mn-ea"/>
                <a:sym typeface="+mn-ea"/>
              </a:rPr>
              <a:t>ERP</a:t>
            </a:r>
            <a:r>
              <a:rPr lang="zh-CN" altLang="en-US" sz="1800" smtClean="0">
                <a:solidFill>
                  <a:srgbClr val="FF0000"/>
                </a:solidFill>
                <a:latin typeface="+mn-ea"/>
                <a:sym typeface="+mn-ea"/>
              </a:rPr>
              <a:t>评审登记，</a:t>
            </a:r>
            <a:r>
              <a:rPr lang="zh-CN" altLang="en-US" sz="1800" smtClean="0">
                <a:latin typeface="+mn-ea"/>
                <a:sym typeface="+mn-ea"/>
              </a:rPr>
              <a:t>约定预审建议反馈时间</a:t>
            </a:r>
            <a:r>
              <a:rPr lang="en-US" sz="1800" smtClean="0">
                <a:latin typeface="+mn-ea"/>
                <a:sym typeface="+mn-ea"/>
              </a:rPr>
              <a:t>——</a:t>
            </a:r>
            <a:r>
              <a:rPr lang="zh-CN" sz="1800" dirty="0" smtClean="0">
                <a:latin typeface="+mn-ea"/>
                <a:sym typeface="+mn-ea"/>
              </a:rPr>
              <a:t>与相关人员确定会议时间——</a:t>
            </a:r>
            <a:r>
              <a:rPr lang="en-US" sz="1800" dirty="0" smtClean="0">
                <a:latin typeface="+mn-ea"/>
                <a:sym typeface="+mn-ea"/>
              </a:rPr>
              <a:t>ERP</a:t>
            </a:r>
            <a:r>
              <a:rPr lang="zh-CN" sz="1800" dirty="0" smtClean="0">
                <a:latin typeface="+mn-ea"/>
                <a:sym typeface="+mn-ea"/>
              </a:rPr>
              <a:t>上预约会议室</a:t>
            </a:r>
            <a:r>
              <a:rPr lang="en-US" sz="1800" dirty="0" smtClean="0">
                <a:latin typeface="+mn-ea"/>
                <a:sym typeface="+mn-ea"/>
              </a:rPr>
              <a:t>——</a:t>
            </a:r>
            <a:r>
              <a:rPr lang="zh-CN" sz="1800" dirty="0" smtClean="0">
                <a:latin typeface="+mn-ea"/>
                <a:sym typeface="+mn-ea"/>
              </a:rPr>
              <a:t>发出会议通知、</a:t>
            </a:r>
            <a:r>
              <a:rPr lang="zh-CN" sz="1800" dirty="0" smtClean="0">
                <a:solidFill>
                  <a:srgbClr val="FF0000"/>
                </a:solidFill>
                <a:latin typeface="+mn-ea"/>
                <a:sym typeface="+mn-ea"/>
              </a:rPr>
              <a:t>添加企业微信日程</a:t>
            </a:r>
            <a:r>
              <a:rPr lang="en-US" sz="1800" dirty="0" smtClean="0">
                <a:latin typeface="+mn-ea"/>
                <a:sym typeface="+mn-ea"/>
              </a:rPr>
              <a:t>——</a:t>
            </a:r>
            <a:r>
              <a:rPr lang="en-US" sz="1800" dirty="0">
                <a:solidFill>
                  <a:srgbClr val="FF0000"/>
                </a:solidFill>
                <a:latin typeface="微软雅黑" panose="020B0503020204020204" pitchFamily="34" charset="-122"/>
                <a:ea typeface="微软雅黑" panose="020B0503020204020204" pitchFamily="34" charset="-122"/>
                <a:sym typeface="+mn-ea"/>
              </a:rPr>
              <a:t>汇报预审情况</a:t>
            </a:r>
            <a:r>
              <a:rPr lang="en-US" sz="1800" dirty="0" smtClean="0">
                <a:latin typeface="+mn-ea"/>
                <a:sym typeface="+mn-ea"/>
              </a:rPr>
              <a:t>——</a:t>
            </a:r>
            <a:r>
              <a:rPr lang="zh-CN" sz="1800" dirty="0" smtClean="0">
                <a:latin typeface="+mn-ea"/>
                <a:sym typeface="+mn-ea"/>
              </a:rPr>
              <a:t>组织进行会议</a:t>
            </a:r>
            <a:r>
              <a:rPr lang="en-US" altLang="zh-CN" sz="1800" dirty="0" smtClean="0">
                <a:latin typeface="+mn-ea"/>
                <a:sym typeface="+mn-ea"/>
              </a:rPr>
              <a:t>——</a:t>
            </a:r>
            <a:r>
              <a:rPr lang="zh-CN" sz="1800" dirty="0" smtClean="0">
                <a:solidFill>
                  <a:srgbClr val="FF0000"/>
                </a:solidFill>
                <a:latin typeface="+mn-ea"/>
                <a:sym typeface="+mn-ea"/>
              </a:rPr>
              <a:t>会议结束前宣读决议</a:t>
            </a:r>
            <a:r>
              <a:rPr lang="en-US" sz="1800" dirty="0" smtClean="0">
                <a:latin typeface="+mn-ea"/>
                <a:sym typeface="+mn-ea"/>
              </a:rPr>
              <a:t>——</a:t>
            </a:r>
            <a:r>
              <a:rPr lang="zh-CN" sz="1800" dirty="0" smtClean="0">
                <a:solidFill>
                  <a:srgbClr val="FF0000"/>
                </a:solidFill>
                <a:latin typeface="+mn-ea"/>
                <a:sym typeface="+mn-ea"/>
              </a:rPr>
              <a:t>会后完善</a:t>
            </a:r>
            <a:r>
              <a:rPr lang="en-US" altLang="zh-CN" sz="1800" dirty="0" smtClean="0">
                <a:solidFill>
                  <a:srgbClr val="FF0000"/>
                </a:solidFill>
                <a:latin typeface="+mn-ea"/>
                <a:sym typeface="+mn-ea"/>
              </a:rPr>
              <a:t>ERP</a:t>
            </a:r>
            <a:r>
              <a:rPr lang="zh-CN" altLang="en-US" sz="1800" dirty="0" smtClean="0">
                <a:solidFill>
                  <a:srgbClr val="FF0000"/>
                </a:solidFill>
                <a:latin typeface="+mn-ea"/>
                <a:sym typeface="+mn-ea"/>
              </a:rPr>
              <a:t>评审记录</a:t>
            </a:r>
            <a:r>
              <a:rPr lang="zh-CN" altLang="en-US" sz="1800" dirty="0" smtClean="0">
                <a:latin typeface="+mn-ea"/>
                <a:sym typeface="+mn-ea"/>
              </a:rPr>
              <a:t>，</a:t>
            </a:r>
            <a:r>
              <a:rPr lang="zh-CN" sz="1800" dirty="0" smtClean="0">
                <a:latin typeface="+mn-ea"/>
                <a:sym typeface="+mn-ea"/>
              </a:rPr>
              <a:t>将评审记录项目组群中进行确认</a:t>
            </a:r>
            <a:r>
              <a:rPr lang="en-US" sz="1800" dirty="0" smtClean="0">
                <a:latin typeface="+mn-ea"/>
                <a:sym typeface="+mn-ea"/>
              </a:rPr>
              <a:t>——</a:t>
            </a:r>
            <a:r>
              <a:rPr lang="zh-CN" sz="1800" dirty="0" smtClean="0">
                <a:latin typeface="+mn-ea"/>
                <a:sym typeface="+mn-ea"/>
              </a:rPr>
              <a:t>评审资料按照评审意见完成修改</a:t>
            </a:r>
            <a:r>
              <a:rPr lang="en-US" altLang="zh-CN" sz="1800" dirty="0" smtClean="0">
                <a:latin typeface="+mn-ea"/>
                <a:sym typeface="+mn-ea"/>
              </a:rPr>
              <a:t>——</a:t>
            </a:r>
            <a:r>
              <a:rPr lang="zh-CN" sz="1800" dirty="0" smtClean="0">
                <a:latin typeface="+mn-ea"/>
                <a:sym typeface="+mn-ea"/>
              </a:rPr>
              <a:t>资料上传配置库归档</a:t>
            </a:r>
            <a:endParaRPr lang="zh-CN" sz="1800" dirty="0" smtClean="0">
              <a:latin typeface="+mn-ea"/>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mn-ea"/>
                <a:sym typeface="+mn-ea"/>
              </a:rPr>
              <a:t>对于技术类的评审一般评审资料为</a:t>
            </a:r>
            <a:r>
              <a:rPr lang="en-US" sz="1800" dirty="0" smtClean="0">
                <a:latin typeface="+mn-ea"/>
                <a:sym typeface="+mn-ea"/>
              </a:rPr>
              <a:t>30</a:t>
            </a:r>
            <a:r>
              <a:rPr lang="zh-CN" sz="1800" dirty="0" smtClean="0">
                <a:latin typeface="+mn-ea"/>
                <a:sym typeface="+mn-ea"/>
              </a:rPr>
              <a:t>页以下的，提前</a:t>
            </a:r>
            <a:r>
              <a:rPr lang="en-US" sz="1800" dirty="0" smtClean="0">
                <a:latin typeface="+mn-ea"/>
                <a:sym typeface="+mn-ea"/>
              </a:rPr>
              <a:t>1</a:t>
            </a:r>
            <a:r>
              <a:rPr lang="zh-CN" sz="1800" dirty="0" smtClean="0">
                <a:latin typeface="+mn-ea"/>
                <a:sym typeface="+mn-ea"/>
              </a:rPr>
              <a:t>天；</a:t>
            </a:r>
            <a:r>
              <a:rPr lang="en-US" sz="1800" dirty="0" smtClean="0">
                <a:latin typeface="+mn-ea"/>
                <a:sym typeface="+mn-ea"/>
              </a:rPr>
              <a:t>30-60</a:t>
            </a:r>
            <a:r>
              <a:rPr lang="zh-CN" sz="1800" dirty="0" smtClean="0">
                <a:latin typeface="+mn-ea"/>
                <a:sym typeface="+mn-ea"/>
              </a:rPr>
              <a:t>页的提前</a:t>
            </a:r>
            <a:r>
              <a:rPr lang="en-US" sz="1800" dirty="0" smtClean="0">
                <a:latin typeface="+mn-ea"/>
                <a:sym typeface="+mn-ea"/>
              </a:rPr>
              <a:t>1-2</a:t>
            </a:r>
            <a:r>
              <a:rPr lang="zh-CN" sz="1800" dirty="0" smtClean="0">
                <a:latin typeface="+mn-ea"/>
                <a:sym typeface="+mn-ea"/>
              </a:rPr>
              <a:t>天；</a:t>
            </a:r>
            <a:r>
              <a:rPr lang="en-US" sz="1800" dirty="0" smtClean="0">
                <a:latin typeface="+mn-ea"/>
                <a:sym typeface="+mn-ea"/>
              </a:rPr>
              <a:t>60</a:t>
            </a:r>
            <a:r>
              <a:rPr lang="zh-CN" sz="1800" dirty="0" smtClean="0">
                <a:latin typeface="+mn-ea"/>
                <a:sym typeface="+mn-ea"/>
              </a:rPr>
              <a:t>页以上的一般需要提前两天以上。管理类的评审一般提前</a:t>
            </a:r>
            <a:r>
              <a:rPr lang="en-US" sz="1800" dirty="0" smtClean="0">
                <a:latin typeface="+mn-ea"/>
                <a:sym typeface="+mn-ea"/>
              </a:rPr>
              <a:t>1~2</a:t>
            </a:r>
            <a:r>
              <a:rPr lang="zh-CN" sz="1800" dirty="0" smtClean="0">
                <a:latin typeface="+mn-ea"/>
                <a:sym typeface="+mn-ea"/>
              </a:rPr>
              <a:t>天</a:t>
            </a:r>
            <a:endParaRPr lang="zh-CN" sz="1800" dirty="0" smtClean="0">
              <a:solidFill>
                <a:schemeClr val="tx1"/>
              </a:solidFill>
              <a:latin typeface="+mn-ea"/>
              <a:ea typeface="+mn-ea"/>
              <a:sym typeface="+mn-ea"/>
            </a:endParaRPr>
          </a:p>
          <a:p>
            <a:pPr marL="342900" lvl="0" indent="-342900" rtl="0">
              <a:lnSpc>
                <a:spcPct val="150000"/>
              </a:lnSpc>
              <a:spcBef>
                <a:spcPct val="0"/>
              </a:spcBef>
              <a:spcAft>
                <a:spcPct val="35000"/>
              </a:spcAft>
              <a:buFont typeface="+mj-lt"/>
              <a:buAutoNum type="arabicPeriod"/>
            </a:pPr>
            <a:r>
              <a:rPr lang="zh-CN" altLang="en-US" sz="1800" dirty="0" smtClean="0">
                <a:latin typeface="+mn-ea"/>
                <a:sym typeface="+mn-ea"/>
              </a:rPr>
              <a:t>会议通知要求：明确会议主题、会议时间、会议地点、评审组长、参会人员，主持人和记录人（主持人和记录人一般不为同一人）</a:t>
            </a:r>
            <a:endParaRPr lang="zh-CN" altLang="en-US" sz="1800" dirty="0" smtClean="0">
              <a:latin typeface="+mn-ea"/>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mn-ea"/>
                <a:sym typeface="+mn-ea"/>
              </a:rPr>
              <a:t>所有会议类的评审记录，要求在</a:t>
            </a:r>
            <a:r>
              <a:rPr lang="en-US" sz="1800" dirty="0" smtClean="0">
                <a:latin typeface="+mn-ea"/>
                <a:sym typeface="+mn-ea"/>
              </a:rPr>
              <a:t>2</a:t>
            </a:r>
            <a:r>
              <a:rPr lang="zh-CN" sz="1800" dirty="0" smtClean="0">
                <a:latin typeface="+mn-ea"/>
                <a:sym typeface="+mn-ea"/>
              </a:rPr>
              <a:t>个工作日内完成，并将评审问题和修改后的评审资料发参会人员进行确认</a:t>
            </a:r>
            <a:endParaRPr lang="zh-CN" sz="1800" dirty="0">
              <a:solidFill>
                <a:schemeClr val="tx1"/>
              </a:solidFill>
              <a:latin typeface="+mn-ea"/>
              <a:ea typeface="+mn-ea"/>
            </a:endParaRPr>
          </a:p>
          <a:p>
            <a:pPr lvl="0" rtl="0">
              <a:lnSpc>
                <a:spcPct val="150000"/>
              </a:lnSpc>
              <a:spcBef>
                <a:spcPct val="0"/>
              </a:spcBef>
              <a:spcAft>
                <a:spcPct val="35000"/>
              </a:spcAft>
            </a:pPr>
            <a:endParaRPr lang="zh-CN" altLang="en-US" sz="1800" dirty="0">
              <a:solidFill>
                <a:schemeClr val="tx1"/>
              </a:solidFill>
              <a:latin typeface="+mn-ea"/>
              <a:ea typeface="+mn-ea"/>
            </a:endParaRPr>
          </a:p>
          <a:p>
            <a:pPr lvl="0" rtl="0">
              <a:lnSpc>
                <a:spcPct val="150000"/>
              </a:lnSpc>
              <a:spcBef>
                <a:spcPct val="0"/>
              </a:spcBef>
              <a:spcAft>
                <a:spcPct val="35000"/>
              </a:spcAft>
            </a:pPr>
            <a:endParaRPr lang="zh-CN" sz="1800" dirty="0">
              <a:solidFill>
                <a:schemeClr val="tx1"/>
              </a:solidFill>
              <a:latin typeface="+mn-ea"/>
              <a:ea typeface="+mn-ea"/>
            </a:endParaRPr>
          </a:p>
          <a:p>
            <a:pPr lvl="0" rtl="0">
              <a:lnSpc>
                <a:spcPct val="100000"/>
              </a:lnSpc>
              <a:spcBef>
                <a:spcPct val="0"/>
              </a:spcBef>
              <a:spcAft>
                <a:spcPct val="35000"/>
              </a:spcAft>
            </a:pPr>
            <a:endParaRPr lang="zh-CN" altLang="en-US" sz="1800" dirty="0" smtClean="0">
              <a:latin typeface="+mn-ea"/>
              <a:sym typeface="+mn-ea"/>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rgbClr val="FF0000"/>
                </a:solidFill>
              </a:rPr>
              <a:t>评审</a:t>
            </a:r>
            <a:r>
              <a:rPr lang="en-US" altLang="zh-CN">
                <a:solidFill>
                  <a:srgbClr val="FF0000"/>
                </a:solidFill>
              </a:rPr>
              <a:t>-</a:t>
            </a:r>
            <a:r>
              <a:rPr lang="zh-CN" altLang="en-US">
                <a:solidFill>
                  <a:srgbClr val="FF0000"/>
                </a:solidFill>
              </a:rPr>
              <a:t>案例</a:t>
            </a:r>
            <a:r>
              <a:rPr lang="en-US" altLang="zh-CN">
                <a:solidFill>
                  <a:srgbClr val="FF0000"/>
                </a:solidFill>
              </a:rPr>
              <a:t>2</a:t>
            </a:r>
            <a:endParaRPr lang="en-US" altLang="zh-CN" dirty="0">
              <a:solidFill>
                <a:srgbClr val="FF0000"/>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2" name="文本框 1"/>
          <p:cNvSpPr txBox="1"/>
          <p:nvPr/>
        </p:nvSpPr>
        <p:spPr>
          <a:xfrm>
            <a:off x="767715" y="979170"/>
            <a:ext cx="11078210" cy="5038725"/>
          </a:xfrm>
          <a:prstGeom prst="rect">
            <a:avLst/>
          </a:prstGeom>
          <a:noFill/>
        </p:spPr>
        <p:txBody>
          <a:bodyPr wrap="square" rtlCol="0" anchor="t">
            <a:spAutoFit/>
          </a:bodyPr>
          <a:p>
            <a:pPr lvl="0" rtl="0">
              <a:lnSpc>
                <a:spcPct val="100000"/>
              </a:lnSpc>
              <a:spcBef>
                <a:spcPct val="0"/>
              </a:spcBef>
              <a:spcAft>
                <a:spcPct val="35000"/>
              </a:spcAft>
              <a:buNone/>
            </a:pPr>
            <a:r>
              <a:rPr lang="zh-CN" altLang="en-US" sz="1800" b="1" dirty="0" smtClean="0">
                <a:latin typeface="微软雅黑" panose="020B0503020204020204" pitchFamily="34" charset="-122"/>
                <a:ea typeface="微软雅黑" panose="020B0503020204020204" pitchFamily="34" charset="-122"/>
                <a:sym typeface="+mn-ea"/>
              </a:rPr>
              <a:t>技术研究院开发项目（背景）</a:t>
            </a:r>
            <a:r>
              <a:rPr lang="zh-CN" altLang="en-US" sz="1800" dirty="0" smtClean="0">
                <a:latin typeface="微软雅黑" panose="020B0503020204020204" pitchFamily="34" charset="-122"/>
                <a:ea typeface="微软雅黑" panose="020B0503020204020204" pitchFamily="34" charset="-122"/>
                <a:sym typeface="+mn-ea"/>
              </a:rPr>
              <a:t>：</a:t>
            </a:r>
            <a:endParaRPr lang="zh-CN" altLang="en-US"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项目组完成了需求编制工作，并于</a:t>
            </a:r>
            <a:r>
              <a:rPr lang="en-US" sz="1800" dirty="0" smtClean="0">
                <a:latin typeface="微软雅黑" panose="020B0503020204020204" pitchFamily="34" charset="-122"/>
                <a:ea typeface="微软雅黑" panose="020B0503020204020204" pitchFamily="34" charset="-122"/>
                <a:sym typeface="+mn-ea"/>
              </a:rPr>
              <a:t>2025.10.19</a:t>
            </a:r>
            <a:r>
              <a:rPr lang="zh-CN" altLang="en-US" sz="1800" dirty="0" smtClean="0">
                <a:latin typeface="微软雅黑" panose="020B0503020204020204" pitchFamily="34" charset="-122"/>
                <a:ea typeface="微软雅黑" panose="020B0503020204020204" pitchFamily="34" charset="-122"/>
                <a:sym typeface="+mn-ea"/>
              </a:rPr>
              <a:t>中午</a:t>
            </a:r>
            <a:r>
              <a:rPr lang="zh-CN" sz="1800" dirty="0" smtClean="0">
                <a:latin typeface="微软雅黑" panose="020B0503020204020204" pitchFamily="34" charset="-122"/>
                <a:ea typeface="微软雅黑" panose="020B0503020204020204" pitchFamily="34" charset="-122"/>
                <a:sym typeface="+mn-ea"/>
              </a:rPr>
              <a:t>整理好项目需求文档（文档规模为</a:t>
            </a:r>
            <a:r>
              <a:rPr lang="en-US" sz="1800" dirty="0" smtClean="0">
                <a:latin typeface="微软雅黑" panose="020B0503020204020204" pitchFamily="34" charset="-122"/>
                <a:ea typeface="微软雅黑" panose="020B0503020204020204" pitchFamily="34" charset="-122"/>
                <a:sym typeface="+mn-ea"/>
              </a:rPr>
              <a:t>30</a:t>
            </a:r>
            <a:r>
              <a:rPr lang="zh-CN" sz="1800" dirty="0" smtClean="0">
                <a:latin typeface="微软雅黑" panose="020B0503020204020204" pitchFamily="34" charset="-122"/>
                <a:ea typeface="微软雅黑" panose="020B0503020204020204" pitchFamily="34" charset="-122"/>
                <a:sym typeface="+mn-ea"/>
              </a:rPr>
              <a:t>页），计划召开需求评审会。</a:t>
            </a:r>
            <a:endParaRPr lang="zh-CN"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solidFill>
                  <a:schemeClr val="tx1"/>
                </a:solidFill>
                <a:latin typeface="微软雅黑" panose="020B0503020204020204" pitchFamily="34" charset="-122"/>
                <a:ea typeface="微软雅黑" panose="020B0503020204020204" pitchFamily="34" charset="-122"/>
                <a:sym typeface="+mn-ea"/>
              </a:rPr>
              <a:t>接下来项目经理与领导约好时间后项目群通知了分管领导，项目组成员及相关专家，于</a:t>
            </a:r>
            <a:r>
              <a:rPr lang="en-US" sz="1800" dirty="0" smtClean="0">
                <a:solidFill>
                  <a:schemeClr val="tx1"/>
                </a:solidFill>
                <a:latin typeface="微软雅黑" panose="020B0503020204020204" pitchFamily="34" charset="-122"/>
                <a:ea typeface="微软雅黑" panose="020B0503020204020204" pitchFamily="34" charset="-122"/>
                <a:sym typeface="+mn-ea"/>
              </a:rPr>
              <a:t>2025.10.20</a:t>
            </a:r>
            <a:r>
              <a:rPr lang="zh-CN" sz="1800" dirty="0" smtClean="0">
                <a:solidFill>
                  <a:schemeClr val="tx1"/>
                </a:solidFill>
                <a:latin typeface="微软雅黑" panose="020B0503020204020204" pitchFamily="34" charset="-122"/>
                <a:ea typeface="微软雅黑" panose="020B0503020204020204" pitchFamily="34" charset="-122"/>
                <a:sym typeface="+mn-ea"/>
              </a:rPr>
              <a:t>上午</a:t>
            </a:r>
            <a:r>
              <a:rPr lang="en-US" sz="1800" dirty="0" smtClean="0">
                <a:solidFill>
                  <a:schemeClr val="tx1"/>
                </a:solidFill>
                <a:latin typeface="微软雅黑" panose="020B0503020204020204" pitchFamily="34" charset="-122"/>
                <a:ea typeface="微软雅黑" panose="020B0503020204020204" pitchFamily="34" charset="-122"/>
                <a:sym typeface="+mn-ea"/>
              </a:rPr>
              <a:t>9:00</a:t>
            </a:r>
            <a:r>
              <a:rPr lang="zh-CN" sz="1800" dirty="0" smtClean="0">
                <a:solidFill>
                  <a:schemeClr val="tx1"/>
                </a:solidFill>
                <a:latin typeface="微软雅黑" panose="020B0503020204020204" pitchFamily="34" charset="-122"/>
                <a:ea typeface="微软雅黑" panose="020B0503020204020204" pitchFamily="34" charset="-122"/>
                <a:sym typeface="+mn-ea"/>
              </a:rPr>
              <a:t>在</a:t>
            </a:r>
            <a:r>
              <a:rPr lang="en-US" sz="1800" dirty="0" smtClean="0">
                <a:solidFill>
                  <a:schemeClr val="tx1"/>
                </a:solidFill>
                <a:latin typeface="微软雅黑" panose="020B0503020204020204" pitchFamily="34" charset="-122"/>
                <a:ea typeface="微软雅黑" panose="020B0503020204020204" pitchFamily="34" charset="-122"/>
                <a:sym typeface="+mn-ea"/>
              </a:rPr>
              <a:t>BXXX</a:t>
            </a:r>
            <a:r>
              <a:rPr lang="zh-CN" sz="1800" dirty="0" smtClean="0">
                <a:solidFill>
                  <a:schemeClr val="tx1"/>
                </a:solidFill>
                <a:latin typeface="微软雅黑" panose="020B0503020204020204" pitchFamily="34" charset="-122"/>
                <a:ea typeface="微软雅黑" panose="020B0503020204020204" pitchFamily="34" charset="-122"/>
                <a:sym typeface="+mn-ea"/>
              </a:rPr>
              <a:t>会议室开会。项目经理在</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ERP-</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评审模块发起预审流程，并在项目群中知会大家做好预审；</a:t>
            </a:r>
            <a:endParaRPr lang="zh-CN" altLang="en-US" sz="1800" dirty="0" smtClean="0">
              <a:solidFill>
                <a:schemeClr val="tx1"/>
              </a:solidFill>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solidFill>
                  <a:schemeClr val="tx1"/>
                </a:solidFill>
                <a:latin typeface="微软雅黑" panose="020B0503020204020204" pitchFamily="34" charset="-122"/>
                <a:ea typeface="微软雅黑" panose="020B0503020204020204" pitchFamily="34" charset="-122"/>
                <a:sym typeface="+mn-ea"/>
              </a:rPr>
              <a:t>由于会议时间紧急，未进行决议宣读；会议记录人将正式评审意见登记在</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erp</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流程中，并将对应问题逐一修改后</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close</a:t>
            </a:r>
            <a:r>
              <a:rPr lang="zh-CN" sz="1800" dirty="0" smtClean="0">
                <a:solidFill>
                  <a:schemeClr val="tx1"/>
                </a:solidFill>
                <a:latin typeface="微软雅黑" panose="020B0503020204020204" pitchFamily="34" charset="-122"/>
                <a:ea typeface="微软雅黑" panose="020B0503020204020204" pitchFamily="34" charset="-122"/>
                <a:sym typeface="+mn-ea"/>
              </a:rPr>
              <a:t>。其中</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1</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个问题无法处理，项目经理评估需延迟</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delay</a:t>
            </a:r>
            <a:r>
              <a:rPr lang="zh-CN" altLang="en-US" sz="1800" dirty="0" smtClean="0">
                <a:solidFill>
                  <a:schemeClr val="tx1"/>
                </a:solidFill>
                <a:latin typeface="微软雅黑" panose="020B0503020204020204" pitchFamily="34" charset="-122"/>
                <a:ea typeface="微软雅黑" panose="020B0503020204020204" pitchFamily="34" charset="-122"/>
                <a:sym typeface="+mn-ea"/>
              </a:rPr>
              <a:t>处理，评审流程进入二次验证环节；</a:t>
            </a:r>
            <a:endParaRPr lang="zh-CN" altLang="en-US" sz="1800" dirty="0" smtClean="0">
              <a:solidFill>
                <a:schemeClr val="tx1"/>
              </a:solidFill>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solidFill>
                  <a:schemeClr val="tx1"/>
                </a:solidFill>
                <a:latin typeface="微软雅黑" panose="020B0503020204020204" pitchFamily="34" charset="-122"/>
                <a:ea typeface="微软雅黑" panose="020B0503020204020204" pitchFamily="34" charset="-122"/>
                <a:sym typeface="+mn-ea"/>
              </a:rPr>
              <a:t>由于需求评审流程久未关闭影响阶段项目产物归档，项目经理决策问题可以直接</a:t>
            </a:r>
            <a:r>
              <a:rPr lang="en-US" altLang="zh-CN" sz="1800" dirty="0" smtClean="0">
                <a:solidFill>
                  <a:schemeClr val="tx1"/>
                </a:solidFill>
                <a:latin typeface="微软雅黑" panose="020B0503020204020204" pitchFamily="34" charset="-122"/>
                <a:ea typeface="微软雅黑" panose="020B0503020204020204" pitchFamily="34" charset="-122"/>
                <a:sym typeface="+mn-ea"/>
              </a:rPr>
              <a:t>close</a:t>
            </a:r>
            <a:r>
              <a:rPr lang="zh-CN" sz="1800" dirty="0" smtClean="0">
                <a:solidFill>
                  <a:schemeClr val="tx1"/>
                </a:solidFill>
                <a:latin typeface="微软雅黑" panose="020B0503020204020204" pitchFamily="34" charset="-122"/>
                <a:ea typeface="微软雅黑" panose="020B0503020204020204" pitchFamily="34" charset="-122"/>
                <a:sym typeface="+mn-ea"/>
              </a:rPr>
              <a:t>，后续遇到同类问题再处理</a:t>
            </a:r>
            <a:endParaRPr lang="en-US" altLang="zh-CN" sz="1800" dirty="0" smtClean="0">
              <a:solidFill>
                <a:schemeClr val="tx1"/>
              </a:solidFill>
              <a:latin typeface="微软雅黑" panose="020B0503020204020204" pitchFamily="34" charset="-122"/>
              <a:ea typeface="微软雅黑" panose="020B0503020204020204" pitchFamily="34" charset="-122"/>
            </a:endParaRPr>
          </a:p>
          <a:p>
            <a:pPr lvl="0" rtl="0">
              <a:lnSpc>
                <a:spcPct val="100000"/>
              </a:lnSpc>
              <a:spcBef>
                <a:spcPct val="0"/>
              </a:spcBef>
              <a:spcAft>
                <a:spcPct val="35000"/>
              </a:spcAft>
              <a:buNone/>
            </a:pPr>
            <a:endParaRPr lang="zh-CN" altLang="en-US" sz="1800" dirty="0" smtClean="0">
              <a:latin typeface="微软雅黑" panose="020B0503020204020204" pitchFamily="34" charset="-122"/>
              <a:ea typeface="微软雅黑" panose="020B0503020204020204" pitchFamily="34" charset="-122"/>
              <a:sym typeface="+mn-ea"/>
            </a:endParaRPr>
          </a:p>
          <a:p>
            <a:pPr lvl="0" rtl="0">
              <a:lnSpc>
                <a:spcPct val="100000"/>
              </a:lnSpc>
              <a:spcBef>
                <a:spcPct val="0"/>
              </a:spcBef>
              <a:spcAft>
                <a:spcPct val="35000"/>
              </a:spcAft>
              <a:buNone/>
            </a:pPr>
            <a:endParaRPr lang="zh-CN" altLang="en-US" sz="1800" dirty="0" smtClean="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rgbClr val="FF0000"/>
                </a:solidFill>
              </a:rPr>
              <a:t>评审</a:t>
            </a:r>
            <a:r>
              <a:rPr lang="en-US" altLang="zh-CN">
                <a:solidFill>
                  <a:srgbClr val="FF0000"/>
                </a:solidFill>
              </a:rPr>
              <a:t>-</a:t>
            </a:r>
            <a:r>
              <a:rPr lang="zh-CN" altLang="en-US">
                <a:solidFill>
                  <a:srgbClr val="FF0000"/>
                </a:solidFill>
              </a:rPr>
              <a:t>案例</a:t>
            </a:r>
            <a:r>
              <a:rPr lang="en-US" altLang="zh-CN">
                <a:solidFill>
                  <a:srgbClr val="FF0000"/>
                </a:solidFill>
              </a:rPr>
              <a:t>2</a:t>
            </a:r>
            <a:r>
              <a:rPr>
                <a:solidFill>
                  <a:srgbClr val="FF0000"/>
                </a:solidFill>
              </a:rPr>
              <a:t>分析</a:t>
            </a:r>
            <a:endParaRPr dirty="0">
              <a:solidFill>
                <a:srgbClr val="FF0000"/>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2" name="文本框 1"/>
          <p:cNvSpPr txBox="1"/>
          <p:nvPr/>
        </p:nvSpPr>
        <p:spPr>
          <a:xfrm>
            <a:off x="767715" y="979170"/>
            <a:ext cx="11078210" cy="5038725"/>
          </a:xfrm>
          <a:prstGeom prst="rect">
            <a:avLst/>
          </a:prstGeom>
          <a:noFill/>
        </p:spPr>
        <p:txBody>
          <a:bodyPr wrap="square" rtlCol="0" anchor="t">
            <a:spAutoFit/>
          </a:bodyPr>
          <a:p>
            <a:pPr lvl="0" rtl="0">
              <a:lnSpc>
                <a:spcPct val="100000"/>
              </a:lnSpc>
              <a:spcBef>
                <a:spcPct val="0"/>
              </a:spcBef>
              <a:spcAft>
                <a:spcPct val="35000"/>
              </a:spcAft>
              <a:buNone/>
            </a:pPr>
            <a:r>
              <a:rPr lang="zh-CN" altLang="en-US" sz="1800" b="1" dirty="0" smtClean="0">
                <a:latin typeface="微软雅黑" panose="020B0503020204020204" pitchFamily="34" charset="-122"/>
                <a:ea typeface="微软雅黑" panose="020B0503020204020204" pitchFamily="34" charset="-122"/>
                <a:sym typeface="+mn-ea"/>
              </a:rPr>
              <a:t>技术研究院开发项目（背景）</a:t>
            </a:r>
            <a:r>
              <a:rPr lang="zh-CN" altLang="en-US" sz="1800" dirty="0" smtClean="0">
                <a:latin typeface="微软雅黑" panose="020B0503020204020204" pitchFamily="34" charset="-122"/>
                <a:ea typeface="微软雅黑" panose="020B0503020204020204" pitchFamily="34" charset="-122"/>
                <a:sym typeface="+mn-ea"/>
              </a:rPr>
              <a:t>：</a:t>
            </a:r>
            <a:endParaRPr lang="zh-CN" altLang="en-US"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项目组完成了需求编制工作，并于</a:t>
            </a:r>
            <a:r>
              <a:rPr lang="en-US" sz="1800" dirty="0" smtClean="0">
                <a:latin typeface="微软雅黑" panose="020B0503020204020204" pitchFamily="34" charset="-122"/>
                <a:ea typeface="微软雅黑" panose="020B0503020204020204" pitchFamily="34" charset="-122"/>
                <a:sym typeface="+mn-ea"/>
              </a:rPr>
              <a:t>2025.10.19</a:t>
            </a:r>
            <a:r>
              <a:rPr lang="zh-CN" altLang="en-US" sz="1800" dirty="0" smtClean="0">
                <a:latin typeface="微软雅黑" panose="020B0503020204020204" pitchFamily="34" charset="-122"/>
                <a:ea typeface="微软雅黑" panose="020B0503020204020204" pitchFamily="34" charset="-122"/>
                <a:sym typeface="+mn-ea"/>
              </a:rPr>
              <a:t>中午</a:t>
            </a:r>
            <a:r>
              <a:rPr lang="zh-CN" sz="1800" dirty="0" smtClean="0">
                <a:latin typeface="微软雅黑" panose="020B0503020204020204" pitchFamily="34" charset="-122"/>
                <a:ea typeface="微软雅黑" panose="020B0503020204020204" pitchFamily="34" charset="-122"/>
                <a:sym typeface="+mn-ea"/>
              </a:rPr>
              <a:t>整理好项目需求文档（文档规模为</a:t>
            </a:r>
            <a:r>
              <a:rPr lang="en-US" sz="1800" dirty="0" smtClean="0">
                <a:latin typeface="微软雅黑" panose="020B0503020204020204" pitchFamily="34" charset="-122"/>
                <a:ea typeface="微软雅黑" panose="020B0503020204020204" pitchFamily="34" charset="-122"/>
                <a:sym typeface="+mn-ea"/>
              </a:rPr>
              <a:t>30</a:t>
            </a:r>
            <a:r>
              <a:rPr lang="zh-CN" sz="1800" dirty="0" smtClean="0">
                <a:latin typeface="微软雅黑" panose="020B0503020204020204" pitchFamily="34" charset="-122"/>
                <a:ea typeface="微软雅黑" panose="020B0503020204020204" pitchFamily="34" charset="-122"/>
                <a:sym typeface="+mn-ea"/>
              </a:rPr>
              <a:t>页），计划召开需求评审会。</a:t>
            </a:r>
            <a:endParaRPr lang="zh-CN"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接下来项目经理与领导约好时间后</a:t>
            </a:r>
            <a:r>
              <a:rPr lang="zh-CN" sz="1800" dirty="0" smtClean="0">
                <a:solidFill>
                  <a:srgbClr val="FF0000"/>
                </a:solidFill>
                <a:latin typeface="微软雅黑" panose="020B0503020204020204" pitchFamily="34" charset="-122"/>
                <a:ea typeface="微软雅黑" panose="020B0503020204020204" pitchFamily="34" charset="-122"/>
                <a:sym typeface="+mn-ea"/>
              </a:rPr>
              <a:t>项目群通知</a:t>
            </a:r>
            <a:r>
              <a:rPr lang="zh-CN" sz="1800" dirty="0" smtClean="0">
                <a:latin typeface="微软雅黑" panose="020B0503020204020204" pitchFamily="34" charset="-122"/>
                <a:ea typeface="微软雅黑" panose="020B0503020204020204" pitchFamily="34" charset="-122"/>
                <a:sym typeface="+mn-ea"/>
              </a:rPr>
              <a:t>了分管领导，项目组成员及相关专家，于</a:t>
            </a:r>
            <a:r>
              <a:rPr lang="en-US" sz="1800" dirty="0" smtClean="0">
                <a:latin typeface="微软雅黑" panose="020B0503020204020204" pitchFamily="34" charset="-122"/>
                <a:ea typeface="微软雅黑" panose="020B0503020204020204" pitchFamily="34" charset="-122"/>
                <a:sym typeface="+mn-ea"/>
              </a:rPr>
              <a:t>2025.10.20</a:t>
            </a:r>
            <a:r>
              <a:rPr lang="zh-CN" sz="1800" dirty="0" smtClean="0">
                <a:latin typeface="微软雅黑" panose="020B0503020204020204" pitchFamily="34" charset="-122"/>
                <a:ea typeface="微软雅黑" panose="020B0503020204020204" pitchFamily="34" charset="-122"/>
                <a:sym typeface="+mn-ea"/>
              </a:rPr>
              <a:t>上午</a:t>
            </a:r>
            <a:r>
              <a:rPr lang="en-US" sz="1800" dirty="0" smtClean="0">
                <a:latin typeface="微软雅黑" panose="020B0503020204020204" pitchFamily="34" charset="-122"/>
                <a:ea typeface="微软雅黑" panose="020B0503020204020204" pitchFamily="34" charset="-122"/>
                <a:sym typeface="+mn-ea"/>
              </a:rPr>
              <a:t>9:00</a:t>
            </a:r>
            <a:r>
              <a:rPr lang="zh-CN" sz="1800" dirty="0" smtClean="0">
                <a:latin typeface="微软雅黑" panose="020B0503020204020204" pitchFamily="34" charset="-122"/>
                <a:ea typeface="微软雅黑" panose="020B0503020204020204" pitchFamily="34" charset="-122"/>
                <a:sym typeface="+mn-ea"/>
              </a:rPr>
              <a:t>在</a:t>
            </a:r>
            <a:r>
              <a:rPr lang="en-US" sz="1800" dirty="0" smtClean="0">
                <a:latin typeface="微软雅黑" panose="020B0503020204020204" pitchFamily="34" charset="-122"/>
                <a:ea typeface="微软雅黑" panose="020B0503020204020204" pitchFamily="34" charset="-122"/>
                <a:sym typeface="+mn-ea"/>
              </a:rPr>
              <a:t>BXXX</a:t>
            </a:r>
            <a:r>
              <a:rPr lang="zh-CN" sz="1800" dirty="0" smtClean="0">
                <a:latin typeface="微软雅黑" panose="020B0503020204020204" pitchFamily="34" charset="-122"/>
                <a:ea typeface="微软雅黑" panose="020B0503020204020204" pitchFamily="34" charset="-122"/>
                <a:sym typeface="+mn-ea"/>
              </a:rPr>
              <a:t>会议室开会。项目经理在</a:t>
            </a:r>
            <a:r>
              <a:rPr lang="en-US" altLang="zh-CN" sz="1800" dirty="0" smtClean="0">
                <a:latin typeface="微软雅黑" panose="020B0503020204020204" pitchFamily="34" charset="-122"/>
                <a:ea typeface="微软雅黑" panose="020B0503020204020204" pitchFamily="34" charset="-122"/>
                <a:sym typeface="+mn-ea"/>
              </a:rPr>
              <a:t>ERP-</a:t>
            </a:r>
            <a:r>
              <a:rPr lang="zh-CN" altLang="en-US" sz="1800" dirty="0" smtClean="0">
                <a:latin typeface="微软雅黑" panose="020B0503020204020204" pitchFamily="34" charset="-122"/>
                <a:ea typeface="微软雅黑" panose="020B0503020204020204" pitchFamily="34" charset="-122"/>
                <a:sym typeface="+mn-ea"/>
              </a:rPr>
              <a:t>评审模块</a:t>
            </a:r>
            <a:r>
              <a:rPr lang="zh-CN" altLang="en-US" sz="1800" dirty="0" smtClean="0">
                <a:solidFill>
                  <a:srgbClr val="FF0000"/>
                </a:solidFill>
                <a:latin typeface="微软雅黑" panose="020B0503020204020204" pitchFamily="34" charset="-122"/>
                <a:ea typeface="微软雅黑" panose="020B0503020204020204" pitchFamily="34" charset="-122"/>
                <a:sym typeface="+mn-ea"/>
              </a:rPr>
              <a:t>发起预审流程</a:t>
            </a:r>
            <a:r>
              <a:rPr lang="zh-CN" altLang="en-US" sz="1800" dirty="0" smtClean="0">
                <a:latin typeface="微软雅黑" panose="020B0503020204020204" pitchFamily="34" charset="-122"/>
                <a:ea typeface="微软雅黑" panose="020B0503020204020204" pitchFamily="34" charset="-122"/>
                <a:sym typeface="+mn-ea"/>
              </a:rPr>
              <a:t>，并在</a:t>
            </a:r>
            <a:r>
              <a:rPr lang="zh-CN" altLang="en-US" sz="1800" dirty="0" smtClean="0">
                <a:solidFill>
                  <a:srgbClr val="FF0000"/>
                </a:solidFill>
                <a:latin typeface="微软雅黑" panose="020B0503020204020204" pitchFamily="34" charset="-122"/>
                <a:ea typeface="微软雅黑" panose="020B0503020204020204" pitchFamily="34" charset="-122"/>
                <a:sym typeface="+mn-ea"/>
              </a:rPr>
              <a:t>项目群中知会大家做好预审</a:t>
            </a:r>
            <a:r>
              <a:rPr lang="zh-CN" altLang="en-US" sz="1800" dirty="0" smtClean="0">
                <a:latin typeface="微软雅黑" panose="020B0503020204020204" pitchFamily="34" charset="-122"/>
                <a:ea typeface="微软雅黑" panose="020B0503020204020204" pitchFamily="34" charset="-122"/>
                <a:sym typeface="+mn-ea"/>
              </a:rPr>
              <a:t>；</a:t>
            </a:r>
            <a:endParaRPr lang="zh-CN" altLang="en-US"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由于会议时间紧急，</a:t>
            </a:r>
            <a:r>
              <a:rPr lang="zh-CN" sz="1800" dirty="0" smtClean="0">
                <a:solidFill>
                  <a:srgbClr val="FF0000"/>
                </a:solidFill>
                <a:latin typeface="微软雅黑" panose="020B0503020204020204" pitchFamily="34" charset="-122"/>
                <a:ea typeface="微软雅黑" panose="020B0503020204020204" pitchFamily="34" charset="-122"/>
                <a:sym typeface="+mn-ea"/>
              </a:rPr>
              <a:t>未进行决议宣读</a:t>
            </a:r>
            <a:r>
              <a:rPr lang="zh-CN" sz="1800" dirty="0" smtClean="0">
                <a:latin typeface="微软雅黑" panose="020B0503020204020204" pitchFamily="34" charset="-122"/>
                <a:ea typeface="微软雅黑" panose="020B0503020204020204" pitchFamily="34" charset="-122"/>
                <a:sym typeface="+mn-ea"/>
              </a:rPr>
              <a:t>；</a:t>
            </a:r>
            <a:r>
              <a:rPr lang="zh-CN" sz="1800" dirty="0" smtClean="0">
                <a:solidFill>
                  <a:srgbClr val="FF0000"/>
                </a:solidFill>
                <a:latin typeface="微软雅黑" panose="020B0503020204020204" pitchFamily="34" charset="-122"/>
                <a:ea typeface="微软雅黑" panose="020B0503020204020204" pitchFamily="34" charset="-122"/>
                <a:sym typeface="+mn-ea"/>
              </a:rPr>
              <a:t>会议记录人将正式评审意见登记在</a:t>
            </a:r>
            <a:r>
              <a:rPr lang="en-US" altLang="zh-CN" sz="1800" dirty="0" smtClean="0">
                <a:solidFill>
                  <a:srgbClr val="FF0000"/>
                </a:solidFill>
                <a:latin typeface="微软雅黑" panose="020B0503020204020204" pitchFamily="34" charset="-122"/>
                <a:ea typeface="微软雅黑" panose="020B0503020204020204" pitchFamily="34" charset="-122"/>
                <a:sym typeface="+mn-ea"/>
              </a:rPr>
              <a:t>erp</a:t>
            </a:r>
            <a:r>
              <a:rPr lang="zh-CN" altLang="en-US" sz="1800" dirty="0" smtClean="0">
                <a:solidFill>
                  <a:srgbClr val="FF0000"/>
                </a:solidFill>
                <a:latin typeface="微软雅黑" panose="020B0503020204020204" pitchFamily="34" charset="-122"/>
                <a:ea typeface="微软雅黑" panose="020B0503020204020204" pitchFamily="34" charset="-122"/>
                <a:sym typeface="+mn-ea"/>
              </a:rPr>
              <a:t>流程中，并将对应问题逐一修改后</a:t>
            </a:r>
            <a:r>
              <a:rPr lang="en-US" altLang="zh-CN" sz="1800" dirty="0" smtClean="0">
                <a:solidFill>
                  <a:srgbClr val="FF0000"/>
                </a:solidFill>
                <a:latin typeface="微软雅黑" panose="020B0503020204020204" pitchFamily="34" charset="-122"/>
                <a:ea typeface="微软雅黑" panose="020B0503020204020204" pitchFamily="34" charset="-122"/>
                <a:sym typeface="+mn-ea"/>
              </a:rPr>
              <a:t>close</a:t>
            </a:r>
            <a:r>
              <a:rPr lang="zh-CN" sz="1800" dirty="0" smtClean="0">
                <a:latin typeface="微软雅黑" panose="020B0503020204020204" pitchFamily="34" charset="-122"/>
                <a:ea typeface="微软雅黑" panose="020B0503020204020204" pitchFamily="34" charset="-122"/>
                <a:sym typeface="+mn-ea"/>
              </a:rPr>
              <a:t>。其中</a:t>
            </a:r>
            <a:r>
              <a:rPr lang="en-US" altLang="zh-CN" sz="1800" dirty="0" smtClean="0">
                <a:latin typeface="微软雅黑" panose="020B0503020204020204" pitchFamily="34" charset="-122"/>
                <a:ea typeface="微软雅黑" panose="020B0503020204020204" pitchFamily="34" charset="-122"/>
                <a:sym typeface="+mn-ea"/>
              </a:rPr>
              <a:t>1</a:t>
            </a:r>
            <a:r>
              <a:rPr lang="zh-CN" altLang="en-US" sz="1800" dirty="0" smtClean="0">
                <a:latin typeface="微软雅黑" panose="020B0503020204020204" pitchFamily="34" charset="-122"/>
                <a:ea typeface="微软雅黑" panose="020B0503020204020204" pitchFamily="34" charset="-122"/>
                <a:sym typeface="+mn-ea"/>
              </a:rPr>
              <a:t>个问题无法处理，项目经理评估需延迟</a:t>
            </a:r>
            <a:r>
              <a:rPr lang="en-US" altLang="zh-CN" sz="1800" dirty="0" smtClean="0">
                <a:latin typeface="微软雅黑" panose="020B0503020204020204" pitchFamily="34" charset="-122"/>
                <a:ea typeface="微软雅黑" panose="020B0503020204020204" pitchFamily="34" charset="-122"/>
                <a:sym typeface="+mn-ea"/>
              </a:rPr>
              <a:t>delay</a:t>
            </a:r>
            <a:r>
              <a:rPr lang="zh-CN" altLang="en-US" sz="1800" dirty="0" smtClean="0">
                <a:latin typeface="微软雅黑" panose="020B0503020204020204" pitchFamily="34" charset="-122"/>
                <a:ea typeface="微软雅黑" panose="020B0503020204020204" pitchFamily="34" charset="-122"/>
                <a:sym typeface="+mn-ea"/>
              </a:rPr>
              <a:t>处理，评审流程进入二次验证环节；</a:t>
            </a:r>
            <a:endParaRPr lang="zh-CN" altLang="en-US" sz="1800" dirty="0" smtClean="0">
              <a:latin typeface="微软雅黑" panose="020B0503020204020204" pitchFamily="34" charset="-122"/>
              <a:ea typeface="微软雅黑" panose="020B0503020204020204" pitchFamily="34" charset="-122"/>
              <a:sym typeface="+mn-ea"/>
            </a:endParaRPr>
          </a:p>
          <a:p>
            <a:pPr marL="342900" lvl="0" indent="-342900" rtl="0">
              <a:lnSpc>
                <a:spcPct val="150000"/>
              </a:lnSpc>
              <a:spcBef>
                <a:spcPct val="0"/>
              </a:spcBef>
              <a:spcAft>
                <a:spcPct val="35000"/>
              </a:spcAft>
              <a:buFont typeface="+mj-lt"/>
              <a:buAutoNum type="arabicPeriod"/>
            </a:pPr>
            <a:r>
              <a:rPr lang="zh-CN" sz="1800" dirty="0" smtClean="0">
                <a:latin typeface="微软雅黑" panose="020B0503020204020204" pitchFamily="34" charset="-122"/>
                <a:ea typeface="微软雅黑" panose="020B0503020204020204" pitchFamily="34" charset="-122"/>
                <a:sym typeface="+mn-ea"/>
              </a:rPr>
              <a:t>由于需求评审流程久未关闭影响阶段项目产物归档，</a:t>
            </a:r>
            <a:r>
              <a:rPr lang="zh-CN" sz="1800" dirty="0" smtClean="0">
                <a:solidFill>
                  <a:srgbClr val="FF0000"/>
                </a:solidFill>
                <a:latin typeface="微软雅黑" panose="020B0503020204020204" pitchFamily="34" charset="-122"/>
                <a:ea typeface="微软雅黑" panose="020B0503020204020204" pitchFamily="34" charset="-122"/>
                <a:sym typeface="+mn-ea"/>
              </a:rPr>
              <a:t>项目经理决策问题可以直接</a:t>
            </a:r>
            <a:r>
              <a:rPr lang="en-US" altLang="zh-CN" sz="1800" dirty="0" smtClean="0">
                <a:solidFill>
                  <a:srgbClr val="FF0000"/>
                </a:solidFill>
                <a:latin typeface="微软雅黑" panose="020B0503020204020204" pitchFamily="34" charset="-122"/>
                <a:ea typeface="微软雅黑" panose="020B0503020204020204" pitchFamily="34" charset="-122"/>
                <a:sym typeface="+mn-ea"/>
              </a:rPr>
              <a:t>close</a:t>
            </a:r>
            <a:r>
              <a:rPr lang="zh-CN" sz="1800" dirty="0" smtClean="0">
                <a:latin typeface="微软雅黑" panose="020B0503020204020204" pitchFamily="34" charset="-122"/>
                <a:ea typeface="微软雅黑" panose="020B0503020204020204" pitchFamily="34" charset="-122"/>
                <a:sym typeface="+mn-ea"/>
              </a:rPr>
              <a:t>，后续遇到同类问题再处理</a:t>
            </a:r>
            <a:endParaRPr lang="en-US" altLang="zh-CN" sz="1800" dirty="0" smtClean="0">
              <a:solidFill>
                <a:schemeClr val="tx1"/>
              </a:solidFill>
              <a:latin typeface="微软雅黑" panose="020B0503020204020204" pitchFamily="34" charset="-122"/>
              <a:ea typeface="微软雅黑" panose="020B0503020204020204" pitchFamily="34" charset="-122"/>
            </a:endParaRPr>
          </a:p>
          <a:p>
            <a:pPr lvl="0" rtl="0">
              <a:lnSpc>
                <a:spcPct val="100000"/>
              </a:lnSpc>
              <a:spcBef>
                <a:spcPct val="0"/>
              </a:spcBef>
              <a:spcAft>
                <a:spcPct val="35000"/>
              </a:spcAft>
              <a:buNone/>
            </a:pPr>
            <a:endParaRPr lang="zh-CN" altLang="en-US" sz="1800" dirty="0" smtClean="0">
              <a:latin typeface="微软雅黑" panose="020B0503020204020204" pitchFamily="34" charset="-122"/>
              <a:ea typeface="微软雅黑" panose="020B0503020204020204" pitchFamily="34" charset="-122"/>
              <a:sym typeface="+mn-ea"/>
            </a:endParaRPr>
          </a:p>
          <a:p>
            <a:pPr lvl="0" rtl="0">
              <a:lnSpc>
                <a:spcPct val="100000"/>
              </a:lnSpc>
              <a:spcBef>
                <a:spcPct val="0"/>
              </a:spcBef>
              <a:spcAft>
                <a:spcPct val="35000"/>
              </a:spcAft>
              <a:buNone/>
            </a:pPr>
            <a:endParaRPr lang="zh-CN" altLang="en-US" sz="1800" dirty="0" smtClean="0">
              <a:latin typeface="微软雅黑" panose="020B0503020204020204" pitchFamily="34" charset="-122"/>
              <a:ea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rgbClr val="FF0000"/>
                </a:solidFill>
              </a:rPr>
              <a:t>评审</a:t>
            </a:r>
            <a:r>
              <a:rPr lang="en-US" altLang="zh-CN">
                <a:solidFill>
                  <a:srgbClr val="FF0000"/>
                </a:solidFill>
              </a:rPr>
              <a:t>-</a:t>
            </a:r>
            <a:r>
              <a:rPr lang="zh-CN" altLang="en-US">
                <a:solidFill>
                  <a:srgbClr val="FF0000"/>
                </a:solidFill>
              </a:rPr>
              <a:t>案例</a:t>
            </a:r>
            <a:r>
              <a:rPr lang="en-US" altLang="zh-CN">
                <a:solidFill>
                  <a:srgbClr val="FF0000"/>
                </a:solidFill>
              </a:rPr>
              <a:t>2</a:t>
            </a:r>
            <a:r>
              <a:rPr>
                <a:solidFill>
                  <a:srgbClr val="FF0000"/>
                </a:solidFill>
              </a:rPr>
              <a:t>分析</a:t>
            </a:r>
            <a:endParaRPr dirty="0">
              <a:solidFill>
                <a:srgbClr val="FF0000"/>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3" name="文本框 2"/>
          <p:cNvSpPr txBox="1"/>
          <p:nvPr/>
        </p:nvSpPr>
        <p:spPr>
          <a:xfrm>
            <a:off x="767715" y="1155700"/>
            <a:ext cx="10170795" cy="4661535"/>
          </a:xfrm>
          <a:prstGeom prst="rect">
            <a:avLst/>
          </a:prstGeom>
          <a:noFill/>
        </p:spPr>
        <p:txBody>
          <a:bodyPr wrap="square" rtlCol="0" anchor="t">
            <a:spAutoFit/>
          </a:bodyPr>
          <a:p>
            <a:pPr fontAlgn="auto">
              <a:lnSpc>
                <a:spcPct val="150000"/>
              </a:lnSpc>
            </a:pP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问题梳理：</a:t>
            </a:r>
            <a:endParaRPr lang="zh-CN" altLang="en-US" sz="1800" b="1">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顺序问题，应先发起</a:t>
            </a:r>
            <a:r>
              <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评审预审流程</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后，再发出</a:t>
            </a:r>
            <a:r>
              <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会议通知；</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mj-lt"/>
              <a:buAutoNum type="arabicPeriod"/>
            </a:pP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评审会议</a:t>
            </a:r>
            <a:r>
              <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开始</a:t>
            </a:r>
            <a:r>
              <a:rPr 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2 小时</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前，</a:t>
            </a:r>
            <a:r>
              <a:rPr 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会议组织者在项目群汇报预审情况</a:t>
            </a:r>
            <a:r>
              <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fontAlgn="auto">
              <a:lnSpc>
                <a:spcPct val="150000"/>
              </a:lnSpc>
              <a:buFont typeface="+mj-lt"/>
              <a:buAutoNum type="arabicPeriod"/>
            </a:pPr>
            <a:r>
              <a:rPr lang="zh-CN" altLang="en-US" sz="180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会议</a:t>
            </a:r>
            <a:r>
              <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结束前要宣读会议记录问题；</a:t>
            </a:r>
            <a:endParaRPr lang="zh-CN" altLang="en-US" sz="18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fontAlgn="auto">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问题修改前需将</a:t>
            </a:r>
            <a:r>
              <a:rPr lang="zh-CN" sz="1800" dirty="0" smtClean="0">
                <a:latin typeface="微软雅黑" panose="020B0503020204020204" pitchFamily="34" charset="-122"/>
                <a:ea typeface="微软雅黑" panose="020B0503020204020204" pitchFamily="34" charset="-122"/>
                <a:cs typeface="微软雅黑" panose="020B0503020204020204" pitchFamily="34" charset="-122"/>
                <a:sym typeface="+mn-ea"/>
              </a:rPr>
              <a:t>评审记录发在</a:t>
            </a:r>
            <a:r>
              <a:rPr lang="zh-CN" sz="1800"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项目组群中进行确认</a:t>
            </a:r>
            <a:r>
              <a:rPr lang="zh-CN" sz="1800" dirty="0" smtClean="0">
                <a:latin typeface="微软雅黑" panose="020B0503020204020204" pitchFamily="34" charset="-122"/>
                <a:ea typeface="微软雅黑" panose="020B0503020204020204" pitchFamily="34" charset="-122"/>
                <a:cs typeface="微软雅黑" panose="020B0503020204020204" pitchFamily="34" charset="-122"/>
                <a:sym typeface="+mn-ea"/>
              </a:rPr>
              <a:t>，确保无遗漏后再修改处理；</a:t>
            </a:r>
            <a:endParaRPr lang="zh-CN" sz="1800" dirty="0" smtClean="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fontAlgn="auto">
              <a:lnSpc>
                <a:spcPct val="150000"/>
              </a:lnSpc>
              <a:buFont typeface="+mj-lt"/>
              <a:buAutoNum type="arabicPeriod"/>
            </a:pPr>
            <a:r>
              <a:rPr lang="en-US" sz="1800">
                <a:latin typeface="微软雅黑" panose="020B0503020204020204" pitchFamily="34" charset="-122"/>
                <a:ea typeface="微软雅黑" panose="020B0503020204020204" pitchFamily="34" charset="-122"/>
                <a:cs typeface="微软雅黑" panose="020B0503020204020204" pitchFamily="34" charset="-122"/>
                <a:sym typeface="+mn-ea"/>
              </a:rPr>
              <a:t>D</a:t>
            </a:r>
            <a:r>
              <a:rPr sz="1800">
                <a:latin typeface="微软雅黑" panose="020B0503020204020204" pitchFamily="34" charset="-122"/>
                <a:ea typeface="微软雅黑" panose="020B0503020204020204" pitchFamily="34" charset="-122"/>
                <a:cs typeface="微软雅黑" panose="020B0503020204020204" pitchFamily="34" charset="-122"/>
                <a:sym typeface="+mn-ea"/>
              </a:rPr>
              <a:t>elay</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问题在本项目中会处理，但是处理周期预计超过一周，先记录为</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D</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elay，流程先提交</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无法关闭流程</a:t>
            </a:r>
            <a:r>
              <a:rPr lang="en-US" altLang="zh-CN"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；等问题处理验证完后，再close或者有其他的决议（例如</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S</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uspend）</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fontAlgn="auto">
              <a:lnSpc>
                <a:spcPct val="150000"/>
              </a:lnSpc>
              <a:buFont typeface="+mj-lt"/>
              <a:buAutoNum type="arabicPeriod"/>
            </a:pP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对于</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Suspend</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目前无法处理，可在评审模块处持续跟踪（不统计二次确认部分流程处理时效），如果到</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结项节点</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还未</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Close</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的，则需在</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技术研究院维护</a:t>
            </a:r>
            <a:r>
              <a:rPr lang="zh-CN" alt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禅道上登记问题，此评审处问题</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关闭（不允许私自关闭问题）；</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fontAlgn="auto">
              <a:lnSpc>
                <a:spcPct val="150000"/>
              </a:lnSpc>
              <a:buFont typeface="+mj-lt"/>
              <a:buAutoNum type="arabicPeriod"/>
            </a:pP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工作流程</a:t>
            </a:r>
            <a:endParaRPr lang="zh-CN" altLang="en-US" dirty="0">
              <a:solidFill>
                <a:srgbClr val="FF0000"/>
              </a:solidFill>
            </a:endParaRPr>
          </a:p>
        </p:txBody>
      </p:sp>
      <p:grpSp>
        <p:nvGrpSpPr>
          <p:cNvPr id="3" name="Group 32"/>
          <p:cNvGrpSpPr/>
          <p:nvPr/>
        </p:nvGrpSpPr>
        <p:grpSpPr bwMode="auto">
          <a:xfrm>
            <a:off x="4587784" y="2683114"/>
            <a:ext cx="3009427" cy="2687601"/>
            <a:chOff x="576" y="1828"/>
            <a:chExt cx="1446" cy="1891"/>
          </a:xfrm>
        </p:grpSpPr>
        <p:sp>
          <p:nvSpPr>
            <p:cNvPr id="4" name="AutoShape 33"/>
            <p:cNvSpPr>
              <a:spLocks noChangeArrowheads="1"/>
            </p:cNvSpPr>
            <p:nvPr/>
          </p:nvSpPr>
          <p:spPr bwMode="auto">
            <a:xfrm>
              <a:off x="576" y="1942"/>
              <a:ext cx="1446" cy="1777"/>
            </a:xfrm>
            <a:prstGeom prst="roundRect">
              <a:avLst>
                <a:gd name="adj" fmla="val 4690"/>
              </a:avLst>
            </a:prstGeom>
            <a:noFill/>
            <a:ln w="57150">
              <a:solidFill>
                <a:schemeClr val="folHlink"/>
              </a:solidFill>
              <a:round/>
            </a:ln>
          </p:spPr>
          <p:txBody>
            <a:bodyPr wrap="none" anchor="ctr"/>
            <a:lstStyle/>
            <a:p>
              <a:endParaRPr lang="zh-CN" altLang="en-US"/>
            </a:p>
          </p:txBody>
        </p:sp>
        <p:sp>
          <p:nvSpPr>
            <p:cNvPr id="5" name="AutoShape 34"/>
            <p:cNvSpPr>
              <a:spLocks noChangeArrowheads="1"/>
            </p:cNvSpPr>
            <p:nvPr/>
          </p:nvSpPr>
          <p:spPr bwMode="gray">
            <a:xfrm>
              <a:off x="712" y="1852"/>
              <a:ext cx="1174" cy="178"/>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w="9525">
              <a:noFill/>
              <a:round/>
            </a:ln>
            <a:effectLst/>
          </p:spPr>
          <p:txBody>
            <a:bodyPr wrap="none" anchor="ctr"/>
            <a:lstStyle/>
            <a:p>
              <a:pPr>
                <a:defRPr/>
              </a:pPr>
              <a:endParaRPr lang="zh-CN" altLang="en-US"/>
            </a:p>
          </p:txBody>
        </p:sp>
        <p:sp>
          <p:nvSpPr>
            <p:cNvPr id="6" name="AutoShape 35"/>
            <p:cNvSpPr>
              <a:spLocks noChangeArrowheads="1"/>
            </p:cNvSpPr>
            <p:nvPr/>
          </p:nvSpPr>
          <p:spPr bwMode="auto">
            <a:xfrm flipH="1">
              <a:off x="1773" y="1897"/>
              <a:ext cx="45" cy="91"/>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8" name="AutoShape 36"/>
            <p:cNvSpPr>
              <a:spLocks noChangeArrowheads="1"/>
            </p:cNvSpPr>
            <p:nvPr/>
          </p:nvSpPr>
          <p:spPr bwMode="auto">
            <a:xfrm flipH="1">
              <a:off x="776" y="1897"/>
              <a:ext cx="46" cy="91"/>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9" name="Text Box 37"/>
            <p:cNvSpPr txBox="1">
              <a:spLocks noChangeArrowheads="1"/>
            </p:cNvSpPr>
            <p:nvPr/>
          </p:nvSpPr>
          <p:spPr bwMode="gray">
            <a:xfrm>
              <a:off x="1136" y="1828"/>
              <a:ext cx="569" cy="217"/>
            </a:xfrm>
            <a:prstGeom prst="rect">
              <a:avLst/>
            </a:prstGeom>
            <a:noFill/>
            <a:ln w="9525" algn="ctr">
              <a:noFill/>
              <a:miter lim="800000"/>
            </a:ln>
          </p:spPr>
          <p:txBody>
            <a:bodyPr wrap="none">
              <a:spAutoFit/>
            </a:bodyPr>
            <a:lstStyle/>
            <a:p>
              <a:pPr eaLnBrk="0" hangingPunct="0"/>
              <a:r>
                <a:rPr lang="zh-CN" altLang="en-US" sz="1400" dirty="0">
                  <a:solidFill>
                    <a:schemeClr val="bg1"/>
                  </a:solidFill>
                </a:rPr>
                <a:t>工作产物</a:t>
              </a:r>
              <a:endParaRPr lang="zh-CN" altLang="en-US" sz="1400" dirty="0">
                <a:solidFill>
                  <a:schemeClr val="bg1"/>
                </a:solidFill>
              </a:endParaRPr>
            </a:p>
          </p:txBody>
        </p:sp>
        <p:sp>
          <p:nvSpPr>
            <p:cNvPr id="10" name="Text Box 38"/>
            <p:cNvSpPr txBox="1">
              <a:spLocks noChangeArrowheads="1"/>
            </p:cNvSpPr>
            <p:nvPr/>
          </p:nvSpPr>
          <p:spPr bwMode="auto">
            <a:xfrm>
              <a:off x="678" y="2134"/>
              <a:ext cx="1344" cy="1386"/>
            </a:xfrm>
            <a:prstGeom prst="rect">
              <a:avLst/>
            </a:prstGeom>
            <a:noFill/>
            <a:ln w="9525" algn="ctr">
              <a:noFill/>
              <a:miter lim="800000"/>
            </a:ln>
          </p:spPr>
          <p:txBody>
            <a:bodyPr wrap="square">
              <a:noAutofit/>
            </a:bodyPr>
            <a:lstStyle/>
            <a:p>
              <a:pPr algn="l" fontAlgn="auto">
                <a:lnSpc>
                  <a:spcPct val="150000"/>
                </a:lnSpc>
                <a:buFont typeface="Wingdings" panose="05000000000000000000" pitchFamily="2" charset="2"/>
                <a:buChar char="Ø"/>
              </a:pPr>
              <a:r>
                <a:rPr lang="zh-CN" altLang="en-US" sz="2000" dirty="0">
                  <a:latin typeface="微软雅黑" panose="020B0503020204020204" pitchFamily="34" charset="-122"/>
                  <a:ea typeface="微软雅黑" panose="020B0503020204020204" pitchFamily="34" charset="-122"/>
                </a:rPr>
                <a:t>评审会议通知</a:t>
              </a:r>
              <a:endParaRPr lang="zh-CN" altLang="en-US" sz="2000" dirty="0">
                <a:latin typeface="微软雅黑" panose="020B0503020204020204" pitchFamily="34" charset="-122"/>
                <a:ea typeface="微软雅黑" panose="020B0503020204020204" pitchFamily="34" charset="-122"/>
              </a:endParaRPr>
            </a:p>
            <a:p>
              <a:pPr algn="l" fontAlgn="auto">
                <a:lnSpc>
                  <a:spcPct val="150000"/>
                </a:lnSpc>
                <a:buFont typeface="Wingdings" panose="05000000000000000000" pitchFamily="2" charset="2"/>
                <a:buChar char="Ø"/>
              </a:pPr>
              <a:r>
                <a:rPr lang="en-US" altLang="zh-CN" sz="2000" dirty="0">
                  <a:latin typeface="微软雅黑" panose="020B0503020204020204" pitchFamily="34" charset="-122"/>
                  <a:ea typeface="微软雅黑" panose="020B0503020204020204" pitchFamily="34" charset="-122"/>
                  <a:sym typeface="+mn-ea"/>
                </a:rPr>
                <a:t>ERP</a:t>
              </a:r>
              <a:r>
                <a:rPr lang="zh-CN" altLang="en-US" dirty="0">
                  <a:latin typeface="微软雅黑" panose="020B0503020204020204" pitchFamily="34" charset="-122"/>
                  <a:ea typeface="微软雅黑" panose="020B0503020204020204" pitchFamily="34" charset="-122"/>
                  <a:sym typeface="+mn-ea"/>
                </a:rPr>
                <a:t>登记的</a:t>
              </a:r>
              <a:r>
                <a:rPr lang="zh-CN" altLang="en-US" sz="2000" dirty="0">
                  <a:latin typeface="微软雅黑" panose="020B0503020204020204" pitchFamily="34" charset="-122"/>
                  <a:ea typeface="微软雅黑" panose="020B0503020204020204" pitchFamily="34" charset="-122"/>
                  <a:sym typeface="+mn-ea"/>
                </a:rPr>
                <a:t>评审问题</a:t>
              </a:r>
              <a:endParaRPr lang="zh-CN" altLang="en-US" sz="2000" dirty="0">
                <a:latin typeface="微软雅黑" panose="020B0503020204020204" pitchFamily="34" charset="-122"/>
                <a:ea typeface="微软雅黑" panose="020B0503020204020204" pitchFamily="34" charset="-122"/>
                <a:sym typeface="+mn-ea"/>
              </a:endParaRPr>
            </a:p>
            <a:p>
              <a:pPr algn="l" fontAlgn="auto">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mn-ea"/>
                </a:rPr>
                <a:t>修改后的被评审资料</a:t>
              </a:r>
              <a:endParaRPr lang="zh-CN" altLang="en-US" dirty="0">
                <a:latin typeface="微软雅黑" panose="020B0503020204020204" pitchFamily="34" charset="-122"/>
                <a:ea typeface="微软雅黑" panose="020B0503020204020204" pitchFamily="34" charset="-122"/>
              </a:endParaRPr>
            </a:p>
            <a:p>
              <a:pPr algn="l" fontAlgn="auto">
                <a:lnSpc>
                  <a:spcPct val="150000"/>
                </a:lnSpc>
                <a:buFont typeface="Wingdings" panose="05000000000000000000" pitchFamily="2" charset="2"/>
                <a:buChar char="Ø"/>
              </a:pPr>
              <a:endParaRPr lang="zh-CN" altLang="en-US" sz="2000" dirty="0">
                <a:latin typeface="微软雅黑" panose="020B0503020204020204" pitchFamily="34" charset="-122"/>
                <a:ea typeface="微软雅黑" panose="020B0503020204020204" pitchFamily="34" charset="-122"/>
              </a:endParaRPr>
            </a:p>
            <a:p>
              <a:pPr algn="l" fontAlgn="auto">
                <a:lnSpc>
                  <a:spcPct val="150000"/>
                </a:lnSpc>
                <a:buFont typeface="Wingdings" panose="05000000000000000000" pitchFamily="2" charset="2"/>
                <a:buChar char="Ø"/>
              </a:pPr>
              <a:endParaRPr lang="zh-CN" altLang="en-US" sz="2000"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11" name="Text Box 45"/>
          <p:cNvSpPr txBox="1">
            <a:spLocks noChangeArrowheads="1"/>
          </p:cNvSpPr>
          <p:nvPr/>
        </p:nvSpPr>
        <p:spPr bwMode="gray">
          <a:xfrm>
            <a:off x="845186" y="1558925"/>
            <a:ext cx="10820950" cy="1014730"/>
          </a:xfrm>
          <a:prstGeom prst="rect">
            <a:avLst/>
          </a:prstGeom>
          <a:noFill/>
          <a:ln w="9525" algn="ctr">
            <a:noFill/>
            <a:miter lim="800000"/>
          </a:ln>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被评审资料发出申请</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评审人员预审</a:t>
            </a:r>
            <a:r>
              <a:rPr lang="en-US" altLang="zh-CN" sz="2000"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sym typeface="+mn-ea"/>
              </a:rPr>
              <a:t>评审会议通知</a:t>
            </a:r>
            <a:r>
              <a:rPr lang="en-US" altLang="zh-CN" dirty="0">
                <a:latin typeface="微软雅黑" panose="020B0503020204020204" pitchFamily="34" charset="-122"/>
                <a:ea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rPr>
              <a:t>正式评审</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登记评审记录、</a:t>
            </a:r>
            <a:r>
              <a:rPr lang="zh-CN" altLang="en-US" dirty="0">
                <a:latin typeface="微软雅黑" panose="020B0503020204020204" pitchFamily="34" charset="-122"/>
                <a:ea typeface="微软雅黑" panose="020B0503020204020204" pitchFamily="34" charset="-122"/>
                <a:sym typeface="+mn-ea"/>
              </a:rPr>
              <a:t>修改评审资料</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跟踪流程关闭</a:t>
            </a:r>
            <a:endParaRPr lang="zh-CN" altLang="en-US" sz="2000" dirty="0">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评审</a:t>
            </a:r>
            <a:r>
              <a:rPr lang="en-US" altLang="zh-CN" dirty="0" smtClean="0">
                <a:solidFill>
                  <a:schemeClr val="tx1"/>
                </a:solidFill>
              </a:rPr>
              <a:t>-</a:t>
            </a:r>
            <a:r>
              <a:rPr lang="zh-CN" altLang="en-US" dirty="0" smtClean="0">
                <a:solidFill>
                  <a:srgbClr val="FF0000"/>
                </a:solidFill>
              </a:rPr>
              <a:t>过程关注点</a:t>
            </a:r>
            <a:endParaRPr lang="zh-CN" altLang="en-US" dirty="0">
              <a:solidFill>
                <a:srgbClr val="FF0000"/>
              </a:solidFill>
            </a:endParaRPr>
          </a:p>
        </p:txBody>
      </p:sp>
      <p:graphicFrame>
        <p:nvGraphicFramePr>
          <p:cNvPr id="3" name="表格 2"/>
          <p:cNvGraphicFramePr>
            <a:graphicFrameLocks noGrp="1"/>
          </p:cNvGraphicFramePr>
          <p:nvPr>
            <p:custDataLst>
              <p:tags r:id="rId1"/>
            </p:custDataLst>
          </p:nvPr>
        </p:nvGraphicFramePr>
        <p:xfrm>
          <a:off x="504190" y="1007745"/>
          <a:ext cx="11026775" cy="5405120"/>
        </p:xfrm>
        <a:graphic>
          <a:graphicData uri="http://schemas.openxmlformats.org/drawingml/2006/table">
            <a:tbl>
              <a:tblPr>
                <a:tableStyleId>{69CF1AB2-1976-4502-BF36-3FF5EA218861}</a:tableStyleId>
              </a:tblPr>
              <a:tblGrid>
                <a:gridCol w="1474470"/>
                <a:gridCol w="9552305"/>
              </a:tblGrid>
              <a:tr h="723265">
                <a:tc rowSpan="5">
                  <a:txBody>
                    <a:bodyPr/>
                    <a:lstStyle/>
                    <a:p>
                      <a:pPr algn="ctr" fontAlgn="ctr"/>
                      <a:r>
                        <a:rPr lang="zh-CN" altLang="en-US" sz="1800" u="none" dirty="0">
                          <a:latin typeface="微软雅黑" panose="020B0503020204020204" pitchFamily="34" charset="-122"/>
                          <a:ea typeface="微软雅黑" panose="020B0503020204020204" pitchFamily="34" charset="-122"/>
                        </a:rPr>
                        <a:t>评审</a:t>
                      </a:r>
                      <a:endParaRPr lang="zh-CN" altLang="en-US" sz="1800" u="none" strike="noStrike" dirty="0" smtClean="0">
                        <a:effectLst/>
                        <a:latin typeface="微软雅黑" panose="020B0503020204020204" pitchFamily="34" charset="-122"/>
                        <a:ea typeface="微软雅黑" panose="020B0503020204020204" pitchFamily="34" charset="-122"/>
                      </a:endParaRPr>
                    </a:p>
                  </a:txBody>
                  <a:tcPr marL="9525" marR="9525" marT="9525" marB="0" anchor="ctr">
                    <a:solidFill>
                      <a:schemeClr val="accent1">
                        <a:lumMod val="20000"/>
                        <a:lumOff val="80000"/>
                      </a:schemeClr>
                    </a:solidFill>
                  </a:tcPr>
                </a:tc>
                <a:tc>
                  <a:txBody>
                    <a:bodyPr/>
                    <a:lstStyle/>
                    <a:p>
                      <a:pPr algn="just" fontAlgn="t">
                        <a:lnSpc>
                          <a:spcPct val="120000"/>
                        </a:lnSpc>
                      </a:pPr>
                      <a:r>
                        <a:rPr lang="zh-CN" altLang="en-US" sz="1800" u="none" strike="noStrike" kern="1200" dirty="0" smtClean="0">
                          <a:solidFill>
                            <a:schemeClr val="dk1"/>
                          </a:solidFill>
                          <a:effectLst/>
                          <a:latin typeface="微软雅黑" panose="020B0503020204020204" pitchFamily="34" charset="-122"/>
                          <a:ea typeface="微软雅黑" panose="020B0503020204020204" pitchFamily="34" charset="-122"/>
                          <a:cs typeface="+mn-cs"/>
                        </a:rPr>
                        <a:t>评审类型分哪些？（管理类、技术类、决策类）</a:t>
                      </a:r>
                      <a:endPar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accent1">
                        <a:lumMod val="20000"/>
                        <a:lumOff val="80000"/>
                      </a:schemeClr>
                    </a:solidFill>
                  </a:tcPr>
                </a:tc>
              </a:tr>
              <a:tr h="617220">
                <a:tc vMerge="1">
                  <a:tcPr/>
                </a:tc>
                <a:tc>
                  <a:txBody>
                    <a:bodyPr/>
                    <a:p>
                      <a:pPr marL="0" marR="0" lvl="0" indent="0" algn="just" defTabSz="761365" rtl="0" eaLnBrk="1" fontAlgn="t" latinLnBrk="0" hangingPunct="1">
                        <a:lnSpc>
                          <a:spcPct val="120000"/>
                        </a:lnSpc>
                        <a:spcBef>
                          <a:spcPts val="0"/>
                        </a:spcBef>
                        <a:spcAft>
                          <a:spcPts val="0"/>
                        </a:spcAft>
                        <a:buClrTx/>
                        <a:buSzTx/>
                        <a:buFontTx/>
                        <a:buNone/>
                        <a:defRPr/>
                      </a:pPr>
                      <a:r>
                        <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rPr>
                        <a:t>评审参与人：</a:t>
                      </a:r>
                      <a:r>
                        <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rPr>
                        <a:t>明确核心评审人员</a:t>
                      </a:r>
                      <a:endPar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accent1">
                        <a:lumMod val="20000"/>
                        <a:lumOff val="80000"/>
                      </a:schemeClr>
                    </a:solidFill>
                  </a:tcPr>
                </a:tc>
              </a:tr>
              <a:tr h="1199515">
                <a:tc vMerge="1">
                  <a:tcPr/>
                </a:tc>
                <a:tc>
                  <a:txBody>
                    <a:bodyPr/>
                    <a:p>
                      <a:pPr>
                        <a:lnSpc>
                          <a:spcPct val="120000"/>
                        </a:lnSpc>
                      </a:pPr>
                      <a:r>
                        <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rPr>
                        <a:t>预审要求？</a:t>
                      </a:r>
                      <a:r>
                        <a:rPr lang="zh-CN" altLang="zh-CN" sz="1800" u="none" strike="noStrike" kern="1200" dirty="0" smtClean="0">
                          <a:solidFill>
                            <a:schemeClr val="dk1"/>
                          </a:solidFill>
                          <a:latin typeface="微软雅黑" panose="020B0503020204020204" pitchFamily="34" charset="-122"/>
                          <a:ea typeface="微软雅黑" panose="020B0503020204020204" pitchFamily="34" charset="-122"/>
                          <a:cs typeface="+mn-cs"/>
                        </a:rPr>
                        <a:t>（</a:t>
                      </a:r>
                      <a:r>
                        <a:rPr lang="zh-CN" altLang="zh-CN" sz="1800" dirty="0" smtClean="0">
                          <a:latin typeface="微软雅黑" panose="020B0503020204020204" pitchFamily="34" charset="-122"/>
                          <a:ea typeface="微软雅黑" panose="020B0503020204020204" pitchFamily="34" charset="-122"/>
                          <a:sym typeface="+mn-ea"/>
                        </a:rPr>
                        <a:t>a. 预审达标，评审会议正常开展；b. 预审意见不足人员不参会，评审会议正常开展；c. 李四（核心）未提意见，本次评审会议推迟开展；d. 王五（核心）无法参会已提预审意见，分管领导已决策评审会议正常开展）</a:t>
                      </a:r>
                      <a:endParaRPr lang="zh-CN" altLang="zh-CN" sz="1800" u="none" strike="noStrike" kern="1200" dirty="0" smtClean="0">
                        <a:solidFill>
                          <a:schemeClr val="dk1"/>
                        </a:solidFill>
                        <a:latin typeface="微软雅黑" panose="020B0503020204020204" pitchFamily="34" charset="-122"/>
                        <a:ea typeface="微软雅黑" panose="020B0503020204020204" pitchFamily="34" charset="-122"/>
                        <a:cs typeface="+mn-cs"/>
                      </a:endParaRPr>
                    </a:p>
                  </a:txBody>
                  <a:tcPr marL="9525" marR="9525" marT="9525" marB="0" anchor="ctr">
                    <a:solidFill>
                      <a:schemeClr val="accent1">
                        <a:lumMod val="20000"/>
                        <a:lumOff val="80000"/>
                      </a:schemeClr>
                    </a:solidFill>
                  </a:tcPr>
                </a:tc>
              </a:tr>
              <a:tr h="1739900">
                <a:tc vMerge="1">
                  <a:tcPr/>
                </a:tc>
                <a:tc>
                  <a:txBody>
                    <a:bodyPr/>
                    <a:lstStyle/>
                    <a:p>
                      <a:pPr marL="0" marR="0" lvl="0" indent="0" algn="just" defTabSz="761365" rtl="0" eaLnBrk="1" fontAlgn="t" latinLnBrk="0" hangingPunct="1">
                        <a:lnSpc>
                          <a:spcPct val="120000"/>
                        </a:lnSpc>
                        <a:spcBef>
                          <a:spcPts val="0"/>
                        </a:spcBef>
                        <a:spcAft>
                          <a:spcPts val="0"/>
                        </a:spcAft>
                        <a:buClrTx/>
                        <a:buSzTx/>
                        <a:buFontTx/>
                        <a:buNone/>
                        <a:defRPr/>
                      </a:pPr>
                      <a:r>
                        <a:rPr lang="zh-CN" altLang="zh-CN" sz="1800" dirty="0" smtClean="0">
                          <a:latin typeface="微软雅黑" panose="020B0503020204020204" pitchFamily="34" charset="-122"/>
                          <a:ea typeface="微软雅黑" panose="020B0503020204020204" pitchFamily="34" charset="-122"/>
                        </a:rPr>
                        <a:t>评审会议组织流程：①</a:t>
                      </a:r>
                      <a:r>
                        <a:rPr lang="zh-CN" sz="1800" dirty="0" smtClean="0">
                          <a:latin typeface="微软雅黑" panose="020B0503020204020204" pitchFamily="34" charset="-122"/>
                          <a:ea typeface="微软雅黑" panose="020B0503020204020204" pitchFamily="34" charset="-122"/>
                        </a:rPr>
                        <a:t>项目群</a:t>
                      </a:r>
                      <a:r>
                        <a:rPr lang="zh-CN" altLang="zh-CN" sz="1800" dirty="0" smtClean="0">
                          <a:latin typeface="微软雅黑" panose="020B0503020204020204" pitchFamily="34" charset="-122"/>
                          <a:ea typeface="微软雅黑" panose="020B0503020204020204" pitchFamily="34" charset="-122"/>
                        </a:rPr>
                        <a:t>将评审资料</a:t>
                      </a:r>
                      <a:r>
                        <a:rPr lang="zh-CN" altLang="zh-CN" sz="1800" smtClean="0">
                          <a:latin typeface="微软雅黑" panose="020B0503020204020204" pitchFamily="34" charset="-122"/>
                          <a:ea typeface="微软雅黑" panose="020B0503020204020204" pitchFamily="34" charset="-122"/>
                        </a:rPr>
                        <a:t>发出预审</a:t>
                      </a:r>
                      <a:r>
                        <a:rPr lang="zh-CN" altLang="en-US" sz="1800" smtClean="0">
                          <a:latin typeface="微软雅黑" panose="020B0503020204020204" pitchFamily="34" charset="-122"/>
                          <a:ea typeface="微软雅黑" panose="020B0503020204020204" pitchFamily="34" charset="-122"/>
                        </a:rPr>
                        <a:t>，</a:t>
                      </a:r>
                      <a:r>
                        <a:rPr lang="en-US" altLang="zh-CN" sz="1800" smtClean="0">
                          <a:latin typeface="微软雅黑" panose="020B0503020204020204" pitchFamily="34" charset="-122"/>
                          <a:ea typeface="微软雅黑" panose="020B0503020204020204" pitchFamily="34" charset="-122"/>
                        </a:rPr>
                        <a:t>ERP</a:t>
                      </a:r>
                      <a:r>
                        <a:rPr lang="zh-CN" altLang="en-US" sz="1800" smtClean="0">
                          <a:latin typeface="微软雅黑" panose="020B0503020204020204" pitchFamily="34" charset="-122"/>
                          <a:ea typeface="微软雅黑" panose="020B0503020204020204" pitchFamily="34" charset="-122"/>
                        </a:rPr>
                        <a:t>评审申请登记，约定建议反馈时间</a:t>
                      </a:r>
                      <a:r>
                        <a:rPr lang="en-US" altLang="zh-CN" sz="1800" smtClean="0">
                          <a:latin typeface="微软雅黑" panose="020B0503020204020204" pitchFamily="34" charset="-122"/>
                          <a:ea typeface="微软雅黑" panose="020B0503020204020204" pitchFamily="34" charset="-122"/>
                        </a:rPr>
                        <a:t>——</a:t>
                      </a:r>
                      <a:r>
                        <a:rPr lang="zh-CN" altLang="en-US" sz="1800" smtClean="0">
                          <a:latin typeface="微软雅黑" panose="020B0503020204020204" pitchFamily="34" charset="-122"/>
                          <a:ea typeface="微软雅黑" panose="020B0503020204020204" pitchFamily="34" charset="-122"/>
                        </a:rPr>
                        <a:t>②</a:t>
                      </a:r>
                      <a:r>
                        <a:rPr lang="zh-CN" altLang="zh-CN" sz="1800" dirty="0" smtClean="0">
                          <a:latin typeface="微软雅黑" panose="020B0503020204020204" pitchFamily="34" charset="-122"/>
                          <a:ea typeface="微软雅黑" panose="020B0503020204020204" pitchFamily="34" charset="-122"/>
                        </a:rPr>
                        <a:t>与相关人员确定会议时间——③</a:t>
                      </a:r>
                      <a:r>
                        <a:rPr lang="en-US" altLang="zh-CN" sz="1800" dirty="0" smtClean="0">
                          <a:latin typeface="微软雅黑" panose="020B0503020204020204" pitchFamily="34" charset="-122"/>
                          <a:ea typeface="微软雅黑" panose="020B0503020204020204" pitchFamily="34" charset="-122"/>
                        </a:rPr>
                        <a:t>ERP</a:t>
                      </a:r>
                      <a:r>
                        <a:rPr lang="zh-CN" altLang="zh-CN" sz="1800" dirty="0" smtClean="0">
                          <a:latin typeface="微软雅黑" panose="020B0503020204020204" pitchFamily="34" charset="-122"/>
                          <a:ea typeface="微软雅黑" panose="020B0503020204020204" pitchFamily="34" charset="-122"/>
                        </a:rPr>
                        <a:t>上预约会议室</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④</a:t>
                      </a:r>
                      <a:r>
                        <a:rPr lang="zh-CN" sz="1800" dirty="0" smtClean="0">
                          <a:solidFill>
                            <a:schemeClr val="tx1"/>
                          </a:solidFill>
                          <a:latin typeface="+mn-ea"/>
                          <a:sym typeface="+mn-ea"/>
                        </a:rPr>
                        <a:t>发出会议通知、添加企业微信日程</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⑤</a:t>
                      </a:r>
                      <a:r>
                        <a:rPr lang="zh-CN" altLang="zh-CN" sz="1800" dirty="0" smtClean="0">
                          <a:latin typeface="微软雅黑" panose="020B0503020204020204" pitchFamily="34" charset="-122"/>
                          <a:ea typeface="微软雅黑" panose="020B0503020204020204" pitchFamily="34" charset="-122"/>
                        </a:rPr>
                        <a:t>组织进行会议</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⑥</a:t>
                      </a:r>
                      <a:r>
                        <a:rPr lang="zh-CN" sz="1800" dirty="0" smtClean="0">
                          <a:highlight>
                            <a:srgbClr val="000000">
                              <a:alpha val="0"/>
                            </a:srgbClr>
                          </a:highlight>
                          <a:latin typeface="+mn-ea"/>
                          <a:sym typeface="+mn-ea"/>
                        </a:rPr>
                        <a:t>会议结束前宣读决议</a:t>
                      </a:r>
                      <a:r>
                        <a:rPr lang="en-US" sz="1800" dirty="0" smtClean="0">
                          <a:latin typeface="+mn-ea"/>
                          <a:sym typeface="+mn-ea"/>
                        </a:rPr>
                        <a:t>——</a:t>
                      </a:r>
                      <a:r>
                        <a:rPr lang="zh-CN" altLang="en-US" sz="1800" dirty="0" smtClean="0">
                          <a:latin typeface="+mn-ea"/>
                          <a:sym typeface="+mn-ea"/>
                        </a:rPr>
                        <a:t>⑦</a:t>
                      </a:r>
                      <a:r>
                        <a:rPr lang="zh-CN" altLang="zh-CN" sz="1800" dirty="0" smtClean="0">
                          <a:latin typeface="微软雅黑" panose="020B0503020204020204" pitchFamily="34" charset="-122"/>
                          <a:ea typeface="微软雅黑" panose="020B0503020204020204" pitchFamily="34" charset="-122"/>
                        </a:rPr>
                        <a:t>会后整理评审问题在项目组群中确认</a:t>
                      </a:r>
                      <a:r>
                        <a:rPr lang="en-US" altLang="zh-CN" sz="1800" dirty="0" smtClean="0">
                          <a:latin typeface="微软雅黑" panose="020B0503020204020204" pitchFamily="34" charset="-122"/>
                          <a:ea typeface="微软雅黑" panose="020B0503020204020204" pitchFamily="34" charset="-122"/>
                        </a:rPr>
                        <a:t>——</a:t>
                      </a:r>
                      <a:r>
                        <a:rPr lang="zh-CN" altLang="en-US" sz="1800" dirty="0" smtClean="0">
                          <a:latin typeface="微软雅黑" panose="020B0503020204020204" pitchFamily="34" charset="-122"/>
                          <a:ea typeface="微软雅黑" panose="020B0503020204020204" pitchFamily="34" charset="-122"/>
                        </a:rPr>
                        <a:t>⑧按照评审意见修改，验证无误后，</a:t>
                      </a:r>
                      <a:r>
                        <a:rPr lang="zh-CN" altLang="zh-CN" sz="1800" dirty="0" smtClean="0">
                          <a:latin typeface="微软雅黑" panose="020B0503020204020204" pitchFamily="34" charset="-122"/>
                          <a:ea typeface="微软雅黑" panose="020B0503020204020204" pitchFamily="34" charset="-122"/>
                        </a:rPr>
                        <a:t>资料上传配置库</a:t>
                      </a:r>
                      <a:endParaRPr lang="zh-CN" altLang="en-US" sz="1800" u="none" strike="noStrike" kern="1200" dirty="0">
                        <a:solidFill>
                          <a:schemeClr val="dk1"/>
                        </a:solidFill>
                        <a:effectLst/>
                        <a:latin typeface="微软雅黑" panose="020B0503020204020204" pitchFamily="34" charset="-122"/>
                        <a:ea typeface="微软雅黑" panose="020B0503020204020204" pitchFamily="34" charset="-122"/>
                        <a:cs typeface="+mn-cs"/>
                      </a:endParaRPr>
                    </a:p>
                  </a:txBody>
                  <a:tcPr marL="9525" marR="9525" marT="9525" marB="0" anchor="ctr">
                    <a:solidFill>
                      <a:schemeClr val="accent1">
                        <a:lumMod val="20000"/>
                        <a:lumOff val="80000"/>
                      </a:schemeClr>
                    </a:solidFill>
                  </a:tcPr>
                </a:tc>
              </a:tr>
              <a:tr h="1125220">
                <a:tc vMerge="1">
                  <a:tcPr/>
                </a:tc>
                <a:tc>
                  <a:txBody>
                    <a:bodyPr/>
                    <a:lstStyle/>
                    <a:p>
                      <a:pPr marL="0" marR="0" lvl="0" indent="0" algn="l" defTabSz="761365" rtl="0" eaLnBrk="1" fontAlgn="ctr" latinLnBrk="0" hangingPunct="1">
                        <a:lnSpc>
                          <a:spcPct val="120000"/>
                        </a:lnSpc>
                        <a:spcBef>
                          <a:spcPts val="0"/>
                        </a:spcBef>
                        <a:spcAft>
                          <a:spcPts val="0"/>
                        </a:spcAft>
                        <a:buClrTx/>
                        <a:buSzTx/>
                        <a:buFontTx/>
                        <a:buNone/>
                        <a:defRPr/>
                      </a:pPr>
                      <a:r>
                        <a:rPr lang="zh-CN" altLang="zh-CN" sz="1800" dirty="0" smtClean="0">
                          <a:latin typeface="微软雅黑" panose="020B0503020204020204" pitchFamily="34" charset="-122"/>
                          <a:ea typeface="微软雅黑" panose="020B0503020204020204" pitchFamily="34" charset="-122"/>
                        </a:rPr>
                        <a:t>对于技术类的评审一般评审资料为</a:t>
                      </a:r>
                      <a:r>
                        <a:rPr lang="en-US" altLang="zh-CN" sz="1800" dirty="0" smtClean="0">
                          <a:latin typeface="微软雅黑" panose="020B0503020204020204" pitchFamily="34" charset="-122"/>
                          <a:ea typeface="微软雅黑" panose="020B0503020204020204" pitchFamily="34" charset="-122"/>
                        </a:rPr>
                        <a:t>30</a:t>
                      </a:r>
                      <a:r>
                        <a:rPr lang="zh-CN" altLang="zh-CN" sz="1800" dirty="0" smtClean="0">
                          <a:latin typeface="微软雅黑" panose="020B0503020204020204" pitchFamily="34" charset="-122"/>
                          <a:ea typeface="微软雅黑" panose="020B0503020204020204" pitchFamily="34" charset="-122"/>
                        </a:rPr>
                        <a:t>页以下的，提前</a:t>
                      </a:r>
                      <a:r>
                        <a:rPr lang="en-US" altLang="zh-CN" sz="1800" dirty="0" smtClean="0">
                          <a:latin typeface="微软雅黑" panose="020B0503020204020204" pitchFamily="34" charset="-122"/>
                          <a:ea typeface="微软雅黑" panose="020B0503020204020204" pitchFamily="34" charset="-122"/>
                        </a:rPr>
                        <a:t>1</a:t>
                      </a:r>
                      <a:r>
                        <a:rPr lang="zh-CN" altLang="zh-CN" sz="1800" dirty="0" smtClean="0">
                          <a:latin typeface="微软雅黑" panose="020B0503020204020204" pitchFamily="34" charset="-122"/>
                          <a:ea typeface="微软雅黑" panose="020B0503020204020204" pitchFamily="34" charset="-122"/>
                        </a:rPr>
                        <a:t>天；</a:t>
                      </a:r>
                      <a:r>
                        <a:rPr lang="en-US" altLang="zh-CN" sz="1800" dirty="0" smtClean="0">
                          <a:latin typeface="微软雅黑" panose="020B0503020204020204" pitchFamily="34" charset="-122"/>
                          <a:ea typeface="微软雅黑" panose="020B0503020204020204" pitchFamily="34" charset="-122"/>
                        </a:rPr>
                        <a:t>30-60</a:t>
                      </a:r>
                      <a:r>
                        <a:rPr lang="zh-CN" altLang="zh-CN" sz="1800" dirty="0" smtClean="0">
                          <a:latin typeface="微软雅黑" panose="020B0503020204020204" pitchFamily="34" charset="-122"/>
                          <a:ea typeface="微软雅黑" panose="020B0503020204020204" pitchFamily="34" charset="-122"/>
                        </a:rPr>
                        <a:t>页的提前</a:t>
                      </a:r>
                      <a:r>
                        <a:rPr lang="en-US" altLang="zh-CN" sz="1800" dirty="0" smtClean="0">
                          <a:latin typeface="微软雅黑" panose="020B0503020204020204" pitchFamily="34" charset="-122"/>
                          <a:ea typeface="微软雅黑" panose="020B0503020204020204" pitchFamily="34" charset="-122"/>
                        </a:rPr>
                        <a:t>1-2</a:t>
                      </a:r>
                      <a:r>
                        <a:rPr lang="zh-CN" altLang="zh-CN" sz="1800" dirty="0" smtClean="0">
                          <a:latin typeface="微软雅黑" panose="020B0503020204020204" pitchFamily="34" charset="-122"/>
                          <a:ea typeface="微软雅黑" panose="020B0503020204020204" pitchFamily="34" charset="-122"/>
                        </a:rPr>
                        <a:t>天；</a:t>
                      </a:r>
                      <a:r>
                        <a:rPr lang="en-US" altLang="zh-CN" sz="1800" dirty="0" smtClean="0">
                          <a:latin typeface="微软雅黑" panose="020B0503020204020204" pitchFamily="34" charset="-122"/>
                          <a:ea typeface="微软雅黑" panose="020B0503020204020204" pitchFamily="34" charset="-122"/>
                        </a:rPr>
                        <a:t>60</a:t>
                      </a:r>
                      <a:r>
                        <a:rPr lang="zh-CN" altLang="zh-CN" sz="1800" dirty="0" smtClean="0">
                          <a:latin typeface="微软雅黑" panose="020B0503020204020204" pitchFamily="34" charset="-122"/>
                          <a:ea typeface="微软雅黑" panose="020B0503020204020204" pitchFamily="34" charset="-122"/>
                        </a:rPr>
                        <a:t>页以上的一般需要提前两天以上。管理类的评审一般提前</a:t>
                      </a:r>
                      <a:r>
                        <a:rPr lang="en-US" altLang="zh-CN" sz="1800" dirty="0" smtClean="0">
                          <a:latin typeface="微软雅黑" panose="020B0503020204020204" pitchFamily="34" charset="-122"/>
                          <a:ea typeface="微软雅黑" panose="020B0503020204020204" pitchFamily="34" charset="-122"/>
                        </a:rPr>
                        <a:t>1~2</a:t>
                      </a:r>
                      <a:r>
                        <a:rPr lang="zh-CN" altLang="zh-CN" sz="1800" dirty="0" smtClean="0">
                          <a:latin typeface="微软雅黑" panose="020B0503020204020204" pitchFamily="34" charset="-122"/>
                          <a:ea typeface="微软雅黑" panose="020B0503020204020204" pitchFamily="34" charset="-122"/>
                        </a:rPr>
                        <a:t>天</a:t>
                      </a:r>
                      <a:endParaRPr lang="zh-CN" altLang="zh-CN" sz="1800" dirty="0" smtClean="0">
                        <a:latin typeface="微软雅黑" panose="020B0503020204020204" pitchFamily="34" charset="-122"/>
                        <a:ea typeface="微软雅黑" panose="020B0503020204020204" pitchFamily="34" charset="-122"/>
                      </a:endParaRPr>
                    </a:p>
                  </a:txBody>
                  <a:tcPr marL="9525" marR="9525" marT="9525" marB="0" anchor="ctr">
                    <a:solidFill>
                      <a:schemeClr val="accent1">
                        <a:lumMod val="20000"/>
                        <a:lumOff val="80000"/>
                      </a:schemeClr>
                    </a:solidFill>
                  </a:tcPr>
                </a:tc>
              </a:tr>
            </a:tbl>
          </a:graphicData>
        </a:graphic>
      </p:graphicFrame>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评审</a:t>
            </a:r>
            <a:r>
              <a:rPr lang="en-US" altLang="zh-CN" dirty="0" smtClean="0">
                <a:solidFill>
                  <a:schemeClr val="tx1"/>
                </a:solidFill>
              </a:rPr>
              <a:t>-</a:t>
            </a:r>
            <a:r>
              <a:rPr lang="zh-CN" altLang="en-US" dirty="0" smtClean="0">
                <a:solidFill>
                  <a:srgbClr val="FF0000"/>
                </a:solidFill>
              </a:rPr>
              <a:t>常见问</a:t>
            </a:r>
            <a:r>
              <a:rPr lang="zh-CN" altLang="en-US" dirty="0" smtClean="0">
                <a:solidFill>
                  <a:srgbClr val="FF0000"/>
                </a:solidFill>
              </a:rPr>
              <a:t>题</a:t>
            </a:r>
            <a:endParaRPr lang="zh-CN" altLang="en-US" dirty="0" smtClean="0">
              <a:solidFill>
                <a:srgbClr val="FF0000"/>
              </a:solidFill>
            </a:endParaRPr>
          </a:p>
        </p:txBody>
      </p:sp>
      <p:sp>
        <p:nvSpPr>
          <p:cNvPr id="2" name="文本框 1"/>
          <p:cNvSpPr txBox="1"/>
          <p:nvPr/>
        </p:nvSpPr>
        <p:spPr>
          <a:xfrm>
            <a:off x="1201420" y="948690"/>
            <a:ext cx="8662035" cy="5151755"/>
          </a:xfrm>
          <a:prstGeom prst="rect">
            <a:avLst/>
          </a:prstGeom>
          <a:noFill/>
        </p:spPr>
        <p:txBody>
          <a:bodyPr wrap="square" rtlCol="0">
            <a:noAutofit/>
          </a:bodyPr>
          <a:p>
            <a:pPr indent="0" fontAlgn="auto">
              <a:lnSpc>
                <a:spcPct val="150000"/>
              </a:lnSpc>
            </a:pPr>
            <a:r>
              <a:rPr lang="zh-CN" altLang="en-US" b="1"/>
              <a:t>评审：</a:t>
            </a:r>
            <a:endParaRPr lang="zh-CN" altLang="en-US" b="1"/>
          </a:p>
          <a:p>
            <a:pPr marL="457200" indent="-457200" fontAlgn="auto">
              <a:lnSpc>
                <a:spcPct val="150000"/>
              </a:lnSpc>
              <a:buFont typeface="+mj-lt"/>
              <a:buAutoNum type="arabicPeriod"/>
            </a:pPr>
            <a:r>
              <a:rPr lang="zh-CN" altLang="en-US"/>
              <a:t>评审资料低级错误较</a:t>
            </a:r>
            <a:r>
              <a:rPr lang="zh-CN" altLang="en-US"/>
              <a:t>多；</a:t>
            </a:r>
            <a:endParaRPr lang="zh-CN" altLang="en-US"/>
          </a:p>
          <a:p>
            <a:pPr marL="457200" indent="-457200" fontAlgn="auto">
              <a:lnSpc>
                <a:spcPct val="150000"/>
              </a:lnSpc>
              <a:buFont typeface="+mj-lt"/>
              <a:buAutoNum type="arabicPeriod"/>
            </a:pPr>
            <a:r>
              <a:rPr lang="zh-CN" altLang="en-US">
                <a:sym typeface="+mn-ea"/>
              </a:rPr>
              <a:t>预审未及时通知，预审资料提前发出时间不足，预审不</a:t>
            </a:r>
            <a:r>
              <a:rPr lang="zh-CN" altLang="en-US">
                <a:sym typeface="+mn-ea"/>
              </a:rPr>
              <a:t>充分；</a:t>
            </a:r>
            <a:endParaRPr lang="zh-CN" altLang="en-US">
              <a:sym typeface="+mn-ea"/>
            </a:endParaRPr>
          </a:p>
          <a:p>
            <a:pPr marL="457200" indent="-457200" fontAlgn="auto">
              <a:lnSpc>
                <a:spcPct val="150000"/>
              </a:lnSpc>
              <a:buFont typeface="+mj-lt"/>
              <a:buAutoNum type="arabicPeriod"/>
            </a:pPr>
            <a:r>
              <a:rPr lang="zh-CN" altLang="en-US">
                <a:sym typeface="+mn-ea"/>
              </a:rPr>
              <a:t>开会前</a:t>
            </a:r>
            <a:r>
              <a:rPr lang="en-US" altLang="zh-CN">
                <a:sym typeface="+mn-ea"/>
              </a:rPr>
              <a:t>2H</a:t>
            </a:r>
            <a:r>
              <a:rPr lang="zh-CN" altLang="en-US">
                <a:sym typeface="+mn-ea"/>
              </a:rPr>
              <a:t>未在群里进行预审情况汇报</a:t>
            </a:r>
            <a:r>
              <a:rPr lang="en-US" altLang="zh-CN">
                <a:sym typeface="+mn-ea"/>
              </a:rPr>
              <a:t>;</a:t>
            </a:r>
            <a:endParaRPr lang="en-US" altLang="zh-CN">
              <a:sym typeface="+mn-ea"/>
            </a:endParaRPr>
          </a:p>
          <a:p>
            <a:pPr marL="457200" indent="-457200" fontAlgn="auto">
              <a:lnSpc>
                <a:spcPct val="150000"/>
              </a:lnSpc>
              <a:buFont typeface="+mj-lt"/>
              <a:buAutoNum type="arabicPeriod"/>
            </a:pPr>
            <a:r>
              <a:rPr lang="zh-CN" altLang="en-US">
                <a:sym typeface="+mn-ea"/>
              </a:rPr>
              <a:t>核心人员预审意见不足，也正常开展会议；</a:t>
            </a:r>
            <a:endParaRPr lang="zh-CN" altLang="en-US">
              <a:sym typeface="+mn-ea"/>
            </a:endParaRPr>
          </a:p>
          <a:p>
            <a:pPr marL="457200" indent="-457200" fontAlgn="auto">
              <a:lnSpc>
                <a:spcPct val="150000"/>
              </a:lnSpc>
              <a:buFont typeface="+mj-lt"/>
              <a:buAutoNum type="arabicPeriod"/>
            </a:pPr>
            <a:r>
              <a:rPr lang="zh-CN" altLang="en-US">
                <a:sym typeface="+mn-ea"/>
              </a:rPr>
              <a:t>人员未提交预审意见，也正常参会；</a:t>
            </a:r>
            <a:endParaRPr lang="zh-CN" altLang="en-US">
              <a:sym typeface="+mn-ea"/>
            </a:endParaRPr>
          </a:p>
          <a:p>
            <a:pPr marL="457200" indent="-457200" fontAlgn="auto">
              <a:lnSpc>
                <a:spcPct val="150000"/>
              </a:lnSpc>
              <a:buFont typeface="+mj-lt"/>
              <a:buAutoNum type="arabicPeriod"/>
            </a:pPr>
            <a:r>
              <a:rPr lang="zh-CN" altLang="en-US">
                <a:sym typeface="+mn-ea"/>
              </a:rPr>
              <a:t>评审专家</a:t>
            </a:r>
            <a:r>
              <a:rPr lang="zh-CN" altLang="en-US">
                <a:sym typeface="+mn-ea"/>
              </a:rPr>
              <a:t>会前资料审查深度不够；</a:t>
            </a:r>
            <a:endParaRPr lang="zh-CN" altLang="en-US">
              <a:sym typeface="+mn-ea"/>
            </a:endParaRPr>
          </a:p>
          <a:p>
            <a:pPr marL="457200" indent="-457200" fontAlgn="auto">
              <a:lnSpc>
                <a:spcPct val="150000"/>
              </a:lnSpc>
              <a:buFont typeface="+mj-lt"/>
              <a:buAutoNum type="arabicPeriod"/>
            </a:pPr>
            <a:r>
              <a:rPr lang="zh-CN" altLang="en-US"/>
              <a:t>临会议结束前未宣读会议决议；</a:t>
            </a:r>
            <a:endParaRPr lang="zh-CN" altLang="en-US"/>
          </a:p>
          <a:p>
            <a:pPr marL="457200" indent="-457200" fontAlgn="auto">
              <a:lnSpc>
                <a:spcPct val="150000"/>
              </a:lnSpc>
              <a:buFont typeface="+mj-lt"/>
              <a:buAutoNum type="arabicPeriod"/>
            </a:pPr>
            <a:r>
              <a:rPr lang="zh-CN" altLang="en-US"/>
              <a:t>评审问题未及时在项目群确认；</a:t>
            </a:r>
            <a:endParaRPr lang="zh-CN" altLang="en-US"/>
          </a:p>
          <a:p>
            <a:pPr marL="457200" indent="-457200" fontAlgn="auto">
              <a:lnSpc>
                <a:spcPct val="150000"/>
              </a:lnSpc>
              <a:buFont typeface="+mj-lt"/>
              <a:buAutoNum type="arabicPeriod"/>
            </a:pPr>
            <a:r>
              <a:rPr lang="zh-CN" altLang="en-US"/>
              <a:t>评审修改后的资料未经过验证人确认，</a:t>
            </a:r>
            <a:r>
              <a:rPr lang="zh-CN" altLang="en-US">
                <a:sym typeface="+mn-ea"/>
              </a:rPr>
              <a:t>会议记录人</a:t>
            </a:r>
            <a:r>
              <a:rPr lang="zh-CN" altLang="en-US"/>
              <a:t>就填写完成处理；</a:t>
            </a:r>
            <a:endParaRPr lang="zh-CN" altLang="en-US"/>
          </a:p>
          <a:p>
            <a:pPr marL="457200" indent="-457200" fontAlgn="auto">
              <a:lnSpc>
                <a:spcPct val="150000"/>
              </a:lnSpc>
              <a:buFont typeface="+mj-lt"/>
              <a:buAutoNum type="arabicPeriod"/>
            </a:pPr>
            <a:r>
              <a:rPr lang="zh-CN" altLang="en-US"/>
              <a:t>评审流程责任人未跟踪，迟迟未闭环；</a:t>
            </a:r>
            <a:endParaRPr lang="zh-CN" altLang="en-US"/>
          </a:p>
          <a:p>
            <a:pPr marL="457200" indent="-457200" fontAlgn="auto">
              <a:lnSpc>
                <a:spcPct val="150000"/>
              </a:lnSpc>
              <a:buFont typeface="+mj-lt"/>
              <a:buAutoNum type="arabicPeriod"/>
            </a:pPr>
            <a:endParaRPr lang="zh-CN" altLang="en-US"/>
          </a:p>
          <a:p>
            <a:pPr marL="457200" indent="-457200" fontAlgn="auto">
              <a:lnSpc>
                <a:spcPct val="150000"/>
              </a:lnSpc>
              <a:buFont typeface="+mj-lt"/>
              <a:buAutoNum type="arabicPeriod"/>
            </a:pPr>
            <a:endParaRPr lang="zh-CN" altLang="en-US"/>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3511386" y="2223101"/>
            <a:ext cx="545811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511386" y="4153602"/>
            <a:ext cx="5458111"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3511382" y="2458071"/>
            <a:ext cx="1814607" cy="1462164"/>
          </a:xfrm>
          <a:prstGeom prst="rect">
            <a:avLst/>
          </a:prstGeom>
          <a:noFill/>
        </p:spPr>
        <p:txBody>
          <a:bodyPr lIns="0" tIns="0" rIns="0" bIns="0" anchor="ctr"/>
          <a:lstStyle/>
          <a:p>
            <a:pPr algn="ctr">
              <a:defRPr/>
            </a:pPr>
            <a:r>
              <a:rPr lang="en-US" altLang="zh-CN" sz="11500" spc="-500" dirty="0" smtClean="0">
                <a:solidFill>
                  <a:schemeClr val="accent1"/>
                </a:solidFill>
                <a:latin typeface="Arial" panose="020B0604020202020204" pitchFamily="34" charset="0"/>
                <a:ea typeface="微软雅黑" panose="020B0503020204020204" pitchFamily="34" charset="-122"/>
              </a:rPr>
              <a:t>02</a:t>
            </a:r>
            <a:endParaRPr lang="zh-CN" altLang="en-US" sz="11500" spc="-500" dirty="0">
              <a:solidFill>
                <a:schemeClr val="accent1"/>
              </a:solidFill>
              <a:latin typeface="Arial" panose="020B0604020202020204" pitchFamily="34" charset="0"/>
              <a:ea typeface="微软雅黑" panose="020B0503020204020204" pitchFamily="34" charset="-122"/>
            </a:endParaRPr>
          </a:p>
        </p:txBody>
      </p:sp>
      <p:sp>
        <p:nvSpPr>
          <p:cNvPr id="9" name="文本框 8"/>
          <p:cNvSpPr txBox="1">
            <a:spLocks noChangeArrowheads="1"/>
          </p:cNvSpPr>
          <p:nvPr/>
        </p:nvSpPr>
        <p:spPr bwMode="auto">
          <a:xfrm>
            <a:off x="6130896" y="2223102"/>
            <a:ext cx="3071971" cy="1930501"/>
          </a:xfrm>
          <a:prstGeom prst="rect">
            <a:avLst/>
          </a:prstGeom>
          <a:noFill/>
          <a:ln w="9525">
            <a:noFill/>
            <a:miter lim="800000"/>
          </a:ln>
        </p:spPr>
        <p:txBody>
          <a:bodyPr lIns="0" tIns="0" rIns="0" bIns="0" anchor="ctr"/>
          <a:lstStyle/>
          <a:p>
            <a:pPr lvl="0" algn="ctr">
              <a:lnSpc>
                <a:spcPct val="110000"/>
              </a:lnSpc>
            </a:pPr>
            <a:r>
              <a:rPr lang="zh-CN" altLang="en-US" sz="4000" b="1" dirty="0">
                <a:latin typeface="Arial" panose="020B0604020202020204" pitchFamily="34" charset="0"/>
                <a:ea typeface="微软雅黑" panose="020B0503020204020204" pitchFamily="34" charset="-122"/>
              </a:rPr>
              <a:t>变更</a:t>
            </a:r>
            <a:r>
              <a:rPr lang="zh-CN" altLang="en-US" sz="4000" b="1" dirty="0" smtClean="0">
                <a:latin typeface="Arial" panose="020B0604020202020204" pitchFamily="34" charset="0"/>
                <a:ea typeface="微软雅黑" panose="020B0503020204020204" pitchFamily="34" charset="-122"/>
              </a:rPr>
              <a:t>管理</a:t>
            </a:r>
            <a:endParaRPr lang="en-US" altLang="zh-CN" sz="4000" b="1" dirty="0">
              <a:latin typeface="Arial" panose="020B0604020202020204" pitchFamily="34" charset="0"/>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流程</a:t>
            </a:r>
            <a:r>
              <a:rPr lang="zh-CN" altLang="en-US" dirty="0" smtClean="0">
                <a:solidFill>
                  <a:srgbClr val="FF0000"/>
                </a:solidFill>
              </a:rPr>
              <a:t>图</a:t>
            </a:r>
            <a:endParaRPr lang="zh-CN" altLang="en-US" dirty="0" smtClean="0">
              <a:solidFill>
                <a:srgbClr val="FF0000"/>
              </a:solidFill>
            </a:endParaRPr>
          </a:p>
        </p:txBody>
      </p:sp>
      <p:graphicFrame>
        <p:nvGraphicFramePr>
          <p:cNvPr id="2" name="对象 -2147482624"/>
          <p:cNvGraphicFramePr>
            <a:graphicFrameLocks noChangeAspect="1"/>
          </p:cNvGraphicFramePr>
          <p:nvPr>
            <p:custDataLst>
              <p:tags r:id="rId1"/>
            </p:custDataLst>
          </p:nvPr>
        </p:nvGraphicFramePr>
        <p:xfrm>
          <a:off x="1013460" y="915035"/>
          <a:ext cx="7125335" cy="5522595"/>
        </p:xfrm>
        <a:graphic>
          <a:graphicData uri="http://schemas.openxmlformats.org/presentationml/2006/ole">
            <mc:AlternateContent xmlns:mc="http://schemas.openxmlformats.org/markup-compatibility/2006">
              <mc:Choice xmlns:v="urn:schemas-microsoft-com:vml" Requires="v">
                <p:oleObj spid="_x0000_s3076" name="" r:id="rId2" imgW="11513820" imgH="8917940" progId="Visio.Drawing.11">
                  <p:embed/>
                </p:oleObj>
              </mc:Choice>
              <mc:Fallback>
                <p:oleObj name="" r:id="rId2" imgW="11513820" imgH="8917940" progId="Visio.Drawing.11">
                  <p:embed/>
                  <p:pic>
                    <p:nvPicPr>
                      <p:cNvPr id="0" name="图片 3075"/>
                      <p:cNvPicPr/>
                      <p:nvPr/>
                    </p:nvPicPr>
                    <p:blipFill>
                      <a:blip r:embed="rId3"/>
                      <a:stretch>
                        <a:fillRect/>
                      </a:stretch>
                    </p:blipFill>
                    <p:spPr>
                      <a:xfrm>
                        <a:off x="1013460" y="915035"/>
                        <a:ext cx="7125335" cy="552259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变更申请</a:t>
            </a:r>
            <a:endParaRPr lang="zh-CN" altLang="en-US" dirty="0">
              <a:solidFill>
                <a:srgbClr val="FF0000"/>
              </a:solidFill>
            </a:endParaRPr>
          </a:p>
        </p:txBody>
      </p:sp>
      <p:grpSp>
        <p:nvGrpSpPr>
          <p:cNvPr id="6" name="组合 5"/>
          <p:cNvGrpSpPr/>
          <p:nvPr/>
        </p:nvGrpSpPr>
        <p:grpSpPr>
          <a:xfrm>
            <a:off x="1147411" y="2266986"/>
            <a:ext cx="1300807" cy="1300805"/>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a:solidFill>
                  <a:schemeClr val="tx1"/>
                </a:solidFill>
              </a:endParaRPr>
            </a:p>
          </p:txBody>
        </p:sp>
        <p:sp>
          <p:nvSpPr>
            <p:cNvPr id="9" name="椭圆 8"/>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65" dirty="0"/>
            </a:p>
          </p:txBody>
        </p:sp>
      </p:grpSp>
      <p:sp>
        <p:nvSpPr>
          <p:cNvPr id="10" name="TextBox 146"/>
          <p:cNvSpPr txBox="1"/>
          <p:nvPr/>
        </p:nvSpPr>
        <p:spPr>
          <a:xfrm>
            <a:off x="1352818" y="2741824"/>
            <a:ext cx="889992" cy="4104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lvl="0"/>
            <a:r>
              <a:rPr lang="zh-CN" altLang="en-US" sz="2665" dirty="0" smtClean="0">
                <a:solidFill>
                  <a:srgbClr val="1E577E"/>
                </a:solidFill>
                <a:cs typeface="宋体" panose="02010600030101010101" pitchFamily="2" charset="-122"/>
              </a:rPr>
              <a:t>变更</a:t>
            </a:r>
            <a:endParaRPr lang="zh-CN" altLang="zh-CN" sz="2665" dirty="0">
              <a:solidFill>
                <a:srgbClr val="1E577E"/>
              </a:solidFill>
              <a:cs typeface="宋体" panose="02010600030101010101" pitchFamily="2" charset="-122"/>
            </a:endParaRPr>
          </a:p>
        </p:txBody>
      </p:sp>
      <p:sp>
        <p:nvSpPr>
          <p:cNvPr id="11" name="Half Frame 12"/>
          <p:cNvSpPr/>
          <p:nvPr/>
        </p:nvSpPr>
        <p:spPr>
          <a:xfrm rot="19134662">
            <a:off x="2784568" y="2613996"/>
            <a:ext cx="505363" cy="569849"/>
          </a:xfrm>
          <a:prstGeom prst="halfFrame">
            <a:avLst/>
          </a:prstGeom>
          <a:solidFill>
            <a:srgbClr val="1E577E"/>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txBody>
          <a:bodyPr/>
          <a:lstStyle/>
          <a:p>
            <a:endParaRPr lang="zh-CN" altLang="en-US"/>
          </a:p>
        </p:txBody>
      </p:sp>
      <p:sp>
        <p:nvSpPr>
          <p:cNvPr id="12" name="圆角矩形 11"/>
          <p:cNvSpPr/>
          <p:nvPr/>
        </p:nvSpPr>
        <p:spPr bwMode="auto">
          <a:xfrm>
            <a:off x="3414954" y="2047676"/>
            <a:ext cx="6851602" cy="771928"/>
          </a:xfrm>
          <a:prstGeom prst="roundRect">
            <a:avLst/>
          </a:prstGeom>
          <a:noFill/>
          <a:ln>
            <a:solidFill>
              <a:schemeClr val="tx2"/>
            </a:solidFill>
          </a:ln>
        </p:spPr>
        <p:style>
          <a:lnRef idx="2">
            <a:schemeClr val="accent2"/>
          </a:lnRef>
          <a:fillRef idx="1">
            <a:schemeClr val="lt1"/>
          </a:fillRef>
          <a:effectRef idx="0">
            <a:schemeClr val="accent2"/>
          </a:effectRef>
          <a:fontRef idx="minor">
            <a:schemeClr val="dk1"/>
          </a:fontRef>
        </p:style>
        <p:txBody>
          <a:bodyPr lIns="121907" tIns="60955" rIns="121907" bIns="60955" anchor="ctr"/>
          <a:lstStyle/>
          <a:p>
            <a:pPr marL="0" lvl="2" algn="ctr" eaLnBrk="0" fontAlgn="ctr" hangingPunct="0">
              <a:buClr>
                <a:srgbClr val="FF0000"/>
              </a:buClr>
              <a:buSzPct val="70000"/>
              <a:buFont typeface="Wingdings" panose="05000000000000000000" pitchFamily="2" charset="2"/>
              <a:buChar char="n"/>
              <a:tabLst>
                <a:tab pos="181610" algn="l"/>
              </a:tabLst>
              <a:defRPr/>
            </a:pPr>
            <a:endParaRPr lang="zh-CN" altLang="en-US" sz="1865">
              <a:solidFill>
                <a:schemeClr val="accent2"/>
              </a:solidFill>
              <a:latin typeface="微软雅黑" panose="020B0503020204020204" pitchFamily="34" charset="-122"/>
              <a:ea typeface="微软雅黑" panose="020B0503020204020204" pitchFamily="34" charset="-122"/>
            </a:endParaRPr>
          </a:p>
        </p:txBody>
      </p:sp>
      <p:sp>
        <p:nvSpPr>
          <p:cNvPr id="13" name="矩形 87"/>
          <p:cNvSpPr>
            <a:spLocks noChangeArrowheads="1"/>
          </p:cNvSpPr>
          <p:nvPr/>
        </p:nvSpPr>
        <p:spPr bwMode="auto">
          <a:xfrm>
            <a:off x="3626281" y="2295699"/>
            <a:ext cx="6130136" cy="430877"/>
          </a:xfrm>
          <a:prstGeom prst="rect">
            <a:avLst/>
          </a:prstGeom>
          <a:noFill/>
          <a:ln w="9525">
            <a:noFill/>
            <a:miter lim="800000"/>
          </a:ln>
        </p:spPr>
        <p:txBody>
          <a:bodyPr wrap="square" lIns="121907" tIns="60955" rIns="121907" bIns="60955">
            <a:spAutoFit/>
          </a:bodyPr>
          <a:lstStyle/>
          <a:p>
            <a:pPr eaLnBrk="0" fontAlgn="ctr" hangingPunct="0">
              <a:buClr>
                <a:srgbClr val="FF0000"/>
              </a:buClr>
              <a:buSzPct val="70000"/>
            </a:pPr>
            <a:r>
              <a:rPr lang="zh-CN" altLang="en-US" kern="100" dirty="0">
                <a:latin typeface="微软雅黑" panose="020B0503020204020204" pitchFamily="34" charset="-122"/>
                <a:ea typeface="微软雅黑" panose="020B0503020204020204" pitchFamily="34" charset="-122"/>
                <a:cs typeface="Times New Roman" panose="02020603050405020304"/>
              </a:rPr>
              <a:t>对于基线</a:t>
            </a:r>
            <a:r>
              <a:rPr lang="en-US" altLang="zh-CN" kern="100" dirty="0">
                <a:latin typeface="微软雅黑" panose="020B0503020204020204" pitchFamily="34" charset="-122"/>
                <a:ea typeface="微软雅黑" panose="020B0503020204020204" pitchFamily="34" charset="-122"/>
                <a:cs typeface="Times New Roman" panose="02020603050405020304"/>
              </a:rPr>
              <a:t>/</a:t>
            </a:r>
            <a:r>
              <a:rPr lang="zh-CN" altLang="en-US" kern="100" dirty="0">
                <a:latin typeface="微软雅黑" panose="020B0503020204020204" pitchFamily="34" charset="-122"/>
                <a:ea typeface="微软雅黑" panose="020B0503020204020204" pitchFamily="34" charset="-122"/>
                <a:cs typeface="Times New Roman" panose="02020603050405020304"/>
              </a:rPr>
              <a:t>产品库中的设计开发资料进行</a:t>
            </a:r>
            <a:r>
              <a:rPr lang="zh-CN" altLang="en-US" kern="100" dirty="0" smtClean="0">
                <a:latin typeface="微软雅黑" panose="020B0503020204020204" pitchFamily="34" charset="-122"/>
                <a:ea typeface="微软雅黑" panose="020B0503020204020204" pitchFamily="34" charset="-122"/>
                <a:cs typeface="Times New Roman" panose="02020603050405020304"/>
              </a:rPr>
              <a:t>变更。</a:t>
            </a:r>
            <a:endParaRPr lang="zh-CN" altLang="en-US" sz="1865" dirty="0">
              <a:solidFill>
                <a:schemeClr val="tx2"/>
              </a:solidFill>
              <a:latin typeface="微软雅黑" panose="020B0503020204020204" pitchFamily="34" charset="-122"/>
              <a:ea typeface="微软雅黑" panose="020B0503020204020204" pitchFamily="34" charset="-122"/>
            </a:endParaRPr>
          </a:p>
        </p:txBody>
      </p:sp>
      <p:grpSp>
        <p:nvGrpSpPr>
          <p:cNvPr id="14" name="组合 13"/>
          <p:cNvGrpSpPr/>
          <p:nvPr/>
        </p:nvGrpSpPr>
        <p:grpSpPr>
          <a:xfrm>
            <a:off x="3745990" y="1756579"/>
            <a:ext cx="1914620" cy="506782"/>
            <a:chOff x="814328" y="3219334"/>
            <a:chExt cx="1356392" cy="432536"/>
          </a:xfrm>
        </p:grpSpPr>
        <p:grpSp>
          <p:nvGrpSpPr>
            <p:cNvPr id="15" name="组合 14"/>
            <p:cNvGrpSpPr/>
            <p:nvPr/>
          </p:nvGrpSpPr>
          <p:grpSpPr>
            <a:xfrm>
              <a:off x="814328" y="3219334"/>
              <a:ext cx="1356392" cy="432536"/>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solidFill>
                </a:endParaRPr>
              </a:p>
            </p:txBody>
          </p:sp>
          <p:sp>
            <p:nvSpPr>
              <p:cNvPr id="18" name="圆角矩形 17"/>
              <p:cNvSpPr/>
              <p:nvPr/>
            </p:nvSpPr>
            <p:spPr>
              <a:xfrm>
                <a:off x="4351927" y="1373342"/>
                <a:ext cx="3742172"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solidFill>
                </a:endParaRPr>
              </a:p>
            </p:txBody>
          </p:sp>
        </p:grpSp>
        <p:sp>
          <p:nvSpPr>
            <p:cNvPr id="16" name="TextBox 140"/>
            <p:cNvSpPr txBox="1"/>
            <p:nvPr/>
          </p:nvSpPr>
          <p:spPr>
            <a:xfrm>
              <a:off x="866070" y="3300366"/>
              <a:ext cx="1251323" cy="262686"/>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lvl="0" algn="l"/>
              <a:r>
                <a:rPr lang="zh-CN" altLang="en-US" sz="2000" dirty="0" smtClean="0">
                  <a:solidFill>
                    <a:srgbClr val="1E577E"/>
                  </a:solidFill>
                  <a:cs typeface="宋体" panose="02010600030101010101" pitchFamily="2" charset="-122"/>
                </a:rPr>
                <a:t>设计变更</a:t>
              </a:r>
              <a:endParaRPr lang="zh-CN" altLang="zh-CN" sz="2000" dirty="0">
                <a:solidFill>
                  <a:srgbClr val="1E577E"/>
                </a:solidFill>
                <a:cs typeface="宋体" panose="02010600030101010101" pitchFamily="2" charset="-122"/>
              </a:endParaRPr>
            </a:p>
          </p:txBody>
        </p:sp>
      </p:grpSp>
      <p:sp>
        <p:nvSpPr>
          <p:cNvPr id="19" name="圆角矩形 18"/>
          <p:cNvSpPr/>
          <p:nvPr/>
        </p:nvSpPr>
        <p:spPr bwMode="auto">
          <a:xfrm>
            <a:off x="3414954" y="3287760"/>
            <a:ext cx="6851602" cy="771928"/>
          </a:xfrm>
          <a:prstGeom prst="roundRect">
            <a:avLst/>
          </a:prstGeom>
          <a:noFill/>
          <a:ln>
            <a:solidFill>
              <a:schemeClr val="tx2"/>
            </a:solidFill>
          </a:ln>
        </p:spPr>
        <p:style>
          <a:lnRef idx="2">
            <a:schemeClr val="accent2"/>
          </a:lnRef>
          <a:fillRef idx="1">
            <a:schemeClr val="lt1"/>
          </a:fillRef>
          <a:effectRef idx="0">
            <a:schemeClr val="accent2"/>
          </a:effectRef>
          <a:fontRef idx="minor">
            <a:schemeClr val="dk1"/>
          </a:fontRef>
        </p:style>
        <p:txBody>
          <a:bodyPr lIns="121907" tIns="60955" rIns="121907" bIns="60955" anchor="ctr"/>
          <a:lstStyle/>
          <a:p>
            <a:pPr marL="0" lvl="2" algn="ctr" eaLnBrk="0" fontAlgn="ctr" hangingPunct="0">
              <a:buClr>
                <a:srgbClr val="FF0000"/>
              </a:buClr>
              <a:buSzPct val="70000"/>
              <a:buFont typeface="Wingdings" panose="05000000000000000000" pitchFamily="2" charset="2"/>
              <a:buChar char="n"/>
              <a:tabLst>
                <a:tab pos="181610" algn="l"/>
              </a:tabLst>
              <a:defRPr/>
            </a:pPr>
            <a:endParaRPr lang="zh-CN" altLang="en-US" sz="1865">
              <a:solidFill>
                <a:schemeClr val="accent2"/>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3745990" y="2996663"/>
            <a:ext cx="1914620" cy="506782"/>
            <a:chOff x="814328" y="3219334"/>
            <a:chExt cx="1356392" cy="432536"/>
          </a:xfrm>
        </p:grpSpPr>
        <p:grpSp>
          <p:nvGrpSpPr>
            <p:cNvPr id="21" name="组合 20"/>
            <p:cNvGrpSpPr/>
            <p:nvPr/>
          </p:nvGrpSpPr>
          <p:grpSpPr>
            <a:xfrm>
              <a:off x="814328" y="3219334"/>
              <a:ext cx="1356392" cy="432536"/>
              <a:chOff x="4304043" y="1286668"/>
              <a:chExt cx="3837944" cy="2757793"/>
            </a:xfrm>
            <a:effectLst>
              <a:outerShdw blurRad="381000" dist="254000" dir="8100000" algn="tr" rotWithShape="0">
                <a:prstClr val="black">
                  <a:alpha val="40000"/>
                </a:prstClr>
              </a:outerShdw>
            </a:effectLst>
          </p:grpSpPr>
          <p:sp>
            <p:nvSpPr>
              <p:cNvPr id="23" name="圆角矩形 22"/>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solidFill>
                </a:endParaRPr>
              </a:p>
            </p:txBody>
          </p:sp>
          <p:sp>
            <p:nvSpPr>
              <p:cNvPr id="24" name="圆角矩形 23"/>
              <p:cNvSpPr/>
              <p:nvPr/>
            </p:nvSpPr>
            <p:spPr>
              <a:xfrm>
                <a:off x="4351927" y="1373342"/>
                <a:ext cx="3742172"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accent1"/>
                  </a:solidFill>
                </a:endParaRPr>
              </a:p>
            </p:txBody>
          </p:sp>
        </p:grpSp>
        <p:sp>
          <p:nvSpPr>
            <p:cNvPr id="22" name="TextBox 140"/>
            <p:cNvSpPr txBox="1"/>
            <p:nvPr/>
          </p:nvSpPr>
          <p:spPr>
            <a:xfrm>
              <a:off x="866070" y="3300366"/>
              <a:ext cx="1251323" cy="262686"/>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pPr lvl="0" algn="l"/>
              <a:r>
                <a:rPr lang="zh-CN" altLang="en-US" sz="2000" dirty="0" smtClean="0">
                  <a:solidFill>
                    <a:srgbClr val="1E577E"/>
                  </a:solidFill>
                  <a:cs typeface="宋体" panose="02010600030101010101" pitchFamily="2" charset="-122"/>
                </a:rPr>
                <a:t>基准计划变更</a:t>
              </a:r>
              <a:endParaRPr lang="zh-CN" altLang="zh-CN" sz="2000" dirty="0">
                <a:solidFill>
                  <a:srgbClr val="1E577E"/>
                </a:solidFill>
                <a:cs typeface="宋体" panose="02010600030101010101" pitchFamily="2" charset="-122"/>
              </a:endParaRPr>
            </a:p>
          </p:txBody>
        </p:sp>
      </p:grpSp>
      <p:sp>
        <p:nvSpPr>
          <p:cNvPr id="25" name="矩形 87"/>
          <p:cNvSpPr>
            <a:spLocks noChangeArrowheads="1"/>
          </p:cNvSpPr>
          <p:nvPr/>
        </p:nvSpPr>
        <p:spPr bwMode="auto">
          <a:xfrm>
            <a:off x="3626281" y="3543685"/>
            <a:ext cx="6858058" cy="430877"/>
          </a:xfrm>
          <a:prstGeom prst="rect">
            <a:avLst/>
          </a:prstGeom>
          <a:noFill/>
          <a:ln w="9525">
            <a:noFill/>
            <a:miter lim="800000"/>
          </a:ln>
        </p:spPr>
        <p:txBody>
          <a:bodyPr wrap="square" lIns="121907" tIns="60955" rIns="121907" bIns="60955">
            <a:spAutoFit/>
          </a:bodyPr>
          <a:lstStyle/>
          <a:p>
            <a:pPr eaLnBrk="0" fontAlgn="ctr" hangingPunct="0">
              <a:buClr>
                <a:srgbClr val="FF0000"/>
              </a:buClr>
              <a:buSzPct val="70000"/>
            </a:pPr>
            <a:r>
              <a:rPr lang="zh-CN" altLang="en-US" kern="100" dirty="0">
                <a:latin typeface="微软雅黑" panose="020B0503020204020204" pitchFamily="34" charset="-122"/>
                <a:ea typeface="微软雅黑" panose="020B0503020204020204" pitchFamily="34" charset="-122"/>
                <a:cs typeface="Times New Roman" panose="02020603050405020304"/>
              </a:rPr>
              <a:t>对于项目执行期间基准计划的</a:t>
            </a:r>
            <a:r>
              <a:rPr lang="zh-CN" altLang="en-US" kern="100" dirty="0" smtClean="0">
                <a:latin typeface="微软雅黑" panose="020B0503020204020204" pitchFamily="34" charset="-122"/>
                <a:ea typeface="微软雅黑" panose="020B0503020204020204" pitchFamily="34" charset="-122"/>
                <a:cs typeface="Times New Roman" panose="02020603050405020304"/>
              </a:rPr>
              <a:t>变更。</a:t>
            </a:r>
            <a:endParaRPr lang="zh-CN" altLang="en-US" sz="1865" dirty="0">
              <a:solidFill>
                <a:schemeClr val="tx2"/>
              </a:solidFill>
              <a:latin typeface="微软雅黑" panose="020B0503020204020204" pitchFamily="34" charset="-122"/>
              <a:ea typeface="微软雅黑" panose="020B0503020204020204" pitchFamily="34" charset="-122"/>
            </a:endParaRPr>
          </a:p>
        </p:txBody>
      </p:sp>
      <p:sp>
        <p:nvSpPr>
          <p:cNvPr id="26" name="矩形 25"/>
          <p:cNvSpPr/>
          <p:nvPr/>
        </p:nvSpPr>
        <p:spPr>
          <a:xfrm>
            <a:off x="1183296" y="4790375"/>
            <a:ext cx="9072583" cy="92333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1800" kern="100" dirty="0">
                <a:latin typeface="微软雅黑" panose="020B0503020204020204" pitchFamily="34" charset="-122"/>
                <a:ea typeface="微软雅黑" panose="020B0503020204020204" pitchFamily="34" charset="-122"/>
                <a:cs typeface="Times New Roman" panose="02020603050405020304"/>
              </a:rPr>
              <a:t>设计变更由变更申请人通过“设计变更申请”电子流提出。</a:t>
            </a:r>
            <a:endParaRPr lang="en-US" altLang="zh-CN" sz="1800" kern="100" dirty="0">
              <a:latin typeface="微软雅黑" panose="020B0503020204020204" pitchFamily="34" charset="-122"/>
              <a:ea typeface="微软雅黑" panose="020B0503020204020204" pitchFamily="34" charset="-122"/>
              <a:cs typeface="Times New Roman" panose="02020603050405020304"/>
            </a:endParaRPr>
          </a:p>
          <a:p>
            <a:pPr marL="285750" indent="-285750">
              <a:lnSpc>
                <a:spcPct val="150000"/>
              </a:lnSpc>
              <a:buFont typeface="Arial" panose="020B0604020202020204" pitchFamily="34" charset="0"/>
              <a:buChar char="•"/>
            </a:pPr>
            <a:r>
              <a:rPr lang="en-US" sz="1800" dirty="0">
                <a:latin typeface="微软雅黑" panose="020B0503020204020204" pitchFamily="34" charset="-122"/>
                <a:ea typeface="微软雅黑" panose="020B0503020204020204" pitchFamily="34" charset="-122"/>
              </a:rPr>
              <a:t>ERP</a:t>
            </a:r>
            <a:r>
              <a:rPr lang="zh-CN" altLang="en-US" sz="1800" dirty="0">
                <a:latin typeface="微软雅黑" panose="020B0503020204020204" pitchFamily="34" charset="-122"/>
                <a:ea typeface="微软雅黑" panose="020B0503020204020204" pitchFamily="34" charset="-122"/>
              </a:rPr>
              <a:t>路径：“研发管理</a:t>
            </a:r>
            <a:r>
              <a:rPr lang="en-US" sz="1800" dirty="0">
                <a:latin typeface="微软雅黑" panose="020B0503020204020204" pitchFamily="34" charset="-122"/>
                <a:ea typeface="微软雅黑" panose="020B0503020204020204" pitchFamily="34" charset="-122"/>
              </a:rPr>
              <a:t>&gt;</a:t>
            </a:r>
            <a:r>
              <a:rPr lang="zh-CN" altLang="en-US" sz="1800" dirty="0">
                <a:latin typeface="微软雅黑" panose="020B0503020204020204" pitchFamily="34" charset="-122"/>
                <a:ea typeface="微软雅黑" panose="020B0503020204020204" pitchFamily="34" charset="-122"/>
              </a:rPr>
              <a:t>研发制造</a:t>
            </a:r>
            <a:r>
              <a:rPr lang="en-US" sz="1800" dirty="0">
                <a:latin typeface="微软雅黑" panose="020B0503020204020204" pitchFamily="34" charset="-122"/>
                <a:ea typeface="微软雅黑" panose="020B0503020204020204" pitchFamily="34" charset="-122"/>
              </a:rPr>
              <a:t>&gt;</a:t>
            </a:r>
            <a:r>
              <a:rPr lang="zh-CN" altLang="en-US" sz="1800" dirty="0">
                <a:latin typeface="微软雅黑" panose="020B0503020204020204" pitchFamily="34" charset="-122"/>
                <a:ea typeface="微软雅黑" panose="020B0503020204020204" pitchFamily="34" charset="-122"/>
              </a:rPr>
              <a:t>变更管理</a:t>
            </a:r>
            <a:r>
              <a:rPr lang="en-US" altLang="zh-CN" sz="1800" dirty="0">
                <a:latin typeface="微软雅黑" panose="020B0503020204020204" pitchFamily="34" charset="-122"/>
                <a:ea typeface="微软雅黑" panose="020B0503020204020204" pitchFamily="34" charset="-122"/>
              </a:rPr>
              <a:t>&gt;</a:t>
            </a:r>
            <a:r>
              <a:rPr lang="zh-CN" altLang="en-US" sz="1800" dirty="0">
                <a:latin typeface="微软雅黑" panose="020B0503020204020204" pitchFamily="34" charset="-122"/>
                <a:ea typeface="微软雅黑" panose="020B0503020204020204" pitchFamily="34" charset="-122"/>
              </a:rPr>
              <a:t>变更申请”。</a:t>
            </a:r>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变更</a:t>
            </a:r>
            <a:r>
              <a:rPr lang="zh-CN" altLang="en-US" dirty="0" smtClean="0">
                <a:solidFill>
                  <a:srgbClr val="FF0000"/>
                </a:solidFill>
              </a:rPr>
              <a:t>评估</a:t>
            </a:r>
            <a:endParaRPr lang="zh-CN" altLang="en-US" dirty="0" smtClean="0">
              <a:solidFill>
                <a:srgbClr val="FF0000"/>
              </a:solidFill>
            </a:endParaRPr>
          </a:p>
        </p:txBody>
      </p:sp>
      <p:sp>
        <p:nvSpPr>
          <p:cNvPr id="26" name="矩形 25"/>
          <p:cNvSpPr/>
          <p:nvPr/>
        </p:nvSpPr>
        <p:spPr>
          <a:xfrm>
            <a:off x="524222" y="890018"/>
            <a:ext cx="10585213" cy="5077460"/>
          </a:xfrm>
          <a:prstGeom prst="rect">
            <a:avLst/>
          </a:prstGeom>
        </p:spPr>
        <p:txBody>
          <a:bodyPr wrap="square">
            <a:spAutoFit/>
          </a:bodyPr>
          <a:lstStyle/>
          <a:p>
            <a:pPr marL="285750" indent="-285750">
              <a:lnSpc>
                <a:spcPct val="150000"/>
              </a:lnSpc>
              <a:buFont typeface="Wingdings" panose="05000000000000000000" charset="0"/>
              <a:buChar char="l"/>
            </a:pPr>
            <a:r>
              <a:rPr lang="zh-CN" altLang="en-US" sz="1800" dirty="0">
                <a:solidFill>
                  <a:srgbClr val="FF0000"/>
                </a:solidFill>
                <a:latin typeface="微软雅黑" panose="020B0503020204020204" pitchFamily="34" charset="-122"/>
                <a:ea typeface="微软雅黑" panose="020B0503020204020204" pitchFamily="34" charset="-122"/>
              </a:rPr>
              <a:t>高级经理</a:t>
            </a:r>
            <a:r>
              <a:rPr lang="en-US" altLang="zh-CN" sz="1800" dirty="0">
                <a:solidFill>
                  <a:srgbClr val="FF0000"/>
                </a:solidFill>
                <a:latin typeface="微软雅黑" panose="020B0503020204020204" pitchFamily="34" charset="-122"/>
                <a:ea typeface="微软雅黑" panose="020B0503020204020204" pitchFamily="34" charset="-122"/>
              </a:rPr>
              <a:t>/</a:t>
            </a:r>
            <a:r>
              <a:rPr lang="zh-CN" altLang="en-US" sz="1800" dirty="0">
                <a:solidFill>
                  <a:srgbClr val="FF0000"/>
                </a:solidFill>
                <a:latin typeface="微软雅黑" panose="020B0503020204020204" pitchFamily="34" charset="-122"/>
                <a:ea typeface="微软雅黑" panose="020B0503020204020204" pitchFamily="34" charset="-122"/>
              </a:rPr>
              <a:t>产品经理</a:t>
            </a:r>
            <a:r>
              <a:rPr lang="zh-CN" altLang="en-US" sz="1800" dirty="0">
                <a:latin typeface="微软雅黑" panose="020B0503020204020204" pitchFamily="34" charset="-122"/>
                <a:ea typeface="微软雅黑" panose="020B0503020204020204" pitchFamily="34" charset="-122"/>
              </a:rPr>
              <a:t>应仔细评估被建议的变更，防止不必要的、影响过大或成本过高的、实现难度过大的变更。尤其应谨慎评估项目范围变更的影响。</a:t>
            </a:r>
            <a:endParaRPr lang="zh-CN" altLang="en-US" sz="18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l"/>
            </a:pPr>
            <a:r>
              <a:rPr lang="zh-CN" altLang="en-US" sz="1800" dirty="0">
                <a:latin typeface="微软雅黑" panose="020B0503020204020204" pitchFamily="34" charset="-122"/>
                <a:ea typeface="微软雅黑" panose="020B0503020204020204" pitchFamily="34" charset="-122"/>
              </a:rPr>
              <a:t>变更影响评估需由</a:t>
            </a:r>
            <a:r>
              <a:rPr lang="zh-CN" altLang="en-US" sz="1800" dirty="0">
                <a:solidFill>
                  <a:srgbClr val="FF0000"/>
                </a:solidFill>
                <a:latin typeface="微软雅黑" panose="020B0503020204020204" pitchFamily="34" charset="-122"/>
                <a:ea typeface="微软雅黑" panose="020B0503020204020204" pitchFamily="34" charset="-122"/>
              </a:rPr>
              <a:t>产品经理及至少一名技术专家</a:t>
            </a:r>
            <a:r>
              <a:rPr lang="zh-CN" altLang="en-US" sz="1800" dirty="0">
                <a:latin typeface="微软雅黑" panose="020B0503020204020204" pitchFamily="34" charset="-122"/>
                <a:ea typeface="微软雅黑" panose="020B0503020204020204" pitchFamily="34" charset="-122"/>
              </a:rPr>
              <a:t>参与，避免评估遗漏；评审负责任人需</a:t>
            </a:r>
            <a:r>
              <a:rPr lang="zh-CN" altLang="en-US" sz="1800" dirty="0">
                <a:solidFill>
                  <a:srgbClr val="FF0000"/>
                </a:solidFill>
                <a:latin typeface="微软雅黑" panose="020B0503020204020204" pitchFamily="34" charset="-122"/>
                <a:ea typeface="微软雅黑" panose="020B0503020204020204" pitchFamily="34" charset="-122"/>
              </a:rPr>
              <a:t>手动签字，并将签字单作为附件</a:t>
            </a:r>
            <a:r>
              <a:rPr lang="zh-CN" altLang="en-US" sz="1800" dirty="0">
                <a:latin typeface="微软雅黑" panose="020B0503020204020204" pitchFamily="34" charset="-122"/>
                <a:ea typeface="微软雅黑" panose="020B0503020204020204" pitchFamily="34" charset="-122"/>
              </a:rPr>
              <a:t>上传变更申请流程。</a:t>
            </a:r>
            <a:endParaRPr lang="zh-CN" altLang="en-US" sz="18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charset="0"/>
              <a:buChar char="l"/>
            </a:pPr>
            <a:r>
              <a:rPr lang="zh-CN" altLang="en-US" sz="1800" b="1" dirty="0">
                <a:solidFill>
                  <a:schemeClr val="tx1"/>
                </a:solidFill>
                <a:latin typeface="微软雅黑" panose="020B0503020204020204" pitchFamily="34" charset="-122"/>
                <a:ea typeface="微软雅黑" panose="020B0503020204020204" pitchFamily="34" charset="-122"/>
              </a:rPr>
              <a:t>主要对以下内容进行评估：</a:t>
            </a:r>
            <a:endParaRPr lang="zh-CN" altLang="en-US" sz="1800" b="1" dirty="0">
              <a:solidFill>
                <a:schemeClr val="tx1"/>
              </a:solidFill>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变更的内容是否合理</a:t>
            </a:r>
            <a:endParaRPr lang="en-US" altLang="zh-CN" sz="1800" dirty="0">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变更的范围是否正确、考虑周全</a:t>
            </a:r>
            <a:endParaRPr lang="en-US" altLang="zh-CN" sz="1800" dirty="0">
              <a:latin typeface="微软雅黑" panose="020B0503020204020204" pitchFamily="34" charset="-122"/>
              <a:ea typeface="微软雅黑" panose="020B0503020204020204" pitchFamily="34" charset="-122"/>
            </a:endParaRPr>
          </a:p>
          <a:p>
            <a:pPr lvl="0">
              <a:lnSpc>
                <a:spcPct val="150000"/>
              </a:lnSpc>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受影响的配置项是否已被充分考虑，是否需要同时进行变更</a:t>
            </a:r>
            <a:endParaRPr lang="en-US" altLang="zh-CN" sz="1800" dirty="0">
              <a:latin typeface="微软雅黑" panose="020B0503020204020204" pitchFamily="34" charset="-122"/>
              <a:ea typeface="微软雅黑" panose="020B0503020204020204" pitchFamily="34" charset="-122"/>
            </a:endParaRPr>
          </a:p>
          <a:p>
            <a:pPr marL="285750" indent="-285750" fontAlgn="base">
              <a:lnSpc>
                <a:spcPct val="150000"/>
              </a:lnSpc>
              <a:spcBef>
                <a:spcPct val="0"/>
              </a:spcBef>
              <a:spcAft>
                <a:spcPct val="0"/>
              </a:spcAft>
              <a:buFont typeface="Wingdings" panose="05000000000000000000" charset="0"/>
              <a:buChar char="Ø"/>
            </a:pPr>
            <a:r>
              <a:rPr sz="1800">
                <a:latin typeface="+mn-ea"/>
                <a:sym typeface="+mn-lt"/>
              </a:rPr>
              <a:t>变更产品处理评估；</a:t>
            </a:r>
            <a:endParaRPr sz="1800">
              <a:latin typeface="+mn-ea"/>
              <a:sym typeface="+mn-lt"/>
            </a:endParaRPr>
          </a:p>
          <a:p>
            <a:pPr marL="285750" indent="-285750" fontAlgn="base">
              <a:lnSpc>
                <a:spcPct val="150000"/>
              </a:lnSpc>
              <a:spcBef>
                <a:spcPct val="0"/>
              </a:spcBef>
              <a:spcAft>
                <a:spcPct val="0"/>
              </a:spcAft>
              <a:buFont typeface="Wingdings" panose="05000000000000000000" charset="0"/>
              <a:buChar char="Ø"/>
            </a:pPr>
            <a:r>
              <a:rPr sz="1800">
                <a:latin typeface="+mn-ea"/>
                <a:sym typeface="+mn-lt"/>
              </a:rPr>
              <a:t>变更影响通知范围评估：需单独线下沟通的相关方人员，变更邮件发放人员（主要确认营销产品中心人员）。</a:t>
            </a:r>
            <a:endParaRPr sz="1800">
              <a:latin typeface="+mn-ea"/>
              <a:sym typeface="+mn-lt"/>
            </a:endParaRPr>
          </a:p>
          <a:p>
            <a:pPr marL="285750" indent="-285750" fontAlgn="base">
              <a:lnSpc>
                <a:spcPct val="150000"/>
              </a:lnSpc>
              <a:spcBef>
                <a:spcPct val="0"/>
              </a:spcBef>
              <a:spcAft>
                <a:spcPct val="0"/>
              </a:spcAft>
              <a:buFont typeface="Wingdings" panose="05000000000000000000" charset="0"/>
              <a:buChar char="l"/>
            </a:pPr>
            <a:r>
              <a:rPr sz="1800">
                <a:latin typeface="+mn-ea"/>
                <a:sym typeface="+mn-lt"/>
              </a:rPr>
              <a:t>重大或较复杂的变更需邀请外部专家对变更影响评审把关，防止遗漏变更内容。</a:t>
            </a:r>
            <a:endParaRPr lang="zh-CN" altLang="en-US" sz="1800" dirty="0">
              <a:solidFill>
                <a:srgbClr val="FF0000"/>
              </a:solidFill>
              <a:latin typeface="+mn-ea"/>
              <a:ea typeface="微软雅黑" panose="020B0503020204020204" pitchFamily="34" charset="-122"/>
              <a:sym typeface="+mn-lt"/>
            </a:endParaRPr>
          </a:p>
        </p:txBody>
      </p:sp>
      <p:pic>
        <p:nvPicPr>
          <p:cNvPr id="2" name="图片 1"/>
          <p:cNvPicPr>
            <a:picLocks noChangeAspect="1"/>
          </p:cNvPicPr>
          <p:nvPr/>
        </p:nvPicPr>
        <p:blipFill>
          <a:blip r:embed="rId1"/>
          <a:stretch>
            <a:fillRect/>
          </a:stretch>
        </p:blipFill>
        <p:spPr>
          <a:xfrm>
            <a:off x="7064375" y="2267585"/>
            <a:ext cx="4184015" cy="232283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ppt_y</p:attrName>
                                        </p:attrNameLst>
                                      </p:cBhvr>
                                      <p:tavLst>
                                        <p:tav tm="0">
                                          <p:val>
                                            <p:strVal val="#ppt_y+#ppt_h*1.125000"/>
                                          </p:val>
                                        </p:tav>
                                        <p:tav tm="100000">
                                          <p:val>
                                            <p:strVal val="#ppt_y"/>
                                          </p:val>
                                        </p:tav>
                                      </p:tavLst>
                                    </p:anim>
                                    <p:animEffect transition="in" filter="wipe(up)">
                                      <p:cBhvr>
                                        <p:cTn id="8" dur="500"/>
                                        <p:tgtEl>
                                          <p:spTgt spid="26"/>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变更实施</a:t>
            </a:r>
            <a:endParaRPr lang="zh-CN" altLang="en-US" dirty="0">
              <a:solidFill>
                <a:srgbClr val="FF0000"/>
              </a:solidFill>
            </a:endParaRPr>
          </a:p>
        </p:txBody>
      </p:sp>
      <p:sp>
        <p:nvSpPr>
          <p:cNvPr id="28" name="矩形 27"/>
          <p:cNvSpPr/>
          <p:nvPr/>
        </p:nvSpPr>
        <p:spPr>
          <a:xfrm>
            <a:off x="709194" y="1283257"/>
            <a:ext cx="10028809" cy="4861560"/>
          </a:xfrm>
          <a:prstGeom prst="rect">
            <a:avLst/>
          </a:prstGeom>
        </p:spPr>
        <p:txBody>
          <a:bodyPr wrap="square">
            <a:spAutoFit/>
          </a:bodyPr>
          <a:lstStyle/>
          <a:p>
            <a:pPr marL="342900" indent="-342900" fontAlgn="base">
              <a:lnSpc>
                <a:spcPct val="150000"/>
              </a:lnSpc>
              <a:spcBef>
                <a:spcPct val="0"/>
              </a:spcBef>
              <a:spcAft>
                <a:spcPct val="0"/>
              </a:spcAft>
              <a:buFont typeface="Wingdings" panose="05000000000000000000" charset="0"/>
              <a:buChar char="Ø"/>
            </a:pPr>
            <a:r>
              <a:rPr lang="en-US" altLang="zh-CN" smtClean="0">
                <a:latin typeface="+mn-ea"/>
                <a:sym typeface="+mn-lt"/>
              </a:rPr>
              <a:t>变更申请人</a:t>
            </a:r>
            <a:r>
              <a:rPr lang="en-US" altLang="zh-CN" smtClean="0">
                <a:solidFill>
                  <a:srgbClr val="FF0000"/>
                </a:solidFill>
                <a:latin typeface="+mn-ea"/>
                <a:sym typeface="+mn-lt"/>
              </a:rPr>
              <a:t>申请配置库权限</a:t>
            </a:r>
            <a:r>
              <a:rPr lang="en-US" altLang="zh-CN" smtClean="0">
                <a:latin typeface="+mn-ea"/>
                <a:sym typeface="+mn-lt"/>
              </a:rPr>
              <a:t>，获取最新版本待变更资料，配置管理员在配置库中开辟工作空间，分配权限给变更实施人在工作空间中修改和存放变更文档。</a:t>
            </a:r>
            <a:endParaRPr lang="en-US" altLang="zh-CN" smtClean="0">
              <a:latin typeface="+mn-ea"/>
              <a:sym typeface="+mn-lt"/>
            </a:endParaRPr>
          </a:p>
          <a:p>
            <a:pPr marL="342900" indent="-342900" fontAlgn="base">
              <a:lnSpc>
                <a:spcPct val="150000"/>
              </a:lnSpc>
              <a:spcBef>
                <a:spcPct val="0"/>
              </a:spcBef>
              <a:spcAft>
                <a:spcPct val="0"/>
              </a:spcAft>
              <a:buFont typeface="Wingdings" panose="05000000000000000000" charset="0"/>
              <a:buChar char="Ø"/>
            </a:pPr>
            <a:r>
              <a:rPr lang="en-US" altLang="zh-CN" smtClean="0">
                <a:latin typeface="+mn-ea"/>
                <a:sym typeface="+mn-lt"/>
              </a:rPr>
              <a:t>产品经理</a:t>
            </a:r>
            <a:r>
              <a:rPr lang="en-US" altLang="zh-CN" smtClean="0">
                <a:solidFill>
                  <a:srgbClr val="FF0000"/>
                </a:solidFill>
                <a:latin typeface="+mn-ea"/>
                <a:sym typeface="+mn-lt"/>
              </a:rPr>
              <a:t>组织人员修改</a:t>
            </a:r>
            <a:r>
              <a:rPr lang="en-US" altLang="zh-CN" smtClean="0">
                <a:latin typeface="+mn-ea"/>
                <a:sym typeface="+mn-lt"/>
              </a:rPr>
              <a:t>相关的配置项，并在相应的文档或程序代码中记录变更信息；建议在修改BUG注释记录。</a:t>
            </a:r>
            <a:endParaRPr lang="en-US" altLang="zh-CN" smtClean="0">
              <a:latin typeface="+mn-ea"/>
              <a:sym typeface="+mn-lt"/>
            </a:endParaRPr>
          </a:p>
          <a:p>
            <a:pPr marL="342900" indent="-342900" fontAlgn="base">
              <a:lnSpc>
                <a:spcPct val="150000"/>
              </a:lnSpc>
              <a:spcBef>
                <a:spcPct val="0"/>
              </a:spcBef>
              <a:spcAft>
                <a:spcPct val="0"/>
              </a:spcAft>
              <a:buFont typeface="Wingdings" panose="05000000000000000000" charset="0"/>
              <a:buChar char="Ø"/>
            </a:pPr>
            <a:r>
              <a:rPr lang="en-US" altLang="zh-CN" smtClean="0">
                <a:latin typeface="+mn-ea"/>
                <a:sym typeface="+mn-lt"/>
              </a:rPr>
              <a:t>当</a:t>
            </a:r>
            <a:r>
              <a:rPr lang="en-US" altLang="zh-CN" smtClean="0">
                <a:solidFill>
                  <a:srgbClr val="FF0000"/>
                </a:solidFill>
                <a:latin typeface="+mn-ea"/>
                <a:sym typeface="+mn-lt"/>
              </a:rPr>
              <a:t>PCB、程序代码</a:t>
            </a:r>
            <a:r>
              <a:rPr lang="en-US" altLang="zh-CN" smtClean="0">
                <a:latin typeface="+mn-ea"/>
                <a:sym typeface="+mn-lt"/>
              </a:rPr>
              <a:t>有变更时，必须填写《版本升级记录》，</a:t>
            </a:r>
            <a:r>
              <a:rPr lang="en-US" altLang="zh-CN" smtClean="0">
                <a:solidFill>
                  <a:srgbClr val="FF0000"/>
                </a:solidFill>
                <a:latin typeface="+mn-ea"/>
                <a:sym typeface="+mn-lt"/>
              </a:rPr>
              <a:t>记录版本升级情</a:t>
            </a:r>
            <a:r>
              <a:rPr lang="en-US" altLang="zh-CN" smtClean="0">
                <a:latin typeface="+mn-ea"/>
                <a:sym typeface="+mn-lt"/>
              </a:rPr>
              <a:t>况。</a:t>
            </a:r>
            <a:endParaRPr lang="en-US" altLang="zh-CN" smtClean="0">
              <a:latin typeface="+mn-ea"/>
              <a:sym typeface="+mn-lt"/>
            </a:endParaRPr>
          </a:p>
          <a:p>
            <a:pPr marL="342900" indent="-342900" fontAlgn="base">
              <a:lnSpc>
                <a:spcPct val="150000"/>
              </a:lnSpc>
              <a:spcBef>
                <a:spcPct val="0"/>
              </a:spcBef>
              <a:spcAft>
                <a:spcPct val="0"/>
              </a:spcAft>
              <a:buFont typeface="Wingdings" panose="05000000000000000000" charset="0"/>
              <a:buChar char="Ø"/>
            </a:pPr>
            <a:r>
              <a:rPr lang="en-US" altLang="zh-CN" smtClean="0">
                <a:latin typeface="+mn-ea"/>
                <a:sym typeface="+mn-lt"/>
              </a:rPr>
              <a:t>如果变更配置项是</a:t>
            </a:r>
            <a:r>
              <a:rPr lang="en-US" altLang="zh-CN" smtClean="0">
                <a:solidFill>
                  <a:srgbClr val="FF0000"/>
                </a:solidFill>
                <a:latin typeface="+mn-ea"/>
                <a:sym typeface="+mn-lt"/>
              </a:rPr>
              <a:t>源代码</a:t>
            </a:r>
            <a:r>
              <a:rPr lang="en-US" altLang="zh-CN" smtClean="0">
                <a:latin typeface="+mn-ea"/>
                <a:sym typeface="+mn-lt"/>
              </a:rPr>
              <a:t>则由测试工程师遵循“测试管理流程”进行确认测试，并</a:t>
            </a:r>
            <a:r>
              <a:rPr lang="en-US" altLang="zh-CN" smtClean="0">
                <a:solidFill>
                  <a:srgbClr val="FF0000"/>
                </a:solidFill>
                <a:latin typeface="+mn-ea"/>
                <a:sym typeface="+mn-lt"/>
              </a:rPr>
              <a:t>提供测试通过的系统测试报告</a:t>
            </a:r>
            <a:r>
              <a:rPr lang="en-US" altLang="zh-CN" smtClean="0">
                <a:latin typeface="+mn-ea"/>
                <a:sym typeface="+mn-lt"/>
              </a:rPr>
              <a:t>。</a:t>
            </a:r>
            <a:endParaRPr lang="en-US" altLang="zh-CN" smtClean="0">
              <a:latin typeface="+mn-ea"/>
              <a:sym typeface="+mn-lt"/>
            </a:endParaRPr>
          </a:p>
          <a:p>
            <a:pPr marL="342900" indent="-342900" fontAlgn="base">
              <a:lnSpc>
                <a:spcPct val="150000"/>
              </a:lnSpc>
              <a:spcBef>
                <a:spcPct val="0"/>
              </a:spcBef>
              <a:spcAft>
                <a:spcPct val="0"/>
              </a:spcAft>
              <a:buFont typeface="Wingdings" panose="05000000000000000000" charset="0"/>
              <a:buChar char="Ø"/>
            </a:pPr>
            <a:r>
              <a:rPr lang="zh-CN" altLang="en-US" smtClean="0">
                <a:latin typeface="+mn-ea"/>
                <a:sym typeface="+mn-lt"/>
              </a:rPr>
              <a:t>变更申请登记流程中，变更原因要与评审手签上内容一致，并标记清楚，评审通过，评审人</a:t>
            </a:r>
            <a:r>
              <a:rPr lang="en-US" altLang="zh-CN" smtClean="0">
                <a:latin typeface="+mn-ea"/>
                <a:sym typeface="+mn-lt"/>
              </a:rPr>
              <a:t>XXX&amp;XXX</a:t>
            </a:r>
            <a:endParaRPr lang="en-US" altLang="zh-CN" smtClean="0">
              <a:latin typeface="+mn-ea"/>
              <a:sym typeface="+mn-lt"/>
            </a:endParaRPr>
          </a:p>
          <a:p>
            <a:pPr marL="342900" indent="-342900">
              <a:buFont typeface="Wingdings" panose="05000000000000000000" charset="0"/>
              <a:buChar char="Ø"/>
            </a:pP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变更验证</a:t>
            </a:r>
            <a:endParaRPr lang="zh-CN" altLang="en-US" dirty="0">
              <a:solidFill>
                <a:srgbClr val="FF0000"/>
              </a:solidFill>
            </a:endParaRPr>
          </a:p>
        </p:txBody>
      </p:sp>
      <p:sp>
        <p:nvSpPr>
          <p:cNvPr id="4" name="矩形 3"/>
          <p:cNvSpPr/>
          <p:nvPr/>
        </p:nvSpPr>
        <p:spPr>
          <a:xfrm>
            <a:off x="612775" y="1079500"/>
            <a:ext cx="10952480" cy="5092065"/>
          </a:xfrm>
          <a:prstGeom prst="rect">
            <a:avLst/>
          </a:prstGeom>
        </p:spPr>
        <p:txBody>
          <a:bodyPr wrap="square">
            <a:noAutofit/>
          </a:bodyPr>
          <a:lstStyle/>
          <a:p>
            <a:pPr marL="342900" indent="-342900" fontAlgn="base">
              <a:lnSpc>
                <a:spcPct val="150000"/>
              </a:lnSpc>
              <a:spcBef>
                <a:spcPct val="0"/>
              </a:spcBef>
              <a:spcAft>
                <a:spcPct val="0"/>
              </a:spcAft>
              <a:buFont typeface="Wingdings" panose="05000000000000000000" charset="0"/>
              <a:buChar char="Ø"/>
            </a:pPr>
            <a:r>
              <a:rPr>
                <a:latin typeface="+mn-ea"/>
                <a:sym typeface="+mn-lt"/>
              </a:rPr>
              <a:t>变更实施人应将变更与验证的结果提交产品经理审核，由其确认变更是否已经按要求完成。必要时，应召集会议确认变更的结果；评审的结论应体现于“设计变更申请”中。</a:t>
            </a:r>
            <a:endParaRPr>
              <a:latin typeface="+mn-ea"/>
              <a:sym typeface="+mn-lt"/>
            </a:endParaRPr>
          </a:p>
          <a:p>
            <a:pPr marL="342900" indent="-342900" fontAlgn="base">
              <a:lnSpc>
                <a:spcPct val="150000"/>
              </a:lnSpc>
              <a:spcBef>
                <a:spcPct val="0"/>
              </a:spcBef>
              <a:spcAft>
                <a:spcPct val="0"/>
              </a:spcAft>
              <a:buFont typeface="Wingdings" panose="05000000000000000000" charset="0"/>
              <a:buChar char="Ø"/>
            </a:pPr>
            <a:r>
              <a:rPr>
                <a:latin typeface="+mn-ea"/>
                <a:sym typeface="+mn-lt"/>
              </a:rPr>
              <a:t>变更评审的负责人可选范围为技术委员会人员，具体参考《科远智慧技术委员会管理规范》。</a:t>
            </a:r>
            <a:endParaRPr>
              <a:latin typeface="+mn-ea"/>
              <a:sym typeface="+mn-lt"/>
            </a:endParaRPr>
          </a:p>
          <a:p>
            <a:pPr marL="342900" indent="-342900" fontAlgn="base">
              <a:lnSpc>
                <a:spcPct val="150000"/>
              </a:lnSpc>
              <a:spcBef>
                <a:spcPct val="0"/>
              </a:spcBef>
              <a:spcAft>
                <a:spcPct val="0"/>
              </a:spcAft>
              <a:buFont typeface="Wingdings" panose="05000000000000000000" charset="0"/>
              <a:buChar char="Ø"/>
            </a:pPr>
            <a:r>
              <a:rPr>
                <a:latin typeface="+mn-ea"/>
                <a:sym typeface="+mn-lt"/>
              </a:rPr>
              <a:t>评审后所有变更配置项发给对应专家审计；所有文档均应审计，输出审计记录与审计报告。</a:t>
            </a:r>
            <a:endParaRPr>
              <a:latin typeface="+mn-ea"/>
              <a:sym typeface="+mn-lt"/>
            </a:endParaRPr>
          </a:p>
          <a:p>
            <a:pPr marL="285750" indent="-285750" fontAlgn="base">
              <a:lnSpc>
                <a:spcPct val="150000"/>
              </a:lnSpc>
              <a:spcBef>
                <a:spcPct val="0"/>
              </a:spcBef>
              <a:spcAft>
                <a:spcPct val="0"/>
              </a:spcAft>
              <a:buFont typeface="Wingdings" panose="05000000000000000000" charset="0"/>
              <a:buChar char="ü"/>
            </a:pPr>
            <a:r>
              <a:rPr sz="1600" b="1">
                <a:solidFill>
                  <a:srgbClr val="FF0000"/>
                </a:solidFill>
                <a:latin typeface="+mn-ea"/>
                <a:sym typeface="+mn-lt"/>
              </a:rPr>
              <a:t>审计注意点：</a:t>
            </a:r>
            <a:r>
              <a:rPr sz="1600">
                <a:latin typeface="+mn-ea"/>
                <a:sym typeface="+mn-lt"/>
              </a:rPr>
              <a:t>光绘、烧录、配置软件工具的审计，需通过指定的审计人员和对应的工艺人员审核；审计报告中“格式正确性”、内容有效性、发现的问题、是否修正均须填写完整。</a:t>
            </a:r>
            <a:endParaRPr sz="1600">
              <a:latin typeface="+mn-ea"/>
              <a:sym typeface="+mn-lt"/>
            </a:endParaRPr>
          </a:p>
          <a:p>
            <a:pPr marL="342900" indent="-342900" fontAlgn="base">
              <a:lnSpc>
                <a:spcPct val="150000"/>
              </a:lnSpc>
              <a:spcBef>
                <a:spcPct val="0"/>
              </a:spcBef>
              <a:spcAft>
                <a:spcPct val="0"/>
              </a:spcAft>
              <a:buFont typeface="Wingdings" panose="05000000000000000000" charset="0"/>
              <a:buChar char="Ø"/>
            </a:pPr>
            <a:r>
              <a:rPr>
                <a:latin typeface="+mn-ea"/>
                <a:sym typeface="+mn-lt"/>
              </a:rPr>
              <a:t>审计完成后所有资料上传配置库，文件上传配置库需备注对应版本，上传前可提前发给配置管理员审核。</a:t>
            </a:r>
            <a:endParaRPr>
              <a:latin typeface="+mn-ea"/>
              <a:sym typeface="+mn-lt"/>
            </a:endParaRPr>
          </a:p>
          <a:p>
            <a:pPr indent="0" fontAlgn="base">
              <a:lnSpc>
                <a:spcPct val="150000"/>
              </a:lnSpc>
              <a:spcBef>
                <a:spcPct val="0"/>
              </a:spcBef>
              <a:spcAft>
                <a:spcPct val="0"/>
              </a:spcAft>
              <a:buFont typeface="Wingdings" panose="05000000000000000000" charset="0"/>
              <a:buNone/>
            </a:pPr>
            <a:endParaRPr lang="zh-CN" altLang="en-US" dirty="0">
              <a:latin typeface="+mn-ea"/>
              <a:ea typeface="微软雅黑" panose="020B0503020204020204" pitchFamily="34" charset="-122"/>
              <a:sym typeface="+mn-lt"/>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变更</a:t>
            </a:r>
            <a:r>
              <a:rPr lang="zh-CN" altLang="en-US" dirty="0">
                <a:solidFill>
                  <a:srgbClr val="FF0000"/>
                </a:solidFill>
              </a:rPr>
              <a:t>发</a:t>
            </a:r>
            <a:r>
              <a:rPr lang="zh-CN" altLang="en-US" dirty="0">
                <a:solidFill>
                  <a:srgbClr val="FF0000"/>
                </a:solidFill>
              </a:rPr>
              <a:t>布</a:t>
            </a:r>
            <a:endParaRPr lang="zh-CN" altLang="en-US" dirty="0">
              <a:solidFill>
                <a:srgbClr val="FF0000"/>
              </a:solidFill>
            </a:endParaRPr>
          </a:p>
        </p:txBody>
      </p:sp>
      <p:sp>
        <p:nvSpPr>
          <p:cNvPr id="4" name="矩形 3"/>
          <p:cNvSpPr/>
          <p:nvPr/>
        </p:nvSpPr>
        <p:spPr>
          <a:xfrm>
            <a:off x="612775" y="927100"/>
            <a:ext cx="10952480" cy="5810885"/>
          </a:xfrm>
          <a:prstGeom prst="rect">
            <a:avLst/>
          </a:prstGeom>
        </p:spPr>
        <p:txBody>
          <a:bodyPr wrap="square">
            <a:noAutofit/>
          </a:bodyPr>
          <a:lstStyle/>
          <a:p>
            <a:pPr marL="342900" indent="-342900" fontAlgn="base">
              <a:lnSpc>
                <a:spcPct val="150000"/>
              </a:lnSpc>
              <a:spcBef>
                <a:spcPct val="0"/>
              </a:spcBef>
              <a:spcAft>
                <a:spcPct val="0"/>
              </a:spcAft>
              <a:buFont typeface="Wingdings" panose="05000000000000000000" pitchFamily="2" charset="2"/>
              <a:buAutoNum type="arabicPeriod"/>
            </a:pPr>
            <a:r>
              <a:rPr smtClean="0">
                <a:latin typeface="+mn-ea"/>
                <a:sym typeface="+mn-lt"/>
              </a:rPr>
              <a:t>变更流程至配置管理员处应具备条件：已完成</a:t>
            </a:r>
            <a:r>
              <a:rPr smtClean="0">
                <a:solidFill>
                  <a:srgbClr val="FF0000"/>
                </a:solidFill>
                <a:latin typeface="+mn-ea"/>
                <a:sym typeface="+mn-lt"/>
              </a:rPr>
              <a:t>变更评估、变更实施及变更验证</a:t>
            </a:r>
            <a:r>
              <a:rPr smtClean="0">
                <a:latin typeface="+mn-ea"/>
                <a:sym typeface="+mn-lt"/>
              </a:rPr>
              <a:t>，</a:t>
            </a:r>
            <a:r>
              <a:rPr smtClean="0">
                <a:solidFill>
                  <a:srgbClr val="FF0000"/>
                </a:solidFill>
                <a:latin typeface="+mn-ea"/>
                <a:sym typeface="+mn-lt"/>
              </a:rPr>
              <a:t>BOM流程</a:t>
            </a:r>
            <a:r>
              <a:rPr smtClean="0">
                <a:latin typeface="+mn-ea"/>
                <a:sym typeface="+mn-lt"/>
              </a:rPr>
              <a:t>到配置管理员处，变更资料已</a:t>
            </a:r>
            <a:r>
              <a:rPr smtClean="0">
                <a:solidFill>
                  <a:srgbClr val="FF0000"/>
                </a:solidFill>
                <a:latin typeface="+mn-ea"/>
                <a:sym typeface="+mn-lt"/>
              </a:rPr>
              <a:t>上传SVN</a:t>
            </a:r>
            <a:r>
              <a:rPr smtClean="0">
                <a:latin typeface="+mn-ea"/>
                <a:sym typeface="+mn-lt"/>
              </a:rPr>
              <a:t>，</a:t>
            </a:r>
            <a:r>
              <a:rPr smtClean="0">
                <a:solidFill>
                  <a:srgbClr val="FF0000"/>
                </a:solidFill>
                <a:latin typeface="+mn-ea"/>
                <a:sym typeface="+mn-lt"/>
              </a:rPr>
              <a:t>发布流程</a:t>
            </a:r>
            <a:r>
              <a:rPr smtClean="0">
                <a:latin typeface="+mn-ea"/>
                <a:sym typeface="+mn-lt"/>
              </a:rPr>
              <a:t>已编辑初稿。</a:t>
            </a:r>
            <a:endParaRPr smtClean="0">
              <a:latin typeface="+mn-ea"/>
              <a:sym typeface="+mn-lt"/>
            </a:endParaRPr>
          </a:p>
          <a:p>
            <a:pPr marL="342900" indent="-342900" fontAlgn="base">
              <a:lnSpc>
                <a:spcPct val="150000"/>
              </a:lnSpc>
              <a:spcBef>
                <a:spcPct val="0"/>
              </a:spcBef>
              <a:spcAft>
                <a:spcPct val="0"/>
              </a:spcAft>
              <a:buFont typeface="Wingdings" panose="05000000000000000000" pitchFamily="2" charset="2"/>
              <a:buAutoNum type="arabicPeriod"/>
            </a:pPr>
            <a:r>
              <a:rPr smtClean="0">
                <a:latin typeface="+mn-ea"/>
                <a:sym typeface="+mn-lt"/>
              </a:rPr>
              <a:t>变更流程至配置管理员后建议</a:t>
            </a:r>
            <a:r>
              <a:rPr smtClean="0">
                <a:solidFill>
                  <a:srgbClr val="FF0000"/>
                </a:solidFill>
                <a:latin typeface="+mn-ea"/>
                <a:sym typeface="+mn-lt"/>
              </a:rPr>
              <a:t>一周内完成</a:t>
            </a:r>
            <a:r>
              <a:rPr smtClean="0">
                <a:latin typeface="+mn-ea"/>
                <a:sym typeface="+mn-lt"/>
              </a:rPr>
              <a:t>，发布流程建议</a:t>
            </a:r>
            <a:r>
              <a:rPr smtClean="0">
                <a:solidFill>
                  <a:srgbClr val="FF0000"/>
                </a:solidFill>
                <a:latin typeface="+mn-ea"/>
                <a:sym typeface="+mn-lt"/>
              </a:rPr>
              <a:t>3天内完成</a:t>
            </a:r>
            <a:r>
              <a:rPr smtClean="0">
                <a:latin typeface="+mn-ea"/>
                <a:sym typeface="+mn-lt"/>
              </a:rPr>
              <a:t>。</a:t>
            </a:r>
            <a:endParaRPr smtClean="0">
              <a:latin typeface="+mn-ea"/>
              <a:sym typeface="+mn-lt"/>
            </a:endParaRPr>
          </a:p>
          <a:p>
            <a:pPr marL="342900" indent="-342900" fontAlgn="base">
              <a:lnSpc>
                <a:spcPct val="150000"/>
              </a:lnSpc>
              <a:spcBef>
                <a:spcPct val="0"/>
              </a:spcBef>
              <a:spcAft>
                <a:spcPct val="0"/>
              </a:spcAft>
              <a:buFont typeface="Wingdings" panose="05000000000000000000" pitchFamily="2" charset="2"/>
              <a:buAutoNum type="arabicPeriod"/>
            </a:pPr>
            <a:r>
              <a:rPr smtClean="0">
                <a:latin typeface="+mn-ea"/>
                <a:sym typeface="+mn-lt"/>
              </a:rPr>
              <a:t>完成变更评审及审计后，变更申请人在ERP中填写“产品发布申请登记”，打印此页面作为发布申请表；</a:t>
            </a:r>
            <a:endParaRPr smtClean="0">
              <a:latin typeface="+mn-ea"/>
              <a:sym typeface="+mn-lt"/>
            </a:endParaRPr>
          </a:p>
          <a:p>
            <a:pPr marL="742950" lvl="1" indent="-285750" fontAlgn="base">
              <a:lnSpc>
                <a:spcPct val="150000"/>
              </a:lnSpc>
              <a:spcBef>
                <a:spcPct val="0"/>
              </a:spcBef>
              <a:spcAft>
                <a:spcPct val="0"/>
              </a:spcAft>
              <a:buFont typeface="Wingdings" panose="05000000000000000000" charset="0"/>
              <a:buChar char="ü"/>
            </a:pPr>
            <a:r>
              <a:rPr sz="1400" smtClean="0">
                <a:latin typeface="+mn-ea"/>
                <a:sym typeface="+mn-lt"/>
              </a:rPr>
              <a:t>填写项目、发布类型选择变更发布，填产品类别，产品经理自动带出，支持修改，关联变更单据，选择纯软件/硬件变更；</a:t>
            </a:r>
            <a:endParaRPr sz="1400" smtClean="0">
              <a:latin typeface="+mn-ea"/>
              <a:sym typeface="+mn-lt"/>
            </a:endParaRPr>
          </a:p>
          <a:p>
            <a:pPr marL="742950" lvl="1" indent="-285750" fontAlgn="base">
              <a:lnSpc>
                <a:spcPct val="150000"/>
              </a:lnSpc>
              <a:spcBef>
                <a:spcPct val="0"/>
              </a:spcBef>
              <a:spcAft>
                <a:spcPct val="0"/>
              </a:spcAft>
              <a:buFont typeface="Wingdings" panose="05000000000000000000" charset="0"/>
              <a:buChar char="ü"/>
            </a:pPr>
            <a:r>
              <a:rPr sz="1400" smtClean="0">
                <a:latin typeface="+mn-ea"/>
                <a:sym typeface="+mn-lt"/>
              </a:rPr>
              <a:t>产品发布列表添加对应产品，对应信息自动带出，产品发布说明支持修改，可简述本次主要变更信息，对应附件添加发布说明（解密）；软件产品支持手动填写；</a:t>
            </a:r>
            <a:endParaRPr sz="1400" smtClean="0">
              <a:latin typeface="+mn-ea"/>
              <a:sym typeface="+mn-lt"/>
            </a:endParaRPr>
          </a:p>
          <a:p>
            <a:pPr marL="742950" lvl="1" indent="-285750" fontAlgn="base">
              <a:lnSpc>
                <a:spcPct val="150000"/>
              </a:lnSpc>
              <a:spcBef>
                <a:spcPct val="0"/>
              </a:spcBef>
              <a:spcAft>
                <a:spcPct val="0"/>
              </a:spcAft>
              <a:buFont typeface="Wingdings" panose="05000000000000000000" charset="0"/>
              <a:buChar char="ü"/>
            </a:pPr>
            <a:r>
              <a:rPr sz="1400" smtClean="0">
                <a:latin typeface="+mn-ea"/>
                <a:sym typeface="+mn-lt"/>
              </a:rPr>
              <a:t>产品介绍可复用发布说明中产品主要功能，多个产品可综述；运行环境复用发布说明；发放范围为邮件收件人，一般包含质量管理部、研发管理部、对应研发部门、计划部、生产方向以及对应项目部门；</a:t>
            </a:r>
            <a:endParaRPr sz="1400" smtClean="0">
              <a:latin typeface="+mn-ea"/>
              <a:sym typeface="+mn-lt"/>
            </a:endParaRPr>
          </a:p>
          <a:p>
            <a:pPr marL="742950" lvl="1" indent="-285750" fontAlgn="base">
              <a:lnSpc>
                <a:spcPct val="150000"/>
              </a:lnSpc>
              <a:spcBef>
                <a:spcPct val="0"/>
              </a:spcBef>
              <a:spcAft>
                <a:spcPct val="0"/>
              </a:spcAft>
              <a:buFont typeface="Wingdings" panose="05000000000000000000" charset="0"/>
              <a:buChar char="ü"/>
            </a:pPr>
            <a:r>
              <a:rPr sz="1400" smtClean="0">
                <a:latin typeface="+mn-ea"/>
                <a:sym typeface="+mn-lt"/>
              </a:rPr>
              <a:t>发布申请表为本次变更所有配置项，支持EXCEL导入。</a:t>
            </a:r>
            <a:endParaRPr sz="1400" smtClean="0">
              <a:latin typeface="+mn-ea"/>
              <a:sym typeface="+mn-lt"/>
            </a:endParaRPr>
          </a:p>
          <a:p>
            <a:pPr marL="342900" indent="-342900" fontAlgn="base">
              <a:lnSpc>
                <a:spcPct val="150000"/>
              </a:lnSpc>
              <a:spcBef>
                <a:spcPct val="0"/>
              </a:spcBef>
              <a:spcAft>
                <a:spcPct val="0"/>
              </a:spcAft>
              <a:buFont typeface="+mj-lt"/>
              <a:buAutoNum type="arabicPeriod"/>
            </a:pPr>
            <a:r>
              <a:rPr smtClean="0">
                <a:latin typeface="+mn-ea"/>
                <a:sym typeface="+mn-lt"/>
              </a:rPr>
              <a:t>编辑完成后通知配置管理员核对，无误后启动流程。</a:t>
            </a:r>
            <a:endParaRPr lang="zh-CN" altLang="en-US" dirty="0">
              <a:latin typeface="微软雅黑" panose="020B0503020204020204" pitchFamily="34" charset="-122"/>
              <a:ea typeface="微软雅黑" panose="020B0503020204020204" pitchFamily="34" charset="-122"/>
            </a:endParaRPr>
          </a:p>
          <a:p>
            <a:pPr marL="742950" lvl="1" indent="-285750" algn="l" fontAlgn="base">
              <a:lnSpc>
                <a:spcPct val="150000"/>
              </a:lnSpc>
              <a:buClrTx/>
              <a:buSzTx/>
              <a:buFont typeface="Wingdings" panose="05000000000000000000" charset="0"/>
              <a:buChar char="ü"/>
            </a:pPr>
            <a:r>
              <a:rPr sz="1400" smtClean="0">
                <a:latin typeface="+mn-ea"/>
                <a:sym typeface="+mn-ea"/>
              </a:rPr>
              <a:t>详细发布指导见</a:t>
            </a:r>
            <a:r>
              <a:rPr sz="1400" smtClean="0">
                <a:solidFill>
                  <a:srgbClr val="FF0000"/>
                </a:solidFill>
                <a:latin typeface="+mn-ea"/>
                <a:sym typeface="+mn-ea"/>
              </a:rPr>
              <a:t>《发布&amp;变更流程培训-20250625.pptx》</a:t>
            </a:r>
            <a:r>
              <a:rPr sz="1400" smtClean="0">
                <a:latin typeface="+mn-ea"/>
                <a:sym typeface="+mn-ea"/>
              </a:rPr>
              <a:t>。</a:t>
            </a:r>
            <a:endParaRPr sz="1400" smtClean="0">
              <a:latin typeface="+mn-ea"/>
              <a:sym typeface="+mn-ea"/>
            </a:endParaRPr>
          </a:p>
          <a:p>
            <a:pPr marL="342900" lvl="0" indent="-342900" algn="l" fontAlgn="base">
              <a:lnSpc>
                <a:spcPct val="150000"/>
              </a:lnSpc>
              <a:buClrTx/>
              <a:buSzTx/>
              <a:buFont typeface="Wingdings" panose="05000000000000000000" charset="0"/>
              <a:buAutoNum type="arabicPeriod"/>
            </a:pPr>
            <a:r>
              <a:rPr lang="zh-CN" altLang="en-US" smtClean="0">
                <a:solidFill>
                  <a:schemeClr val="tx1"/>
                </a:solidFill>
                <a:latin typeface="+mn-ea"/>
                <a:sym typeface="+mn-ea"/>
              </a:rPr>
              <a:t>本次变更相关的批量</a:t>
            </a:r>
            <a:r>
              <a:rPr lang="en-US" altLang="zh-CN" smtClean="0">
                <a:solidFill>
                  <a:schemeClr val="tx1"/>
                </a:solidFill>
                <a:latin typeface="+mn-ea"/>
                <a:sym typeface="+mn-ea"/>
              </a:rPr>
              <a:t>BOM,</a:t>
            </a:r>
            <a:r>
              <a:rPr lang="zh-CN" altLang="en-US" smtClean="0">
                <a:solidFill>
                  <a:schemeClr val="tx1"/>
                </a:solidFill>
                <a:latin typeface="+mn-ea"/>
                <a:sym typeface="+mn-ea"/>
              </a:rPr>
              <a:t>需在本次</a:t>
            </a:r>
            <a:r>
              <a:rPr lang="zh-CN" altLang="en-US" smtClean="0">
                <a:solidFill>
                  <a:srgbClr val="FF0000"/>
                </a:solidFill>
                <a:latin typeface="+mn-ea"/>
                <a:sym typeface="+mn-ea"/>
              </a:rPr>
              <a:t>变更发布做完后，再处理相关的</a:t>
            </a:r>
            <a:r>
              <a:rPr lang="en-US" altLang="zh-CN" smtClean="0">
                <a:solidFill>
                  <a:srgbClr val="FF0000"/>
                </a:solidFill>
                <a:latin typeface="+mn-ea"/>
                <a:sym typeface="+mn-ea"/>
              </a:rPr>
              <a:t>BOM</a:t>
            </a:r>
            <a:r>
              <a:rPr lang="zh-CN" altLang="en-US" smtClean="0">
                <a:solidFill>
                  <a:srgbClr val="FF0000"/>
                </a:solidFill>
                <a:latin typeface="+mn-ea"/>
                <a:sym typeface="+mn-ea"/>
              </a:rPr>
              <a:t>批量流程。</a:t>
            </a:r>
            <a:endParaRPr lang="zh-CN" altLang="en-US" smtClean="0">
              <a:solidFill>
                <a:srgbClr val="FF0000"/>
              </a:solidFill>
              <a:latin typeface="+mn-ea"/>
              <a:sym typeface="+mn-ea"/>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smtClean="0">
                <a:solidFill>
                  <a:schemeClr val="tx1"/>
                </a:solidFill>
              </a:rPr>
              <a:t>变更</a:t>
            </a:r>
            <a:r>
              <a:rPr lang="en-US" altLang="zh-CN" smtClean="0">
                <a:solidFill>
                  <a:schemeClr val="tx1"/>
                </a:solidFill>
              </a:rPr>
              <a:t>-</a:t>
            </a:r>
            <a:r>
              <a:rPr lang="zh-CN" altLang="en-US" smtClean="0">
                <a:solidFill>
                  <a:srgbClr val="FF0000"/>
                </a:solidFill>
              </a:rPr>
              <a:t>变更过程关注点</a:t>
            </a:r>
            <a:endParaRPr lang="zh-CN" altLang="en-US" dirty="0">
              <a:solidFill>
                <a:srgbClr val="FF0000"/>
              </a:solidFill>
            </a:endParaRPr>
          </a:p>
        </p:txBody>
      </p:sp>
      <p:sp>
        <p:nvSpPr>
          <p:cNvPr id="9" name="矩形 8"/>
          <p:cNvSpPr/>
          <p:nvPr/>
        </p:nvSpPr>
        <p:spPr>
          <a:xfrm>
            <a:off x="518874" y="956345"/>
            <a:ext cx="6096000" cy="453457"/>
          </a:xfrm>
          <a:prstGeom prst="rect">
            <a:avLst/>
          </a:prstGeom>
        </p:spPr>
        <p:txBody>
          <a:bodyPr>
            <a:spAutoFit/>
          </a:bodyPr>
          <a:lstStyle/>
          <a:p>
            <a:pPr marL="342900" lvl="0" indent="-342900">
              <a:lnSpc>
                <a:spcPct val="130000"/>
              </a:lnSpc>
              <a:buFont typeface="Arial" panose="020B0604020202020204" pitchFamily="34" charset="0"/>
              <a:buChar char="•"/>
            </a:pPr>
            <a:r>
              <a:rPr lang="zh-CN" altLang="en-US" smtClean="0">
                <a:latin typeface="微软雅黑" panose="020B0503020204020204" pitchFamily="34" charset="-122"/>
                <a:ea typeface="微软雅黑" panose="020B0503020204020204" pitchFamily="34" charset="-122"/>
              </a:rPr>
              <a:t>发布申请前提条件</a:t>
            </a:r>
            <a:endParaRPr lang="zh-CN" altLang="en-US" dirty="0">
              <a:latin typeface="微软雅黑" panose="020B0503020204020204" pitchFamily="34" charset="-122"/>
              <a:ea typeface="微软雅黑" panose="020B0503020204020204" pitchFamily="34" charset="-122"/>
            </a:endParaRPr>
          </a:p>
        </p:txBody>
      </p:sp>
      <p:sp>
        <p:nvSpPr>
          <p:cNvPr id="28" name="矩形 27"/>
          <p:cNvSpPr/>
          <p:nvPr/>
        </p:nvSpPr>
        <p:spPr>
          <a:xfrm>
            <a:off x="883285" y="1574800"/>
            <a:ext cx="9711055" cy="810260"/>
          </a:xfrm>
          <a:prstGeom prst="rect">
            <a:avLst/>
          </a:prstGeom>
        </p:spPr>
        <p:txBody>
          <a:bodyPr wrap="square">
            <a:spAutoFit/>
          </a:bodyPr>
          <a:lstStyle/>
          <a:p>
            <a:pPr lvl="0">
              <a:lnSpc>
                <a:spcPct val="130000"/>
              </a:lnSpc>
            </a:pPr>
            <a:r>
              <a:rPr lang="zh-CN" altLang="en-US" sz="1800">
                <a:latin typeface="微软雅黑" panose="020B0503020204020204" pitchFamily="34" charset="-122"/>
                <a:ea typeface="微软雅黑" panose="020B0503020204020204" pitchFamily="34" charset="-122"/>
                <a:sym typeface="+mn-ea"/>
              </a:rPr>
              <a:t>变更涉及资料已整理完成，并完成审计；</a:t>
            </a:r>
            <a:endParaRPr lang="zh-CN" altLang="en-US" sz="1800">
              <a:latin typeface="微软雅黑" panose="020B0503020204020204" pitchFamily="34" charset="-122"/>
              <a:ea typeface="微软雅黑" panose="020B0503020204020204" pitchFamily="34" charset="-122"/>
              <a:sym typeface="+mn-ea"/>
            </a:endParaRPr>
          </a:p>
          <a:p>
            <a:pPr lvl="0">
              <a:lnSpc>
                <a:spcPct val="130000"/>
              </a:lnSpc>
            </a:pPr>
            <a:r>
              <a:rPr lang="zh-CN" altLang="en-US" sz="1800">
                <a:latin typeface="微软雅黑" panose="020B0503020204020204" pitchFamily="34" charset="-122"/>
                <a:ea typeface="微软雅黑" panose="020B0503020204020204" pitchFamily="34" charset="-122"/>
                <a:sym typeface="+mn-ea"/>
              </a:rPr>
              <a:t>资料上传至对应配置库，设计</a:t>
            </a:r>
            <a:r>
              <a:rPr lang="en-US" altLang="zh-CN" sz="1800">
                <a:latin typeface="微软雅黑" panose="020B0503020204020204" pitchFamily="34" charset="-122"/>
                <a:ea typeface="微软雅黑" panose="020B0503020204020204" pitchFamily="34" charset="-122"/>
                <a:sym typeface="+mn-ea"/>
              </a:rPr>
              <a:t>BOM </a:t>
            </a:r>
            <a:r>
              <a:rPr lang="zh-CN" altLang="en-US" sz="1800">
                <a:latin typeface="微软雅黑" panose="020B0503020204020204" pitchFamily="34" charset="-122"/>
                <a:ea typeface="微软雅黑" panose="020B0503020204020204" pitchFamily="34" charset="-122"/>
                <a:sym typeface="+mn-ea"/>
              </a:rPr>
              <a:t>流程已启动至配置管理员处，方可</a:t>
            </a:r>
            <a:r>
              <a:rPr lang="zh-CN" altLang="en-US" sz="1800">
                <a:solidFill>
                  <a:srgbClr val="FF0000"/>
                </a:solidFill>
                <a:latin typeface="微软雅黑" panose="020B0503020204020204" pitchFamily="34" charset="-122"/>
                <a:ea typeface="微软雅黑" panose="020B0503020204020204" pitchFamily="34" charset="-122"/>
                <a:sym typeface="+mn-ea"/>
              </a:rPr>
              <a:t>申请发布；</a:t>
            </a:r>
            <a:endParaRPr lang="en-US" altLang="zh-CN" sz="1800" dirty="0">
              <a:latin typeface="微软雅黑" panose="020B0503020204020204" pitchFamily="34" charset="-122"/>
              <a:ea typeface="微软雅黑" panose="020B0503020204020204" pitchFamily="34" charset="-122"/>
            </a:endParaRPr>
          </a:p>
        </p:txBody>
      </p:sp>
      <p:sp>
        <p:nvSpPr>
          <p:cNvPr id="3" name="矩形 2"/>
          <p:cNvSpPr/>
          <p:nvPr/>
        </p:nvSpPr>
        <p:spPr>
          <a:xfrm>
            <a:off x="534035" y="2686050"/>
            <a:ext cx="7186295" cy="491490"/>
          </a:xfrm>
          <a:prstGeom prst="rect">
            <a:avLst/>
          </a:prstGeom>
        </p:spPr>
        <p:txBody>
          <a:bodyPr wrap="square">
            <a:spAutoFit/>
          </a:bodyPr>
          <a:lstStyle/>
          <a:p>
            <a:pPr marL="342900" lvl="0" indent="-342900">
              <a:lnSpc>
                <a:spcPct val="130000"/>
              </a:lnSpc>
              <a:buFont typeface="Arial" panose="020B0604020202020204" pitchFamily="34" charset="0"/>
              <a:buChar char="•"/>
            </a:pPr>
            <a:r>
              <a:rPr lang="zh-CN" altLang="en-US" smtClean="0">
                <a:latin typeface="微软雅黑" panose="020B0503020204020204" pitchFamily="34" charset="-122"/>
                <a:ea typeface="微软雅黑" panose="020B0503020204020204" pitchFamily="34" charset="-122"/>
              </a:rPr>
              <a:t>资料核对无误后，配置管理员发送发布邮件。</a:t>
            </a:r>
            <a:r>
              <a:rPr lang="zh-CN" altLang="en-US" smtClean="0">
                <a:solidFill>
                  <a:srgbClr val="FF0000"/>
                </a:solidFill>
                <a:latin typeface="微软雅黑" panose="020B0503020204020204" pitchFamily="34" charset="-122"/>
                <a:ea typeface="微软雅黑" panose="020B0503020204020204" pitchFamily="34" charset="-122"/>
              </a:rPr>
              <a:t>变更完成</a:t>
            </a:r>
            <a:endParaRPr lang="zh-CN" altLang="en-US" dirty="0" smtClean="0">
              <a:solidFill>
                <a:srgbClr val="FF0000"/>
              </a:solidFill>
              <a:latin typeface="微软雅黑" panose="020B0503020204020204" pitchFamily="34" charset="-122"/>
              <a:ea typeface="微软雅黑" panose="020B0503020204020204" pitchFamily="34" charset="-122"/>
            </a:endParaRPr>
          </a:p>
        </p:txBody>
      </p:sp>
      <p:sp>
        <p:nvSpPr>
          <p:cNvPr id="2" name="爆炸形 2 1"/>
          <p:cNvSpPr/>
          <p:nvPr/>
        </p:nvSpPr>
        <p:spPr>
          <a:xfrm>
            <a:off x="7720330" y="2686050"/>
            <a:ext cx="3989705" cy="2190115"/>
          </a:xfrm>
          <a:prstGeom prst="irregularSeal2">
            <a:avLst/>
          </a:prstGeom>
        </p:spPr>
        <p:style>
          <a:lnRef idx="1">
            <a:schemeClr val="accent1"/>
          </a:lnRef>
          <a:fillRef idx="3">
            <a:schemeClr val="accent1"/>
          </a:fillRef>
          <a:effectRef idx="2">
            <a:schemeClr val="accent1"/>
          </a:effectRef>
          <a:fontRef idx="minor">
            <a:schemeClr val="lt1"/>
          </a:fontRef>
        </p:style>
        <p:txBody>
          <a:bodyPr/>
          <a:p>
            <a:r>
              <a:rPr lang="zh-CN" altLang="en-US" b="1"/>
              <a:t>变更申请流程启动后一周内完成</a:t>
            </a:r>
            <a:endParaRPr lang="zh-CN" altLang="en-US" b="1"/>
          </a:p>
        </p:txBody>
      </p:sp>
      <p:pic>
        <p:nvPicPr>
          <p:cNvPr id="4" name="图片 3"/>
          <p:cNvPicPr>
            <a:picLocks noChangeAspect="1"/>
          </p:cNvPicPr>
          <p:nvPr>
            <p:custDataLst>
              <p:tags r:id="rId1"/>
            </p:custDataLst>
          </p:nvPr>
        </p:nvPicPr>
        <p:blipFill>
          <a:blip r:embed="rId2"/>
          <a:stretch>
            <a:fillRect/>
          </a:stretch>
        </p:blipFill>
        <p:spPr>
          <a:xfrm>
            <a:off x="883285" y="3177540"/>
            <a:ext cx="6290310" cy="30676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p:tgtEl>
                                          <p:spTgt spid="28"/>
                                        </p:tgtEl>
                                        <p:attrNameLst>
                                          <p:attrName>ppt_y</p:attrName>
                                        </p:attrNameLst>
                                      </p:cBhvr>
                                      <p:tavLst>
                                        <p:tav tm="0">
                                          <p:val>
                                            <p:strVal val="#ppt_y+#ppt_h*1.125000"/>
                                          </p:val>
                                        </p:tav>
                                        <p:tav tm="100000">
                                          <p:val>
                                            <p:strVal val="#ppt_y"/>
                                          </p:val>
                                        </p:tav>
                                      </p:tavLst>
                                    </p:anim>
                                    <p:animEffect transition="in" filter="wipe(up)">
                                      <p:cBhvr>
                                        <p:cTn id="12" dur="500"/>
                                        <p:tgtEl>
                                          <p:spTgt spid="28"/>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ppt_y</p:attrName>
                                        </p:attrNameLst>
                                      </p:cBhvr>
                                      <p:tavLst>
                                        <p:tav tm="0">
                                          <p:val>
                                            <p:strVal val="#ppt_y+#ppt_h*1.125000"/>
                                          </p:val>
                                        </p:tav>
                                        <p:tav tm="100000">
                                          <p:val>
                                            <p:strVal val="#ppt_y"/>
                                          </p:val>
                                        </p:tav>
                                      </p:tavLst>
                                    </p:anim>
                                    <p:animEffect transition="in" filter="wipe(up)">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additive="base">
                                        <p:cTn id="21" dur="500" fill="hold"/>
                                        <p:tgtEl>
                                          <p:spTgt spid="2"/>
                                        </p:tgtEl>
                                        <p:attrNameLst>
                                          <p:attrName>ppt_x</p:attrName>
                                        </p:attrNameLst>
                                      </p:cBhvr>
                                      <p:tavLst>
                                        <p:tav tm="0">
                                          <p:val>
                                            <p:strVal val="#ppt_x"/>
                                          </p:val>
                                        </p:tav>
                                        <p:tav tm="100000">
                                          <p:val>
                                            <p:strVal val="#ppt_x"/>
                                          </p:val>
                                        </p:tav>
                                      </p:tavLst>
                                    </p:anim>
                                    <p:anim calcmode="lin" valueType="num">
                                      <p:cBhvr additive="base">
                                        <p:cTn id="2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8" grpId="0"/>
      <p:bldP spid="3" grpId="0"/>
      <p:bldP spid="9" grpId="1"/>
      <p:bldP spid="28" grpId="1"/>
      <p:bldP spid="3" grpId="1"/>
      <p:bldP spid="2" grpId="0" animBg="1"/>
      <p:bldP spid="2"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约定</a:t>
            </a:r>
            <a:endParaRPr lang="zh-CN" altLang="en-US" dirty="0">
              <a:solidFill>
                <a:srgbClr val="FF0000"/>
              </a:solidFill>
            </a:endParaRPr>
          </a:p>
        </p:txBody>
      </p:sp>
      <p:sp>
        <p:nvSpPr>
          <p:cNvPr id="5" name="圆角矩形 4"/>
          <p:cNvSpPr/>
          <p:nvPr/>
        </p:nvSpPr>
        <p:spPr>
          <a:xfrm>
            <a:off x="2385934" y="117974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algn="l"/>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指还在生产状态，没有入成品库的产品。例如</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SMT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车间正在生产的、已入</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PCBA</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暂存库的、已入驱动</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PCBA</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暂存库的、驱动正在装配的、待测试的等；</a:t>
            </a:r>
            <a:endParaRPr lang="zh-CN" altLang="en-US" sz="1800">
              <a:cs typeface="微软雅黑" panose="020B0503020204020204" pitchFamily="34" charset="-122"/>
            </a:endParaRPr>
          </a:p>
        </p:txBody>
      </p:sp>
      <p:sp>
        <p:nvSpPr>
          <p:cNvPr id="6" name="圆角矩形 5"/>
          <p:cNvSpPr/>
          <p:nvPr/>
        </p:nvSpPr>
        <p:spPr>
          <a:xfrm>
            <a:off x="2385299" y="1937301"/>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lvl="0" algn="l" rtl="0">
              <a:lnSpc>
                <a:spcPct val="100000"/>
              </a:lnSpc>
              <a:spcBef>
                <a:spcPct val="0"/>
              </a:spcBef>
              <a:spcAft>
                <a:spcPct val="35000"/>
              </a:spcAft>
            </a:pPr>
            <a:r>
              <a:rPr lang="zh-CN" altLang="en-US" sz="1800">
                <a:latin typeface="微软雅黑" panose="020B0503020204020204" pitchFamily="34" charset="-122"/>
                <a:ea typeface="微软雅黑" panose="020B0503020204020204" pitchFamily="34" charset="-122"/>
                <a:sym typeface="+mn-ea"/>
              </a:rPr>
              <a:t>指入成品库的产品（含包装未发货产品）；</a:t>
            </a:r>
            <a:endParaRPr lang="zh-CN" altLang="en-US" sz="1800">
              <a:latin typeface="微软雅黑" panose="020B0503020204020204" pitchFamily="34" charset="-122"/>
              <a:ea typeface="微软雅黑" panose="020B0503020204020204" pitchFamily="34" charset="-122"/>
              <a:sym typeface="+mn-ea"/>
            </a:endParaRPr>
          </a:p>
        </p:txBody>
      </p:sp>
      <p:sp>
        <p:nvSpPr>
          <p:cNvPr id="8" name="圆角矩形 7"/>
          <p:cNvSpPr/>
          <p:nvPr/>
        </p:nvSpPr>
        <p:spPr>
          <a:xfrm>
            <a:off x="2385934" y="269485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algn="l"/>
            <a:r>
              <a:rPr lang="zh-CN" altLang="en-US" sz="1800">
                <a:latin typeface="微软雅黑" panose="020B0503020204020204" pitchFamily="34" charset="-122"/>
                <a:ea typeface="微软雅黑" panose="020B0503020204020204" pitchFamily="34" charset="-122"/>
                <a:sym typeface="+mn-ea"/>
              </a:rPr>
              <a:t>指发到现场，未交付给客户的；</a:t>
            </a:r>
            <a:endParaRPr lang="zh-CN" altLang="en-US" sz="1800">
              <a:latin typeface="微软雅黑" panose="020B0503020204020204" pitchFamily="34" charset="-122"/>
              <a:ea typeface="微软雅黑" panose="020B0503020204020204" pitchFamily="34" charset="-122"/>
              <a:sym typeface="+mn-ea"/>
            </a:endParaRPr>
          </a:p>
        </p:txBody>
      </p:sp>
      <p:sp>
        <p:nvSpPr>
          <p:cNvPr id="9" name="圆角矩形 8"/>
          <p:cNvSpPr/>
          <p:nvPr/>
        </p:nvSpPr>
        <p:spPr>
          <a:xfrm>
            <a:off x="2385934" y="344288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lvl="0" algn="l" rtl="0">
              <a:lnSpc>
                <a:spcPct val="100000"/>
              </a:lnSpc>
              <a:spcBef>
                <a:spcPct val="0"/>
              </a:spcBef>
              <a:spcAft>
                <a:spcPct val="35000"/>
              </a:spcAft>
            </a:pPr>
            <a:r>
              <a:rPr lang="zh-CN" altLang="en-US" sz="1800">
                <a:latin typeface="微软雅黑" panose="020B0503020204020204" pitchFamily="34" charset="-122"/>
                <a:ea typeface="微软雅黑" panose="020B0503020204020204" pitchFamily="34" charset="-122"/>
                <a:sym typeface="+mn-ea"/>
              </a:rPr>
              <a:t>已交付给客户的产品，或已投运的产品；</a:t>
            </a:r>
            <a:endParaRPr lang="zh-CN" altLang="en-US" sz="1800">
              <a:latin typeface="微软雅黑" panose="020B0503020204020204" pitchFamily="34" charset="-122"/>
              <a:ea typeface="微软雅黑" panose="020B0503020204020204" pitchFamily="34" charset="-122"/>
              <a:sym typeface="+mn-ea"/>
            </a:endParaRPr>
          </a:p>
        </p:txBody>
      </p:sp>
      <p:sp>
        <p:nvSpPr>
          <p:cNvPr id="10" name="圆角矩形 9"/>
          <p:cNvSpPr/>
          <p:nvPr/>
        </p:nvSpPr>
        <p:spPr>
          <a:xfrm>
            <a:off x="2385934" y="419091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lvl="0" algn="l">
              <a:lnSpc>
                <a:spcPct val="100000"/>
              </a:lnSpc>
              <a:spcBef>
                <a:spcPct val="0"/>
              </a:spcBef>
              <a:spcAft>
                <a:spcPct val="35000"/>
              </a:spcAft>
            </a:pP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无论涉及产品是整机或</a:t>
            </a:r>
            <a:r>
              <a:rPr sz="1800">
                <a:latin typeface="微软雅黑" panose="020B0503020204020204" pitchFamily="34" charset="-122"/>
                <a:ea typeface="微软雅黑" panose="020B0503020204020204" pitchFamily="34" charset="-122"/>
                <a:cs typeface="微软雅黑" panose="020B0503020204020204" pitchFamily="34" charset="-122"/>
                <a:sym typeface="+mn-ea"/>
              </a:rPr>
              <a:t>P</a:t>
            </a:r>
            <a:r>
              <a:rPr 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CBA</a:t>
            </a:r>
            <a:r>
              <a:rPr sz="180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1800" dirty="0">
                <a:latin typeface="微软雅黑" panose="020B0503020204020204" pitchFamily="34" charset="-122"/>
                <a:ea typeface="微软雅黑" panose="020B0503020204020204" pitchFamily="34" charset="-122"/>
                <a:cs typeface="微软雅黑" panose="020B0503020204020204" pitchFamily="34" charset="-122"/>
                <a:sym typeface="+mn-ea"/>
              </a:rPr>
              <a:t>对于在制品、库存品的定义都一样；</a:t>
            </a:r>
            <a:endParaRPr lang="zh-CN" altLang="en-US" sz="1800">
              <a:cs typeface="微软雅黑" panose="020B0503020204020204" pitchFamily="34" charset="-122"/>
            </a:endParaRPr>
          </a:p>
        </p:txBody>
      </p:sp>
      <p:sp>
        <p:nvSpPr>
          <p:cNvPr id="11" name="圆角矩形 10"/>
          <p:cNvSpPr/>
          <p:nvPr/>
        </p:nvSpPr>
        <p:spPr>
          <a:xfrm>
            <a:off x="2385934" y="493386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lvl="0" algn="l">
              <a:lnSpc>
                <a:spcPct val="100000"/>
              </a:lnSpc>
              <a:spcBef>
                <a:spcPct val="0"/>
              </a:spcBef>
              <a:spcAft>
                <a:spcPct val="35000"/>
              </a:spcAft>
            </a:pPr>
            <a:r>
              <a:rPr lang="zh-CN" altLang="en-US" sz="1800">
                <a:latin typeface="微软雅黑" panose="020B0503020204020204" pitchFamily="34" charset="-122"/>
                <a:ea typeface="微软雅黑" panose="020B0503020204020204" pitchFamily="34" charset="-122"/>
                <a:sym typeface="+mn-ea"/>
              </a:rPr>
              <a:t>正常生产的作业指导书变更；</a:t>
            </a:r>
            <a:endParaRPr lang="zh-CN" altLang="en-US" sz="1800">
              <a:latin typeface="微软雅黑" panose="020B0503020204020204" pitchFamily="34" charset="-122"/>
              <a:ea typeface="微软雅黑" panose="020B0503020204020204" pitchFamily="34" charset="-122"/>
              <a:sym typeface="+mn-ea"/>
            </a:endParaRPr>
          </a:p>
        </p:txBody>
      </p:sp>
      <p:sp>
        <p:nvSpPr>
          <p:cNvPr id="12" name="圆角矩形 11"/>
          <p:cNvSpPr/>
          <p:nvPr/>
        </p:nvSpPr>
        <p:spPr>
          <a:xfrm>
            <a:off x="2385934" y="5676816"/>
            <a:ext cx="8377555" cy="669290"/>
          </a:xfrm>
          <a:prstGeom prst="roundRect">
            <a:avLst/>
          </a:prstGeom>
          <a:noFill/>
          <a:ln w="28575" cmpd="sng">
            <a:solidFill>
              <a:schemeClr val="accent1">
                <a:shade val="5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nchorCtr="0"/>
          <a:lstStyle/>
          <a:p>
            <a:pPr lvl="0" algn="l" rtl="0">
              <a:lnSpc>
                <a:spcPct val="100000"/>
              </a:lnSpc>
              <a:spcBef>
                <a:spcPct val="0"/>
              </a:spcBef>
              <a:spcAft>
                <a:spcPct val="35000"/>
              </a:spcAft>
            </a:pPr>
            <a:r>
              <a:rPr lang="zh-CN" altLang="en-US" sz="1800" dirty="0">
                <a:latin typeface="微软雅黑" panose="020B0503020204020204" pitchFamily="34" charset="-122"/>
                <a:ea typeface="微软雅黑" panose="020B0503020204020204" pitchFamily="34" charset="-122"/>
                <a:sym typeface="+mn-ea"/>
              </a:rPr>
              <a:t>针对此次的变更复杂情况而决定是否需要工艺增加变更作业的指导书。</a:t>
            </a:r>
            <a:endParaRPr lang="zh-CN" altLang="en-US" sz="1800" dirty="0">
              <a:latin typeface="微软雅黑" panose="020B0503020204020204" pitchFamily="34" charset="-122"/>
              <a:ea typeface="微软雅黑" panose="020B0503020204020204" pitchFamily="34" charset="-122"/>
              <a:sym typeface="+mn-ea"/>
            </a:endParaRPr>
          </a:p>
        </p:txBody>
      </p:sp>
      <p:sp>
        <p:nvSpPr>
          <p:cNvPr id="13" name="圆角矩形 12"/>
          <p:cNvSpPr/>
          <p:nvPr/>
        </p:nvSpPr>
        <p:spPr>
          <a:xfrm>
            <a:off x="861933" y="1937301"/>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库存品</a:t>
            </a:r>
            <a:endParaRPr lang="zh-CN" altLang="en-US" sz="1800">
              <a:latin typeface="微软雅黑" panose="020B0503020204020204" pitchFamily="34" charset="-122"/>
              <a:ea typeface="微软雅黑" panose="020B0503020204020204" pitchFamily="34" charset="-122"/>
            </a:endParaRPr>
          </a:p>
        </p:txBody>
      </p:sp>
      <p:sp>
        <p:nvSpPr>
          <p:cNvPr id="14" name="圆角矩形 13"/>
          <p:cNvSpPr/>
          <p:nvPr/>
        </p:nvSpPr>
        <p:spPr>
          <a:xfrm>
            <a:off x="861933" y="269485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未投运</a:t>
            </a:r>
            <a:endParaRPr lang="zh-CN" altLang="en-US" sz="1800">
              <a:latin typeface="微软雅黑" panose="020B0503020204020204" pitchFamily="34" charset="-122"/>
              <a:ea typeface="微软雅黑" panose="020B0503020204020204" pitchFamily="34" charset="-122"/>
            </a:endParaRPr>
          </a:p>
        </p:txBody>
      </p:sp>
      <p:sp>
        <p:nvSpPr>
          <p:cNvPr id="15" name="圆角矩形 14"/>
          <p:cNvSpPr/>
          <p:nvPr/>
        </p:nvSpPr>
        <p:spPr>
          <a:xfrm>
            <a:off x="861933" y="344288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已投运</a:t>
            </a:r>
            <a:endParaRPr lang="zh-CN" altLang="en-US" sz="1800">
              <a:latin typeface="微软雅黑" panose="020B0503020204020204" pitchFamily="34" charset="-122"/>
              <a:ea typeface="微软雅黑" panose="020B0503020204020204" pitchFamily="34" charset="-122"/>
            </a:endParaRPr>
          </a:p>
        </p:txBody>
      </p:sp>
      <p:sp>
        <p:nvSpPr>
          <p:cNvPr id="16" name="圆角矩形 15"/>
          <p:cNvSpPr/>
          <p:nvPr/>
        </p:nvSpPr>
        <p:spPr>
          <a:xfrm>
            <a:off x="861933" y="419091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注：</a:t>
            </a:r>
            <a:endParaRPr lang="zh-CN" altLang="en-US" sz="1800">
              <a:latin typeface="微软雅黑" panose="020B0503020204020204" pitchFamily="34" charset="-122"/>
              <a:ea typeface="微软雅黑" panose="020B0503020204020204" pitchFamily="34" charset="-122"/>
            </a:endParaRPr>
          </a:p>
        </p:txBody>
      </p:sp>
      <p:sp>
        <p:nvSpPr>
          <p:cNvPr id="17" name="圆角矩形 16"/>
          <p:cNvSpPr/>
          <p:nvPr/>
        </p:nvSpPr>
        <p:spPr>
          <a:xfrm>
            <a:off x="861933" y="493386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作业指导书</a:t>
            </a:r>
            <a:endParaRPr lang="zh-CN" altLang="en-US" sz="1800">
              <a:latin typeface="微软雅黑" panose="020B0503020204020204" pitchFamily="34" charset="-122"/>
              <a:ea typeface="微软雅黑" panose="020B0503020204020204" pitchFamily="34" charset="-122"/>
            </a:endParaRPr>
          </a:p>
        </p:txBody>
      </p:sp>
      <p:sp>
        <p:nvSpPr>
          <p:cNvPr id="18" name="圆角矩形 17"/>
          <p:cNvSpPr/>
          <p:nvPr/>
        </p:nvSpPr>
        <p:spPr>
          <a:xfrm>
            <a:off x="861933" y="567681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变更作业指导书</a:t>
            </a:r>
            <a:endParaRPr lang="zh-CN" altLang="en-US" sz="1800">
              <a:latin typeface="微软雅黑" panose="020B0503020204020204" pitchFamily="34" charset="-122"/>
              <a:ea typeface="微软雅黑" panose="020B0503020204020204" pitchFamily="34" charset="-122"/>
            </a:endParaRPr>
          </a:p>
        </p:txBody>
      </p:sp>
      <p:sp>
        <p:nvSpPr>
          <p:cNvPr id="19" name="圆角矩形 18"/>
          <p:cNvSpPr/>
          <p:nvPr/>
        </p:nvSpPr>
        <p:spPr>
          <a:xfrm>
            <a:off x="861933" y="1179746"/>
            <a:ext cx="1428750" cy="669290"/>
          </a:xfrm>
          <a:prstGeom prst="roundRect">
            <a:avLst/>
          </a:prstGeom>
          <a:solidFill>
            <a:schemeClr val="tx2">
              <a:alpha val="93000"/>
            </a:schemeClr>
          </a:solidFill>
          <a:ln w="12700" cmpd="sng">
            <a:solidFill>
              <a:schemeClr val="accent1">
                <a:shade val="50000"/>
                <a:alpha val="50000"/>
              </a:schemeClr>
            </a:solidFill>
            <a:prstDash val="solid"/>
          </a:ln>
          <a:effectLst>
            <a:outerShdw blurRad="50800" dist="38100" dir="16200000"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nchorCtr="0"/>
          <a:lstStyle/>
          <a:p>
            <a:pPr algn="l"/>
            <a:r>
              <a:rPr lang="zh-CN" altLang="en-US" sz="1800">
                <a:latin typeface="微软雅黑" panose="020B0503020204020204" pitchFamily="34" charset="-122"/>
                <a:ea typeface="微软雅黑" panose="020B0503020204020204" pitchFamily="34" charset="-122"/>
              </a:rPr>
              <a:t>在制品</a:t>
            </a:r>
            <a:endParaRPr lang="zh-CN" altLang="en-US" sz="180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blinds(horizontal)">
                                      <p:cBhvr>
                                        <p:cTn id="25" dur="500"/>
                                        <p:tgtEl>
                                          <p:spTgt spid="12"/>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linds(horizontal)">
                                      <p:cBhvr>
                                        <p:cTn id="28" dur="500"/>
                                        <p:tgtEl>
                                          <p:spTgt spid="13"/>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blinds(horizontal)">
                                      <p:cBhvr>
                                        <p:cTn id="31" dur="500"/>
                                        <p:tgtEl>
                                          <p:spTgt spid="14"/>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blinds(horizontal)">
                                      <p:cBhvr>
                                        <p:cTn id="40" dur="500"/>
                                        <p:tgtEl>
                                          <p:spTgt spid="17"/>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blinds(horizontal)">
                                      <p:cBhvr>
                                        <p:cTn id="43" dur="500"/>
                                        <p:tgtEl>
                                          <p:spTgt spid="18"/>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blinds(horizontal)">
                                      <p:cBhvr>
                                        <p:cTn id="4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434858" y="1863950"/>
            <a:ext cx="11395075" cy="2518270"/>
          </a:xfrm>
          <a:prstGeom prst="roundRect">
            <a:avLst>
              <a:gd name="adj" fmla="val 2864"/>
            </a:avLst>
          </a:prstGeom>
          <a:solidFill>
            <a:schemeClr val="accent2">
              <a:lumMod val="20000"/>
              <a:lumOff val="80000"/>
              <a:alpha val="28000"/>
            </a:schemeClr>
          </a:solidFill>
          <a:ln>
            <a:solidFill>
              <a:schemeClr val="accent2">
                <a:lumMod val="60000"/>
                <a:lumOff val="40000"/>
              </a:schemeClr>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en-US" altLang="zh-CN" dirty="0" smtClean="0">
                <a:solidFill>
                  <a:srgbClr val="FF0000"/>
                </a:solidFill>
              </a:rPr>
              <a:t>BOM</a:t>
            </a:r>
            <a:r>
              <a:rPr lang="zh-CN" altLang="en-US" dirty="0" smtClean="0">
                <a:solidFill>
                  <a:srgbClr val="FF0000"/>
                </a:solidFill>
              </a:rPr>
              <a:t>清单批量变更申请</a:t>
            </a:r>
            <a:endParaRPr lang="zh-CN" altLang="en-US" dirty="0">
              <a:solidFill>
                <a:srgbClr val="FF0000"/>
              </a:solidFill>
            </a:endParaRPr>
          </a:p>
        </p:txBody>
      </p:sp>
      <p:sp>
        <p:nvSpPr>
          <p:cNvPr id="20" name="文本框 19"/>
          <p:cNvSpPr txBox="1"/>
          <p:nvPr/>
        </p:nvSpPr>
        <p:spPr>
          <a:xfrm>
            <a:off x="434858" y="815416"/>
            <a:ext cx="11127385" cy="923330"/>
          </a:xfrm>
          <a:prstGeom prst="rect">
            <a:avLst/>
          </a:prstGeom>
          <a:noFill/>
        </p:spPr>
        <p:txBody>
          <a:bodyPr wrap="square" rtlCol="0">
            <a:spAutoFit/>
          </a:bodyPr>
          <a:lstStyle/>
          <a:p>
            <a:pPr>
              <a:lnSpc>
                <a:spcPct val="150000"/>
              </a:lnSpc>
            </a:pPr>
            <a:r>
              <a:rPr lang="en-US" altLang="zh-CN" sz="1800" dirty="0" smtClean="0">
                <a:latin typeface="微软雅黑" panose="020B0503020204020204" pitchFamily="34" charset="-122"/>
                <a:ea typeface="微软雅黑" panose="020B0503020204020204" pitchFamily="34" charset="-122"/>
              </a:rPr>
              <a:t>BOM</a:t>
            </a:r>
            <a:r>
              <a:rPr lang="zh-CN" altLang="en-US" sz="1800" dirty="0" smtClean="0">
                <a:latin typeface="微软雅黑" panose="020B0503020204020204" pitchFamily="34" charset="-122"/>
                <a:ea typeface="微软雅黑" panose="020B0503020204020204" pitchFamily="34" charset="-122"/>
              </a:rPr>
              <a:t>批量</a:t>
            </a:r>
            <a:r>
              <a:rPr lang="zh-CN" altLang="en-US" sz="1800" dirty="0">
                <a:latin typeface="微软雅黑" panose="020B0503020204020204" pitchFamily="34" charset="-122"/>
                <a:ea typeface="微软雅黑" panose="020B0503020204020204" pitchFamily="34" charset="-122"/>
              </a:rPr>
              <a:t>变更申请</a:t>
            </a:r>
            <a:r>
              <a:rPr lang="zh-CN" altLang="en-US" sz="1800" dirty="0" smtClean="0">
                <a:latin typeface="微软雅黑" panose="020B0503020204020204" pitchFamily="34" charset="-122"/>
                <a:ea typeface="微软雅黑" panose="020B0503020204020204" pitchFamily="34" charset="-122"/>
              </a:rPr>
              <a:t>主要用于非</a:t>
            </a:r>
            <a:r>
              <a:rPr lang="zh-CN" altLang="en-US" sz="1800" dirty="0">
                <a:latin typeface="微软雅黑" panose="020B0503020204020204" pitchFamily="34" charset="-122"/>
                <a:ea typeface="微软雅黑" panose="020B0503020204020204" pitchFamily="34" charset="-122"/>
              </a:rPr>
              <a:t>设计原因引起</a:t>
            </a:r>
            <a:r>
              <a:rPr lang="zh-CN" altLang="en-US" sz="1800" dirty="0" smtClean="0">
                <a:latin typeface="微软雅黑" panose="020B0503020204020204" pitchFamily="34" charset="-122"/>
                <a:ea typeface="微软雅黑" panose="020B0503020204020204" pitchFamily="34" charset="-122"/>
              </a:rPr>
              <a:t>的（</a:t>
            </a:r>
            <a:r>
              <a:rPr lang="zh-CN" altLang="en-US" sz="1800" dirty="0">
                <a:latin typeface="+mn-ea"/>
              </a:rPr>
              <a:t>物料停产、升级、采购货期异常或降本</a:t>
            </a:r>
            <a:r>
              <a:rPr lang="zh-CN" altLang="en-US" sz="1800" dirty="0" smtClean="0">
                <a:latin typeface="+mn-ea"/>
              </a:rPr>
              <a:t>替代等</a:t>
            </a:r>
            <a:r>
              <a:rPr lang="zh-CN" altLang="en-US" sz="1800" dirty="0" smtClean="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涉及产品较多的材料清单中物料的</a:t>
            </a:r>
            <a:r>
              <a:rPr lang="zh-CN" altLang="en-US" sz="1800" dirty="0" smtClean="0">
                <a:latin typeface="微软雅黑" panose="020B0503020204020204" pitchFamily="34" charset="-122"/>
                <a:ea typeface="微软雅黑" panose="020B0503020204020204" pitchFamily="34" charset="-122"/>
              </a:rPr>
              <a:t>变更。基本场景有：</a:t>
            </a:r>
            <a:endParaRPr lang="en-US" altLang="zh-CN" sz="1800"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434858" y="4551402"/>
            <a:ext cx="11395072" cy="1889760"/>
          </a:xfrm>
          <a:prstGeom prst="rect">
            <a:avLst/>
          </a:prstGeom>
          <a:noFill/>
        </p:spPr>
        <p:txBody>
          <a:bodyPr wrap="square" rtlCol="0">
            <a:spAutoFit/>
          </a:bodyPr>
          <a:lstStyle/>
          <a:p>
            <a:pPr fontAlgn="auto">
              <a:lnSpc>
                <a:spcPct val="130000"/>
              </a:lnSpc>
            </a:pPr>
            <a:r>
              <a:rPr lang="zh-CN" altLang="en-US" sz="1800" dirty="0" smtClean="0">
                <a:solidFill>
                  <a:srgbClr val="FF0000"/>
                </a:solidFill>
                <a:latin typeface="微软雅黑" panose="020B0503020204020204" pitchFamily="34" charset="-122"/>
                <a:ea typeface="微软雅黑" panose="020B0503020204020204" pitchFamily="34" charset="-122"/>
              </a:rPr>
              <a:t>注：</a:t>
            </a:r>
            <a:endParaRPr lang="en-US" altLang="zh-CN" sz="1800" dirty="0" smtClean="0">
              <a:solidFill>
                <a:srgbClr val="FF0000"/>
              </a:solidFill>
              <a:latin typeface="微软雅黑" panose="020B0503020204020204" pitchFamily="34" charset="-122"/>
              <a:ea typeface="微软雅黑" panose="020B0503020204020204" pitchFamily="34" charset="-122"/>
            </a:endParaRPr>
          </a:p>
          <a:p>
            <a:pPr marL="285750" indent="-285750" fontAlgn="auto">
              <a:lnSpc>
                <a:spcPct val="130000"/>
              </a:lnSpc>
              <a:buFont typeface="Arial" panose="020B0604020202020204" pitchFamily="34" charset="0"/>
              <a:buChar char="•"/>
            </a:pPr>
            <a:r>
              <a:rPr lang="zh-CN" altLang="en-US" sz="1800" dirty="0" smtClean="0">
                <a:latin typeface="微软雅黑" panose="020B0503020204020204" pitchFamily="34" charset="-122"/>
                <a:ea typeface="微软雅黑" panose="020B0503020204020204" pitchFamily="34" charset="-122"/>
              </a:rPr>
              <a:t>在</a:t>
            </a:r>
            <a:r>
              <a:rPr lang="zh-CN" altLang="en-US" sz="1800" dirty="0">
                <a:latin typeface="微软雅黑" panose="020B0503020204020204" pitchFamily="34" charset="-122"/>
                <a:ea typeface="微软雅黑" panose="020B0503020204020204" pitchFamily="34" charset="-122"/>
              </a:rPr>
              <a:t>上述原因中产生的物料的变更且不涉及开发资料（如：原理图或图纸）修改</a:t>
            </a:r>
            <a:r>
              <a:rPr lang="zh-CN" altLang="en-US" sz="1800" dirty="0" smtClean="0">
                <a:latin typeface="微软雅黑" panose="020B0503020204020204" pitchFamily="34" charset="-122"/>
                <a:ea typeface="微软雅黑" panose="020B0503020204020204" pitchFamily="34" charset="-122"/>
              </a:rPr>
              <a:t>，可</a:t>
            </a:r>
            <a:r>
              <a:rPr lang="zh-CN" altLang="en-US" sz="1800" dirty="0">
                <a:latin typeface="微软雅黑" panose="020B0503020204020204" pitchFamily="34" charset="-122"/>
                <a:ea typeface="微软雅黑" panose="020B0503020204020204" pitchFamily="34" charset="-122"/>
              </a:rPr>
              <a:t>直接</a:t>
            </a:r>
            <a:r>
              <a:rPr lang="zh-CN" altLang="en-US" sz="1800" dirty="0" smtClean="0">
                <a:latin typeface="微软雅黑" panose="020B0503020204020204" pitchFamily="34" charset="-122"/>
                <a:ea typeface="微软雅黑" panose="020B0503020204020204" pitchFamily="34" charset="-122"/>
              </a:rPr>
              <a:t>走</a:t>
            </a:r>
            <a:r>
              <a:rPr lang="zh-CN" altLang="en-US" sz="1800" dirty="0" smtClean="0">
                <a:latin typeface="+mj-lt"/>
                <a:ea typeface="微软雅黑" panose="020B0503020204020204" pitchFamily="34" charset="-122"/>
              </a:rPr>
              <a:t>此</a:t>
            </a:r>
            <a:r>
              <a:rPr lang="zh-CN" altLang="en-US" sz="1800" dirty="0" smtClean="0">
                <a:latin typeface="微软雅黑" panose="020B0503020204020204" pitchFamily="34" charset="-122"/>
                <a:ea typeface="微软雅黑" panose="020B0503020204020204" pitchFamily="34" charset="-122"/>
              </a:rPr>
              <a:t>流程；</a:t>
            </a:r>
            <a:endParaRPr lang="en-US" altLang="zh-CN" sz="1800" dirty="0">
              <a:latin typeface="微软雅黑" panose="020B0503020204020204" pitchFamily="34" charset="-122"/>
              <a:ea typeface="微软雅黑" panose="020B0503020204020204" pitchFamily="34" charset="-122"/>
            </a:endParaRPr>
          </a:p>
          <a:p>
            <a:pPr marL="285750" indent="-285750" fontAlgn="auto">
              <a:lnSpc>
                <a:spcPct val="130000"/>
              </a:lnSpc>
              <a:buFont typeface="Arial" panose="020B0604020202020204" pitchFamily="34" charset="0"/>
              <a:buChar char="•"/>
            </a:pPr>
            <a:r>
              <a:rPr lang="zh-CN" altLang="en-US" sz="1800" dirty="0" smtClean="0">
                <a:latin typeface="微软雅黑" panose="020B0503020204020204" pitchFamily="34" charset="-122"/>
                <a:ea typeface="微软雅黑" panose="020B0503020204020204" pitchFamily="34" charset="-122"/>
              </a:rPr>
              <a:t>变更</a:t>
            </a:r>
            <a:r>
              <a:rPr lang="zh-CN" altLang="en-US" sz="1800" dirty="0">
                <a:latin typeface="微软雅黑" panose="020B0503020204020204" pitchFamily="34" charset="-122"/>
                <a:ea typeface="微软雅黑" panose="020B0503020204020204" pitchFamily="34" charset="-122"/>
              </a:rPr>
              <a:t>物料需保证性能不变，属性相同的物料</a:t>
            </a:r>
            <a:r>
              <a:rPr lang="zh-CN" altLang="en-US" sz="1800" dirty="0" smtClean="0">
                <a:latin typeface="微软雅黑" panose="020B0503020204020204" pitchFamily="34" charset="-122"/>
                <a:ea typeface="微软雅黑" panose="020B0503020204020204" pitchFamily="34" charset="-122"/>
              </a:rPr>
              <a:t>替代</a:t>
            </a:r>
            <a:r>
              <a:rPr lang="zh-CN" altLang="en-US" sz="1800" dirty="0">
                <a:latin typeface="微软雅黑" panose="020B0503020204020204" pitchFamily="34" charset="-122"/>
                <a:ea typeface="微软雅黑" panose="020B0503020204020204" pitchFamily="34" charset="-122"/>
              </a:rPr>
              <a:t>；</a:t>
            </a:r>
            <a:endParaRPr lang="en-US" altLang="zh-CN" sz="1800" dirty="0" smtClean="0">
              <a:latin typeface="微软雅黑" panose="020B0503020204020204" pitchFamily="34" charset="-122"/>
              <a:ea typeface="微软雅黑" panose="020B0503020204020204" pitchFamily="34" charset="-122"/>
            </a:endParaRPr>
          </a:p>
          <a:p>
            <a:pPr marL="285750" indent="-285750" fontAlgn="auto">
              <a:lnSpc>
                <a:spcPct val="130000"/>
              </a:lnSpc>
              <a:buFont typeface="Arial" panose="020B0604020202020204" pitchFamily="34" charset="0"/>
              <a:buChar char="•"/>
            </a:pPr>
            <a:r>
              <a:rPr lang="zh-CN" altLang="en-US" sz="1800" dirty="0" smtClean="0">
                <a:latin typeface="微软雅黑" panose="020B0503020204020204" pitchFamily="34" charset="-122"/>
                <a:ea typeface="微软雅黑" panose="020B0503020204020204" pitchFamily="34" charset="-122"/>
              </a:rPr>
              <a:t>变更</a:t>
            </a:r>
            <a:r>
              <a:rPr lang="zh-CN" altLang="en-US" sz="1800" dirty="0">
                <a:solidFill>
                  <a:srgbClr val="FF0000"/>
                </a:solidFill>
                <a:latin typeface="微软雅黑" panose="020B0503020204020204" pitchFamily="34" charset="-122"/>
                <a:ea typeface="微软雅黑" panose="020B0503020204020204" pitchFamily="34" charset="-122"/>
              </a:rPr>
              <a:t>涉及到修改开发资料的</a:t>
            </a:r>
            <a:r>
              <a:rPr lang="zh-CN" altLang="en-US" sz="1800" dirty="0">
                <a:latin typeface="微软雅黑" panose="020B0503020204020204" pitchFamily="34" charset="-122"/>
                <a:ea typeface="微软雅黑" panose="020B0503020204020204" pitchFamily="34" charset="-122"/>
              </a:rPr>
              <a:t>，比如原理图、图纸等，都需要</a:t>
            </a:r>
            <a:r>
              <a:rPr lang="zh-CN" altLang="en-US" sz="1800" dirty="0">
                <a:solidFill>
                  <a:srgbClr val="FF0000"/>
                </a:solidFill>
                <a:latin typeface="微软雅黑" panose="020B0503020204020204" pitchFamily="34" charset="-122"/>
                <a:ea typeface="微软雅黑" panose="020B0503020204020204" pitchFamily="34" charset="-122"/>
              </a:rPr>
              <a:t>走设计变更</a:t>
            </a:r>
            <a:r>
              <a:rPr lang="zh-CN" altLang="en-US" sz="1800" dirty="0">
                <a:latin typeface="微软雅黑" panose="020B0503020204020204" pitchFamily="34" charset="-122"/>
                <a:ea typeface="微软雅黑" panose="020B0503020204020204" pitchFamily="34" charset="-122"/>
              </a:rPr>
              <a:t>，这样相应的资料才能发布，再此基础上，如果</a:t>
            </a:r>
            <a:r>
              <a:rPr lang="en-US" altLang="zh-CN" sz="1800" dirty="0">
                <a:latin typeface="+mj-lt"/>
                <a:ea typeface="微软雅黑" panose="020B0503020204020204" pitchFamily="34" charset="-122"/>
              </a:rPr>
              <a:t>BOM</a:t>
            </a:r>
            <a:r>
              <a:rPr lang="zh-CN" altLang="en-US" sz="1800" dirty="0">
                <a:latin typeface="微软雅黑" panose="020B0503020204020204" pitchFamily="34" charset="-122"/>
                <a:ea typeface="微软雅黑" panose="020B0503020204020204" pitchFamily="34" charset="-122"/>
              </a:rPr>
              <a:t>还需要批量变更，</a:t>
            </a:r>
            <a:r>
              <a:rPr lang="zh-CN" altLang="en-US" sz="1800" dirty="0">
                <a:solidFill>
                  <a:srgbClr val="FF0000"/>
                </a:solidFill>
                <a:latin typeface="微软雅黑" panose="020B0503020204020204" pitchFamily="34" charset="-122"/>
                <a:ea typeface="微软雅黑" panose="020B0503020204020204" pitchFamily="34" charset="-122"/>
              </a:rPr>
              <a:t>再走</a:t>
            </a:r>
            <a:r>
              <a:rPr lang="en-US" altLang="zh-CN" sz="1800" dirty="0">
                <a:latin typeface="+mj-lt"/>
                <a:ea typeface="微软雅黑" panose="020B0503020204020204" pitchFamily="34" charset="-122"/>
              </a:rPr>
              <a:t>BOM</a:t>
            </a:r>
            <a:r>
              <a:rPr lang="zh-CN" altLang="en-US" sz="1800" dirty="0">
                <a:latin typeface="微软雅黑" panose="020B0503020204020204" pitchFamily="34" charset="-122"/>
                <a:ea typeface="微软雅黑" panose="020B0503020204020204" pitchFamily="34" charset="-122"/>
              </a:rPr>
              <a:t>批量变更流程。</a:t>
            </a:r>
            <a:endParaRPr lang="zh-CN" altLang="en-US" dirty="0"/>
          </a:p>
        </p:txBody>
      </p:sp>
      <p:sp>
        <p:nvSpPr>
          <p:cNvPr id="2" name="矩形 1"/>
          <p:cNvSpPr/>
          <p:nvPr/>
        </p:nvSpPr>
        <p:spPr>
          <a:xfrm>
            <a:off x="605633" y="1923065"/>
            <a:ext cx="5088519" cy="2306955"/>
          </a:xfrm>
          <a:prstGeom prst="rect">
            <a:avLst/>
          </a:prstGeom>
        </p:spPr>
        <p:txBody>
          <a:bodyPr wrap="square">
            <a:spAutoFit/>
          </a:bodyPr>
          <a:lstStyle/>
          <a:p>
            <a:pPr marL="342900" indent="-342900">
              <a:buFont typeface="+mj-lt"/>
              <a:buAutoNum type="arabicPeriod"/>
            </a:pPr>
            <a:r>
              <a:rPr lang="zh-CN" altLang="en-US" sz="1600" dirty="0" smtClean="0"/>
              <a:t>物料</a:t>
            </a:r>
            <a:r>
              <a:rPr lang="zh-CN" altLang="en-US" sz="1600" dirty="0"/>
              <a:t>停产、升级</a:t>
            </a:r>
            <a:r>
              <a:rPr lang="zh-CN" altLang="en-US" sz="1600" dirty="0" smtClean="0"/>
              <a:t>；</a:t>
            </a:r>
            <a:endParaRPr lang="en-US" altLang="zh-CN" sz="1600" dirty="0"/>
          </a:p>
          <a:p>
            <a:pPr marL="342900" indent="-342900">
              <a:buFont typeface="+mj-lt"/>
              <a:buAutoNum type="arabicPeriod"/>
            </a:pPr>
            <a:r>
              <a:rPr lang="zh-CN" altLang="en-US" sz="1600" dirty="0" smtClean="0"/>
              <a:t>物料采购货期异常，需要添加备选物料；</a:t>
            </a:r>
            <a:endParaRPr lang="en-US" altLang="zh-CN" sz="1600" dirty="0"/>
          </a:p>
          <a:p>
            <a:pPr marL="342900" indent="-342900">
              <a:buFont typeface="+mj-lt"/>
              <a:buAutoNum type="arabicPeriod"/>
            </a:pPr>
            <a:r>
              <a:rPr lang="zh-CN" altLang="en-US" sz="1600" dirty="0" smtClean="0"/>
              <a:t>对系统中重复物料或功能相同物料进行整合；</a:t>
            </a:r>
            <a:endParaRPr lang="en-US" altLang="zh-CN" sz="1600" dirty="0"/>
          </a:p>
          <a:p>
            <a:pPr marL="342900" indent="-342900">
              <a:buFont typeface="+mj-lt"/>
              <a:buAutoNum type="arabicPeriod"/>
            </a:pPr>
            <a:r>
              <a:rPr lang="zh-CN" altLang="en-US" sz="1600" dirty="0" smtClean="0"/>
              <a:t>原</a:t>
            </a:r>
            <a:r>
              <a:rPr lang="en-US" altLang="zh-CN" sz="1600" dirty="0" smtClean="0"/>
              <a:t>BOM</a:t>
            </a:r>
            <a:r>
              <a:rPr lang="zh-CN" altLang="en-US" sz="1600" dirty="0" smtClean="0"/>
              <a:t>清单中含有仅用于消耗库存的替代料，需要</a:t>
            </a:r>
            <a:r>
              <a:rPr lang="zh-CN" altLang="en-US" sz="1600" dirty="0"/>
              <a:t>在</a:t>
            </a:r>
            <a:r>
              <a:rPr lang="en-US" altLang="zh-CN" sz="1600" dirty="0"/>
              <a:t>BOM</a:t>
            </a:r>
            <a:r>
              <a:rPr lang="zh-CN" altLang="en-US" sz="1600" dirty="0"/>
              <a:t>中添加或删除，此类物料后续不再使用，库存消耗完后即停用</a:t>
            </a:r>
            <a:r>
              <a:rPr lang="zh-CN" altLang="en-US" sz="1600" dirty="0" smtClean="0"/>
              <a:t>；</a:t>
            </a:r>
            <a:endParaRPr lang="en-US" altLang="zh-CN" sz="1600" dirty="0" smtClean="0"/>
          </a:p>
          <a:p>
            <a:pPr marL="342900" indent="-342900">
              <a:buFont typeface="+mj-lt"/>
              <a:buAutoNum type="arabicPeriod"/>
            </a:pPr>
            <a:r>
              <a:rPr lang="zh-CN" altLang="en-US" sz="1600" dirty="0" smtClean="0"/>
              <a:t>物料</a:t>
            </a:r>
            <a:r>
              <a:rPr lang="zh-CN" altLang="en-US" sz="1600" dirty="0"/>
              <a:t>需要降成本；</a:t>
            </a:r>
            <a:endParaRPr lang="zh-CN" altLang="en-US" sz="1600" dirty="0"/>
          </a:p>
          <a:p>
            <a:pPr marL="342900" indent="-342900">
              <a:buFont typeface="+mj-lt"/>
              <a:buAutoNum type="arabicPeriod"/>
            </a:pPr>
            <a:r>
              <a:rPr lang="zh-CN" altLang="en-US" sz="1600" dirty="0"/>
              <a:t>关键物料添加备选物料；</a:t>
            </a:r>
            <a:endParaRPr lang="zh-CN" altLang="en-US" sz="1600" dirty="0"/>
          </a:p>
          <a:p>
            <a:pPr marL="342900" indent="-342900">
              <a:buFont typeface="+mj-lt"/>
              <a:buAutoNum type="arabicPeriod"/>
            </a:pPr>
            <a:r>
              <a:rPr lang="zh-CN" altLang="en-US" sz="1600" dirty="0"/>
              <a:t>物料需要满足工艺优化改进以提高生产可制造性；</a:t>
            </a:r>
            <a:endParaRPr lang="zh-CN" altLang="en-US" sz="1600" dirty="0"/>
          </a:p>
        </p:txBody>
      </p:sp>
      <p:sp>
        <p:nvSpPr>
          <p:cNvPr id="3" name="矩形 2"/>
          <p:cNvSpPr/>
          <p:nvPr/>
        </p:nvSpPr>
        <p:spPr>
          <a:xfrm>
            <a:off x="5694152" y="1922491"/>
            <a:ext cx="5868091" cy="2308324"/>
          </a:xfrm>
          <a:prstGeom prst="rect">
            <a:avLst/>
          </a:prstGeom>
        </p:spPr>
        <p:txBody>
          <a:bodyPr wrap="square">
            <a:spAutoFit/>
          </a:bodyPr>
          <a:lstStyle/>
          <a:p>
            <a:pPr marL="342900" indent="-342900">
              <a:buFont typeface="+mj-lt"/>
              <a:buAutoNum type="arabicPeriod" startAt="8"/>
            </a:pPr>
            <a:r>
              <a:rPr lang="zh-CN" altLang="en-US" sz="1600" dirty="0" smtClean="0"/>
              <a:t>原</a:t>
            </a:r>
            <a:r>
              <a:rPr lang="en-US" altLang="zh-CN" sz="1600" dirty="0"/>
              <a:t>BOM</a:t>
            </a:r>
            <a:r>
              <a:rPr lang="zh-CN" altLang="en-US" sz="1600" dirty="0"/>
              <a:t>清单中主料对应替代料填写错误，需要删除或修改替代料；</a:t>
            </a:r>
            <a:endParaRPr lang="en-US" altLang="zh-CN" sz="1600" dirty="0"/>
          </a:p>
          <a:p>
            <a:pPr marL="342900" indent="-342900">
              <a:buFont typeface="+mj-lt"/>
              <a:buAutoNum type="arabicPeriod" startAt="8"/>
            </a:pPr>
            <a:r>
              <a:rPr lang="zh-CN" altLang="en-US" sz="1600" dirty="0" smtClean="0"/>
              <a:t>原</a:t>
            </a:r>
            <a:r>
              <a:rPr lang="en-US" altLang="zh-CN" sz="1600" dirty="0"/>
              <a:t>BOM</a:t>
            </a:r>
            <a:r>
              <a:rPr lang="zh-CN" altLang="en-US" sz="1600" dirty="0"/>
              <a:t>中使用物料质量不良，需要变更使用替代</a:t>
            </a:r>
            <a:r>
              <a:rPr lang="zh-CN" altLang="en-US" sz="1600" dirty="0" smtClean="0"/>
              <a:t>物料；</a:t>
            </a:r>
            <a:endParaRPr lang="zh-CN" altLang="en-US" sz="1600" dirty="0" smtClean="0"/>
          </a:p>
          <a:p>
            <a:pPr marL="342900" indent="-342900">
              <a:buFont typeface="+mj-lt"/>
              <a:buAutoNum type="arabicPeriod" startAt="8"/>
            </a:pPr>
            <a:r>
              <a:rPr lang="en-US" altLang="zh-CN" sz="1600" dirty="0" smtClean="0"/>
              <a:t>存在多余物料，实际产品不使用此料，需要删除子件</a:t>
            </a:r>
            <a:r>
              <a:rPr lang="zh-CN" altLang="en-US" sz="1600" dirty="0" smtClean="0"/>
              <a:t>；</a:t>
            </a:r>
            <a:endParaRPr lang="en-US" altLang="zh-CN" sz="1600" dirty="0" smtClean="0"/>
          </a:p>
          <a:p>
            <a:pPr marL="342900" indent="-342900">
              <a:buFont typeface="+mj-lt"/>
              <a:buAutoNum type="arabicPeriod" startAt="8"/>
            </a:pPr>
            <a:r>
              <a:rPr lang="zh-CN" altLang="en-US" sz="1600" dirty="0" smtClean="0"/>
              <a:t>机械</a:t>
            </a:r>
            <a:r>
              <a:rPr lang="zh-CN" altLang="en-US" sz="1600" dirty="0"/>
              <a:t>件、结构件等</a:t>
            </a:r>
            <a:r>
              <a:rPr lang="zh-CN" altLang="en-US" sz="1600" dirty="0" smtClean="0"/>
              <a:t>图纸和烧录程序文件批量</a:t>
            </a:r>
            <a:r>
              <a:rPr lang="zh-CN" altLang="en-US" sz="1600" dirty="0"/>
              <a:t>变更升版，导致</a:t>
            </a:r>
            <a:r>
              <a:rPr lang="en-US" altLang="zh-CN" sz="1600" dirty="0"/>
              <a:t>BOM</a:t>
            </a:r>
            <a:r>
              <a:rPr lang="zh-CN" altLang="en-US" sz="1600" dirty="0"/>
              <a:t>清单批量变更；（选择该类型时，需要先完成设计变更，更新图纸等相关资料，并在批量变更单中关联设计变更</a:t>
            </a:r>
            <a:r>
              <a:rPr lang="zh-CN" altLang="en-US" sz="1600" dirty="0" smtClean="0"/>
              <a:t>单；</a:t>
            </a:r>
            <a:endParaRPr lang="en-US" altLang="zh-CN" sz="1600" dirty="0" smtClean="0"/>
          </a:p>
          <a:p>
            <a:pPr marL="342900" indent="-342900">
              <a:buFont typeface="+mj-lt"/>
              <a:buAutoNum type="arabicPeriod" startAt="8"/>
            </a:pPr>
            <a:r>
              <a:rPr lang="zh-CN" altLang="en-US" sz="1600" dirty="0" smtClean="0"/>
              <a:t>物料</a:t>
            </a:r>
            <a:r>
              <a:rPr lang="zh-CN" altLang="en-US" sz="1600" dirty="0"/>
              <a:t>编码</a:t>
            </a:r>
            <a:r>
              <a:rPr lang="en-US" altLang="zh-CN" sz="1600" dirty="0"/>
              <a:t>/</a:t>
            </a:r>
            <a:r>
              <a:rPr lang="zh-CN" altLang="en-US" sz="1600" dirty="0"/>
              <a:t>信息填写错误，导致</a:t>
            </a:r>
            <a:r>
              <a:rPr lang="en-US" altLang="zh-CN" sz="1600" dirty="0"/>
              <a:t>BOM</a:t>
            </a:r>
            <a:r>
              <a:rPr lang="zh-CN" altLang="en-US" sz="1600" dirty="0"/>
              <a:t>中使用物料有</a:t>
            </a:r>
            <a:r>
              <a:rPr lang="zh-CN" altLang="en-US" sz="1600" dirty="0" smtClean="0"/>
              <a:t>误；</a:t>
            </a:r>
            <a:endParaRPr lang="en-US" altLang="zh-CN" sz="1600" dirty="0"/>
          </a:p>
          <a:p>
            <a:pPr marL="342900" indent="-342900">
              <a:buFont typeface="+mj-lt"/>
              <a:buAutoNum type="arabicPeriod" startAt="8"/>
            </a:pPr>
            <a:r>
              <a:rPr lang="zh-CN" altLang="en-US" sz="1600" dirty="0" smtClean="0"/>
              <a:t>物料</a:t>
            </a:r>
            <a:r>
              <a:rPr lang="zh-CN" altLang="en-US" sz="1600" dirty="0"/>
              <a:t>采购货期异常，添加临时替代物料或删除临时替代物料。</a:t>
            </a:r>
            <a:endParaRPr lang="zh-CN" altLang="en-US" sz="1600" dirty="0"/>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chemeClr val="tx1"/>
                </a:solidFill>
              </a:rPr>
              <a:t>变更</a:t>
            </a:r>
            <a:r>
              <a:rPr lang="en-US" altLang="zh-CN">
                <a:solidFill>
                  <a:srgbClr val="FF0000"/>
                </a:solidFill>
              </a:rPr>
              <a:t>-</a:t>
            </a:r>
            <a:r>
              <a:rPr lang="zh-CN" altLang="en-US">
                <a:solidFill>
                  <a:srgbClr val="FF0000"/>
                </a:solidFill>
              </a:rPr>
              <a:t>案例</a:t>
            </a:r>
            <a:endParaRPr lang="zh-CN" altLang="en-US" dirty="0">
              <a:solidFill>
                <a:srgbClr val="FF0000"/>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2" name="文本框 1"/>
          <p:cNvSpPr txBox="1"/>
          <p:nvPr/>
        </p:nvSpPr>
        <p:spPr>
          <a:xfrm>
            <a:off x="924560" y="1033145"/>
            <a:ext cx="8084185" cy="3917950"/>
          </a:xfrm>
          <a:prstGeom prst="rect">
            <a:avLst/>
          </a:prstGeom>
          <a:noFill/>
        </p:spPr>
        <p:txBody>
          <a:bodyPr wrap="square" rtlCol="0">
            <a:noAutofit/>
          </a:bodyPr>
          <a:p>
            <a:r>
              <a:rPr lang="zh-CN" altLang="en-US" sz="1800"/>
              <a:t>技术研究院某项目经理被部门经理安排进行某产品变更（背景）</a:t>
            </a:r>
            <a:endParaRPr lang="zh-CN" altLang="en-US" sz="1800"/>
          </a:p>
          <a:p>
            <a:pPr marL="457200" indent="-457200">
              <a:lnSpc>
                <a:spcPct val="150000"/>
              </a:lnSpc>
              <a:buFont typeface="+mj-lt"/>
              <a:buAutoNum type="arabicPeriod"/>
            </a:pPr>
            <a:r>
              <a:rPr lang="zh-CN" altLang="en-US" sz="1800"/>
              <a:t>项目经理根据本地保存的文档、代码进行直接编辑；</a:t>
            </a:r>
            <a:endParaRPr lang="zh-CN" altLang="en-US" sz="1800"/>
          </a:p>
          <a:p>
            <a:pPr marL="457200" indent="-457200">
              <a:lnSpc>
                <a:spcPct val="150000"/>
              </a:lnSpc>
              <a:buFont typeface="+mj-lt"/>
              <a:buAutoNum type="arabicPeriod"/>
            </a:pPr>
            <a:r>
              <a:rPr lang="zh-CN" altLang="en-US" sz="1800"/>
              <a:t>邀请部门经理、开发人员、测试人员、工艺人员对产品进行变更评估；</a:t>
            </a:r>
            <a:endParaRPr lang="zh-CN" altLang="en-US" sz="1800"/>
          </a:p>
          <a:p>
            <a:pPr marL="457200" indent="-457200">
              <a:lnSpc>
                <a:spcPct val="150000"/>
              </a:lnSpc>
              <a:buFont typeface="+mj-lt"/>
              <a:buAutoNum type="arabicPeriod"/>
            </a:pPr>
            <a:r>
              <a:rPr lang="zh-CN" altLang="en-US" sz="1800"/>
              <a:t>由于会上遗漏手签导致变更手签还未签完，先行发起变更流程，后续其他环节再补充图片；</a:t>
            </a:r>
            <a:endParaRPr lang="zh-CN" altLang="en-US" sz="1800"/>
          </a:p>
          <a:p>
            <a:pPr marL="457200" indent="-457200">
              <a:lnSpc>
                <a:spcPct val="150000"/>
              </a:lnSpc>
              <a:buFont typeface="+mj-lt"/>
              <a:buAutoNum type="arabicPeriod"/>
            </a:pPr>
            <a:r>
              <a:rPr lang="en-US" altLang="zh-CN" sz="1800"/>
              <a:t>SVN</a:t>
            </a:r>
            <a:r>
              <a:rPr lang="zh-CN" altLang="en-US" sz="1800"/>
              <a:t>上传资料有更新，但是更改点不大，未知会到其他成员；</a:t>
            </a:r>
            <a:endParaRPr lang="zh-CN" altLang="en-US" sz="1800"/>
          </a:p>
          <a:p>
            <a:pPr marL="457200" indent="-457200">
              <a:lnSpc>
                <a:spcPct val="150000"/>
              </a:lnSpc>
              <a:buFont typeface="+mj-lt"/>
              <a:buAutoNum type="arabicPeriod"/>
            </a:pPr>
            <a:r>
              <a:rPr lang="zh-CN" altLang="en-US" sz="1800"/>
              <a:t>评估后数周，由于项目经理工作冲突，变更流程、发布流程都未走完，其未进行跟踪处理；</a:t>
            </a:r>
            <a:endParaRPr lang="zh-CN" altLang="en-US" sz="1800"/>
          </a:p>
          <a:p>
            <a:pPr marL="285750" indent="-285750">
              <a:lnSpc>
                <a:spcPct val="150000"/>
              </a:lnSpc>
              <a:buFont typeface="Wingdings" panose="05000000000000000000" charset="0"/>
              <a:buChar char="l"/>
            </a:pPr>
            <a:endParaRPr lang="en-US" altLang="zh-CN" dirty="0">
              <a:latin typeface="微软雅黑" panose="020B0503020204020204" pitchFamily="34" charset="-122"/>
              <a:ea typeface="微软雅黑" panose="020B0503020204020204" pitchFamily="34" charset="-122"/>
            </a:endParaRPr>
          </a:p>
          <a:p>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chemeClr val="tx1"/>
                </a:solidFill>
              </a:rPr>
              <a:t>变更</a:t>
            </a:r>
            <a:r>
              <a:rPr lang="en-US" altLang="zh-CN">
                <a:solidFill>
                  <a:srgbClr val="FF0000"/>
                </a:solidFill>
              </a:rPr>
              <a:t>-</a:t>
            </a:r>
            <a:r>
              <a:rPr lang="zh-CN" altLang="en-US">
                <a:solidFill>
                  <a:srgbClr val="FF0000"/>
                </a:solidFill>
              </a:rPr>
              <a:t>案例</a:t>
            </a:r>
            <a:r>
              <a:rPr>
                <a:solidFill>
                  <a:srgbClr val="FF0000"/>
                </a:solidFill>
              </a:rPr>
              <a:t>分析</a:t>
            </a:r>
            <a:endParaRPr dirty="0">
              <a:solidFill>
                <a:srgbClr val="FF0000"/>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2" name="文本框 1"/>
          <p:cNvSpPr txBox="1"/>
          <p:nvPr/>
        </p:nvSpPr>
        <p:spPr>
          <a:xfrm>
            <a:off x="924560" y="3512185"/>
            <a:ext cx="10537825" cy="2368550"/>
          </a:xfrm>
          <a:prstGeom prst="rect">
            <a:avLst/>
          </a:prstGeom>
          <a:noFill/>
        </p:spPr>
        <p:txBody>
          <a:bodyPr wrap="square" rtlCol="0">
            <a:noAutofit/>
          </a:bodyPr>
          <a:p>
            <a:r>
              <a:rPr lang="zh-CN" altLang="en-US" sz="1800" b="1"/>
              <a:t>问题梳理：</a:t>
            </a:r>
            <a:endParaRPr lang="zh-CN" altLang="en-US" sz="1800" b="1"/>
          </a:p>
          <a:p>
            <a:pPr marL="457200" indent="-457200">
              <a:lnSpc>
                <a:spcPct val="150000"/>
              </a:lnSpc>
              <a:buFont typeface="+mj-lt"/>
              <a:buAutoNum type="arabicPeriod"/>
            </a:pPr>
            <a:r>
              <a:rPr lang="zh-CN" altLang="en-US" sz="1800" dirty="0">
                <a:solidFill>
                  <a:prstClr val="black"/>
                </a:solidFill>
                <a:latin typeface="微软雅黑" panose="020B0503020204020204" pitchFamily="34" charset="-122"/>
                <a:ea typeface="微软雅黑" panose="020B0503020204020204" pitchFamily="34" charset="-122"/>
                <a:sym typeface="+mn-ea"/>
              </a:rPr>
              <a:t>应通过</a:t>
            </a:r>
            <a:r>
              <a:rPr lang="zh-CN" altLang="en-US" sz="1800" dirty="0">
                <a:solidFill>
                  <a:srgbClr val="FF0000"/>
                </a:solidFill>
                <a:latin typeface="微软雅黑" panose="020B0503020204020204" pitchFamily="34" charset="-122"/>
                <a:ea typeface="微软雅黑" panose="020B0503020204020204" pitchFamily="34" charset="-122"/>
                <a:sym typeface="+mn-ea"/>
              </a:rPr>
              <a:t>配置库权限管理模块</a:t>
            </a:r>
            <a:r>
              <a:rPr lang="zh-CN" altLang="en-US" sz="1800" dirty="0">
                <a:solidFill>
                  <a:srgbClr val="000000"/>
                </a:solidFill>
                <a:latin typeface="微软雅黑" panose="020B0503020204020204" pitchFamily="34" charset="-122"/>
                <a:ea typeface="微软雅黑" panose="020B0503020204020204" pitchFamily="34" charset="-122"/>
                <a:sym typeface="+mn-ea"/>
              </a:rPr>
              <a:t>进行权限申请，获取产品库最新资料；</a:t>
            </a:r>
            <a:endParaRPr lang="zh-CN" altLang="en-US" sz="1800" dirty="0">
              <a:solidFill>
                <a:srgbClr val="FF0000"/>
              </a:solidFill>
              <a:latin typeface="微软雅黑" panose="020B0503020204020204" pitchFamily="34" charset="-122"/>
              <a:ea typeface="微软雅黑" panose="020B0503020204020204" pitchFamily="34" charset="-122"/>
              <a:sym typeface="+mn-ea"/>
            </a:endParaRPr>
          </a:p>
          <a:p>
            <a:pPr marL="457200" indent="-457200">
              <a:lnSpc>
                <a:spcPct val="150000"/>
              </a:lnSpc>
              <a:buFont typeface="+mj-lt"/>
              <a:buAutoNum type="arabicPeriod"/>
            </a:pPr>
            <a:r>
              <a:rPr lang="zh-CN" altLang="en-US" sz="1800" dirty="0">
                <a:latin typeface="微软雅黑" panose="020B0503020204020204" pitchFamily="34" charset="-122"/>
                <a:ea typeface="微软雅黑" panose="020B0503020204020204" pitchFamily="34" charset="-122"/>
                <a:sym typeface="+mn-ea"/>
              </a:rPr>
              <a:t>变更影响评估需由</a:t>
            </a:r>
            <a:r>
              <a:rPr lang="zh-CN" altLang="en-US" sz="1800" dirty="0">
                <a:solidFill>
                  <a:srgbClr val="FF0000"/>
                </a:solidFill>
                <a:latin typeface="微软雅黑" panose="020B0503020204020204" pitchFamily="34" charset="-122"/>
                <a:ea typeface="微软雅黑" panose="020B0503020204020204" pitchFamily="34" charset="-122"/>
                <a:sym typeface="+mn-ea"/>
              </a:rPr>
              <a:t>产品经理及至少一名技术专家、</a:t>
            </a:r>
            <a:r>
              <a:rPr lang="zh-CN" altLang="en-US" sz="1800">
                <a:solidFill>
                  <a:srgbClr val="FF0000"/>
                </a:solidFill>
                <a:sym typeface="+mn-ea"/>
              </a:rPr>
              <a:t>相关干系人</a:t>
            </a:r>
            <a:r>
              <a:rPr lang="zh-CN" altLang="en-US" sz="1800" dirty="0">
                <a:latin typeface="微软雅黑" panose="020B0503020204020204" pitchFamily="34" charset="-122"/>
                <a:ea typeface="微软雅黑" panose="020B0503020204020204" pitchFamily="34" charset="-122"/>
                <a:sym typeface="+mn-ea"/>
              </a:rPr>
              <a:t>参与，避免评估遗漏；</a:t>
            </a:r>
            <a:endParaRPr lang="zh-CN" altLang="en-US" sz="1800" dirty="0">
              <a:latin typeface="微软雅黑" panose="020B0503020204020204" pitchFamily="34" charset="-122"/>
              <a:ea typeface="微软雅黑" panose="020B0503020204020204" pitchFamily="34" charset="-122"/>
              <a:sym typeface="+mn-ea"/>
            </a:endParaRPr>
          </a:p>
          <a:p>
            <a:pPr marL="457200" indent="-457200">
              <a:lnSpc>
                <a:spcPct val="150000"/>
              </a:lnSpc>
              <a:buFont typeface="+mj-lt"/>
              <a:buAutoNum type="arabicPeriod"/>
            </a:pPr>
            <a:r>
              <a:rPr lang="zh-CN" altLang="en-US" sz="1800" dirty="0">
                <a:latin typeface="微软雅黑" panose="020B0503020204020204" pitchFamily="34" charset="-122"/>
                <a:ea typeface="微软雅黑" panose="020B0503020204020204" pitchFamily="34" charset="-122"/>
                <a:sym typeface="+mn-ea"/>
              </a:rPr>
              <a:t>评审负责任人需</a:t>
            </a:r>
            <a:r>
              <a:rPr lang="zh-CN" altLang="en-US" sz="1800" dirty="0">
                <a:solidFill>
                  <a:srgbClr val="FF0000"/>
                </a:solidFill>
                <a:latin typeface="微软雅黑" panose="020B0503020204020204" pitchFamily="34" charset="-122"/>
                <a:ea typeface="微软雅黑" panose="020B0503020204020204" pitchFamily="34" charset="-122"/>
                <a:sym typeface="+mn-ea"/>
              </a:rPr>
              <a:t>手动签字，并将签字单作为附件</a:t>
            </a:r>
            <a:r>
              <a:rPr lang="zh-CN" altLang="en-US" sz="1800" dirty="0">
                <a:latin typeface="微软雅黑" panose="020B0503020204020204" pitchFamily="34" charset="-122"/>
                <a:ea typeface="微软雅黑" panose="020B0503020204020204" pitchFamily="34" charset="-122"/>
                <a:sym typeface="+mn-ea"/>
              </a:rPr>
              <a:t>上传变更申请流程；</a:t>
            </a:r>
            <a:endParaRPr lang="zh-CN" altLang="en-US" sz="1800" dirty="0">
              <a:latin typeface="微软雅黑" panose="020B0503020204020204" pitchFamily="34" charset="-122"/>
              <a:ea typeface="微软雅黑" panose="020B0503020204020204" pitchFamily="34" charset="-122"/>
              <a:sym typeface="+mn-ea"/>
            </a:endParaRPr>
          </a:p>
          <a:p>
            <a:pPr marL="457200" indent="-457200">
              <a:lnSpc>
                <a:spcPct val="150000"/>
              </a:lnSpc>
              <a:buFont typeface="+mj-lt"/>
              <a:buAutoNum type="arabicPeriod"/>
            </a:pPr>
            <a:r>
              <a:rPr lang="zh-CN" altLang="en-US" sz="1800" dirty="0">
                <a:solidFill>
                  <a:prstClr val="black"/>
                </a:solidFill>
                <a:latin typeface="微软雅黑" panose="020B0503020204020204" pitchFamily="34" charset="-122"/>
                <a:ea typeface="微软雅黑" panose="020B0503020204020204" pitchFamily="34" charset="-122"/>
                <a:sym typeface="+mn-ea"/>
              </a:rPr>
              <a:t>评审会议后有其他变动，需要</a:t>
            </a:r>
            <a:r>
              <a:rPr lang="zh-CN" altLang="en-US" sz="1800" dirty="0">
                <a:solidFill>
                  <a:srgbClr val="FF0000"/>
                </a:solidFill>
                <a:latin typeface="微软雅黑" panose="020B0503020204020204" pitchFamily="34" charset="-122"/>
                <a:ea typeface="微软雅黑" panose="020B0503020204020204" pitchFamily="34" charset="-122"/>
                <a:sym typeface="+mn-ea"/>
              </a:rPr>
              <a:t>产品经理和部门经理评审</a:t>
            </a:r>
            <a:r>
              <a:rPr lang="zh-CN" altLang="en-US" sz="1800" dirty="0">
                <a:solidFill>
                  <a:prstClr val="black"/>
                </a:solidFill>
                <a:latin typeface="微软雅黑" panose="020B0503020204020204" pitchFamily="34" charset="-122"/>
                <a:ea typeface="微软雅黑" panose="020B0503020204020204" pitchFamily="34" charset="-122"/>
                <a:sym typeface="+mn-ea"/>
              </a:rPr>
              <a:t>，代码变动重新测试，测试负责人需测试报告需审核通过</a:t>
            </a:r>
            <a:r>
              <a:rPr lang="zh-CN" altLang="en-US" sz="1800" dirty="0">
                <a:solidFill>
                  <a:prstClr val="black"/>
                </a:solidFill>
                <a:latin typeface="微软雅黑" panose="020B0503020204020204" pitchFamily="34" charset="-122"/>
                <a:ea typeface="微软雅黑" panose="020B0503020204020204" pitchFamily="34" charset="-122"/>
                <a:sym typeface="+mn-ea"/>
              </a:rPr>
              <a:t>，对测试质量把关，后</a:t>
            </a:r>
            <a:r>
              <a:rPr lang="en-US" altLang="zh-CN" sz="1800" dirty="0">
                <a:solidFill>
                  <a:prstClr val="black"/>
                </a:solidFill>
                <a:latin typeface="微软雅黑" panose="020B0503020204020204" pitchFamily="34" charset="-122"/>
                <a:ea typeface="微软雅黑" panose="020B0503020204020204" pitchFamily="34" charset="-122"/>
                <a:sym typeface="+mn-ea"/>
              </a:rPr>
              <a:t>PM</a:t>
            </a:r>
            <a:r>
              <a:rPr lang="zh-CN" altLang="en-US" sz="1800" dirty="0">
                <a:solidFill>
                  <a:srgbClr val="FF0000"/>
                </a:solidFill>
                <a:latin typeface="微软雅黑" panose="020B0503020204020204" pitchFamily="34" charset="-122"/>
                <a:ea typeface="微软雅黑" panose="020B0503020204020204" pitchFamily="34" charset="-122"/>
                <a:sym typeface="+mn-ea"/>
              </a:rPr>
              <a:t>知会</a:t>
            </a:r>
            <a:r>
              <a:rPr lang="en-US" altLang="zh-CN" sz="1800" dirty="0">
                <a:solidFill>
                  <a:srgbClr val="FF0000"/>
                </a:solidFill>
                <a:latin typeface="微软雅黑" panose="020B0503020204020204" pitchFamily="34" charset="-122"/>
                <a:ea typeface="微软雅黑" panose="020B0503020204020204" pitchFamily="34" charset="-122"/>
                <a:sym typeface="+mn-ea"/>
              </a:rPr>
              <a:t>CM</a:t>
            </a:r>
            <a:r>
              <a:rPr lang="zh-CN" altLang="en-US" sz="1800" dirty="0">
                <a:solidFill>
                  <a:prstClr val="black"/>
                </a:solidFill>
                <a:latin typeface="微软雅黑" panose="020B0503020204020204" pitchFamily="34" charset="-122"/>
                <a:ea typeface="微软雅黑" panose="020B0503020204020204" pitchFamily="34" charset="-122"/>
                <a:sym typeface="+mn-ea"/>
              </a:rPr>
              <a:t>获取最新版本文件；</a:t>
            </a:r>
            <a:endParaRPr lang="zh-CN" altLang="en-US" sz="1800" dirty="0">
              <a:solidFill>
                <a:prstClr val="black"/>
              </a:solidFill>
              <a:latin typeface="微软雅黑" panose="020B0503020204020204" pitchFamily="34" charset="-122"/>
              <a:ea typeface="微软雅黑" panose="020B0503020204020204" pitchFamily="34" charset="-122"/>
              <a:sym typeface="+mn-ea"/>
            </a:endParaRPr>
          </a:p>
          <a:p>
            <a:pPr marL="457200" indent="-457200">
              <a:lnSpc>
                <a:spcPct val="150000"/>
              </a:lnSpc>
              <a:buFont typeface="+mj-lt"/>
              <a:buAutoNum type="arabicPeriod"/>
            </a:pPr>
            <a:r>
              <a:rPr lang="zh-CN" altLang="en-US" sz="1800" dirty="0">
                <a:latin typeface="微软雅黑" panose="020B0503020204020204" pitchFamily="34" charset="-122"/>
                <a:ea typeface="微软雅黑" panose="020B0503020204020204" pitchFamily="34" charset="-122"/>
              </a:rPr>
              <a:t>评审完成后要</a:t>
            </a:r>
            <a:r>
              <a:rPr lang="zh-CN" altLang="en-US" sz="1800" dirty="0">
                <a:solidFill>
                  <a:srgbClr val="FF0000"/>
                </a:solidFill>
                <a:latin typeface="微软雅黑" panose="020B0503020204020204" pitchFamily="34" charset="-122"/>
                <a:ea typeface="微软雅黑" panose="020B0503020204020204" pitchFamily="34" charset="-122"/>
              </a:rPr>
              <a:t>尽快处理变更、发布流程</a:t>
            </a:r>
            <a:r>
              <a:rPr lang="zh-CN" altLang="en-US" sz="1800" dirty="0">
                <a:latin typeface="微软雅黑" panose="020B0503020204020204" pitchFamily="34" charset="-122"/>
                <a:ea typeface="微软雅黑" panose="020B0503020204020204" pitchFamily="34" charset="-122"/>
              </a:rPr>
              <a:t>，及时完成变更工作。</a:t>
            </a:r>
            <a:endParaRPr lang="en-US" altLang="zh-CN" sz="1800" dirty="0">
              <a:latin typeface="微软雅黑" panose="020B0503020204020204" pitchFamily="34" charset="-122"/>
              <a:ea typeface="微软雅黑" panose="020B0503020204020204" pitchFamily="34" charset="-122"/>
            </a:endParaRPr>
          </a:p>
          <a:p>
            <a:endParaRPr lang="en-US" altLang="zh-CN" sz="1800" dirty="0">
              <a:latin typeface="微软雅黑" panose="020B0503020204020204" pitchFamily="34" charset="-122"/>
              <a:ea typeface="微软雅黑" panose="020B0503020204020204" pitchFamily="34" charset="-122"/>
            </a:endParaRPr>
          </a:p>
        </p:txBody>
      </p:sp>
      <p:sp>
        <p:nvSpPr>
          <p:cNvPr id="3" name="文本框 2"/>
          <p:cNvSpPr txBox="1"/>
          <p:nvPr>
            <p:custDataLst>
              <p:tags r:id="rId1"/>
            </p:custDataLst>
          </p:nvPr>
        </p:nvSpPr>
        <p:spPr>
          <a:xfrm>
            <a:off x="924560" y="991235"/>
            <a:ext cx="10516870" cy="3002280"/>
          </a:xfrm>
          <a:prstGeom prst="rect">
            <a:avLst/>
          </a:prstGeom>
          <a:noFill/>
        </p:spPr>
        <p:txBody>
          <a:bodyPr wrap="square" rtlCol="0">
            <a:noAutofit/>
          </a:bodyPr>
          <a:p>
            <a:r>
              <a:rPr lang="zh-CN" altLang="en-US" sz="1800"/>
              <a:t>技术研究院某项目经理被部门经理安排进行某产品变更（背景）</a:t>
            </a:r>
            <a:endParaRPr lang="zh-CN" altLang="en-US" sz="1800"/>
          </a:p>
          <a:p>
            <a:pPr marL="457200" indent="-457200">
              <a:lnSpc>
                <a:spcPct val="150000"/>
              </a:lnSpc>
              <a:buFont typeface="+mj-lt"/>
              <a:buAutoNum type="arabicPeriod"/>
            </a:pPr>
            <a:r>
              <a:rPr lang="zh-CN" altLang="en-US" sz="1800"/>
              <a:t>项目经理根据</a:t>
            </a:r>
            <a:r>
              <a:rPr lang="zh-CN" altLang="en-US" sz="1800">
                <a:solidFill>
                  <a:srgbClr val="FF0000"/>
                </a:solidFill>
              </a:rPr>
              <a:t>本地保存的文档、代码</a:t>
            </a:r>
            <a:r>
              <a:rPr lang="zh-CN" altLang="en-US" sz="1800"/>
              <a:t>进行直接编辑；</a:t>
            </a:r>
            <a:endParaRPr lang="zh-CN" altLang="en-US" sz="1800"/>
          </a:p>
          <a:p>
            <a:pPr marL="457200" indent="-457200">
              <a:lnSpc>
                <a:spcPct val="150000"/>
              </a:lnSpc>
              <a:buFont typeface="+mj-lt"/>
              <a:buAutoNum type="arabicPeriod"/>
            </a:pPr>
            <a:r>
              <a:rPr lang="zh-CN" altLang="en-US" sz="1800"/>
              <a:t>邀请</a:t>
            </a:r>
            <a:r>
              <a:rPr lang="zh-CN" altLang="en-US" sz="1800">
                <a:solidFill>
                  <a:srgbClr val="FF0000"/>
                </a:solidFill>
              </a:rPr>
              <a:t>部门经理、开发人员、测试人员、工艺人员</a:t>
            </a:r>
            <a:r>
              <a:rPr lang="zh-CN" altLang="en-US" sz="1800"/>
              <a:t>对产品进行变更评估；</a:t>
            </a:r>
            <a:endParaRPr lang="zh-CN" altLang="en-US" sz="1800"/>
          </a:p>
          <a:p>
            <a:pPr marL="457200" indent="-457200">
              <a:lnSpc>
                <a:spcPct val="150000"/>
              </a:lnSpc>
              <a:buFont typeface="+mj-lt"/>
              <a:buAutoNum type="arabicPeriod"/>
            </a:pPr>
            <a:r>
              <a:rPr lang="zh-CN" altLang="en-US" sz="1800"/>
              <a:t>由于</a:t>
            </a:r>
            <a:r>
              <a:rPr lang="zh-CN" altLang="en-US" sz="1800">
                <a:solidFill>
                  <a:srgbClr val="FF0000"/>
                </a:solidFill>
              </a:rPr>
              <a:t>会上遗漏手签</a:t>
            </a:r>
            <a:r>
              <a:rPr lang="zh-CN" altLang="en-US" sz="1800"/>
              <a:t>导致变更手签还未签完，先行发起变更流程，</a:t>
            </a:r>
            <a:r>
              <a:rPr lang="zh-CN" altLang="en-US" sz="1800">
                <a:solidFill>
                  <a:srgbClr val="FF0000"/>
                </a:solidFill>
              </a:rPr>
              <a:t>后续其他环节再补充手签图片</a:t>
            </a:r>
            <a:r>
              <a:rPr lang="zh-CN" altLang="en-US" sz="1800"/>
              <a:t>；</a:t>
            </a:r>
            <a:endParaRPr lang="zh-CN" altLang="en-US" sz="1800"/>
          </a:p>
          <a:p>
            <a:pPr marL="457200" indent="-457200">
              <a:lnSpc>
                <a:spcPct val="150000"/>
              </a:lnSpc>
              <a:buFont typeface="+mj-lt"/>
              <a:buAutoNum type="arabicPeriod"/>
            </a:pPr>
            <a:r>
              <a:rPr lang="en-US" altLang="zh-CN" sz="1800"/>
              <a:t>SVN</a:t>
            </a:r>
            <a:r>
              <a:rPr lang="zh-CN" altLang="en-US" sz="1800"/>
              <a:t>上传资料有更新，但是更改点不大，项目经理评估</a:t>
            </a:r>
            <a:r>
              <a:rPr lang="zh-CN" altLang="en-US" sz="1800">
                <a:solidFill>
                  <a:srgbClr val="FF0000"/>
                </a:solidFill>
              </a:rPr>
              <a:t>无需评审并知会</a:t>
            </a:r>
            <a:r>
              <a:rPr lang="zh-CN" altLang="en-US" sz="1800"/>
              <a:t>到其他成员；</a:t>
            </a:r>
            <a:endParaRPr lang="zh-CN" altLang="en-US" sz="1800"/>
          </a:p>
          <a:p>
            <a:pPr marL="457200" indent="-457200">
              <a:lnSpc>
                <a:spcPct val="150000"/>
              </a:lnSpc>
              <a:buFont typeface="+mj-lt"/>
              <a:buAutoNum type="arabicPeriod"/>
            </a:pPr>
            <a:r>
              <a:rPr lang="zh-CN" altLang="en-US" sz="1800"/>
              <a:t>评估后数周，由于项目经理工作冲突，变更流程、</a:t>
            </a:r>
            <a:r>
              <a:rPr lang="zh-CN" altLang="en-US" sz="1800">
                <a:solidFill>
                  <a:srgbClr val="FF0000"/>
                </a:solidFill>
              </a:rPr>
              <a:t>发布流程都未走完</a:t>
            </a:r>
            <a:r>
              <a:rPr lang="zh-CN" altLang="en-US" sz="1800"/>
              <a:t>，其未进行跟踪处理；</a:t>
            </a:r>
            <a:endParaRPr lang="zh-CN" altLang="en-US" sz="1800"/>
          </a:p>
          <a:p>
            <a:pPr marL="285750" indent="-285750">
              <a:lnSpc>
                <a:spcPct val="150000"/>
              </a:lnSpc>
              <a:buFont typeface="Wingdings" panose="05000000000000000000" charset="0"/>
              <a:buChar char="l"/>
            </a:pPr>
            <a:endParaRPr lang="en-US" altLang="zh-CN" sz="1800" dirty="0">
              <a:latin typeface="微软雅黑" panose="020B0503020204020204" pitchFamily="34" charset="-122"/>
              <a:ea typeface="微软雅黑" panose="020B0503020204020204" pitchFamily="34" charset="-122"/>
            </a:endParaRPr>
          </a:p>
          <a:p>
            <a:endParaRPr lang="en-US" altLang="zh-CN" sz="18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smtClean="0">
                <a:solidFill>
                  <a:schemeClr val="tx1"/>
                </a:solidFill>
              </a:rPr>
              <a:t>变更</a:t>
            </a:r>
            <a:r>
              <a:rPr lang="en-US" altLang="zh-CN" dirty="0" smtClean="0">
                <a:solidFill>
                  <a:schemeClr val="tx1"/>
                </a:solidFill>
              </a:rPr>
              <a:t>-</a:t>
            </a:r>
            <a:r>
              <a:rPr lang="zh-CN" altLang="en-US" dirty="0" smtClean="0">
                <a:solidFill>
                  <a:srgbClr val="FF0000"/>
                </a:solidFill>
              </a:rPr>
              <a:t>工作流程</a:t>
            </a:r>
            <a:endParaRPr lang="zh-CN" altLang="en-US" dirty="0">
              <a:solidFill>
                <a:srgbClr val="FF0000"/>
              </a:solidFill>
            </a:endParaRPr>
          </a:p>
        </p:txBody>
      </p:sp>
      <p:grpSp>
        <p:nvGrpSpPr>
          <p:cNvPr id="2" name="组合 1"/>
          <p:cNvGrpSpPr/>
          <p:nvPr/>
        </p:nvGrpSpPr>
        <p:grpSpPr>
          <a:xfrm>
            <a:off x="4043680" y="2545080"/>
            <a:ext cx="3148965" cy="1867535"/>
            <a:chOff x="4088337" y="2046271"/>
            <a:chExt cx="2295645" cy="1867703"/>
          </a:xfrm>
        </p:grpSpPr>
        <p:sp>
          <p:nvSpPr>
            <p:cNvPr id="21" name="AutoShape 33"/>
            <p:cNvSpPr>
              <a:spLocks noChangeArrowheads="1"/>
            </p:cNvSpPr>
            <p:nvPr/>
          </p:nvSpPr>
          <p:spPr bwMode="auto">
            <a:xfrm>
              <a:off x="4088337" y="2206169"/>
              <a:ext cx="2295645" cy="1707805"/>
            </a:xfrm>
            <a:prstGeom prst="roundRect">
              <a:avLst>
                <a:gd name="adj" fmla="val 4690"/>
              </a:avLst>
            </a:prstGeom>
            <a:noFill/>
            <a:ln w="57150">
              <a:solidFill>
                <a:schemeClr val="folHlink"/>
              </a:solidFill>
              <a:round/>
            </a:ln>
          </p:spPr>
          <p:txBody>
            <a:bodyPr wrap="none" anchor="ctr"/>
            <a:lstStyle/>
            <a:p>
              <a:endParaRPr lang="zh-CN" altLang="en-US"/>
            </a:p>
          </p:txBody>
        </p:sp>
        <p:sp>
          <p:nvSpPr>
            <p:cNvPr id="22" name="AutoShape 34"/>
            <p:cNvSpPr>
              <a:spLocks noChangeArrowheads="1"/>
            </p:cNvSpPr>
            <p:nvPr/>
          </p:nvSpPr>
          <p:spPr bwMode="gray">
            <a:xfrm>
              <a:off x="4304248" y="2079934"/>
              <a:ext cx="1863822" cy="249666"/>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w="9525">
              <a:noFill/>
              <a:round/>
            </a:ln>
            <a:effectLst/>
          </p:spPr>
          <p:txBody>
            <a:bodyPr wrap="none" anchor="ctr"/>
            <a:lstStyle/>
            <a:p>
              <a:pPr>
                <a:defRPr/>
              </a:pPr>
              <a:endParaRPr lang="zh-CN" altLang="en-US"/>
            </a:p>
          </p:txBody>
        </p:sp>
        <p:sp>
          <p:nvSpPr>
            <p:cNvPr id="23" name="AutoShape 35"/>
            <p:cNvSpPr>
              <a:spLocks noChangeArrowheads="1"/>
            </p:cNvSpPr>
            <p:nvPr/>
          </p:nvSpPr>
          <p:spPr bwMode="auto">
            <a:xfrm flipH="1">
              <a:off x="5988674" y="2143052"/>
              <a:ext cx="71441" cy="127638"/>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24" name="AutoShape 36"/>
            <p:cNvSpPr>
              <a:spLocks noChangeArrowheads="1"/>
            </p:cNvSpPr>
            <p:nvPr/>
          </p:nvSpPr>
          <p:spPr bwMode="auto">
            <a:xfrm flipH="1">
              <a:off x="4405854" y="2143052"/>
              <a:ext cx="73029" cy="127638"/>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25" name="Text Box 37"/>
            <p:cNvSpPr txBox="1">
              <a:spLocks noChangeArrowheads="1"/>
            </p:cNvSpPr>
            <p:nvPr/>
          </p:nvSpPr>
          <p:spPr bwMode="gray">
            <a:xfrm>
              <a:off x="4780523" y="2046271"/>
              <a:ext cx="903335" cy="306733"/>
            </a:xfrm>
            <a:prstGeom prst="rect">
              <a:avLst/>
            </a:prstGeom>
            <a:noFill/>
            <a:ln w="9525" algn="ctr">
              <a:noFill/>
              <a:miter lim="800000"/>
            </a:ln>
          </p:spPr>
          <p:txBody>
            <a:bodyPr wrap="square">
              <a:spAutoFit/>
            </a:bodyPr>
            <a:lstStyle/>
            <a:p>
              <a:pPr eaLnBrk="0" hangingPunct="0"/>
              <a:r>
                <a:rPr lang="zh-CN" altLang="en-US" sz="1400" dirty="0">
                  <a:solidFill>
                    <a:schemeClr val="bg1"/>
                  </a:solidFill>
                </a:rPr>
                <a:t>工作产物</a:t>
              </a:r>
              <a:endParaRPr lang="zh-CN" altLang="en-US" sz="1400" dirty="0">
                <a:solidFill>
                  <a:schemeClr val="bg1"/>
                </a:solidFill>
              </a:endParaRPr>
            </a:p>
          </p:txBody>
        </p:sp>
        <p:sp>
          <p:nvSpPr>
            <p:cNvPr id="26" name="Text Box 38"/>
            <p:cNvSpPr txBox="1">
              <a:spLocks noChangeArrowheads="1"/>
            </p:cNvSpPr>
            <p:nvPr/>
          </p:nvSpPr>
          <p:spPr bwMode="auto">
            <a:xfrm>
              <a:off x="4164541" y="2502513"/>
              <a:ext cx="2133712" cy="1198988"/>
            </a:xfrm>
            <a:prstGeom prst="rect">
              <a:avLst/>
            </a:prstGeom>
            <a:noFill/>
            <a:ln w="9525" algn="ctr">
              <a:noFill/>
              <a:miter lim="800000"/>
            </a:ln>
          </p:spPr>
          <p:txBody>
            <a:bodyPr wrap="square">
              <a:spAutoFit/>
            </a:bodyPr>
            <a:lstStyle/>
            <a:p>
              <a:pPr algn="l">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设计变更登记（</a:t>
              </a:r>
              <a:r>
                <a:rPr lang="en-US" altLang="zh-CN" sz="1800" dirty="0">
                  <a:latin typeface="微软雅黑" panose="020B0503020204020204" pitchFamily="34" charset="-122"/>
                  <a:ea typeface="微软雅黑" panose="020B0503020204020204" pitchFamily="34" charset="-122"/>
                </a:rPr>
                <a:t>ERP</a:t>
              </a:r>
              <a:r>
                <a:rPr lang="zh-CN" altLang="en-US" sz="1800" dirty="0">
                  <a:latin typeface="微软雅黑" panose="020B0503020204020204" pitchFamily="34" charset="-122"/>
                  <a:ea typeface="微软雅黑" panose="020B0503020204020204" pitchFamily="34" charset="-122"/>
                </a:rPr>
                <a:t>）</a:t>
              </a:r>
              <a:endParaRPr lang="zh-CN" altLang="en-US" sz="1800" dirty="0">
                <a:latin typeface="微软雅黑" panose="020B0503020204020204" pitchFamily="34" charset="-122"/>
                <a:ea typeface="微软雅黑" panose="020B0503020204020204" pitchFamily="34" charset="-122"/>
              </a:endParaRPr>
            </a:p>
            <a:p>
              <a:pPr algn="l">
                <a:buFont typeface="Wingdings" panose="05000000000000000000" pitchFamily="2" charset="2"/>
                <a:buChar char="Ø"/>
              </a:pPr>
              <a:endParaRPr lang="zh-CN" altLang="en-US" sz="1800" dirty="0">
                <a:latin typeface="微软雅黑" panose="020B0503020204020204" pitchFamily="34" charset="-122"/>
                <a:ea typeface="微软雅黑" panose="020B0503020204020204" pitchFamily="34" charset="-122"/>
              </a:endParaRPr>
            </a:p>
            <a:p>
              <a:pPr algn="l">
                <a:buFont typeface="Wingdings" panose="05000000000000000000" pitchFamily="2" charset="2"/>
                <a:buChar char="Ø"/>
              </a:pPr>
              <a:r>
                <a:rPr lang="zh-CN" altLang="en-US" sz="1800" dirty="0">
                  <a:latin typeface="微软雅黑" panose="020B0503020204020204" pitchFamily="34" charset="-122"/>
                  <a:ea typeface="微软雅黑" panose="020B0503020204020204" pitchFamily="34" charset="-122"/>
                </a:rPr>
                <a:t>变更后资料</a:t>
              </a:r>
              <a:endParaRPr lang="zh-CN" altLang="en-US" sz="1800" dirty="0">
                <a:latin typeface="微软雅黑" panose="020B0503020204020204" pitchFamily="34" charset="-122"/>
                <a:ea typeface="微软雅黑" panose="020B0503020204020204" pitchFamily="34" charset="-122"/>
              </a:endParaRPr>
            </a:p>
          </p:txBody>
        </p:sp>
      </p:grpSp>
      <p:sp>
        <p:nvSpPr>
          <p:cNvPr id="27" name="Text Box 45"/>
          <p:cNvSpPr txBox="1">
            <a:spLocks noChangeArrowheads="1"/>
          </p:cNvSpPr>
          <p:nvPr/>
        </p:nvSpPr>
        <p:spPr bwMode="gray">
          <a:xfrm>
            <a:off x="1823720" y="1711960"/>
            <a:ext cx="6791960" cy="368300"/>
          </a:xfrm>
          <a:prstGeom prst="rect">
            <a:avLst/>
          </a:prstGeom>
          <a:noFill/>
          <a:ln w="9525" algn="ctr">
            <a:noFill/>
            <a:miter lim="800000"/>
          </a:ln>
        </p:spPr>
        <p:txBody>
          <a:bodyPr wrap="square">
            <a:spAutoFit/>
          </a:bodyPr>
          <a:lstStyle/>
          <a:p>
            <a:pPr algn="l">
              <a:spcBef>
                <a:spcPct val="30000"/>
              </a:spcBef>
            </a:pPr>
            <a:r>
              <a:rPr lang="zh-CN" altLang="en-US" sz="1800" dirty="0">
                <a:latin typeface="微软雅黑" panose="020B0503020204020204" pitchFamily="34" charset="-122"/>
                <a:ea typeface="微软雅黑" panose="020B0503020204020204" pitchFamily="34" charset="-122"/>
              </a:rPr>
              <a:t>变更申请</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变更评估</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变更实施</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变更验证</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变更发布</a:t>
            </a:r>
            <a:endParaRPr lang="zh-CN" altLang="en-US"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dirty="0" smtClean="0">
                <a:solidFill>
                  <a:schemeClr val="tx1"/>
                </a:solidFill>
              </a:rPr>
              <a:t>变更</a:t>
            </a:r>
            <a:r>
              <a:rPr lang="en-US" altLang="zh-CN" dirty="0" smtClean="0">
                <a:solidFill>
                  <a:schemeClr val="tx1"/>
                </a:solidFill>
              </a:rPr>
              <a:t>-</a:t>
            </a:r>
            <a:r>
              <a:rPr lang="zh-CN" altLang="en-US" dirty="0" smtClean="0">
                <a:solidFill>
                  <a:srgbClr val="FF0000"/>
                </a:solidFill>
              </a:rPr>
              <a:t>常见问</a:t>
            </a:r>
            <a:r>
              <a:rPr lang="zh-CN" altLang="en-US" dirty="0" smtClean="0">
                <a:solidFill>
                  <a:srgbClr val="FF0000"/>
                </a:solidFill>
              </a:rPr>
              <a:t>题</a:t>
            </a:r>
            <a:endParaRPr lang="zh-CN" altLang="en-US" dirty="0" smtClean="0">
              <a:solidFill>
                <a:srgbClr val="FF0000"/>
              </a:solidFill>
            </a:endParaRPr>
          </a:p>
        </p:txBody>
      </p:sp>
      <p:sp>
        <p:nvSpPr>
          <p:cNvPr id="2" name="文本框 1"/>
          <p:cNvSpPr txBox="1"/>
          <p:nvPr/>
        </p:nvSpPr>
        <p:spPr>
          <a:xfrm>
            <a:off x="1201420" y="1116330"/>
            <a:ext cx="9512935" cy="4018280"/>
          </a:xfrm>
          <a:prstGeom prst="rect">
            <a:avLst/>
          </a:prstGeom>
          <a:noFill/>
        </p:spPr>
        <p:txBody>
          <a:bodyPr wrap="square" rtlCol="0">
            <a:noAutofit/>
          </a:bodyPr>
          <a:p>
            <a:pPr marL="457200" indent="-457200" fontAlgn="auto">
              <a:lnSpc>
                <a:spcPct val="150000"/>
              </a:lnSpc>
              <a:buFont typeface="+mj-lt"/>
              <a:buAutoNum type="arabicPeriod"/>
            </a:pPr>
            <a:r>
              <a:rPr lang="zh-CN" altLang="en-US">
                <a:solidFill>
                  <a:schemeClr val="tx1"/>
                </a:solidFill>
              </a:rPr>
              <a:t>变更</a:t>
            </a:r>
            <a:r>
              <a:rPr lang="zh-CN" altLang="en-US">
                <a:solidFill>
                  <a:srgbClr val="FF0000"/>
                </a:solidFill>
              </a:rPr>
              <a:t>影响评估不到位，多次打回流程修改；</a:t>
            </a:r>
            <a:endParaRPr lang="zh-CN" altLang="en-US"/>
          </a:p>
          <a:p>
            <a:pPr marL="457200" indent="-457200" fontAlgn="auto">
              <a:lnSpc>
                <a:spcPct val="150000"/>
              </a:lnSpc>
              <a:buFont typeface="+mj-lt"/>
              <a:buAutoNum type="arabicPeriod"/>
            </a:pPr>
            <a:r>
              <a:rPr lang="zh-CN" altLang="en-US"/>
              <a:t>变更评估</a:t>
            </a:r>
            <a:r>
              <a:rPr lang="zh-CN" altLang="en-US">
                <a:solidFill>
                  <a:srgbClr val="FF0000"/>
                </a:solidFill>
              </a:rPr>
              <a:t>遗漏邀请部分相关干系人参与评估，</a:t>
            </a:r>
            <a:r>
              <a:rPr lang="zh-CN" altLang="en-US"/>
              <a:t>如未邀请技术委员会专家、或生产等参与评估；</a:t>
            </a:r>
            <a:endParaRPr lang="zh-CN" altLang="en-US"/>
          </a:p>
          <a:p>
            <a:pPr marL="457200" indent="-457200" fontAlgn="auto">
              <a:lnSpc>
                <a:spcPct val="150000"/>
              </a:lnSpc>
              <a:buFont typeface="+mj-lt"/>
              <a:buAutoNum type="arabicPeriod"/>
            </a:pPr>
            <a:r>
              <a:rPr lang="zh-CN" altLang="en-US"/>
              <a:t>变更申请流程中附件未上传变更评审</a:t>
            </a:r>
            <a:r>
              <a:rPr lang="zh-CN" altLang="en-US"/>
              <a:t>手签记录；</a:t>
            </a:r>
            <a:endParaRPr lang="zh-CN" altLang="en-US"/>
          </a:p>
          <a:p>
            <a:pPr marL="457200" indent="-457200" fontAlgn="auto">
              <a:lnSpc>
                <a:spcPct val="150000"/>
              </a:lnSpc>
              <a:buFont typeface="+mj-lt"/>
              <a:buAutoNum type="arabicPeriod"/>
            </a:pPr>
            <a:r>
              <a:rPr lang="zh-CN" altLang="en-US"/>
              <a:t>设计</a:t>
            </a:r>
            <a:r>
              <a:rPr lang="en-US" altLang="zh-CN"/>
              <a:t>BOM</a:t>
            </a:r>
            <a:r>
              <a:rPr lang="zh-CN" altLang="en-US"/>
              <a:t>流程、发布申请登记</a:t>
            </a:r>
            <a:r>
              <a:rPr lang="zh-CN" altLang="en-US">
                <a:solidFill>
                  <a:srgbClr val="FF0000"/>
                </a:solidFill>
              </a:rPr>
              <a:t>流程未跟踪；</a:t>
            </a:r>
            <a:endParaRPr lang="en-US" altLang="zh-CN"/>
          </a:p>
          <a:p>
            <a:pPr marL="457200" indent="-457200" fontAlgn="auto">
              <a:lnSpc>
                <a:spcPct val="150000"/>
              </a:lnSpc>
              <a:buFont typeface="+mj-lt"/>
              <a:buAutoNum type="arabicPeriod"/>
            </a:pPr>
            <a:r>
              <a:rPr lang="zh-CN" altLang="en-US"/>
              <a:t>变更资料</a:t>
            </a:r>
            <a:r>
              <a:rPr lang="zh-CN" altLang="en-US">
                <a:solidFill>
                  <a:srgbClr val="FF0000"/>
                </a:solidFill>
              </a:rPr>
              <a:t>未在最新版本上进行更新；</a:t>
            </a:r>
            <a:endParaRPr lang="zh-CN" altLang="en-US"/>
          </a:p>
          <a:p>
            <a:pPr marL="457200" indent="-457200" fontAlgn="auto">
              <a:lnSpc>
                <a:spcPct val="150000"/>
              </a:lnSpc>
              <a:buFont typeface="+mj-lt"/>
              <a:buAutoNum type="arabicPeriod"/>
            </a:pPr>
            <a:r>
              <a:rPr lang="zh-CN" altLang="en-US"/>
              <a:t>变更资料</a:t>
            </a:r>
            <a:r>
              <a:rPr lang="zh-CN" altLang="en-US">
                <a:solidFill>
                  <a:srgbClr val="FF0000"/>
                </a:solidFill>
              </a:rPr>
              <a:t>审计不到位，料号</a:t>
            </a:r>
            <a:r>
              <a:rPr lang="en-US" altLang="zh-CN">
                <a:solidFill>
                  <a:srgbClr val="FF0000"/>
                </a:solidFill>
              </a:rPr>
              <a:t>/</a:t>
            </a:r>
            <a:r>
              <a:rPr lang="zh-CN" altLang="en-US">
                <a:solidFill>
                  <a:srgbClr val="FF0000"/>
                </a:solidFill>
              </a:rPr>
              <a:t>版本</a:t>
            </a:r>
            <a:r>
              <a:rPr lang="en-US" altLang="zh-CN">
                <a:solidFill>
                  <a:srgbClr val="FF0000"/>
                </a:solidFill>
              </a:rPr>
              <a:t>/</a:t>
            </a:r>
            <a:r>
              <a:rPr lang="zh-CN" altLang="en-US">
                <a:solidFill>
                  <a:srgbClr val="FF0000"/>
                </a:solidFill>
              </a:rPr>
              <a:t>升级记录中数据缺失、遗漏、不一致；</a:t>
            </a:r>
            <a:endParaRPr lang="zh-CN" altLang="en-US">
              <a:solidFill>
                <a:srgbClr val="FF0000"/>
              </a:solidFill>
            </a:endParaRPr>
          </a:p>
          <a:p>
            <a:pPr marL="457200" indent="-457200" fontAlgn="auto">
              <a:lnSpc>
                <a:spcPct val="150000"/>
              </a:lnSpc>
              <a:buFont typeface="+mj-lt"/>
              <a:buAutoNum type="arabicPeriod"/>
            </a:pPr>
            <a:r>
              <a:rPr lang="zh-CN" altLang="en-US">
                <a:solidFill>
                  <a:schemeClr val="tx1"/>
                </a:solidFill>
              </a:rPr>
              <a:t>变更</a:t>
            </a:r>
            <a:r>
              <a:rPr lang="zh-CN" altLang="en-US">
                <a:solidFill>
                  <a:srgbClr val="FF0000"/>
                </a:solidFill>
              </a:rPr>
              <a:t>对应执行人不是在设计变更群获取的最新人员信息；</a:t>
            </a:r>
            <a:endParaRPr lang="zh-CN" altLang="en-US">
              <a:solidFill>
                <a:srgbClr val="FF0000"/>
              </a:solidFill>
            </a:endParaRPr>
          </a:p>
          <a:p>
            <a:pPr marL="457200" indent="-457200" fontAlgn="auto">
              <a:lnSpc>
                <a:spcPct val="150000"/>
              </a:lnSpc>
              <a:buFont typeface="+mj-lt"/>
              <a:buAutoNum type="arabicPeriod"/>
            </a:pPr>
            <a:r>
              <a:rPr lang="zh-CN" altLang="en-US"/>
              <a:t>变更资料长时间未准备好，变更申请流程长时间停滞在配置管理员节点；</a:t>
            </a:r>
            <a:endParaRPr lang="zh-CN" altLang="en-US"/>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34820" name="Rectangle 12"/>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0"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1"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2"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7"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8"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19"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sp>
        <p:nvSpPr>
          <p:cNvPr id="20" name="Rectangle 6"/>
          <p:cNvSpPr>
            <a:spLocks noChangeArrowheads="1"/>
          </p:cNvSpPr>
          <p:nvPr/>
        </p:nvSpPr>
        <p:spPr bwMode="auto">
          <a:xfrm>
            <a:off x="1740649" y="-29670"/>
            <a:ext cx="184731" cy="385490"/>
          </a:xfrm>
          <a:prstGeom prst="rect">
            <a:avLst/>
          </a:prstGeom>
          <a:noFill/>
          <a:ln w="9525">
            <a:noFill/>
            <a:miter lim="800000"/>
          </a:ln>
        </p:spPr>
        <p:txBody>
          <a:bodyPr wrap="none" anchor="ctr">
            <a:spAutoFit/>
          </a:bodyPr>
          <a:lstStyle/>
          <a:p>
            <a:endParaRPr lang="zh-CN" altLang="en-US" sz="1905"/>
          </a:p>
        </p:txBody>
      </p:sp>
      <p:cxnSp>
        <p:nvCxnSpPr>
          <p:cNvPr id="21" name="直接连接符 20"/>
          <p:cNvCxnSpPr/>
          <p:nvPr/>
        </p:nvCxnSpPr>
        <p:spPr>
          <a:xfrm>
            <a:off x="3523676" y="2306030"/>
            <a:ext cx="519934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523676" y="4145007"/>
            <a:ext cx="519934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文本框 7"/>
          <p:cNvSpPr txBox="1"/>
          <p:nvPr/>
        </p:nvSpPr>
        <p:spPr>
          <a:xfrm>
            <a:off x="3523673" y="2529860"/>
            <a:ext cx="1728578" cy="1392844"/>
          </a:xfrm>
          <a:prstGeom prst="rect">
            <a:avLst/>
          </a:prstGeom>
          <a:noFill/>
        </p:spPr>
        <p:txBody>
          <a:bodyPr lIns="0" tIns="0" rIns="0" bIns="0" anchor="ctr"/>
          <a:lstStyle/>
          <a:p>
            <a:pPr algn="ctr">
              <a:defRPr/>
            </a:pPr>
            <a:r>
              <a:rPr lang="en-US" altLang="zh-CN" sz="10955" spc="-476" dirty="0">
                <a:solidFill>
                  <a:schemeClr val="accent1"/>
                </a:solidFill>
                <a:latin typeface="Arial" panose="020B0604020202020204" pitchFamily="34" charset="0"/>
                <a:ea typeface="微软雅黑" panose="020B0503020204020204" pitchFamily="34" charset="-122"/>
              </a:rPr>
              <a:t>03</a:t>
            </a:r>
            <a:endParaRPr lang="en-US" altLang="zh-CN" sz="10955" spc="-476" dirty="0">
              <a:solidFill>
                <a:schemeClr val="accent1"/>
              </a:solidFill>
              <a:latin typeface="Arial" panose="020B0604020202020204" pitchFamily="34" charset="0"/>
              <a:ea typeface="微软雅黑" panose="020B0503020204020204" pitchFamily="34" charset="-122"/>
            </a:endParaRPr>
          </a:p>
        </p:txBody>
      </p:sp>
      <p:sp>
        <p:nvSpPr>
          <p:cNvPr id="24" name="文本框 8"/>
          <p:cNvSpPr txBox="1">
            <a:spLocks noChangeArrowheads="1"/>
          </p:cNvSpPr>
          <p:nvPr/>
        </p:nvSpPr>
        <p:spPr bwMode="auto">
          <a:xfrm>
            <a:off x="6018998" y="2306031"/>
            <a:ext cx="2926332" cy="1838978"/>
          </a:xfrm>
          <a:prstGeom prst="rect">
            <a:avLst/>
          </a:prstGeom>
          <a:noFill/>
          <a:ln w="9525">
            <a:noFill/>
            <a:miter lim="800000"/>
          </a:ln>
        </p:spPr>
        <p:txBody>
          <a:bodyPr lIns="0" tIns="0" rIns="0" bIns="0" anchor="ctr"/>
          <a:lstStyle/>
          <a:p>
            <a:pPr lvl="0" algn="ctr">
              <a:lnSpc>
                <a:spcPct val="110000"/>
              </a:lnSpc>
            </a:pPr>
            <a:r>
              <a:rPr lang="zh-CN" altLang="en-US" sz="3810" b="1" dirty="0">
                <a:latin typeface="Arial" panose="020B0604020202020204" pitchFamily="34" charset="0"/>
                <a:ea typeface="微软雅黑" panose="020B0503020204020204" pitchFamily="34" charset="-122"/>
              </a:rPr>
              <a:t>监控管理</a:t>
            </a:r>
            <a:endParaRPr lang="en-US" altLang="zh-CN" sz="3810" b="1" dirty="0">
              <a:latin typeface="Arial" panose="020B0604020202020204" pitchFamily="34" charset="0"/>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a:solidFill>
                  <a:srgbClr val="FF0000"/>
                </a:solidFill>
              </a:rPr>
              <a:t>流程图</a:t>
            </a:r>
            <a:endParaRPr lang="zh-CN" altLang="en-US" dirty="0">
              <a:solidFill>
                <a:srgbClr val="FF0000"/>
              </a:solidFill>
            </a:endParaRPr>
          </a:p>
        </p:txBody>
      </p:sp>
      <p:graphicFrame>
        <p:nvGraphicFramePr>
          <p:cNvPr id="2" name="Object 2"/>
          <p:cNvGraphicFramePr>
            <a:graphicFrameLocks noChangeAspect="1"/>
          </p:cNvGraphicFramePr>
          <p:nvPr/>
        </p:nvGraphicFramePr>
        <p:xfrm>
          <a:off x="2049145" y="989330"/>
          <a:ext cx="7671435" cy="5467350"/>
        </p:xfrm>
        <a:graphic>
          <a:graphicData uri="http://schemas.openxmlformats.org/presentationml/2006/ole">
            <mc:AlternateContent xmlns:mc="http://schemas.openxmlformats.org/markup-compatibility/2006">
              <mc:Choice xmlns:v="urn:schemas-microsoft-com:vml" Requires="v">
                <p:oleObj spid="_x0000_s3076" name="" r:id="rId1" imgW="6538595" imgH="6164580" progId="Visio.Drawing.11">
                  <p:embed/>
                </p:oleObj>
              </mc:Choice>
              <mc:Fallback>
                <p:oleObj name="" r:id="rId1" imgW="6538595" imgH="6164580" progId="Visio.Drawing.11">
                  <p:embed/>
                  <p:pic>
                    <p:nvPicPr>
                      <p:cNvPr id="0" name="图片 3075"/>
                      <p:cNvPicPr/>
                      <p:nvPr/>
                    </p:nvPicPr>
                    <p:blipFill>
                      <a:blip r:embed="rId2"/>
                      <a:stretch>
                        <a:fillRect/>
                      </a:stretch>
                    </p:blipFill>
                    <p:spPr>
                      <a:xfrm>
                        <a:off x="2049145" y="989330"/>
                        <a:ext cx="7671435" cy="5467350"/>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项目过程跟踪</a:t>
            </a:r>
            <a:endParaRPr lang="zh-CN" altLang="en-US" dirty="0">
              <a:solidFill>
                <a:srgbClr val="FF0000"/>
              </a:solidFill>
            </a:endParaRPr>
          </a:p>
        </p:txBody>
      </p:sp>
      <p:sp>
        <p:nvSpPr>
          <p:cNvPr id="5" name="Rectangle 35"/>
          <p:cNvSpPr>
            <a:spLocks noChangeArrowheads="1"/>
          </p:cNvSpPr>
          <p:nvPr/>
        </p:nvSpPr>
        <p:spPr bwMode="auto">
          <a:xfrm>
            <a:off x="677013" y="1095823"/>
            <a:ext cx="11108003" cy="506730"/>
          </a:xfrm>
          <a:prstGeom prst="rect">
            <a:avLst/>
          </a:prstGeom>
          <a:noFill/>
          <a:ln w="9525">
            <a:noFill/>
            <a:miter lim="800000"/>
          </a:ln>
        </p:spPr>
        <p:txBody>
          <a:bodyPr wrap="square" anchor="ctr">
            <a:spAutoFit/>
          </a:bodyPr>
          <a:lstStyle/>
          <a:p>
            <a:pPr algn="l" eaLnBrk="0" hangingPunct="0">
              <a:lnSpc>
                <a:spcPct val="150000"/>
              </a:lnSpc>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项目经理周期性地跟踪项目计划的各种参数如规模、工作量、进度、资源等，了解项目的实际进展情况。</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6" name="图示 5"/>
          <p:cNvGraphicFramePr/>
          <p:nvPr/>
        </p:nvGraphicFramePr>
        <p:xfrm>
          <a:off x="773723" y="1907265"/>
          <a:ext cx="10423913" cy="258637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日常管理</a:t>
            </a:r>
            <a:endParaRPr lang="zh-CN" altLang="en-US" dirty="0">
              <a:solidFill>
                <a:srgbClr val="FF0000"/>
              </a:solidFill>
            </a:endParaRPr>
          </a:p>
        </p:txBody>
      </p:sp>
      <p:sp>
        <p:nvSpPr>
          <p:cNvPr id="51" name="Line 7"/>
          <p:cNvSpPr>
            <a:spLocks noChangeShapeType="1"/>
          </p:cNvSpPr>
          <p:nvPr>
            <p:custDataLst>
              <p:tags r:id="rId1"/>
            </p:custDataLst>
          </p:nvPr>
        </p:nvSpPr>
        <p:spPr bwMode="auto">
          <a:xfrm flipV="1">
            <a:off x="1636222" y="1547509"/>
            <a:ext cx="1800199" cy="1913920"/>
          </a:xfrm>
          <a:prstGeom prst="line">
            <a:avLst/>
          </a:prstGeom>
          <a:noFill/>
          <a:ln w="11">
            <a:solidFill>
              <a:schemeClr val="accent1"/>
            </a:solidFill>
            <a:prstDash val="dash"/>
            <a:round/>
          </a:ln>
          <a:extLst>
            <a:ext uri="{909E8E84-426E-40DD-AFC4-6F175D3DCCD1}">
              <a14:hiddenFill xmlns:a14="http://schemas.microsoft.com/office/drawing/2010/main">
                <a:noFill/>
              </a14:hiddenFill>
            </a:ext>
          </a:extLst>
        </p:spPr>
        <p:txBody>
          <a:bodyPr/>
          <a:lstStyle/>
          <a:p>
            <a:pPr>
              <a:defRPr/>
            </a:pPr>
            <a:endParaRPr lang="zh-CN" altLang="en-US">
              <a:latin typeface="+mn-ea"/>
              <a:ea typeface="+mn-ea"/>
            </a:endParaRPr>
          </a:p>
        </p:txBody>
      </p:sp>
      <p:sp>
        <p:nvSpPr>
          <p:cNvPr id="52" name="Line 8"/>
          <p:cNvSpPr>
            <a:spLocks noChangeShapeType="1"/>
          </p:cNvSpPr>
          <p:nvPr>
            <p:custDataLst>
              <p:tags r:id="rId2"/>
            </p:custDataLst>
          </p:nvPr>
        </p:nvSpPr>
        <p:spPr bwMode="auto">
          <a:xfrm flipV="1">
            <a:off x="1636222" y="2524754"/>
            <a:ext cx="3039502" cy="936675"/>
          </a:xfrm>
          <a:prstGeom prst="line">
            <a:avLst/>
          </a:prstGeom>
          <a:noFill/>
          <a:ln w="11">
            <a:solidFill>
              <a:schemeClr val="accent1"/>
            </a:solidFill>
            <a:prstDash val="dash"/>
            <a:round/>
          </a:ln>
          <a:extLst>
            <a:ext uri="{909E8E84-426E-40DD-AFC4-6F175D3DCCD1}">
              <a14:hiddenFill xmlns:a14="http://schemas.microsoft.com/office/drawing/2010/main">
                <a:noFill/>
              </a14:hiddenFill>
            </a:ext>
          </a:extLst>
        </p:spPr>
        <p:txBody>
          <a:bodyPr/>
          <a:lstStyle/>
          <a:p>
            <a:pPr>
              <a:defRPr/>
            </a:pPr>
            <a:endParaRPr lang="zh-CN" altLang="en-US">
              <a:latin typeface="+mn-ea"/>
              <a:ea typeface="+mn-ea"/>
            </a:endParaRPr>
          </a:p>
        </p:txBody>
      </p:sp>
      <p:sp>
        <p:nvSpPr>
          <p:cNvPr id="53" name="Line 9"/>
          <p:cNvSpPr>
            <a:spLocks noChangeShapeType="1"/>
          </p:cNvSpPr>
          <p:nvPr>
            <p:custDataLst>
              <p:tags r:id="rId3"/>
            </p:custDataLst>
          </p:nvPr>
        </p:nvSpPr>
        <p:spPr bwMode="auto">
          <a:xfrm>
            <a:off x="1636221" y="3548418"/>
            <a:ext cx="1971130" cy="1986871"/>
          </a:xfrm>
          <a:prstGeom prst="line">
            <a:avLst/>
          </a:prstGeom>
          <a:noFill/>
          <a:ln w="11">
            <a:solidFill>
              <a:schemeClr val="accent1"/>
            </a:solidFill>
            <a:prstDash val="dash"/>
            <a:round/>
          </a:ln>
          <a:extLst>
            <a:ext uri="{909E8E84-426E-40DD-AFC4-6F175D3DCCD1}">
              <a14:hiddenFill xmlns:a14="http://schemas.microsoft.com/office/drawing/2010/main">
                <a:noFill/>
              </a14:hiddenFill>
            </a:ext>
          </a:extLst>
        </p:spPr>
        <p:txBody>
          <a:bodyPr/>
          <a:lstStyle/>
          <a:p>
            <a:pPr>
              <a:defRPr/>
            </a:pPr>
            <a:endParaRPr lang="zh-CN" altLang="en-US">
              <a:latin typeface="+mn-ea"/>
              <a:ea typeface="+mn-ea"/>
            </a:endParaRPr>
          </a:p>
        </p:txBody>
      </p:sp>
      <p:grpSp>
        <p:nvGrpSpPr>
          <p:cNvPr id="4" name="组合 3"/>
          <p:cNvGrpSpPr/>
          <p:nvPr/>
        </p:nvGrpSpPr>
        <p:grpSpPr>
          <a:xfrm>
            <a:off x="3065584" y="4937124"/>
            <a:ext cx="1236663" cy="1238250"/>
            <a:chOff x="815851" y="4899358"/>
            <a:chExt cx="1236663" cy="1238250"/>
          </a:xfrm>
        </p:grpSpPr>
        <p:sp>
          <p:nvSpPr>
            <p:cNvPr id="58" name="Oval 14"/>
            <p:cNvSpPr>
              <a:spLocks noChangeArrowheads="1"/>
            </p:cNvSpPr>
            <p:nvPr>
              <p:custDataLst>
                <p:tags r:id="rId4"/>
              </p:custDataLst>
            </p:nvPr>
          </p:nvSpPr>
          <p:spPr bwMode="auto">
            <a:xfrm>
              <a:off x="815851" y="4899358"/>
              <a:ext cx="1236663" cy="1238250"/>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59" name="Oval 15"/>
            <p:cNvSpPr>
              <a:spLocks noChangeArrowheads="1"/>
            </p:cNvSpPr>
            <p:nvPr>
              <p:custDataLst>
                <p:tags r:id="rId5"/>
              </p:custDataLst>
            </p:nvPr>
          </p:nvSpPr>
          <p:spPr bwMode="auto">
            <a:xfrm>
              <a:off x="928564" y="5012071"/>
              <a:ext cx="1011237" cy="1011237"/>
            </a:xfrm>
            <a:prstGeom prst="ellipse">
              <a:avLst/>
            </a:prstGeom>
          </p:spPr>
          <p:style>
            <a:lnRef idx="0">
              <a:schemeClr val="accent1"/>
            </a:lnRef>
            <a:fillRef idx="3">
              <a:schemeClr val="accent1"/>
            </a:fillRef>
            <a:effectRef idx="3">
              <a:schemeClr val="accent1"/>
            </a:effectRef>
            <a:fontRef idx="minor">
              <a:schemeClr val="lt1"/>
            </a:fontRef>
          </p:style>
          <p:txBody>
            <a:bodyPr/>
            <a:lstStyle/>
            <a:p>
              <a:pPr>
                <a:defRPr/>
              </a:pPr>
              <a:endParaRPr lang="zh-CN" altLang="en-US">
                <a:latin typeface="+mn-ea"/>
              </a:endParaRPr>
            </a:p>
          </p:txBody>
        </p:sp>
        <p:sp>
          <p:nvSpPr>
            <p:cNvPr id="62" name="TextBox 16"/>
            <p:cNvSpPr txBox="1">
              <a:spLocks noChangeArrowheads="1"/>
            </p:cNvSpPr>
            <p:nvPr>
              <p:custDataLst>
                <p:tags r:id="rId6"/>
              </p:custDataLst>
            </p:nvPr>
          </p:nvSpPr>
          <p:spPr bwMode="auto">
            <a:xfrm>
              <a:off x="997949" y="5126788"/>
              <a:ext cx="868362"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dirty="0" smtClean="0">
                  <a:solidFill>
                    <a:srgbClr val="F8F8F8"/>
                  </a:solidFill>
                  <a:latin typeface="+mn-ea"/>
                  <a:ea typeface="+mn-ea"/>
                </a:rPr>
                <a:t>会议管理 </a:t>
              </a:r>
              <a:endParaRPr lang="zh-CN" altLang="en-US" b="1" dirty="0" smtClean="0">
                <a:solidFill>
                  <a:srgbClr val="F8F8F8"/>
                </a:solidFill>
                <a:latin typeface="+mn-ea"/>
                <a:ea typeface="+mn-ea"/>
              </a:endParaRPr>
            </a:p>
          </p:txBody>
        </p:sp>
      </p:grpSp>
      <p:grpSp>
        <p:nvGrpSpPr>
          <p:cNvPr id="8" name="组合 7"/>
          <p:cNvGrpSpPr/>
          <p:nvPr/>
        </p:nvGrpSpPr>
        <p:grpSpPr>
          <a:xfrm>
            <a:off x="4057392" y="1996728"/>
            <a:ext cx="1236663" cy="1238250"/>
            <a:chOff x="4070350" y="2406774"/>
            <a:chExt cx="1236663" cy="1238250"/>
          </a:xfrm>
        </p:grpSpPr>
        <p:sp>
          <p:nvSpPr>
            <p:cNvPr id="56" name="Oval 12"/>
            <p:cNvSpPr>
              <a:spLocks noChangeArrowheads="1"/>
            </p:cNvSpPr>
            <p:nvPr>
              <p:custDataLst>
                <p:tags r:id="rId7"/>
              </p:custDataLst>
            </p:nvPr>
          </p:nvSpPr>
          <p:spPr bwMode="auto">
            <a:xfrm>
              <a:off x="4070350" y="2406774"/>
              <a:ext cx="1236663" cy="1238250"/>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57" name="Oval 13"/>
            <p:cNvSpPr>
              <a:spLocks noChangeArrowheads="1"/>
            </p:cNvSpPr>
            <p:nvPr>
              <p:custDataLst>
                <p:tags r:id="rId8"/>
              </p:custDataLst>
            </p:nvPr>
          </p:nvSpPr>
          <p:spPr bwMode="auto">
            <a:xfrm>
              <a:off x="4183063" y="2521074"/>
              <a:ext cx="1011237" cy="1011238"/>
            </a:xfrm>
            <a:prstGeom prst="ellipse">
              <a:avLst/>
            </a:prstGeom>
          </p:spPr>
          <p:style>
            <a:lnRef idx="0">
              <a:schemeClr val="accent1"/>
            </a:lnRef>
            <a:fillRef idx="3">
              <a:schemeClr val="accent1"/>
            </a:fillRef>
            <a:effectRef idx="3">
              <a:schemeClr val="accent1"/>
            </a:effectRef>
            <a:fontRef idx="minor">
              <a:schemeClr val="lt1"/>
            </a:fontRef>
          </p:style>
          <p:txBody>
            <a:bodyPr/>
            <a:lstStyle/>
            <a:p>
              <a:pPr>
                <a:defRPr/>
              </a:pPr>
              <a:endParaRPr lang="zh-CN" altLang="en-US">
                <a:latin typeface="+mn-ea"/>
              </a:endParaRPr>
            </a:p>
          </p:txBody>
        </p:sp>
        <p:sp>
          <p:nvSpPr>
            <p:cNvPr id="63" name="TextBox 17"/>
            <p:cNvSpPr txBox="1">
              <a:spLocks noChangeArrowheads="1"/>
            </p:cNvSpPr>
            <p:nvPr>
              <p:custDataLst>
                <p:tags r:id="rId9"/>
              </p:custDataLst>
            </p:nvPr>
          </p:nvSpPr>
          <p:spPr bwMode="auto">
            <a:xfrm>
              <a:off x="4122420" y="2661409"/>
              <a:ext cx="107156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dirty="0">
                  <a:solidFill>
                    <a:srgbClr val="F8F8F8"/>
                  </a:solidFill>
                  <a:latin typeface="+mn-ea"/>
                  <a:ea typeface="+mn-ea"/>
                </a:rPr>
                <a:t>风险管理</a:t>
              </a:r>
              <a:endParaRPr lang="zh-CN" altLang="en-US" b="1" dirty="0" smtClean="0">
                <a:solidFill>
                  <a:srgbClr val="F8F8F8"/>
                </a:solidFill>
                <a:latin typeface="+mn-ea"/>
                <a:ea typeface="+mn-ea"/>
              </a:endParaRPr>
            </a:p>
          </p:txBody>
        </p:sp>
      </p:grpSp>
      <p:sp>
        <p:nvSpPr>
          <p:cNvPr id="65" name="TextBox 19"/>
          <p:cNvSpPr txBox="1">
            <a:spLocks noChangeArrowheads="1"/>
          </p:cNvSpPr>
          <p:nvPr>
            <p:custDataLst>
              <p:tags r:id="rId10"/>
            </p:custDataLst>
          </p:nvPr>
        </p:nvSpPr>
        <p:spPr bwMode="auto">
          <a:xfrm>
            <a:off x="5366677" y="4524625"/>
            <a:ext cx="4176861"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000" dirty="0" smtClean="0">
                <a:solidFill>
                  <a:schemeClr val="tx1"/>
                </a:solidFill>
                <a:latin typeface="+mn-ea"/>
                <a:ea typeface="+mn-ea"/>
              </a:rPr>
              <a:t>•</a:t>
            </a:r>
            <a:r>
              <a:rPr lang="zh-CN" altLang="en-US" sz="2000" dirty="0" smtClean="0">
                <a:solidFill>
                  <a:schemeClr val="tx1"/>
                </a:solidFill>
                <a:latin typeface="+mn-ea"/>
                <a:ea typeface="+mn-ea"/>
              </a:rPr>
              <a:t>项目成员日志审核</a:t>
            </a:r>
            <a:r>
              <a:rPr lang="zh-CN" altLang="en-US" sz="2000" dirty="0" smtClean="0">
                <a:solidFill>
                  <a:schemeClr val="accent1"/>
                </a:solidFill>
                <a:latin typeface="+mn-ea"/>
                <a:ea typeface="+mn-ea"/>
              </a:rPr>
              <a:t> </a:t>
            </a:r>
            <a:endParaRPr lang="zh-CN" altLang="en-US" sz="2000" dirty="0" smtClean="0">
              <a:solidFill>
                <a:schemeClr val="accent1"/>
              </a:solidFill>
              <a:latin typeface="+mn-ea"/>
              <a:ea typeface="+mn-ea"/>
            </a:endParaRPr>
          </a:p>
        </p:txBody>
      </p:sp>
      <p:sp>
        <p:nvSpPr>
          <p:cNvPr id="68" name="Line 8"/>
          <p:cNvSpPr>
            <a:spLocks noChangeShapeType="1"/>
          </p:cNvSpPr>
          <p:nvPr>
            <p:custDataLst>
              <p:tags r:id="rId11"/>
            </p:custDataLst>
          </p:nvPr>
        </p:nvSpPr>
        <p:spPr bwMode="auto">
          <a:xfrm>
            <a:off x="1636222" y="3461429"/>
            <a:ext cx="4104456" cy="0"/>
          </a:xfrm>
          <a:prstGeom prst="line">
            <a:avLst/>
          </a:prstGeom>
          <a:noFill/>
          <a:ln w="11">
            <a:solidFill>
              <a:schemeClr val="accent1"/>
            </a:solidFill>
            <a:prstDash val="dash"/>
            <a:round/>
          </a:ln>
          <a:extLst>
            <a:ext uri="{909E8E84-426E-40DD-AFC4-6F175D3DCCD1}">
              <a14:hiddenFill xmlns:a14="http://schemas.microsoft.com/office/drawing/2010/main">
                <a:noFill/>
              </a14:hiddenFill>
            </a:ext>
          </a:extLst>
        </p:spPr>
        <p:txBody>
          <a:bodyPr/>
          <a:lstStyle/>
          <a:p>
            <a:pPr>
              <a:defRPr/>
            </a:pPr>
            <a:endParaRPr lang="zh-CN" altLang="en-US">
              <a:latin typeface="+mn-ea"/>
              <a:ea typeface="+mn-ea"/>
            </a:endParaRPr>
          </a:p>
        </p:txBody>
      </p:sp>
      <p:grpSp>
        <p:nvGrpSpPr>
          <p:cNvPr id="9" name="组合 8"/>
          <p:cNvGrpSpPr/>
          <p:nvPr/>
        </p:nvGrpSpPr>
        <p:grpSpPr>
          <a:xfrm>
            <a:off x="5079682" y="2923258"/>
            <a:ext cx="1236663" cy="1238250"/>
            <a:chOff x="3408139" y="3645024"/>
            <a:chExt cx="1236663" cy="1238250"/>
          </a:xfrm>
        </p:grpSpPr>
        <p:sp>
          <p:nvSpPr>
            <p:cNvPr id="69" name="Oval 12"/>
            <p:cNvSpPr>
              <a:spLocks noChangeArrowheads="1"/>
            </p:cNvSpPr>
            <p:nvPr>
              <p:custDataLst>
                <p:tags r:id="rId12"/>
              </p:custDataLst>
            </p:nvPr>
          </p:nvSpPr>
          <p:spPr bwMode="auto">
            <a:xfrm>
              <a:off x="3408139" y="3645024"/>
              <a:ext cx="1236663" cy="1238250"/>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70" name="Oval 13"/>
            <p:cNvSpPr>
              <a:spLocks noChangeArrowheads="1"/>
            </p:cNvSpPr>
            <p:nvPr>
              <p:custDataLst>
                <p:tags r:id="rId13"/>
              </p:custDataLst>
            </p:nvPr>
          </p:nvSpPr>
          <p:spPr bwMode="auto">
            <a:xfrm>
              <a:off x="3520852" y="3759324"/>
              <a:ext cx="1011237" cy="1011238"/>
            </a:xfrm>
            <a:prstGeom prst="ellipse">
              <a:avLst/>
            </a:prstGeom>
          </p:spPr>
          <p:style>
            <a:lnRef idx="0">
              <a:schemeClr val="accent1"/>
            </a:lnRef>
            <a:fillRef idx="3">
              <a:schemeClr val="accent1"/>
            </a:fillRef>
            <a:effectRef idx="3">
              <a:schemeClr val="accent1"/>
            </a:effectRef>
            <a:fontRef idx="minor">
              <a:schemeClr val="lt1"/>
            </a:fontRef>
          </p:style>
          <p:txBody>
            <a:bodyPr/>
            <a:lstStyle/>
            <a:p>
              <a:pPr>
                <a:defRPr/>
              </a:pPr>
              <a:endParaRPr lang="zh-CN" altLang="en-US">
                <a:latin typeface="+mn-ea"/>
              </a:endParaRPr>
            </a:p>
          </p:txBody>
        </p:sp>
        <p:sp>
          <p:nvSpPr>
            <p:cNvPr id="71" name="TextBox 17"/>
            <p:cNvSpPr txBox="1">
              <a:spLocks noChangeArrowheads="1"/>
            </p:cNvSpPr>
            <p:nvPr>
              <p:custDataLst>
                <p:tags r:id="rId14"/>
              </p:custDataLst>
            </p:nvPr>
          </p:nvSpPr>
          <p:spPr bwMode="auto">
            <a:xfrm>
              <a:off x="3631659" y="3915534"/>
              <a:ext cx="868680" cy="748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dirty="0" smtClean="0">
                  <a:solidFill>
                    <a:srgbClr val="F8F8F8"/>
                  </a:solidFill>
                  <a:latin typeface="+mn-ea"/>
                  <a:ea typeface="+mn-ea"/>
                </a:rPr>
                <a:t>进展 汇报</a:t>
              </a:r>
              <a:endParaRPr lang="zh-CN" altLang="en-US" b="1" dirty="0" smtClean="0">
                <a:solidFill>
                  <a:srgbClr val="F8F8F8"/>
                </a:solidFill>
                <a:latin typeface="+mn-ea"/>
                <a:ea typeface="+mn-ea"/>
              </a:endParaRPr>
            </a:p>
          </p:txBody>
        </p:sp>
      </p:grpSp>
      <p:sp>
        <p:nvSpPr>
          <p:cNvPr id="72" name="TextBox 20"/>
          <p:cNvSpPr txBox="1">
            <a:spLocks noChangeArrowheads="1"/>
          </p:cNvSpPr>
          <p:nvPr>
            <p:custDataLst>
              <p:tags r:id="rId15"/>
            </p:custDataLst>
          </p:nvPr>
        </p:nvSpPr>
        <p:spPr bwMode="auto">
          <a:xfrm>
            <a:off x="4421505" y="5521960"/>
            <a:ext cx="553847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dirty="0" smtClean="0">
                <a:latin typeface="+mn-ea"/>
                <a:ea typeface="+mn-ea"/>
                <a:sym typeface="+mn-ea"/>
              </a:rPr>
              <a:t> • </a:t>
            </a:r>
            <a:r>
              <a:rPr sz="2000" dirty="0" smtClean="0">
                <a:solidFill>
                  <a:schemeClr val="tx1"/>
                </a:solidFill>
                <a:latin typeface="+mn-ea"/>
                <a:ea typeface="+mn-ea"/>
              </a:rPr>
              <a:t>项目例会（周例会/</a:t>
            </a:r>
            <a:r>
              <a:rPr lang="zh-CN" sz="2000" dirty="0" smtClean="0">
                <a:solidFill>
                  <a:schemeClr val="tx1"/>
                </a:solidFill>
                <a:latin typeface="+mn-ea"/>
                <a:ea typeface="+mn-ea"/>
              </a:rPr>
              <a:t>里程碑会议</a:t>
            </a:r>
            <a:r>
              <a:rPr sz="2000" dirty="0" smtClean="0">
                <a:solidFill>
                  <a:schemeClr val="tx1"/>
                </a:solidFill>
                <a:latin typeface="+mn-ea"/>
                <a:ea typeface="+mn-ea"/>
              </a:rPr>
              <a:t>/</a:t>
            </a:r>
            <a:r>
              <a:rPr lang="zh-CN" sz="2000" dirty="0" smtClean="0">
                <a:solidFill>
                  <a:schemeClr val="tx1"/>
                </a:solidFill>
                <a:latin typeface="+mn-ea"/>
                <a:ea typeface="+mn-ea"/>
              </a:rPr>
              <a:t>迭代总结会议</a:t>
            </a:r>
            <a:r>
              <a:rPr sz="2000" dirty="0" smtClean="0">
                <a:solidFill>
                  <a:schemeClr val="tx1"/>
                </a:solidFill>
                <a:latin typeface="+mn-ea"/>
                <a:ea typeface="+mn-ea"/>
              </a:rPr>
              <a:t>）</a:t>
            </a:r>
            <a:endParaRPr sz="2000" dirty="0" smtClean="0">
              <a:solidFill>
                <a:schemeClr val="tx1"/>
              </a:solidFill>
              <a:latin typeface="+mn-ea"/>
              <a:ea typeface="+mn-ea"/>
            </a:endParaRPr>
          </a:p>
          <a:p>
            <a:pPr eaLnBrk="1" hangingPunct="1">
              <a:defRPr/>
            </a:pPr>
            <a:r>
              <a:rPr sz="2000" dirty="0" smtClean="0">
                <a:solidFill>
                  <a:schemeClr val="tx1"/>
                </a:solidFill>
                <a:latin typeface="+mn-ea"/>
                <a:ea typeface="+mn-ea"/>
              </a:rPr>
              <a:t> •  项目专题会议（方案/架构/阻塞问题） </a:t>
            </a:r>
            <a:endParaRPr sz="2000" dirty="0" smtClean="0">
              <a:solidFill>
                <a:schemeClr val="tx1"/>
              </a:solidFill>
              <a:latin typeface="+mn-ea"/>
              <a:ea typeface="+mn-ea"/>
            </a:endParaRPr>
          </a:p>
        </p:txBody>
      </p:sp>
      <p:sp>
        <p:nvSpPr>
          <p:cNvPr id="28" name="Line 9"/>
          <p:cNvSpPr>
            <a:spLocks noChangeShapeType="1"/>
          </p:cNvSpPr>
          <p:nvPr>
            <p:custDataLst>
              <p:tags r:id="rId16"/>
            </p:custDataLst>
          </p:nvPr>
        </p:nvSpPr>
        <p:spPr bwMode="auto">
          <a:xfrm>
            <a:off x="1636221" y="3461429"/>
            <a:ext cx="2750885" cy="1007541"/>
          </a:xfrm>
          <a:prstGeom prst="line">
            <a:avLst/>
          </a:prstGeom>
          <a:noFill/>
          <a:ln w="11">
            <a:solidFill>
              <a:schemeClr val="accent1"/>
            </a:solidFill>
            <a:prstDash val="dash"/>
            <a:round/>
          </a:ln>
          <a:extLst>
            <a:ext uri="{909E8E84-426E-40DD-AFC4-6F175D3DCCD1}">
              <a14:hiddenFill xmlns:a14="http://schemas.microsoft.com/office/drawing/2010/main">
                <a:noFill/>
              </a14:hiddenFill>
            </a:ext>
          </a:extLst>
        </p:spPr>
        <p:txBody>
          <a:bodyPr/>
          <a:lstStyle/>
          <a:p>
            <a:pPr>
              <a:defRPr/>
            </a:pPr>
            <a:endParaRPr lang="zh-CN" altLang="en-US">
              <a:latin typeface="+mn-ea"/>
              <a:ea typeface="+mn-ea"/>
            </a:endParaRPr>
          </a:p>
        </p:txBody>
      </p:sp>
      <p:grpSp>
        <p:nvGrpSpPr>
          <p:cNvPr id="10" name="组合 9"/>
          <p:cNvGrpSpPr/>
          <p:nvPr/>
        </p:nvGrpSpPr>
        <p:grpSpPr>
          <a:xfrm>
            <a:off x="4130014" y="3964914"/>
            <a:ext cx="1236663" cy="1238250"/>
            <a:chOff x="2222655" y="4252075"/>
            <a:chExt cx="1236663" cy="1238250"/>
          </a:xfrm>
        </p:grpSpPr>
        <p:sp>
          <p:nvSpPr>
            <p:cNvPr id="29" name="Oval 14"/>
            <p:cNvSpPr>
              <a:spLocks noChangeArrowheads="1"/>
            </p:cNvSpPr>
            <p:nvPr>
              <p:custDataLst>
                <p:tags r:id="rId17"/>
              </p:custDataLst>
            </p:nvPr>
          </p:nvSpPr>
          <p:spPr bwMode="auto">
            <a:xfrm>
              <a:off x="2222655" y="4252075"/>
              <a:ext cx="1236663" cy="1238250"/>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30" name="Oval 15"/>
            <p:cNvSpPr>
              <a:spLocks noChangeArrowheads="1"/>
            </p:cNvSpPr>
            <p:nvPr>
              <p:custDataLst>
                <p:tags r:id="rId18"/>
              </p:custDataLst>
            </p:nvPr>
          </p:nvSpPr>
          <p:spPr bwMode="auto">
            <a:xfrm>
              <a:off x="2335368" y="4364788"/>
              <a:ext cx="1011237" cy="1011237"/>
            </a:xfrm>
            <a:prstGeom prst="ellipse">
              <a:avLst/>
            </a:prstGeom>
          </p:spPr>
          <p:style>
            <a:lnRef idx="0">
              <a:schemeClr val="accent1"/>
            </a:lnRef>
            <a:fillRef idx="3">
              <a:schemeClr val="accent1"/>
            </a:fillRef>
            <a:effectRef idx="3">
              <a:schemeClr val="accent1"/>
            </a:effectRef>
            <a:fontRef idx="minor">
              <a:schemeClr val="lt1"/>
            </a:fontRef>
          </p:style>
          <p:txBody>
            <a:bodyPr/>
            <a:lstStyle/>
            <a:p>
              <a:pPr>
                <a:defRPr/>
              </a:pPr>
              <a:endParaRPr lang="zh-CN" altLang="en-US">
                <a:latin typeface="+mn-ea"/>
              </a:endParaRPr>
            </a:p>
          </p:txBody>
        </p:sp>
      </p:grpSp>
      <p:sp>
        <p:nvSpPr>
          <p:cNvPr id="38" name="TextBox 18"/>
          <p:cNvSpPr txBox="1">
            <a:spLocks noChangeArrowheads="1"/>
          </p:cNvSpPr>
          <p:nvPr>
            <p:custDataLst>
              <p:tags r:id="rId19"/>
            </p:custDataLst>
          </p:nvPr>
        </p:nvSpPr>
        <p:spPr bwMode="auto">
          <a:xfrm>
            <a:off x="4239260" y="4295775"/>
            <a:ext cx="101473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dirty="0" smtClean="0">
                <a:solidFill>
                  <a:srgbClr val="F8F8F8"/>
                </a:solidFill>
                <a:latin typeface="+mn-ea"/>
                <a:ea typeface="+mn-ea"/>
              </a:rPr>
              <a:t>日志管理 </a:t>
            </a:r>
            <a:endParaRPr lang="zh-CN" altLang="en-US" b="1" dirty="0" smtClean="0">
              <a:solidFill>
                <a:srgbClr val="F8F8F8"/>
              </a:solidFill>
              <a:latin typeface="+mn-ea"/>
              <a:ea typeface="+mn-ea"/>
            </a:endParaRPr>
          </a:p>
        </p:txBody>
      </p:sp>
      <p:sp>
        <p:nvSpPr>
          <p:cNvPr id="39" name="TextBox 20"/>
          <p:cNvSpPr txBox="1">
            <a:spLocks noChangeArrowheads="1"/>
          </p:cNvSpPr>
          <p:nvPr>
            <p:custDataLst>
              <p:tags r:id="rId20"/>
            </p:custDataLst>
          </p:nvPr>
        </p:nvSpPr>
        <p:spPr bwMode="auto">
          <a:xfrm>
            <a:off x="4343400" y="1147445"/>
            <a:ext cx="564515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dirty="0" smtClean="0">
                <a:solidFill>
                  <a:schemeClr val="tx1"/>
                </a:solidFill>
                <a:latin typeface="微软雅黑" panose="020B0503020204020204" pitchFamily="34" charset="-122"/>
                <a:ea typeface="微软雅黑" panose="020B0503020204020204" pitchFamily="34" charset="-122"/>
                <a:sym typeface="+mn-ea"/>
              </a:rPr>
              <a:t>任务分配和跟踪达成 •  里程碑点准入准出</a:t>
            </a:r>
            <a:endParaRPr lang="zh-CN" altLang="en-US" dirty="0" smtClean="0">
              <a:solidFill>
                <a:schemeClr val="tx1"/>
              </a:solidFill>
              <a:latin typeface="微软雅黑" panose="020B0503020204020204" pitchFamily="34" charset="-122"/>
              <a:ea typeface="微软雅黑" panose="020B0503020204020204" pitchFamily="34" charset="-122"/>
              <a:sym typeface="+mn-ea"/>
            </a:endParaRPr>
          </a:p>
          <a:p>
            <a:pPr eaLnBrk="1" hangingPunct="1"/>
            <a:r>
              <a:rPr lang="zh-CN" altLang="en-US" dirty="0" smtClean="0">
                <a:solidFill>
                  <a:schemeClr val="tx1"/>
                </a:solidFill>
                <a:latin typeface="微软雅黑" panose="020B0503020204020204" pitchFamily="34" charset="-122"/>
                <a:ea typeface="微软雅黑" panose="020B0503020204020204" pitchFamily="34" charset="-122"/>
                <a:sym typeface="+mn-ea"/>
              </a:rPr>
              <a:t> •项目内工作和资源协调</a:t>
            </a:r>
            <a:endParaRPr lang="zh-CN" altLang="en-US" sz="2000" dirty="0" smtClean="0">
              <a:solidFill>
                <a:schemeClr val="tx1"/>
              </a:solidFill>
              <a:latin typeface="微软雅黑" panose="020B0503020204020204" pitchFamily="34" charset="-122"/>
              <a:ea typeface="微软雅黑" panose="020B0503020204020204" pitchFamily="34" charset="-122"/>
              <a:sym typeface="+mn-ea"/>
            </a:endParaRPr>
          </a:p>
        </p:txBody>
      </p:sp>
      <p:grpSp>
        <p:nvGrpSpPr>
          <p:cNvPr id="11" name="组合 10"/>
          <p:cNvGrpSpPr/>
          <p:nvPr/>
        </p:nvGrpSpPr>
        <p:grpSpPr>
          <a:xfrm>
            <a:off x="3150444" y="856043"/>
            <a:ext cx="1236663" cy="1236663"/>
            <a:chOff x="4356100" y="908050"/>
            <a:chExt cx="1236663" cy="1236663"/>
          </a:xfrm>
        </p:grpSpPr>
        <p:sp>
          <p:nvSpPr>
            <p:cNvPr id="54" name="Oval 10"/>
            <p:cNvSpPr>
              <a:spLocks noChangeArrowheads="1"/>
            </p:cNvSpPr>
            <p:nvPr>
              <p:custDataLst>
                <p:tags r:id="rId21"/>
              </p:custDataLst>
            </p:nvPr>
          </p:nvSpPr>
          <p:spPr bwMode="auto">
            <a:xfrm>
              <a:off x="4356100" y="908050"/>
              <a:ext cx="1236663" cy="1236663"/>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55" name="Oval 11"/>
            <p:cNvSpPr>
              <a:spLocks noChangeArrowheads="1"/>
            </p:cNvSpPr>
            <p:nvPr>
              <p:custDataLst>
                <p:tags r:id="rId22"/>
              </p:custDataLst>
            </p:nvPr>
          </p:nvSpPr>
          <p:spPr bwMode="auto">
            <a:xfrm>
              <a:off x="4454525" y="1006475"/>
              <a:ext cx="1011238" cy="1011238"/>
            </a:xfrm>
            <a:prstGeom prst="ellipse">
              <a:avLst/>
            </a:prstGeom>
          </p:spPr>
          <p:style>
            <a:lnRef idx="0">
              <a:schemeClr val="accent1"/>
            </a:lnRef>
            <a:fillRef idx="3">
              <a:schemeClr val="accent1"/>
            </a:fillRef>
            <a:effectRef idx="3">
              <a:schemeClr val="accent1"/>
            </a:effectRef>
            <a:fontRef idx="minor">
              <a:schemeClr val="lt1"/>
            </a:fontRef>
          </p:style>
          <p:txBody>
            <a:bodyPr/>
            <a:lstStyle/>
            <a:p>
              <a:pPr>
                <a:defRPr/>
              </a:pPr>
              <a:endParaRPr lang="zh-CN" altLang="en-US">
                <a:latin typeface="+mn-ea"/>
              </a:endParaRPr>
            </a:p>
          </p:txBody>
        </p:sp>
        <p:sp>
          <p:nvSpPr>
            <p:cNvPr id="64" name="TextBox 18"/>
            <p:cNvSpPr txBox="1">
              <a:spLocks noChangeArrowheads="1"/>
            </p:cNvSpPr>
            <p:nvPr>
              <p:custDataLst>
                <p:tags r:id="rId23"/>
              </p:custDataLst>
            </p:nvPr>
          </p:nvSpPr>
          <p:spPr bwMode="auto">
            <a:xfrm>
              <a:off x="4526637" y="1150134"/>
              <a:ext cx="86836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b="1" dirty="0" smtClean="0">
                  <a:solidFill>
                    <a:srgbClr val="F8F8F8"/>
                  </a:solidFill>
                  <a:latin typeface="+mn-ea"/>
                  <a:ea typeface="+mn-ea"/>
                </a:rPr>
                <a:t>项目推进</a:t>
              </a:r>
              <a:endParaRPr lang="zh-CN" altLang="en-US" b="1" dirty="0" smtClean="0">
                <a:solidFill>
                  <a:srgbClr val="F8F8F8"/>
                </a:solidFill>
                <a:latin typeface="+mn-ea"/>
                <a:ea typeface="+mn-ea"/>
              </a:endParaRPr>
            </a:p>
          </p:txBody>
        </p:sp>
      </p:grpSp>
      <p:sp>
        <p:nvSpPr>
          <p:cNvPr id="66" name="TextBox 20"/>
          <p:cNvSpPr txBox="1">
            <a:spLocks noChangeArrowheads="1"/>
          </p:cNvSpPr>
          <p:nvPr>
            <p:custDataLst>
              <p:tags r:id="rId24"/>
            </p:custDataLst>
          </p:nvPr>
        </p:nvSpPr>
        <p:spPr bwMode="auto">
          <a:xfrm>
            <a:off x="5343034" y="2228473"/>
            <a:ext cx="4608512"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dirty="0" smtClean="0">
                <a:solidFill>
                  <a:schemeClr val="tx1"/>
                </a:solidFill>
                <a:latin typeface="微软雅黑" panose="020B0503020204020204" pitchFamily="34" charset="-122"/>
                <a:ea typeface="微软雅黑" panose="020B0503020204020204" pitchFamily="34" charset="-122"/>
              </a:rPr>
              <a:t>•</a:t>
            </a:r>
            <a:r>
              <a:rPr lang="zh-CN" altLang="en-US" sz="2000" dirty="0" smtClean="0">
                <a:solidFill>
                  <a:schemeClr val="tx1"/>
                </a:solidFill>
                <a:latin typeface="微软雅黑" panose="020B0503020204020204" pitchFamily="34" charset="-122"/>
                <a:ea typeface="微软雅黑" panose="020B0503020204020204" pitchFamily="34" charset="-122"/>
              </a:rPr>
              <a:t> 风险识别、分析、跟踪、记录 </a:t>
            </a:r>
            <a:endParaRPr lang="zh-CN" altLang="en-US" sz="2000" dirty="0" smtClean="0">
              <a:solidFill>
                <a:schemeClr val="tx1"/>
              </a:solidFill>
              <a:latin typeface="微软雅黑" panose="020B0503020204020204" pitchFamily="34" charset="-122"/>
              <a:ea typeface="微软雅黑" panose="020B0503020204020204" pitchFamily="34" charset="-122"/>
            </a:endParaRPr>
          </a:p>
        </p:txBody>
      </p:sp>
      <p:sp>
        <p:nvSpPr>
          <p:cNvPr id="67" name="TextBox 21"/>
          <p:cNvSpPr txBox="1">
            <a:spLocks noChangeArrowheads="1"/>
          </p:cNvSpPr>
          <p:nvPr>
            <p:custDataLst>
              <p:tags r:id="rId25"/>
            </p:custDataLst>
          </p:nvPr>
        </p:nvSpPr>
        <p:spPr bwMode="auto">
          <a:xfrm>
            <a:off x="6316345" y="3172766"/>
            <a:ext cx="5307781"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sz="2000" dirty="0" smtClean="0">
                <a:solidFill>
                  <a:schemeClr val="tx1"/>
                </a:solidFill>
                <a:latin typeface="+mn-ea"/>
                <a:ea typeface="+mn-ea"/>
              </a:rPr>
              <a:t>•</a:t>
            </a:r>
            <a:r>
              <a:rPr lang="zh-CN" altLang="en-US" sz="2000" dirty="0">
                <a:solidFill>
                  <a:schemeClr val="tx1"/>
                </a:solidFill>
                <a:latin typeface="+mn-ea"/>
                <a:ea typeface="+mn-ea"/>
              </a:rPr>
              <a:t>项目周报（进展/问题预警/需要领导关注或推动事项） </a:t>
            </a:r>
            <a:endParaRPr lang="zh-CN" altLang="en-US" sz="2000" dirty="0">
              <a:solidFill>
                <a:schemeClr val="tx1"/>
              </a:solidFill>
              <a:latin typeface="+mn-ea"/>
              <a:ea typeface="+mn-ea"/>
            </a:endParaRPr>
          </a:p>
        </p:txBody>
      </p:sp>
      <p:grpSp>
        <p:nvGrpSpPr>
          <p:cNvPr id="12" name="组合 11"/>
          <p:cNvGrpSpPr/>
          <p:nvPr/>
        </p:nvGrpSpPr>
        <p:grpSpPr>
          <a:xfrm>
            <a:off x="122573" y="2752811"/>
            <a:ext cx="1574800" cy="1574800"/>
            <a:chOff x="396875" y="1060450"/>
            <a:chExt cx="1574800" cy="1574800"/>
          </a:xfrm>
        </p:grpSpPr>
        <p:sp>
          <p:nvSpPr>
            <p:cNvPr id="50" name="Oval 6"/>
            <p:cNvSpPr>
              <a:spLocks noChangeArrowheads="1"/>
            </p:cNvSpPr>
            <p:nvPr>
              <p:custDataLst>
                <p:tags r:id="rId26"/>
              </p:custDataLst>
            </p:nvPr>
          </p:nvSpPr>
          <p:spPr bwMode="auto">
            <a:xfrm>
              <a:off x="396875" y="1060450"/>
              <a:ext cx="1574800" cy="1574800"/>
            </a:xfrm>
            <a:prstGeom prst="ellipse">
              <a:avLst/>
            </a:prstGeom>
            <a:solidFill>
              <a:schemeClr val="bg2"/>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zh-CN" altLang="en-US">
                <a:latin typeface="+mn-ea"/>
                <a:ea typeface="+mn-ea"/>
              </a:endParaRPr>
            </a:p>
          </p:txBody>
        </p:sp>
        <p:sp>
          <p:nvSpPr>
            <p:cNvPr id="60" name="Oval 16"/>
            <p:cNvSpPr>
              <a:spLocks noChangeArrowheads="1"/>
            </p:cNvSpPr>
            <p:nvPr>
              <p:custDataLst>
                <p:tags r:id="rId27"/>
              </p:custDataLst>
            </p:nvPr>
          </p:nvSpPr>
          <p:spPr bwMode="auto">
            <a:xfrm>
              <a:off x="485775" y="1149350"/>
              <a:ext cx="1397000" cy="1397000"/>
            </a:xfrm>
            <a:prstGeom prst="ellipse">
              <a:avLst/>
            </a:prstGeom>
          </p:spPr>
          <p:style>
            <a:lnRef idx="0">
              <a:schemeClr val="accent4"/>
            </a:lnRef>
            <a:fillRef idx="3">
              <a:schemeClr val="accent4"/>
            </a:fillRef>
            <a:effectRef idx="3">
              <a:schemeClr val="accent4"/>
            </a:effectRef>
            <a:fontRef idx="minor">
              <a:schemeClr val="lt1"/>
            </a:fontRef>
          </p:style>
          <p:txBody>
            <a:bodyPr/>
            <a:lstStyle/>
            <a:p>
              <a:pPr algn="ctr">
                <a:defRPr/>
              </a:pPr>
              <a:endParaRPr lang="zh-CN" altLang="en-US">
                <a:latin typeface="+mn-ea"/>
              </a:endParaRPr>
            </a:p>
          </p:txBody>
        </p:sp>
        <p:sp>
          <p:nvSpPr>
            <p:cNvPr id="61" name="TextBox 15"/>
            <p:cNvSpPr txBox="1">
              <a:spLocks noChangeArrowheads="1"/>
            </p:cNvSpPr>
            <p:nvPr>
              <p:custDataLst>
                <p:tags r:id="rId28"/>
              </p:custDataLst>
            </p:nvPr>
          </p:nvSpPr>
          <p:spPr bwMode="auto">
            <a:xfrm>
              <a:off x="652463" y="1530350"/>
              <a:ext cx="103981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000" b="1" dirty="0" smtClean="0">
                  <a:solidFill>
                    <a:srgbClr val="F8F8F8"/>
                  </a:solidFill>
                  <a:latin typeface="+mn-ea"/>
                  <a:ea typeface="+mn-ea"/>
                </a:rPr>
                <a:t>项目日常管理</a:t>
              </a:r>
              <a:endParaRPr lang="zh-CN" altLang="en-US" sz="2000" b="1" dirty="0" smtClean="0">
                <a:solidFill>
                  <a:srgbClr val="F8F8F8"/>
                </a:solidFill>
                <a:latin typeface="+mn-ea"/>
                <a:ea typeface="+mn-ea"/>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wipe(left)">
                                      <p:cBhvr>
                                        <p:cTn id="7" dur="500"/>
                                        <p:tgtEl>
                                          <p:spTgt spid="51"/>
                                        </p:tgtEl>
                                      </p:cBhvr>
                                    </p:animEffect>
                                  </p:childTnLst>
                                </p:cTn>
                              </p:par>
                              <p:par>
                                <p:cTn id="8" presetID="22" presetClass="entr" presetSubtype="8" fill="hold" nodeType="withEffect">
                                  <p:stCondLst>
                                    <p:cond delay="0"/>
                                  </p:stCondLst>
                                  <p:childTnLst>
                                    <p:set>
                                      <p:cBhvr>
                                        <p:cTn id="9" dur="1" fill="hold">
                                          <p:stCondLst>
                                            <p:cond delay="0"/>
                                          </p:stCondLst>
                                        </p:cTn>
                                        <p:tgtEl>
                                          <p:spTgt spid="52"/>
                                        </p:tgtEl>
                                        <p:attrNameLst>
                                          <p:attrName>style.visibility</p:attrName>
                                        </p:attrNameLst>
                                      </p:cBhvr>
                                      <p:to>
                                        <p:strVal val="visible"/>
                                      </p:to>
                                    </p:set>
                                    <p:animEffect transition="in" filter="wipe(left)">
                                      <p:cBhvr>
                                        <p:cTn id="10" dur="500"/>
                                        <p:tgtEl>
                                          <p:spTgt spid="52"/>
                                        </p:tgtEl>
                                      </p:cBhvr>
                                    </p:animEffect>
                                  </p:childTnLst>
                                </p:cTn>
                              </p:par>
                              <p:par>
                                <p:cTn id="11" presetID="22" presetClass="entr" presetSubtype="1" fill="hold"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wipe(up)">
                                      <p:cBhvr>
                                        <p:cTn id="13" dur="500"/>
                                        <p:tgtEl>
                                          <p:spTgt spid="53"/>
                                        </p:tgtEl>
                                      </p:cBhvr>
                                    </p:animEffect>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wipe(left)">
                                      <p:cBhvr>
                                        <p:cTn id="17" dur="500"/>
                                        <p:tgtEl>
                                          <p:spTgt spid="65"/>
                                        </p:tgtEl>
                                      </p:cBhvr>
                                    </p:animEffect>
                                  </p:childTnLst>
                                </p:cTn>
                              </p:par>
                              <p:par>
                                <p:cTn id="18" presetID="22" presetClass="entr" presetSubtype="8" fill="hold" nodeType="withEffect">
                                  <p:stCondLst>
                                    <p:cond delay="0"/>
                                  </p:stCondLst>
                                  <p:childTnLst>
                                    <p:set>
                                      <p:cBhvr>
                                        <p:cTn id="19" dur="1" fill="hold">
                                          <p:stCondLst>
                                            <p:cond delay="0"/>
                                          </p:stCondLst>
                                        </p:cTn>
                                        <p:tgtEl>
                                          <p:spTgt spid="68"/>
                                        </p:tgtEl>
                                        <p:attrNameLst>
                                          <p:attrName>style.visibility</p:attrName>
                                        </p:attrNameLst>
                                      </p:cBhvr>
                                      <p:to>
                                        <p:strVal val="visible"/>
                                      </p:to>
                                    </p:set>
                                    <p:animEffect transition="in" filter="wipe(left)">
                                      <p:cBhvr>
                                        <p:cTn id="20" dur="500"/>
                                        <p:tgtEl>
                                          <p:spTgt spid="68"/>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72"/>
                                        </p:tgtEl>
                                        <p:attrNameLst>
                                          <p:attrName>style.visibility</p:attrName>
                                        </p:attrNameLst>
                                      </p:cBhvr>
                                      <p:to>
                                        <p:strVal val="visible"/>
                                      </p:to>
                                    </p:set>
                                    <p:animEffect transition="in" filter="wipe(left)">
                                      <p:cBhvr>
                                        <p:cTn id="24" dur="500"/>
                                        <p:tgtEl>
                                          <p:spTgt spid="72"/>
                                        </p:tgtEl>
                                      </p:cBhvr>
                                    </p:animEffect>
                                  </p:childTnLst>
                                </p:cTn>
                              </p:par>
                              <p:par>
                                <p:cTn id="25" presetID="22" presetClass="entr" presetSubtype="1" fill="hold" nodeType="with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wipe(up)">
                                      <p:cBhvr>
                                        <p:cTn id="27" dur="500"/>
                                        <p:tgtEl>
                                          <p:spTgt spid="28"/>
                                        </p:tgtEl>
                                      </p:cBhvr>
                                    </p:animEffect>
                                  </p:childTnLst>
                                </p:cTn>
                              </p:par>
                            </p:childTnLst>
                          </p:cTn>
                        </p:par>
                        <p:par>
                          <p:cTn id="28" fill="hold">
                            <p:stCondLst>
                              <p:cond delay="1500"/>
                            </p:stCondLst>
                            <p:childTnLst>
                              <p:par>
                                <p:cTn id="29" presetID="22" presetClass="entr" presetSubtype="8" fill="hold" grpId="0" nodeType="after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wipe(left)">
                                      <p:cBhvr>
                                        <p:cTn id="31" dur="500"/>
                                        <p:tgtEl>
                                          <p:spTgt spid="39"/>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66"/>
                                        </p:tgtEl>
                                        <p:attrNameLst>
                                          <p:attrName>style.visibility</p:attrName>
                                        </p:attrNameLst>
                                      </p:cBhvr>
                                      <p:to>
                                        <p:strVal val="visible"/>
                                      </p:to>
                                    </p:set>
                                    <p:animEffect transition="in" filter="wipe(left)">
                                      <p:cBhvr>
                                        <p:cTn id="35" dur="500"/>
                                        <p:tgtEl>
                                          <p:spTgt spid="66"/>
                                        </p:tgtEl>
                                      </p:cBhvr>
                                    </p:animEffect>
                                  </p:childTnLst>
                                </p:cTn>
                              </p:par>
                            </p:childTnLst>
                          </p:cTn>
                        </p:par>
                        <p:par>
                          <p:cTn id="36" fill="hold">
                            <p:stCondLst>
                              <p:cond delay="2500"/>
                            </p:stCondLst>
                            <p:childTnLst>
                              <p:par>
                                <p:cTn id="37" presetID="22" presetClass="entr" presetSubtype="8" fill="hold" grpId="0" nodeType="afterEffect">
                                  <p:stCondLst>
                                    <p:cond delay="0"/>
                                  </p:stCondLst>
                                  <p:childTnLst>
                                    <p:set>
                                      <p:cBhvr>
                                        <p:cTn id="38" dur="1" fill="hold">
                                          <p:stCondLst>
                                            <p:cond delay="0"/>
                                          </p:stCondLst>
                                        </p:cTn>
                                        <p:tgtEl>
                                          <p:spTgt spid="67"/>
                                        </p:tgtEl>
                                        <p:attrNameLst>
                                          <p:attrName>style.visibility</p:attrName>
                                        </p:attrNameLst>
                                      </p:cBhvr>
                                      <p:to>
                                        <p:strVal val="visible"/>
                                      </p:to>
                                    </p:set>
                                    <p:animEffect transition="in" filter="wipe(left)">
                                      <p:cBhvr>
                                        <p:cTn id="3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utoUpdateAnimBg="0"/>
      <p:bldP spid="72" grpId="0" autoUpdateAnimBg="0"/>
      <p:bldP spid="39" grpId="0" autoUpdateAnimBg="0"/>
      <p:bldP spid="66" grpId="0" autoUpdateAnimBg="0"/>
      <p:bldP spid="67"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周跟踪</a:t>
            </a:r>
            <a:endParaRPr lang="zh-CN" altLang="en-US" dirty="0">
              <a:solidFill>
                <a:srgbClr val="FF0000"/>
              </a:solidFill>
            </a:endParaRPr>
          </a:p>
        </p:txBody>
      </p:sp>
      <p:graphicFrame>
        <p:nvGraphicFramePr>
          <p:cNvPr id="8" name="表格 7"/>
          <p:cNvGraphicFramePr>
            <a:graphicFrameLocks noGrp="1"/>
          </p:cNvGraphicFramePr>
          <p:nvPr>
            <p:custDataLst>
              <p:tags r:id="rId1"/>
            </p:custDataLst>
          </p:nvPr>
        </p:nvGraphicFramePr>
        <p:xfrm>
          <a:off x="1492040" y="4143659"/>
          <a:ext cx="8174473" cy="1865133"/>
        </p:xfrm>
        <a:graphic>
          <a:graphicData uri="http://schemas.openxmlformats.org/drawingml/2006/table">
            <a:tbl>
              <a:tblPr/>
              <a:tblGrid>
                <a:gridCol w="1132443"/>
                <a:gridCol w="3471736"/>
                <a:gridCol w="1756428"/>
                <a:gridCol w="1813866"/>
              </a:tblGrid>
              <a:tr h="330400">
                <a:tc>
                  <a:txBody>
                    <a:bodyPr/>
                    <a:lstStyle/>
                    <a:p>
                      <a:pPr algn="ctr">
                        <a:lnSpc>
                          <a:spcPts val="1600"/>
                        </a:lnSpc>
                        <a:spcAft>
                          <a:spcPts val="0"/>
                        </a:spcAft>
                      </a:pPr>
                      <a:r>
                        <a:rPr lang="zh-CN" sz="1600" b="1" kern="100" dirty="0">
                          <a:latin typeface="微软雅黑" panose="020B0503020204020204" pitchFamily="34" charset="-122"/>
                          <a:ea typeface="微软雅黑" panose="020B0503020204020204" pitchFamily="34" charset="-122"/>
                        </a:rPr>
                        <a:t>角色</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3B3B3"/>
                    </a:solidFill>
                  </a:tcPr>
                </a:tc>
                <a:tc>
                  <a:txBody>
                    <a:bodyPr/>
                    <a:lstStyle/>
                    <a:p>
                      <a:pPr algn="ctr">
                        <a:lnSpc>
                          <a:spcPts val="1600"/>
                        </a:lnSpc>
                        <a:spcAft>
                          <a:spcPts val="0"/>
                        </a:spcAft>
                      </a:pPr>
                      <a:r>
                        <a:rPr lang="zh-CN" sz="1600" b="1" kern="100" dirty="0">
                          <a:latin typeface="微软雅黑" panose="020B0503020204020204" pitchFamily="34" charset="-122"/>
                          <a:ea typeface="微软雅黑" panose="020B0503020204020204" pitchFamily="34" charset="-122"/>
                        </a:rPr>
                        <a:t>任务</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3B3B3"/>
                    </a:solidFill>
                  </a:tcPr>
                </a:tc>
                <a:tc>
                  <a:txBody>
                    <a:bodyPr/>
                    <a:lstStyle/>
                    <a:p>
                      <a:pPr algn="ctr">
                        <a:lnSpc>
                          <a:spcPts val="1600"/>
                        </a:lnSpc>
                        <a:spcAft>
                          <a:spcPts val="0"/>
                        </a:spcAft>
                      </a:pPr>
                      <a:r>
                        <a:rPr lang="zh-CN" sz="1600" b="1" kern="100">
                          <a:latin typeface="微软雅黑" panose="020B0503020204020204" pitchFamily="34" charset="-122"/>
                          <a:ea typeface="微软雅黑" panose="020B0503020204020204" pitchFamily="34" charset="-122"/>
                        </a:rPr>
                        <a:t>输出</a:t>
                      </a:r>
                      <a:endParaRPr lang="zh-CN" sz="1600" kern="10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3B3B3"/>
                    </a:solidFill>
                  </a:tcPr>
                </a:tc>
                <a:tc>
                  <a:txBody>
                    <a:bodyPr/>
                    <a:lstStyle/>
                    <a:p>
                      <a:pPr algn="ctr">
                        <a:lnSpc>
                          <a:spcPts val="1600"/>
                        </a:lnSpc>
                        <a:spcAft>
                          <a:spcPts val="0"/>
                        </a:spcAft>
                      </a:pPr>
                      <a:r>
                        <a:rPr lang="zh-CN" sz="1600" b="1" kern="100">
                          <a:latin typeface="微软雅黑" panose="020B0503020204020204" pitchFamily="34" charset="-122"/>
                          <a:ea typeface="微软雅黑" panose="020B0503020204020204" pitchFamily="34" charset="-122"/>
                        </a:rPr>
                        <a:t>汇报对象</a:t>
                      </a:r>
                      <a:endParaRPr lang="zh-CN" sz="1600" kern="10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3B3B3"/>
                    </a:solidFill>
                  </a:tcPr>
                </a:tc>
              </a:tr>
              <a:tr h="1058252">
                <a:tc>
                  <a:txBody>
                    <a:bodyPr/>
                    <a:lstStyle/>
                    <a:p>
                      <a:pPr algn="ctr">
                        <a:lnSpc>
                          <a:spcPts val="2000"/>
                        </a:lnSpc>
                        <a:spcAft>
                          <a:spcPts val="0"/>
                        </a:spcAft>
                      </a:pPr>
                      <a:r>
                        <a:rPr lang="zh-CN" sz="1600" kern="100" dirty="0">
                          <a:latin typeface="微软雅黑" panose="020B0503020204020204" pitchFamily="34" charset="-122"/>
                          <a:ea typeface="微软雅黑" panose="020B0503020204020204" pitchFamily="34" charset="-122"/>
                        </a:rPr>
                        <a:t>项目经理</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ts val="2000"/>
                        </a:lnSpc>
                        <a:spcAft>
                          <a:spcPts val="0"/>
                        </a:spcAft>
                      </a:pPr>
                      <a:r>
                        <a:rPr lang="zh-CN" sz="1600" kern="100" dirty="0">
                          <a:latin typeface="微软雅黑" panose="020B0503020204020204" pitchFamily="34" charset="-122"/>
                          <a:ea typeface="微软雅黑" panose="020B0503020204020204" pitchFamily="34" charset="-122"/>
                        </a:rPr>
                        <a:t>进行周跟踪（工作量、进度</a:t>
                      </a:r>
                      <a:r>
                        <a:rPr lang="zh-CN" sz="1600" kern="100" dirty="0" smtClean="0">
                          <a:latin typeface="微软雅黑" panose="020B0503020204020204" pitchFamily="34" charset="-122"/>
                          <a:ea typeface="微软雅黑" panose="020B0503020204020204" pitchFamily="34" charset="-122"/>
                        </a:rPr>
                        <a:t>、</a:t>
                      </a:r>
                      <a:r>
                        <a:rPr lang="zh-CN" altLang="en-US" sz="1600" kern="100" dirty="0" smtClean="0">
                          <a:latin typeface="微软雅黑" panose="020B0503020204020204" pitchFamily="34" charset="-122"/>
                          <a:ea typeface="微软雅黑" panose="020B0503020204020204" pitchFamily="34" charset="-122"/>
                        </a:rPr>
                        <a:t>工作量</a:t>
                      </a:r>
                      <a:r>
                        <a:rPr lang="zh-CN" sz="1600" kern="100" dirty="0" smtClean="0">
                          <a:latin typeface="微软雅黑" panose="020B0503020204020204" pitchFamily="34" charset="-122"/>
                          <a:ea typeface="微软雅黑" panose="020B0503020204020204" pitchFamily="34" charset="-122"/>
                        </a:rPr>
                        <a:t>、</a:t>
                      </a:r>
                      <a:r>
                        <a:rPr lang="zh-CN" sz="1600" kern="100" dirty="0">
                          <a:latin typeface="微软雅黑" panose="020B0503020204020204" pitchFamily="34" charset="-122"/>
                          <a:ea typeface="微软雅黑" panose="020B0503020204020204" pitchFamily="34" charset="-122"/>
                        </a:rPr>
                        <a:t>问题）</a:t>
                      </a:r>
                      <a:endParaRPr lang="zh-CN" sz="1600" kern="100" dirty="0">
                        <a:latin typeface="微软雅黑" panose="020B0503020204020204" pitchFamily="34" charset="-122"/>
                        <a:ea typeface="微软雅黑" panose="020B0503020204020204" pitchFamily="34" charset="-122"/>
                      </a:endParaRPr>
                    </a:p>
                    <a:p>
                      <a:pPr algn="l">
                        <a:lnSpc>
                          <a:spcPts val="2000"/>
                        </a:lnSpc>
                        <a:spcAft>
                          <a:spcPts val="0"/>
                        </a:spcAft>
                      </a:pPr>
                      <a:r>
                        <a:rPr lang="zh-CN" sz="1600" kern="100" dirty="0">
                          <a:latin typeface="微软雅黑" panose="020B0503020204020204" pitchFamily="34" charset="-122"/>
                          <a:ea typeface="微软雅黑" panose="020B0503020204020204" pitchFamily="34" charset="-122"/>
                        </a:rPr>
                        <a:t>参与周例会</a:t>
                      </a:r>
                      <a:endParaRPr lang="zh-CN" sz="1600" kern="100" dirty="0">
                        <a:latin typeface="微软雅黑" panose="020B0503020204020204" pitchFamily="34" charset="-122"/>
                        <a:ea typeface="微软雅黑" panose="020B0503020204020204" pitchFamily="34" charset="-122"/>
                      </a:endParaRPr>
                    </a:p>
                    <a:p>
                      <a:pPr algn="l">
                        <a:lnSpc>
                          <a:spcPts val="2000"/>
                        </a:lnSpc>
                        <a:spcAft>
                          <a:spcPts val="0"/>
                        </a:spcAft>
                      </a:pPr>
                      <a:r>
                        <a:rPr lang="zh-CN" sz="1600" kern="100" dirty="0">
                          <a:latin typeface="微软雅黑" panose="020B0503020204020204" pitchFamily="34" charset="-122"/>
                          <a:ea typeface="微软雅黑" panose="020B0503020204020204" pitchFamily="34" charset="-122"/>
                        </a:rPr>
                        <a:t>编写《项目周报》</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600" kern="100" dirty="0" smtClean="0">
                          <a:latin typeface="微软雅黑" panose="020B0503020204020204" pitchFamily="34" charset="-122"/>
                          <a:ea typeface="微软雅黑" panose="020B0503020204020204" pitchFamily="34" charset="-122"/>
                        </a:rPr>
                        <a:t>《项目周报》</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altLang="en-US" sz="1600" kern="100" dirty="0" smtClean="0">
                          <a:latin typeface="微软雅黑" panose="020B0503020204020204" pitchFamily="34" charset="-122"/>
                          <a:ea typeface="微软雅黑" panose="020B0503020204020204" pitchFamily="34" charset="-122"/>
                        </a:rPr>
                        <a:t>项目组、领导</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76481">
                <a:tc>
                  <a:txBody>
                    <a:bodyPr/>
                    <a:lstStyle/>
                    <a:p>
                      <a:pPr algn="ctr">
                        <a:lnSpc>
                          <a:spcPts val="2000"/>
                        </a:lnSpc>
                        <a:spcAft>
                          <a:spcPts val="0"/>
                        </a:spcAft>
                      </a:pPr>
                      <a:r>
                        <a:rPr lang="en-US" sz="1600" kern="100" dirty="0">
                          <a:latin typeface="微软雅黑" panose="020B0503020204020204" pitchFamily="34" charset="-122"/>
                          <a:ea typeface="微软雅黑" panose="020B0503020204020204" pitchFamily="34" charset="-122"/>
                        </a:rPr>
                        <a:t>QA</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600" kern="100" dirty="0">
                          <a:latin typeface="微软雅黑" panose="020B0503020204020204" pitchFamily="34" charset="-122"/>
                          <a:ea typeface="微软雅黑" panose="020B0503020204020204" pitchFamily="34" charset="-122"/>
                        </a:rPr>
                        <a:t>进行周跟踪（阶段、进度、问题）</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000"/>
                        </a:lnSpc>
                        <a:spcAft>
                          <a:spcPts val="0"/>
                        </a:spcAft>
                      </a:pPr>
                      <a:r>
                        <a:rPr lang="zh-CN" sz="1600" kern="100" dirty="0" smtClean="0">
                          <a:latin typeface="微软雅黑" panose="020B0503020204020204" pitchFamily="34" charset="-122"/>
                          <a:ea typeface="微软雅黑" panose="020B0503020204020204" pitchFamily="34" charset="-122"/>
                        </a:rPr>
                        <a:t>《项目</a:t>
                      </a:r>
                      <a:r>
                        <a:rPr lang="zh-CN" altLang="en-US" sz="1600" kern="100" dirty="0" smtClean="0">
                          <a:latin typeface="微软雅黑" panose="020B0503020204020204" pitchFamily="34" charset="-122"/>
                          <a:ea typeface="微软雅黑" panose="020B0503020204020204" pitchFamily="34" charset="-122"/>
                        </a:rPr>
                        <a:t>进度表</a:t>
                      </a:r>
                      <a:r>
                        <a:rPr lang="zh-CN" sz="1600" kern="100" dirty="0" smtClean="0">
                          <a:latin typeface="微软雅黑" panose="020B0503020204020204" pitchFamily="34" charset="-122"/>
                          <a:ea typeface="微软雅黑" panose="020B0503020204020204" pitchFamily="34" charset="-122"/>
                        </a:rPr>
                        <a:t>》</a:t>
                      </a:r>
                      <a:endParaRPr lang="zh-CN" sz="1600" kern="100" dirty="0">
                        <a:latin typeface="微软雅黑" panose="020B0503020204020204" pitchFamily="34" charset="-122"/>
                        <a:ea typeface="微软雅黑" panose="020B0503020204020204" pitchFamily="34" charset="-122"/>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725170" rtl="0" eaLnBrk="1" latinLnBrk="0" hangingPunct="1">
                        <a:lnSpc>
                          <a:spcPts val="2000"/>
                        </a:lnSpc>
                        <a:spcAft>
                          <a:spcPts val="0"/>
                        </a:spcAft>
                      </a:pPr>
                      <a:r>
                        <a:rPr lang="zh-CN" altLang="en-US" sz="1600" kern="100" dirty="0" smtClean="0">
                          <a:solidFill>
                            <a:schemeClr val="tx1"/>
                          </a:solidFill>
                          <a:latin typeface="微软雅黑" panose="020B0503020204020204" pitchFamily="34" charset="-122"/>
                          <a:ea typeface="微软雅黑" panose="020B0503020204020204" pitchFamily="34" charset="-122"/>
                          <a:cs typeface="+mn-cs"/>
                        </a:rPr>
                        <a:t>项目组、领导</a:t>
                      </a:r>
                      <a:endParaRPr lang="zh-CN" sz="1600" kern="100" dirty="0">
                        <a:solidFill>
                          <a:schemeClr val="tx1"/>
                        </a:solidFill>
                        <a:latin typeface="微软雅黑" panose="020B0503020204020204" pitchFamily="34" charset="-122"/>
                        <a:ea typeface="微软雅黑" panose="020B0503020204020204" pitchFamily="34" charset="-122"/>
                        <a:cs typeface="+mn-cs"/>
                      </a:endParaRPr>
                    </a:p>
                  </a:txBody>
                  <a:tcPr marL="68583" marR="6858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pSp>
        <p:nvGrpSpPr>
          <p:cNvPr id="9" name="组合 29"/>
          <p:cNvGrpSpPr/>
          <p:nvPr/>
        </p:nvGrpSpPr>
        <p:grpSpPr bwMode="auto">
          <a:xfrm>
            <a:off x="3715856" y="1227241"/>
            <a:ext cx="6184265" cy="2759075"/>
            <a:chOff x="3500430" y="2335405"/>
            <a:chExt cx="5572164" cy="2758875"/>
          </a:xfrm>
        </p:grpSpPr>
        <p:sp>
          <p:nvSpPr>
            <p:cNvPr id="10" name="AutoShape 33"/>
            <p:cNvSpPr>
              <a:spLocks noChangeArrowheads="1"/>
            </p:cNvSpPr>
            <p:nvPr/>
          </p:nvSpPr>
          <p:spPr bwMode="auto">
            <a:xfrm>
              <a:off x="3500430" y="2505860"/>
              <a:ext cx="5572164" cy="2588420"/>
            </a:xfrm>
            <a:prstGeom prst="roundRect">
              <a:avLst>
                <a:gd name="adj" fmla="val 4690"/>
              </a:avLst>
            </a:prstGeom>
            <a:noFill/>
            <a:ln w="57150">
              <a:solidFill>
                <a:schemeClr val="folHlink"/>
              </a:solidFill>
              <a:round/>
            </a:ln>
          </p:spPr>
          <p:txBody>
            <a:bodyPr wrap="none" anchor="ctr"/>
            <a:lstStyle/>
            <a:p>
              <a:endParaRPr lang="zh-CN" altLang="en-US"/>
            </a:p>
          </p:txBody>
        </p:sp>
        <p:sp>
          <p:nvSpPr>
            <p:cNvPr id="11" name="AutoShape 34"/>
            <p:cNvSpPr>
              <a:spLocks noChangeArrowheads="1"/>
            </p:cNvSpPr>
            <p:nvPr/>
          </p:nvSpPr>
          <p:spPr bwMode="gray">
            <a:xfrm>
              <a:off x="4571999" y="2357628"/>
              <a:ext cx="3479824" cy="285729"/>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w="9525">
              <a:noFill/>
              <a:round/>
            </a:ln>
            <a:effectLst/>
          </p:spPr>
          <p:txBody>
            <a:bodyPr wrap="none" anchor="ctr"/>
            <a:lstStyle/>
            <a:p>
              <a:pPr>
                <a:defRPr/>
              </a:pPr>
              <a:endParaRPr lang="zh-CN" altLang="en-US"/>
            </a:p>
          </p:txBody>
        </p:sp>
        <p:sp>
          <p:nvSpPr>
            <p:cNvPr id="12" name="AutoShape 35"/>
            <p:cNvSpPr>
              <a:spLocks noChangeArrowheads="1"/>
            </p:cNvSpPr>
            <p:nvPr/>
          </p:nvSpPr>
          <p:spPr bwMode="auto">
            <a:xfrm flipH="1">
              <a:off x="7367566" y="2447270"/>
              <a:ext cx="133392" cy="118484"/>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13" name="AutoShape 36"/>
            <p:cNvSpPr>
              <a:spLocks noChangeArrowheads="1"/>
            </p:cNvSpPr>
            <p:nvPr/>
          </p:nvSpPr>
          <p:spPr bwMode="auto">
            <a:xfrm flipH="1">
              <a:off x="5103812" y="2447270"/>
              <a:ext cx="136354" cy="118484"/>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14" name="Text Box 37"/>
            <p:cNvSpPr txBox="1">
              <a:spLocks noChangeArrowheads="1"/>
            </p:cNvSpPr>
            <p:nvPr/>
          </p:nvSpPr>
          <p:spPr bwMode="gray">
            <a:xfrm>
              <a:off x="5265648" y="2335405"/>
              <a:ext cx="2020996" cy="307755"/>
            </a:xfrm>
            <a:prstGeom prst="rect">
              <a:avLst/>
            </a:prstGeom>
            <a:noFill/>
            <a:ln w="9525" algn="ctr">
              <a:noFill/>
              <a:miter lim="800000"/>
            </a:ln>
          </p:spPr>
          <p:txBody>
            <a:bodyPr>
              <a:spAutoFit/>
            </a:bodyPr>
            <a:lstStyle/>
            <a:p>
              <a:pPr algn="ctr" eaLnBrk="0" hangingPunct="0"/>
              <a:r>
                <a:rPr lang="zh-CN" altLang="en-US" sz="1400">
                  <a:solidFill>
                    <a:schemeClr val="bg1"/>
                  </a:solidFill>
                </a:rPr>
                <a:t>周跟踪步骤</a:t>
              </a:r>
              <a:endParaRPr lang="zh-CN" altLang="en-US" sz="1400">
                <a:solidFill>
                  <a:schemeClr val="bg1"/>
                </a:solidFill>
              </a:endParaRPr>
            </a:p>
          </p:txBody>
        </p:sp>
      </p:grpSp>
      <p:sp>
        <p:nvSpPr>
          <p:cNvPr id="15" name="Text Box 38"/>
          <p:cNvSpPr txBox="1">
            <a:spLocks noChangeArrowheads="1"/>
          </p:cNvSpPr>
          <p:nvPr/>
        </p:nvSpPr>
        <p:spPr bwMode="auto">
          <a:xfrm>
            <a:off x="5088368" y="2022757"/>
            <a:ext cx="3984834" cy="606320"/>
          </a:xfrm>
          <a:prstGeom prst="rect">
            <a:avLst/>
          </a:prstGeom>
          <a:noFill/>
          <a:ln w="9525" algn="ctr">
            <a:noFill/>
            <a:miter lim="800000"/>
          </a:ln>
        </p:spPr>
        <p:txBody>
          <a:bodyPr>
            <a:spAutoFit/>
          </a:bodyPr>
          <a:lstStyle/>
          <a:p>
            <a:pPr marL="0" lvl="1" eaLnBrk="0" hangingPunct="0">
              <a:tabLst>
                <a:tab pos="533400" algn="l"/>
              </a:tabLst>
            </a:pPr>
            <a:endParaRPr lang="en-US" altLang="zh-CN" sz="1400">
              <a:latin typeface="微软雅黑" panose="020B0503020204020204" pitchFamily="34" charset="-122"/>
              <a:cs typeface="Times New Roman" panose="02020603050405020304" pitchFamily="18" charset="0"/>
            </a:endParaRPr>
          </a:p>
          <a:p>
            <a:pPr eaLnBrk="0" hangingPunct="0">
              <a:tabLst>
                <a:tab pos="533400" algn="l"/>
              </a:tabLst>
            </a:pPr>
            <a:endParaRPr lang="zh-CN" altLang="en-US">
              <a:solidFill>
                <a:srgbClr val="000000"/>
              </a:solidFill>
            </a:endParaRPr>
          </a:p>
        </p:txBody>
      </p:sp>
      <p:grpSp>
        <p:nvGrpSpPr>
          <p:cNvPr id="16" name="Group 32"/>
          <p:cNvGrpSpPr/>
          <p:nvPr/>
        </p:nvGrpSpPr>
        <p:grpSpPr bwMode="auto">
          <a:xfrm>
            <a:off x="1174537" y="1249604"/>
            <a:ext cx="2295645" cy="2736993"/>
            <a:chOff x="576" y="1828"/>
            <a:chExt cx="1446" cy="2102"/>
          </a:xfrm>
        </p:grpSpPr>
        <p:sp>
          <p:nvSpPr>
            <p:cNvPr id="17" name="AutoShape 33"/>
            <p:cNvSpPr>
              <a:spLocks noChangeArrowheads="1"/>
            </p:cNvSpPr>
            <p:nvPr/>
          </p:nvSpPr>
          <p:spPr bwMode="auto">
            <a:xfrm>
              <a:off x="576" y="1942"/>
              <a:ext cx="1446" cy="1988"/>
            </a:xfrm>
            <a:prstGeom prst="roundRect">
              <a:avLst>
                <a:gd name="adj" fmla="val 4690"/>
              </a:avLst>
            </a:prstGeom>
            <a:noFill/>
            <a:ln w="57150">
              <a:solidFill>
                <a:schemeClr val="folHlink"/>
              </a:solidFill>
              <a:round/>
            </a:ln>
          </p:spPr>
          <p:txBody>
            <a:bodyPr wrap="none" anchor="ctr"/>
            <a:lstStyle/>
            <a:p>
              <a:endParaRPr lang="zh-CN" altLang="en-US"/>
            </a:p>
          </p:txBody>
        </p:sp>
        <p:sp>
          <p:nvSpPr>
            <p:cNvPr id="18" name="AutoShape 34"/>
            <p:cNvSpPr>
              <a:spLocks noChangeArrowheads="1"/>
            </p:cNvSpPr>
            <p:nvPr/>
          </p:nvSpPr>
          <p:spPr bwMode="gray">
            <a:xfrm>
              <a:off x="712" y="1852"/>
              <a:ext cx="1174" cy="178"/>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w="9525">
              <a:noFill/>
              <a:round/>
            </a:ln>
            <a:effectLst/>
          </p:spPr>
          <p:txBody>
            <a:bodyPr wrap="none" anchor="ctr"/>
            <a:lstStyle/>
            <a:p>
              <a:pPr>
                <a:defRPr/>
              </a:pPr>
              <a:endParaRPr lang="zh-CN" altLang="en-US"/>
            </a:p>
          </p:txBody>
        </p:sp>
        <p:sp>
          <p:nvSpPr>
            <p:cNvPr id="19" name="AutoShape 35"/>
            <p:cNvSpPr>
              <a:spLocks noChangeArrowheads="1"/>
            </p:cNvSpPr>
            <p:nvPr/>
          </p:nvSpPr>
          <p:spPr bwMode="auto">
            <a:xfrm flipH="1">
              <a:off x="1773" y="1897"/>
              <a:ext cx="45" cy="91"/>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20" name="AutoShape 36"/>
            <p:cNvSpPr>
              <a:spLocks noChangeArrowheads="1"/>
            </p:cNvSpPr>
            <p:nvPr/>
          </p:nvSpPr>
          <p:spPr bwMode="auto">
            <a:xfrm flipH="1">
              <a:off x="776" y="1897"/>
              <a:ext cx="46" cy="91"/>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21" name="Text Box 37"/>
            <p:cNvSpPr txBox="1">
              <a:spLocks noChangeArrowheads="1"/>
            </p:cNvSpPr>
            <p:nvPr/>
          </p:nvSpPr>
          <p:spPr bwMode="gray">
            <a:xfrm>
              <a:off x="1012" y="1828"/>
              <a:ext cx="682" cy="236"/>
            </a:xfrm>
            <a:prstGeom prst="rect">
              <a:avLst/>
            </a:prstGeom>
            <a:noFill/>
            <a:ln w="9525" algn="ctr">
              <a:noFill/>
              <a:miter lim="800000"/>
            </a:ln>
          </p:spPr>
          <p:txBody>
            <a:bodyPr wrap="none">
              <a:spAutoFit/>
            </a:bodyPr>
            <a:lstStyle/>
            <a:p>
              <a:pPr eaLnBrk="0" hangingPunct="0"/>
              <a:r>
                <a:rPr lang="zh-CN" altLang="en-US" sz="1400" dirty="0">
                  <a:solidFill>
                    <a:schemeClr val="bg1"/>
                  </a:solidFill>
                </a:rPr>
                <a:t>周跟踪内容</a:t>
              </a:r>
              <a:endParaRPr lang="zh-CN" altLang="en-US" sz="1400" dirty="0">
                <a:solidFill>
                  <a:schemeClr val="bg1"/>
                </a:solidFill>
              </a:endParaRPr>
            </a:p>
          </p:txBody>
        </p:sp>
        <p:sp>
          <p:nvSpPr>
            <p:cNvPr id="22" name="Text Box 38"/>
            <p:cNvSpPr txBox="1">
              <a:spLocks noChangeArrowheads="1"/>
            </p:cNvSpPr>
            <p:nvPr/>
          </p:nvSpPr>
          <p:spPr bwMode="auto">
            <a:xfrm>
              <a:off x="627" y="2152"/>
              <a:ext cx="1344" cy="1310"/>
            </a:xfrm>
            <a:prstGeom prst="rect">
              <a:avLst/>
            </a:prstGeom>
            <a:noFill/>
            <a:ln w="9525" algn="ctr">
              <a:noFill/>
              <a:miter lim="800000"/>
            </a:ln>
          </p:spPr>
          <p:txBody>
            <a:bodyPr>
              <a:spAutoFit/>
            </a:bodyPr>
            <a:lstStyle/>
            <a:p>
              <a:pPr marL="0" lvl="1" indent="284480" eaLnBrk="0" hangingPunct="0">
                <a:lnSpc>
                  <a:spcPct val="150000"/>
                </a:lnSpc>
                <a:buFont typeface="Wingdings" panose="05000000000000000000" pitchFamily="2" charset="2"/>
                <a:buChar char="Ø"/>
                <a:tabLst>
                  <a:tab pos="533400" algn="l"/>
                </a:tabLst>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进度</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284480" eaLnBrk="0" hangingPunct="0">
                <a:lnSpc>
                  <a:spcPct val="150000"/>
                </a:lnSpc>
                <a:buFont typeface="Wingdings" panose="05000000000000000000" pitchFamily="2" charset="2"/>
                <a:buChar char="Ø"/>
                <a:tabLst>
                  <a:tab pos="533400" algn="l"/>
                </a:tabLst>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工作量</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284480" eaLnBrk="0" hangingPunct="0">
                <a:lnSpc>
                  <a:spcPct val="150000"/>
                </a:lnSpc>
                <a:buFont typeface="Wingdings" panose="05000000000000000000" pitchFamily="2" charset="2"/>
                <a:buChar char="Ø"/>
                <a:tabLst>
                  <a:tab pos="533400" algn="l"/>
                </a:tabLst>
              </a:pP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问题及解决情况</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a:p>
              <a:pPr marL="0" lvl="1" indent="284480" eaLnBrk="0" hangingPunct="0">
                <a:lnSpc>
                  <a:spcPct val="150000"/>
                </a:lnSpc>
                <a:buFont typeface="Wingdings" panose="05000000000000000000" pitchFamily="2" charset="2"/>
                <a:buChar char="Ø"/>
                <a:tabLst>
                  <a:tab pos="533400" algn="l"/>
                </a:tabLst>
              </a:pP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风险</a:t>
              </a:r>
              <a:endParaRPr lang="en-US" altLang="zh-CN" sz="18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23" name="矩形 27"/>
          <p:cNvSpPr>
            <a:spLocks noChangeArrowheads="1"/>
          </p:cNvSpPr>
          <p:nvPr/>
        </p:nvSpPr>
        <p:spPr bwMode="auto">
          <a:xfrm>
            <a:off x="3715856" y="1671480"/>
            <a:ext cx="6118860" cy="1753235"/>
          </a:xfrm>
          <a:prstGeom prst="rect">
            <a:avLst/>
          </a:prstGeom>
          <a:noFill/>
          <a:ln w="9525">
            <a:noFill/>
            <a:miter lim="800000"/>
          </a:ln>
        </p:spPr>
        <p:txBody>
          <a:bodyPr wrap="square">
            <a:spAutoFit/>
          </a:bodyPr>
          <a:lstStyle/>
          <a:p>
            <a:pPr marL="284480" indent="-284480" eaLnBrk="0" hangingPunct="0">
              <a:lnSpc>
                <a:spcPct val="150000"/>
              </a:lnSpc>
              <a:buFont typeface="Wingdings" panose="05000000000000000000" pitchFamily="2" charset="2"/>
              <a:buChar char="Ø"/>
              <a:tabLst>
                <a:tab pos="533400" algn="l"/>
              </a:tabLst>
            </a:pP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以</a:t>
            </a:r>
            <a:r>
              <a:rPr lang="zh-CN" altLang="en-US" sz="18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基准计划和</a:t>
            </a:r>
            <a:r>
              <a:rPr lang="en-US" altLang="zh-CN" sz="18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WBS</a:t>
            </a:r>
            <a:r>
              <a:rPr lang="zh-CN" altLang="en-US" sz="18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为基准</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跟踪偏差率、总结进展及问题、安排项目计划等，保证全员了解项目的实际进展，问题</a:t>
            </a:r>
            <a:r>
              <a:rPr lang="zh-CN" altLang="en-US" sz="1800" smtClean="0">
                <a:latin typeface="微软雅黑" panose="020B0503020204020204" pitchFamily="34" charset="-122"/>
                <a:ea typeface="微软雅黑" panose="020B0503020204020204" pitchFamily="34" charset="-122"/>
                <a:cs typeface="Times New Roman" panose="02020603050405020304" pitchFamily="18" charset="0"/>
              </a:rPr>
              <a:t>及时登记、</a:t>
            </a:r>
            <a:r>
              <a:rPr lang="zh-CN" altLang="en-US" sz="180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跟踪协调解决</a:t>
            </a:r>
            <a:r>
              <a:rPr lang="zh-CN" altLang="en-US" sz="1800" smtClean="0">
                <a:latin typeface="微软雅黑" panose="020B0503020204020204" pitchFamily="34" charset="-122"/>
                <a:ea typeface="微软雅黑" panose="020B0503020204020204" pitchFamily="34" charset="-122"/>
                <a:cs typeface="Times New Roman" panose="02020603050405020304" pitchFamily="18" charset="0"/>
              </a:rPr>
              <a:t>并</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更新状态；</a:t>
            </a:r>
            <a:endParaRPr lang="en-US" altLang="zh-CN" sz="1800"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284480" indent="-284480" eaLnBrk="0" hangingPunct="0">
              <a:lnSpc>
                <a:spcPct val="150000"/>
              </a:lnSpc>
              <a:buFont typeface="Wingdings" panose="05000000000000000000" pitchFamily="2" charset="2"/>
              <a:buChar char="Ø"/>
              <a:tabLst>
                <a:tab pos="533400" algn="l"/>
              </a:tabLst>
            </a:pP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输出</a:t>
            </a:r>
            <a:r>
              <a:rPr lang="en-US" altLang="zh-CN"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项目周报</a:t>
            </a:r>
            <a:r>
              <a:rPr lang="en-US" altLang="zh-CN"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问题跟踪表</a:t>
            </a:r>
            <a:r>
              <a:rPr lang="en-US" altLang="zh-CN"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，并定期通报。</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4" name="AutoShape 33"/>
          <p:cNvSpPr>
            <a:spLocks noChangeArrowheads="1"/>
          </p:cNvSpPr>
          <p:nvPr/>
        </p:nvSpPr>
        <p:spPr bwMode="auto">
          <a:xfrm>
            <a:off x="1174585" y="4157131"/>
            <a:ext cx="8725535" cy="1851660"/>
          </a:xfrm>
          <a:prstGeom prst="roundRect">
            <a:avLst>
              <a:gd name="adj" fmla="val 4690"/>
            </a:avLst>
          </a:prstGeom>
          <a:noFill/>
          <a:ln w="57150">
            <a:solidFill>
              <a:schemeClr val="folHlink"/>
            </a:solidFill>
            <a:round/>
          </a:ln>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周跟踪</a:t>
            </a:r>
            <a:endParaRPr lang="zh-CN" altLang="en-US" dirty="0">
              <a:solidFill>
                <a:srgbClr val="FF0000"/>
              </a:solidFill>
            </a:endParaRPr>
          </a:p>
        </p:txBody>
      </p:sp>
      <p:sp>
        <p:nvSpPr>
          <p:cNvPr id="27" name="Text Box 38"/>
          <p:cNvSpPr txBox="1">
            <a:spLocks noChangeArrowheads="1"/>
          </p:cNvSpPr>
          <p:nvPr/>
        </p:nvSpPr>
        <p:spPr bwMode="auto">
          <a:xfrm>
            <a:off x="5392698" y="2156402"/>
            <a:ext cx="3984834" cy="606320"/>
          </a:xfrm>
          <a:prstGeom prst="rect">
            <a:avLst/>
          </a:prstGeom>
          <a:noFill/>
          <a:ln w="9525" algn="ctr">
            <a:noFill/>
            <a:miter lim="800000"/>
          </a:ln>
        </p:spPr>
        <p:txBody>
          <a:bodyPr>
            <a:spAutoFit/>
          </a:bodyPr>
          <a:lstStyle/>
          <a:p>
            <a:pPr marL="0" lvl="1" eaLnBrk="0" hangingPunct="0">
              <a:tabLst>
                <a:tab pos="533400" algn="l"/>
              </a:tabLst>
            </a:pPr>
            <a:endParaRPr lang="en-US" altLang="zh-CN" sz="1400">
              <a:latin typeface="微软雅黑" panose="020B0503020204020204" pitchFamily="34" charset="-122"/>
              <a:cs typeface="Times New Roman" panose="02020603050405020304" pitchFamily="18" charset="0"/>
            </a:endParaRPr>
          </a:p>
          <a:p>
            <a:pPr eaLnBrk="0" hangingPunct="0">
              <a:tabLst>
                <a:tab pos="533400" algn="l"/>
              </a:tabLst>
            </a:pPr>
            <a:endParaRPr lang="zh-CN" altLang="en-US">
              <a:solidFill>
                <a:srgbClr val="000000"/>
              </a:solidFill>
            </a:endParaRPr>
          </a:p>
        </p:txBody>
      </p:sp>
      <p:sp>
        <p:nvSpPr>
          <p:cNvPr id="28" name="文本框 27"/>
          <p:cNvSpPr txBox="1"/>
          <p:nvPr/>
        </p:nvSpPr>
        <p:spPr>
          <a:xfrm>
            <a:off x="358775" y="860425"/>
            <a:ext cx="8532495" cy="4661535"/>
          </a:xfrm>
          <a:prstGeom prst="rect">
            <a:avLst/>
          </a:prstGeom>
          <a:noFill/>
        </p:spPr>
        <p:txBody>
          <a:bodyPr wrap="square" rtlCol="0">
            <a:spAutoFit/>
          </a:bodyPr>
          <a:lstStyle/>
          <a:p>
            <a:pPr marL="1270">
              <a:lnSpc>
                <a:spcPct val="150000"/>
              </a:lnSpc>
            </a:pPr>
            <a:r>
              <a:rPr lang="zh-CN" altLang="en-US" sz="1800" dirty="0">
                <a:latin typeface="+mn-ea"/>
                <a:cs typeface="黑体" panose="02010609060101010101" pitchFamily="49" charset="-122"/>
              </a:rPr>
              <a:t>《项目周报》管理要求</a:t>
            </a:r>
            <a:endParaRPr lang="zh-CN" altLang="en-US" sz="1800" dirty="0">
              <a:latin typeface="+mn-ea"/>
              <a:cs typeface="黑体" panose="02010609060101010101" pitchFamily="49" charset="-122"/>
            </a:endParaRPr>
          </a:p>
          <a:p>
            <a:pPr marL="284480" indent="-284480">
              <a:lnSpc>
                <a:spcPct val="150000"/>
              </a:lnSpc>
              <a:buFont typeface="Wingdings" panose="05000000000000000000" charset="0"/>
              <a:buChar char="Ø"/>
            </a:pPr>
            <a:r>
              <a:rPr lang="zh-CN" altLang="en-US" sz="1800" b="1" dirty="0">
                <a:latin typeface="+mn-ea"/>
                <a:cs typeface="黑体" panose="02010609060101010101" pitchFamily="49" charset="-122"/>
              </a:rPr>
              <a:t>任务安排要求：</a:t>
            </a:r>
            <a:endParaRPr lang="zh-CN" altLang="en-US" sz="1800" b="1" dirty="0">
              <a:latin typeface="+mn-ea"/>
              <a:cs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a:latin typeface="+mn-ea"/>
                <a:cs typeface="黑体" panose="02010609060101010101" pitchFamily="49" charset="-122"/>
              </a:rPr>
              <a:t>任务内容明确，责任人明确；</a:t>
            </a:r>
            <a:endParaRPr lang="zh-CN" altLang="en-US" sz="1800" dirty="0">
              <a:latin typeface="+mn-ea"/>
              <a:cs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a:latin typeface="+mn-ea"/>
                <a:cs typeface="黑体" panose="02010609060101010101" pitchFamily="49" charset="-122"/>
              </a:rPr>
              <a:t>有明确的开始和完成时间；</a:t>
            </a:r>
            <a:endParaRPr lang="zh-CN" altLang="en-US" sz="1800" dirty="0">
              <a:latin typeface="+mn-ea"/>
              <a:cs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a:latin typeface="+mn-ea"/>
                <a:cs typeface="黑体" panose="02010609060101010101" pitchFamily="49" charset="-122"/>
                <a:sym typeface="+mn-ea"/>
              </a:rPr>
              <a:t>周任务完成情况为可跟踪、可验证；</a:t>
            </a:r>
            <a:endParaRPr lang="zh-CN" altLang="en-US" sz="1800" dirty="0">
              <a:latin typeface="+mn-ea"/>
              <a:cs typeface="黑体" panose="02010609060101010101" pitchFamily="49" charset="-122"/>
            </a:endParaRPr>
          </a:p>
          <a:p>
            <a:pPr marL="285750" indent="-285750">
              <a:lnSpc>
                <a:spcPct val="150000"/>
              </a:lnSpc>
              <a:buFont typeface="Arial" panose="020B0604020202020204" pitchFamily="34" charset="0"/>
              <a:buChar char="•"/>
            </a:pPr>
            <a:endParaRPr lang="zh-CN" altLang="en-US" sz="1800" dirty="0">
              <a:latin typeface="+mn-ea"/>
              <a:cs typeface="黑体" panose="02010609060101010101" pitchFamily="49" charset="-122"/>
            </a:endParaRPr>
          </a:p>
          <a:p>
            <a:pPr marL="285750" indent="-285750">
              <a:lnSpc>
                <a:spcPct val="150000"/>
              </a:lnSpc>
              <a:buFont typeface="Wingdings" panose="05000000000000000000" charset="0"/>
              <a:buChar char="Ø"/>
            </a:pPr>
            <a:r>
              <a:rPr lang="zh-CN" altLang="en-US" sz="1800" b="1" dirty="0">
                <a:latin typeface="+mn-ea"/>
                <a:cs typeface="黑体" panose="02010609060101010101" pitchFamily="49" charset="-122"/>
              </a:rPr>
              <a:t>跟踪要求:</a:t>
            </a:r>
            <a:endParaRPr lang="en-US" altLang="zh-CN" sz="1800" b="1" dirty="0">
              <a:latin typeface="+mn-ea"/>
              <a:cs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a:latin typeface="+mn-ea"/>
                <a:cs typeface="黑体" panose="02010609060101010101" pitchFamily="49" charset="-122"/>
              </a:rPr>
              <a:t>经过周例会评审后的周计划安排，应由项目经理</a:t>
            </a:r>
            <a:r>
              <a:rPr lang="zh-CN" altLang="en-US" sz="1800" b="1" dirty="0">
                <a:solidFill>
                  <a:srgbClr val="FF0000"/>
                </a:solidFill>
                <a:latin typeface="+mn-ea"/>
                <a:cs typeface="黑体" panose="02010609060101010101" pitchFamily="49" charset="-122"/>
              </a:rPr>
              <a:t>公示在项目群中</a:t>
            </a:r>
            <a:r>
              <a:rPr lang="zh-CN" altLang="en-US" sz="1800" dirty="0">
                <a:latin typeface="+mn-ea"/>
                <a:cs typeface="黑体" panose="02010609060101010101" pitchFamily="49" charset="-122"/>
              </a:rPr>
              <a:t>；</a:t>
            </a:r>
            <a:endParaRPr lang="zh-CN" altLang="en-US" sz="1800" dirty="0">
              <a:latin typeface="+mn-ea"/>
              <a:cs typeface="黑体" panose="02010609060101010101" pitchFamily="49" charset="-122"/>
            </a:endParaRPr>
          </a:p>
          <a:p>
            <a:pPr marL="285750" indent="-285750">
              <a:lnSpc>
                <a:spcPct val="150000"/>
              </a:lnSpc>
              <a:buFont typeface="Arial" panose="020B0604020202020204" pitchFamily="34" charset="0"/>
              <a:buChar char="•"/>
            </a:pPr>
            <a:r>
              <a:rPr lang="zh-CN" altLang="en-US" sz="1800" dirty="0">
                <a:latin typeface="+mn-ea"/>
                <a:cs typeface="黑体" panose="02010609060101010101" pitchFamily="49" charset="-122"/>
              </a:rPr>
              <a:t>各项目组员每天</a:t>
            </a:r>
            <a:r>
              <a:rPr lang="zh-CN" altLang="en-US" sz="1800">
                <a:latin typeface="+mn-ea"/>
                <a:cs typeface="黑体" panose="02010609060101010101" pitchFamily="49" charset="-122"/>
              </a:rPr>
              <a:t>下班</a:t>
            </a:r>
            <a:r>
              <a:rPr lang="zh-CN" altLang="en-US" sz="1800" smtClean="0">
                <a:latin typeface="+mn-ea"/>
                <a:cs typeface="黑体" panose="02010609060101010101" pitchFamily="49" charset="-122"/>
              </a:rPr>
              <a:t>前（硬件每周五下班前）在</a:t>
            </a:r>
            <a:r>
              <a:rPr lang="zh-CN" altLang="en-US" sz="1800" dirty="0">
                <a:latin typeface="+mn-ea"/>
                <a:cs typeface="黑体" panose="02010609060101010101" pitchFamily="49" charset="-122"/>
              </a:rPr>
              <a:t>《项目周报》中更新个人进展及需要协调的问题，对延期状态的任务要写明延期措施，项目经理定期检查规范及成果，例会前进行最终</a:t>
            </a:r>
            <a:r>
              <a:rPr lang="zh-CN" altLang="en-US" sz="1800">
                <a:latin typeface="+mn-ea"/>
                <a:cs typeface="黑体" panose="02010609060101010101" pitchFamily="49" charset="-122"/>
              </a:rPr>
              <a:t>汇总</a:t>
            </a:r>
            <a:r>
              <a:rPr lang="zh-CN" altLang="en-US" sz="1800" smtClean="0">
                <a:latin typeface="+mn-ea"/>
                <a:cs typeface="黑体" panose="02010609060101010101" pitchFamily="49" charset="-122"/>
              </a:rPr>
              <a:t>；</a:t>
            </a:r>
            <a:endParaRPr lang="zh-CN" altLang="en-US" sz="1800" dirty="0">
              <a:latin typeface="+mn-ea"/>
              <a:cs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8">
                                            <p:txEl>
                                              <p:pRg st="6" end="6"/>
                                            </p:txEl>
                                          </p:spTgt>
                                        </p:tgtEl>
                                        <p:attrNameLst>
                                          <p:attrName>style.visibility</p:attrName>
                                        </p:attrNameLst>
                                      </p:cBhvr>
                                      <p:to>
                                        <p:strVal val="visible"/>
                                      </p:to>
                                    </p:set>
                                    <p:anim calcmode="lin" valueType="num">
                                      <p:cBhvr additive="base">
                                        <p:cTn id="19" dur="500" fill="hold"/>
                                        <p:tgtEl>
                                          <p:spTgt spid="28">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8">
                                            <p:txEl>
                                              <p:pRg st="7" end="7"/>
                                            </p:txEl>
                                          </p:spTgt>
                                        </p:tgtEl>
                                        <p:attrNameLst>
                                          <p:attrName>style.visibility</p:attrName>
                                        </p:attrNameLst>
                                      </p:cBhvr>
                                      <p:to>
                                        <p:strVal val="visible"/>
                                      </p:to>
                                    </p:set>
                                    <p:anim calcmode="lin" valueType="num">
                                      <p:cBhvr additive="base">
                                        <p:cTn id="23" dur="500" fill="hold"/>
                                        <p:tgtEl>
                                          <p:spTgt spid="28">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8">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8">
                                            <p:txEl>
                                              <p:pRg st="8" end="8"/>
                                            </p:txEl>
                                          </p:spTgt>
                                        </p:tgtEl>
                                        <p:attrNameLst>
                                          <p:attrName>style.visibility</p:attrName>
                                        </p:attrNameLst>
                                      </p:cBhvr>
                                      <p:to>
                                        <p:strVal val="visible"/>
                                      </p:to>
                                    </p:set>
                                    <p:anim calcmode="lin" valueType="num">
                                      <p:cBhvr additive="base">
                                        <p:cTn id="27" dur="500" fill="hold"/>
                                        <p:tgtEl>
                                          <p:spTgt spid="28">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周计划达成率</a:t>
            </a:r>
            <a:endParaRPr lang="zh-CN" altLang="en-US" dirty="0">
              <a:solidFill>
                <a:srgbClr val="FF0000"/>
              </a:solidFill>
            </a:endParaRPr>
          </a:p>
        </p:txBody>
      </p:sp>
      <p:sp>
        <p:nvSpPr>
          <p:cNvPr id="27" name="Text Box 38"/>
          <p:cNvSpPr txBox="1">
            <a:spLocks noChangeArrowheads="1"/>
          </p:cNvSpPr>
          <p:nvPr/>
        </p:nvSpPr>
        <p:spPr bwMode="auto">
          <a:xfrm>
            <a:off x="5392698" y="2156402"/>
            <a:ext cx="3984834" cy="606320"/>
          </a:xfrm>
          <a:prstGeom prst="rect">
            <a:avLst/>
          </a:prstGeom>
          <a:noFill/>
          <a:ln w="9525" algn="ctr">
            <a:noFill/>
            <a:miter lim="800000"/>
          </a:ln>
        </p:spPr>
        <p:txBody>
          <a:bodyPr>
            <a:spAutoFit/>
          </a:bodyPr>
          <a:lstStyle/>
          <a:p>
            <a:pPr marL="0" lvl="1" eaLnBrk="0" hangingPunct="0">
              <a:tabLst>
                <a:tab pos="533400" algn="l"/>
              </a:tabLst>
            </a:pPr>
            <a:endParaRPr lang="en-US" altLang="zh-CN" sz="1400">
              <a:latin typeface="微软雅黑" panose="020B0503020204020204" pitchFamily="34" charset="-122"/>
              <a:cs typeface="Times New Roman" panose="02020603050405020304" pitchFamily="18" charset="0"/>
            </a:endParaRPr>
          </a:p>
          <a:p>
            <a:pPr eaLnBrk="0" hangingPunct="0">
              <a:tabLst>
                <a:tab pos="533400" algn="l"/>
              </a:tabLst>
            </a:pPr>
            <a:endParaRPr lang="zh-CN" altLang="en-US">
              <a:solidFill>
                <a:srgbClr val="000000"/>
              </a:solidFill>
            </a:endParaRPr>
          </a:p>
        </p:txBody>
      </p:sp>
      <p:sp>
        <p:nvSpPr>
          <p:cNvPr id="28" name="文本框 27"/>
          <p:cNvSpPr txBox="1"/>
          <p:nvPr/>
        </p:nvSpPr>
        <p:spPr>
          <a:xfrm>
            <a:off x="384810" y="890270"/>
            <a:ext cx="11545570" cy="7909560"/>
          </a:xfrm>
          <a:prstGeom prst="rect">
            <a:avLst/>
          </a:prstGeom>
          <a:noFill/>
        </p:spPr>
        <p:txBody>
          <a:bodyPr wrap="square" rtlCol="0">
            <a:noAutofit/>
          </a:bodyPr>
          <a:lstStyle/>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1.【项目月度计划】重点月度工作罗列，每周对标月度目标情况，如存在偏差要及时调整追赶。</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2.【完成进度说明】如存在额外完成的任务，在此列补充 额外：完成XXXXX</a:t>
            </a:r>
            <a:r>
              <a:rPr lang="zh-CN" sz="1400" dirty="0">
                <a:solidFill>
                  <a:schemeClr val="tx1"/>
                </a:solidFill>
                <a:highlight>
                  <a:srgbClr val="000000">
                    <a:alpha val="0"/>
                  </a:srgbClr>
                </a:highlight>
                <a:latin typeface="+mn-ea"/>
                <a:cs typeface="黑体" panose="02010609060101010101" pitchFamily="49" charset="-122"/>
              </a:rPr>
              <a:t>。</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3.【未完成情况说明】如未完成，项目组员需对未完成任务进行说明</a:t>
            </a:r>
            <a:r>
              <a:rPr lang="zh-CN" sz="1400" dirty="0">
                <a:solidFill>
                  <a:schemeClr val="tx1"/>
                </a:solidFill>
                <a:highlight>
                  <a:srgbClr val="000000">
                    <a:alpha val="0"/>
                  </a:srgbClr>
                </a:highlight>
                <a:latin typeface="+mn-ea"/>
                <a:cs typeface="黑体" panose="02010609060101010101" pitchFamily="49" charset="-122"/>
              </a:rPr>
              <a:t>。</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4.【综合评估完成度】</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①PM根据人员的实际任务情况客观进行完成度评价，如周任务完成，且额外完成其他任务，完成度可超过100%。</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②综合完成度原则由PM评价，如与组员自评有较大偏差可沟通说明后，进行调整</a:t>
            </a:r>
            <a:r>
              <a:rPr lang="zh-CN" sz="1400" dirty="0">
                <a:solidFill>
                  <a:schemeClr val="tx1"/>
                </a:solidFill>
                <a:highlight>
                  <a:srgbClr val="000000">
                    <a:alpha val="0"/>
                  </a:srgbClr>
                </a:highlight>
                <a:latin typeface="+mn-ea"/>
                <a:cs typeface="黑体" panose="02010609060101010101" pitchFamily="49" charset="-122"/>
              </a:rPr>
              <a:t>。</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③针对PM评估的个人完成度，高级经理、分管领导评估存在偏差，可说明理由后进行校准</a:t>
            </a:r>
            <a:r>
              <a:rPr lang="zh-CN" sz="1400" dirty="0">
                <a:solidFill>
                  <a:schemeClr val="tx1"/>
                </a:solidFill>
                <a:highlight>
                  <a:srgbClr val="000000">
                    <a:alpha val="0"/>
                  </a:srgbClr>
                </a:highlight>
                <a:latin typeface="+mn-ea"/>
                <a:cs typeface="黑体" panose="02010609060101010101" pitchFamily="49" charset="-122"/>
              </a:rPr>
              <a:t>。</a:t>
            </a:r>
            <a:endParaRPr sz="1400" dirty="0">
              <a:solidFill>
                <a:schemeClr val="tx1"/>
              </a:solidFill>
              <a:highlight>
                <a:srgbClr val="000000">
                  <a:alpha val="0"/>
                </a:srgbClr>
              </a:highlight>
              <a:latin typeface="+mn-ea"/>
              <a:cs typeface="黑体" panose="02010609060101010101" pitchFamily="49" charset="-122"/>
            </a:endParaRPr>
          </a:p>
          <a:p>
            <a:pPr indent="0">
              <a:lnSpc>
                <a:spcPct val="150000"/>
              </a:lnSpc>
              <a:buNone/>
            </a:pPr>
            <a:r>
              <a:rPr sz="1400" dirty="0">
                <a:solidFill>
                  <a:schemeClr val="tx1"/>
                </a:solidFill>
                <a:highlight>
                  <a:srgbClr val="000000">
                    <a:alpha val="0"/>
                  </a:srgbClr>
                </a:highlight>
                <a:latin typeface="+mn-ea"/>
                <a:cs typeface="黑体" panose="02010609060101010101" pitchFamily="49" charset="-122"/>
              </a:rPr>
              <a:t>5.【项目整体周完成度】根据项目整体周完成情况，PM评估，高级经理和分管领导确认。</a:t>
            </a:r>
            <a:endParaRPr sz="1400" dirty="0">
              <a:solidFill>
                <a:schemeClr val="tx1"/>
              </a:solidFill>
              <a:highlight>
                <a:srgbClr val="000000">
                  <a:alpha val="0"/>
                </a:srgbClr>
              </a:highlight>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经每周例会评审确认的工作安排，</a:t>
            </a:r>
            <a:r>
              <a:rPr sz="1400" b="1" dirty="0">
                <a:solidFill>
                  <a:srgbClr val="FF0000"/>
                </a:solidFill>
                <a:latin typeface="+mn-ea"/>
                <a:cs typeface="黑体" panose="02010609060101010101" pitchFamily="49" charset="-122"/>
              </a:rPr>
              <a:t>原则上所有人员都应按时、全面完成</a:t>
            </a:r>
            <a:r>
              <a:rPr sz="1400" dirty="0">
                <a:solidFill>
                  <a:schemeClr val="tx1"/>
                </a:solidFill>
                <a:latin typeface="+mn-ea"/>
                <a:cs typeface="黑体" panose="02010609060101010101" pitchFamily="49" charset="-122"/>
              </a:rPr>
              <a:t>。</a:t>
            </a:r>
            <a:endParaRPr sz="1400" dirty="0">
              <a:solidFill>
                <a:schemeClr val="tx1"/>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周计划工作安排应分条清晰、明确地阐述，若为</a:t>
            </a:r>
            <a:r>
              <a:rPr sz="1400" b="1" dirty="0">
                <a:solidFill>
                  <a:schemeClr val="tx1"/>
                </a:solidFill>
                <a:latin typeface="+mn-ea"/>
                <a:cs typeface="黑体" panose="02010609060101010101" pitchFamily="49" charset="-122"/>
              </a:rPr>
              <a:t>无法在一周内完成的长线工作，每周需明确工作完成比例</a:t>
            </a:r>
            <a:r>
              <a:rPr sz="1400" dirty="0">
                <a:solidFill>
                  <a:schemeClr val="tx1"/>
                </a:solidFill>
                <a:latin typeface="+mn-ea"/>
                <a:cs typeface="黑体" panose="02010609060101010101" pitchFamily="49" charset="-122"/>
              </a:rPr>
              <a:t>，严禁使用模糊表述。</a:t>
            </a:r>
            <a:endParaRPr sz="1400" dirty="0">
              <a:solidFill>
                <a:schemeClr val="tx1"/>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每周前置工作完成后，要</a:t>
            </a:r>
            <a:r>
              <a:rPr sz="1400" b="1" dirty="0">
                <a:solidFill>
                  <a:srgbClr val="FF0000"/>
                </a:solidFill>
                <a:latin typeface="+mn-ea"/>
                <a:cs typeface="黑体" panose="02010609060101010101" pitchFamily="49" charset="-122"/>
              </a:rPr>
              <a:t>为后置工作预留足够的时间</a:t>
            </a:r>
            <a:r>
              <a:rPr sz="1400" dirty="0">
                <a:solidFill>
                  <a:schemeClr val="tx1"/>
                </a:solidFill>
                <a:latin typeface="+mn-ea"/>
                <a:cs typeface="黑体" panose="02010609060101010101" pitchFamily="49" charset="-122"/>
              </a:rPr>
              <a:t>，预留时间应多于计划完成时间，否则若影响到后置工作的完成，将对前置工作完成率</a:t>
            </a:r>
            <a:r>
              <a:rPr lang="zh-CN" sz="1400" dirty="0">
                <a:solidFill>
                  <a:schemeClr val="tx1"/>
                </a:solidFill>
                <a:latin typeface="+mn-ea"/>
                <a:cs typeface="黑体" panose="02010609060101010101" pitchFamily="49" charset="-122"/>
              </a:rPr>
              <a:t>。</a:t>
            </a:r>
            <a:r>
              <a:rPr sz="1400" dirty="0">
                <a:solidFill>
                  <a:schemeClr val="tx1"/>
                </a:solidFill>
                <a:latin typeface="+mn-ea"/>
                <a:cs typeface="黑体" panose="02010609060101010101" pitchFamily="49" charset="-122"/>
              </a:rPr>
              <a:t>进行折算。例如，后置工作预计需要 8H，但前置工作在周五下班时才完成，影响了后置工作的推进，此时需要对前置工作完成度进行折算。</a:t>
            </a:r>
            <a:endParaRPr sz="1400" dirty="0">
              <a:solidFill>
                <a:schemeClr val="tx1"/>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周计划工作完成时间应</a:t>
            </a:r>
            <a:r>
              <a:rPr sz="1400" b="1" dirty="0">
                <a:solidFill>
                  <a:schemeClr val="tx1"/>
                </a:solidFill>
                <a:latin typeface="+mn-ea"/>
                <a:cs typeface="黑体" panose="02010609060101010101" pitchFamily="49" charset="-122"/>
              </a:rPr>
              <a:t>尽量精确到具体某一天</a:t>
            </a:r>
            <a:r>
              <a:rPr sz="1400" dirty="0">
                <a:solidFill>
                  <a:schemeClr val="tx1"/>
                </a:solidFill>
                <a:latin typeface="+mn-ea"/>
                <a:cs typeface="黑体" panose="02010609060101010101" pitchFamily="49" charset="-122"/>
              </a:rPr>
              <a:t>，不可使用模糊的“本周完成”这种表述</a:t>
            </a:r>
            <a:r>
              <a:rPr lang="zh-CN" sz="1400" dirty="0">
                <a:solidFill>
                  <a:schemeClr val="tx1"/>
                </a:solidFill>
                <a:latin typeface="+mn-ea"/>
                <a:cs typeface="黑体" panose="02010609060101010101" pitchFamily="49" charset="-122"/>
              </a:rPr>
              <a:t>。</a:t>
            </a:r>
            <a:endParaRPr sz="1400" dirty="0">
              <a:solidFill>
                <a:schemeClr val="tx1"/>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每条工作的完成情况应进一步细化，分别为:</a:t>
            </a:r>
            <a:r>
              <a:rPr sz="1400" b="1" dirty="0">
                <a:solidFill>
                  <a:srgbClr val="FF0000"/>
                </a:solidFill>
                <a:latin typeface="+mn-ea"/>
                <a:cs typeface="黑体" panose="02010609060101010101" pitchFamily="49" charset="-122"/>
              </a:rPr>
              <a:t>提前完成、按时完成、延期完成、未完成</a:t>
            </a:r>
            <a:r>
              <a:rPr lang="zh-CN" sz="1400" b="1" dirty="0">
                <a:solidFill>
                  <a:srgbClr val="FF0000"/>
                </a:solidFill>
                <a:latin typeface="+mn-ea"/>
                <a:cs typeface="黑体" panose="02010609060101010101" pitchFamily="49" charset="-122"/>
              </a:rPr>
              <a:t>。</a:t>
            </a:r>
            <a:endParaRPr sz="1400" b="1" dirty="0">
              <a:solidFill>
                <a:srgbClr val="FF0000"/>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项目经理在</a:t>
            </a:r>
            <a:r>
              <a:rPr sz="1400" b="1" dirty="0">
                <a:solidFill>
                  <a:schemeClr val="tx1"/>
                </a:solidFill>
                <a:latin typeface="+mn-ea"/>
                <a:cs typeface="黑体" panose="02010609060101010101" pitchFamily="49" charset="-122"/>
              </a:rPr>
              <a:t>每周中和周尾要主动跟踪周计划工作进度</a:t>
            </a:r>
            <a:r>
              <a:rPr sz="1400" dirty="0">
                <a:solidFill>
                  <a:schemeClr val="tx1"/>
                </a:solidFill>
                <a:latin typeface="+mn-ea"/>
                <a:cs typeface="黑体" panose="02010609060101010101" pitchFamily="49" charset="-122"/>
              </a:rPr>
              <a:t>，确保对工作情况了如指掌。</a:t>
            </a:r>
            <a:endParaRPr sz="1400" dirty="0">
              <a:solidFill>
                <a:schemeClr val="tx1"/>
              </a:solidFill>
              <a:latin typeface="+mn-ea"/>
              <a:cs typeface="黑体" panose="02010609060101010101" pitchFamily="49" charset="-122"/>
            </a:endParaRPr>
          </a:p>
          <a:p>
            <a:pPr marL="342900" indent="-342900">
              <a:lnSpc>
                <a:spcPct val="150000"/>
              </a:lnSpc>
              <a:buFont typeface="+mj-lt"/>
              <a:buAutoNum type="arabicPeriod" startAt="6"/>
            </a:pPr>
            <a:r>
              <a:rPr sz="1400" dirty="0">
                <a:solidFill>
                  <a:schemeClr val="tx1"/>
                </a:solidFill>
                <a:latin typeface="+mn-ea"/>
                <a:cs typeface="黑体" panose="02010609060101010101" pitchFamily="49" charset="-122"/>
              </a:rPr>
              <a:t>针对重点项目，建议项目组员在每周中或者周尾</a:t>
            </a:r>
            <a:r>
              <a:rPr sz="1400" b="1" dirty="0">
                <a:solidFill>
                  <a:schemeClr val="tx1"/>
                </a:solidFill>
                <a:latin typeface="+mn-ea"/>
                <a:cs typeface="黑体" panose="02010609060101010101" pitchFamily="49" charset="-122"/>
              </a:rPr>
              <a:t>在项目群中汇报本周工作进度</a:t>
            </a:r>
            <a:r>
              <a:rPr sz="1400" dirty="0">
                <a:solidFill>
                  <a:schemeClr val="tx1"/>
                </a:solidFill>
                <a:latin typeface="+mn-ea"/>
                <a:cs typeface="黑体" panose="02010609060101010101" pitchFamily="49" charset="-122"/>
              </a:rPr>
              <a:t>。</a:t>
            </a:r>
            <a:endParaRPr sz="1400" dirty="0">
              <a:solidFill>
                <a:schemeClr val="tx1"/>
              </a:solidFill>
              <a:latin typeface="+mn-ea"/>
              <a:cs typeface="黑体" panose="02010609060101010101" pitchFamily="49" charset="-122"/>
            </a:endParaRPr>
          </a:p>
        </p:txBody>
      </p:sp>
      <p:pic>
        <p:nvPicPr>
          <p:cNvPr id="2" name="图片 1"/>
          <p:cNvPicPr>
            <a:picLocks noChangeAspect="1"/>
          </p:cNvPicPr>
          <p:nvPr>
            <p:custDataLst>
              <p:tags r:id="rId1"/>
            </p:custDataLst>
          </p:nvPr>
        </p:nvPicPr>
        <p:blipFill>
          <a:blip r:embed="rId2"/>
          <a:stretch>
            <a:fillRect/>
          </a:stretch>
        </p:blipFill>
        <p:spPr>
          <a:xfrm>
            <a:off x="7218680" y="1167765"/>
            <a:ext cx="4711700" cy="233108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8">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8">
                                            <p:txEl>
                                              <p:pRg st="13" end="13"/>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8">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周跟踪</a:t>
            </a:r>
            <a:endParaRPr lang="zh-CN" altLang="en-US" dirty="0">
              <a:solidFill>
                <a:srgbClr val="FF0000"/>
              </a:solidFill>
            </a:endParaRPr>
          </a:p>
        </p:txBody>
      </p:sp>
      <p:sp>
        <p:nvSpPr>
          <p:cNvPr id="9" name="矩形 9"/>
          <p:cNvSpPr>
            <a:spLocks noChangeArrowheads="1"/>
          </p:cNvSpPr>
          <p:nvPr/>
        </p:nvSpPr>
        <p:spPr bwMode="auto">
          <a:xfrm>
            <a:off x="384175" y="897890"/>
            <a:ext cx="9981565" cy="5662295"/>
          </a:xfrm>
          <a:prstGeom prst="rect">
            <a:avLst/>
          </a:prstGeom>
          <a:noFill/>
          <a:ln w="9525">
            <a:noFill/>
            <a:miter lim="800000"/>
          </a:ln>
        </p:spPr>
        <p:txBody>
          <a:bodyPr wrap="square">
            <a:spAutoFit/>
          </a:bodyPr>
          <a:lstStyle/>
          <a:p>
            <a:r>
              <a:rPr lang="zh-CN" altLang="zh-CN" sz="2000" dirty="0">
                <a:solidFill>
                  <a:srgbClr val="FF0000"/>
                </a:solidFill>
                <a:latin typeface="微软雅黑" panose="020B0503020204020204" pitchFamily="34" charset="-122"/>
                <a:ea typeface="微软雅黑" panose="020B0503020204020204" pitchFamily="34" charset="-122"/>
              </a:rPr>
              <a:t>周例会建议进程安排</a:t>
            </a:r>
            <a:r>
              <a:rPr lang="zh-CN" altLang="zh-CN" sz="2000" dirty="0">
                <a:latin typeface="微软雅黑" panose="020B0503020204020204" pitchFamily="34" charset="-122"/>
                <a:ea typeface="微软雅黑" panose="020B0503020204020204" pitchFamily="34" charset="-122"/>
              </a:rPr>
              <a:t>：</a:t>
            </a:r>
            <a:endParaRPr lang="zh-CN" altLang="zh-CN" sz="2000" dirty="0">
              <a:latin typeface="微软雅黑" panose="020B0503020204020204" pitchFamily="34" charset="-122"/>
              <a:ea typeface="微软雅黑" panose="020B0503020204020204" pitchFamily="34" charset="-122"/>
            </a:endParaRPr>
          </a:p>
          <a:p>
            <a:pPr marL="342900" indent="-342900">
              <a:buFont typeface="Wingdings" panose="05000000000000000000" charset="0"/>
              <a:buChar char="u"/>
            </a:pP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b="1" dirty="0">
                <a:latin typeface="微软雅黑" panose="020B0503020204020204" pitchFamily="34" charset="-122"/>
                <a:ea typeface="微软雅黑" panose="020B0503020204020204" pitchFamily="34" charset="-122"/>
              </a:rPr>
              <a:t>项目成员</a:t>
            </a:r>
            <a:r>
              <a:rPr lang="zh-CN" altLang="zh-CN" sz="1800" dirty="0">
                <a:latin typeface="微软雅黑" panose="020B0503020204020204" pitchFamily="34" charset="-122"/>
                <a:ea typeface="微软雅黑" panose="020B0503020204020204" pitchFamily="34" charset="-122"/>
              </a:rPr>
              <a:t>在约定时间点前更新上周完成情况和本周计划；</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b="1" dirty="0">
                <a:latin typeface="微软雅黑" panose="020B0503020204020204" pitchFamily="34" charset="-122"/>
                <a:ea typeface="微软雅黑" panose="020B0503020204020204" pitchFamily="34" charset="-122"/>
              </a:rPr>
              <a:t>项目经理</a:t>
            </a:r>
            <a:r>
              <a:rPr lang="zh-CN" altLang="zh-CN" sz="1800" dirty="0">
                <a:latin typeface="微软雅黑" panose="020B0503020204020204" pitchFamily="34" charset="-122"/>
                <a:ea typeface="微软雅黑" panose="020B0503020204020204" pitchFamily="34" charset="-122"/>
              </a:rPr>
              <a:t>提前将上周完成情况和本周计划整理汇总，</a:t>
            </a:r>
            <a:r>
              <a:rPr lang="zh-CN" altLang="zh-CN" sz="1800" dirty="0">
                <a:solidFill>
                  <a:srgbClr val="FF0000"/>
                </a:solidFill>
                <a:latin typeface="微软雅黑" panose="020B0503020204020204" pitchFamily="34" charset="-122"/>
                <a:ea typeface="微软雅黑" panose="020B0503020204020204" pitchFamily="34" charset="-122"/>
              </a:rPr>
              <a:t>对关键未完成的</a:t>
            </a:r>
            <a:r>
              <a:rPr lang="zh-CN" altLang="zh-CN" sz="1800" dirty="0">
                <a:solidFill>
                  <a:srgbClr val="FF0000"/>
                </a:solidFill>
                <a:latin typeface="微软雅黑" panose="020B0503020204020204" pitchFamily="34" charset="-122"/>
                <a:ea typeface="微软雅黑" panose="020B0503020204020204" pitchFamily="34" charset="-122"/>
                <a:sym typeface="+mn-ea"/>
              </a:rPr>
              <a:t>任务，或当下周计划安排工作量存在</a:t>
            </a:r>
            <a:r>
              <a:rPr lang="zh-CN" altLang="zh-CN" sz="1800" dirty="0">
                <a:solidFill>
                  <a:srgbClr val="FF0000"/>
                </a:solidFill>
                <a:latin typeface="微软雅黑" panose="020B0503020204020204" pitchFamily="34" charset="-122"/>
                <a:ea typeface="微软雅黑" panose="020B0503020204020204" pitchFamily="34" charset="-122"/>
                <a:sym typeface="+mn-ea"/>
              </a:rPr>
              <a:t>较大</a:t>
            </a:r>
            <a:r>
              <a:rPr lang="zh-CN" altLang="zh-CN" sz="1800" dirty="0">
                <a:solidFill>
                  <a:srgbClr val="FF0000"/>
                </a:solidFill>
                <a:latin typeface="微软雅黑" panose="020B0503020204020204" pitchFamily="34" charset="-122"/>
                <a:ea typeface="微软雅黑" panose="020B0503020204020204" pitchFamily="34" charset="-122"/>
                <a:sym typeface="+mn-ea"/>
              </a:rPr>
              <a:t>偏差，需</a:t>
            </a:r>
            <a:r>
              <a:rPr lang="zh-CN" altLang="zh-CN" sz="1800" dirty="0">
                <a:solidFill>
                  <a:srgbClr val="FF0000"/>
                </a:solidFill>
                <a:latin typeface="微软雅黑" panose="020B0503020204020204" pitchFamily="34" charset="-122"/>
                <a:ea typeface="微软雅黑" panose="020B0503020204020204" pitchFamily="34" charset="-122"/>
              </a:rPr>
              <a:t>提前沟通；</a:t>
            </a:r>
            <a:endParaRPr lang="zh-CN" altLang="zh-CN" sz="1800" dirty="0">
              <a:solidFill>
                <a:srgbClr val="FF0000"/>
              </a:solidFill>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dirty="0">
                <a:latin typeface="微软雅黑" panose="020B0503020204020204" pitchFamily="34" charset="-122"/>
                <a:ea typeface="微软雅黑" panose="020B0503020204020204" pitchFamily="34" charset="-122"/>
                <a:sym typeface="+mn-ea"/>
              </a:rPr>
              <a:t>例会中</a:t>
            </a:r>
            <a:r>
              <a:rPr lang="zh-CN" altLang="zh-CN" sz="1800" b="1" dirty="0">
                <a:latin typeface="微软雅黑" panose="020B0503020204020204" pitchFamily="34" charset="-122"/>
                <a:ea typeface="微软雅黑" panose="020B0503020204020204" pitchFamily="34" charset="-122"/>
                <a:sym typeface="+mn-ea"/>
              </a:rPr>
              <a:t>项目经理</a:t>
            </a:r>
            <a:r>
              <a:rPr lang="zh-CN" altLang="zh-CN" sz="1800" dirty="0">
                <a:latin typeface="微软雅黑" panose="020B0503020204020204" pitchFamily="34" charset="-122"/>
                <a:ea typeface="微软雅黑" panose="020B0503020204020204" pitchFamily="34" charset="-122"/>
                <a:sym typeface="+mn-ea"/>
              </a:rPr>
              <a:t>介绍</a:t>
            </a:r>
            <a:r>
              <a:rPr lang="zh-CN" altLang="zh-CN" sz="1800" dirty="0">
                <a:solidFill>
                  <a:srgbClr val="FF0000"/>
                </a:solidFill>
                <a:latin typeface="微软雅黑" panose="020B0503020204020204" pitchFamily="34" charset="-122"/>
                <a:ea typeface="微软雅黑" panose="020B0503020204020204" pitchFamily="34" charset="-122"/>
                <a:sym typeface="+mn-ea"/>
              </a:rPr>
              <a:t>项目整体进展，关键项完成情况</a:t>
            </a:r>
            <a:r>
              <a:rPr lang="zh-CN" altLang="zh-CN" sz="1800" dirty="0">
                <a:latin typeface="微软雅黑" panose="020B0503020204020204" pitchFamily="34" charset="-122"/>
                <a:ea typeface="微软雅黑" panose="020B0503020204020204" pitchFamily="34" charset="-122"/>
                <a:sym typeface="+mn-ea"/>
              </a:rPr>
              <a:t>；个人的完成情况快速介绍，对未完成情况着重汇报，明确技术问题、配合问题还是工作投入不足等原因，计划的改进措施；</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dirty="0">
                <a:latin typeface="微软雅黑" panose="020B0503020204020204" pitchFamily="34" charset="-122"/>
                <a:ea typeface="微软雅黑" panose="020B0503020204020204" pitchFamily="34" charset="-122"/>
              </a:rPr>
              <a:t>沟通项目中需要沟通协调的问题；</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dirty="0">
                <a:latin typeface="微软雅黑" panose="020B0503020204020204" pitchFamily="34" charset="-122"/>
                <a:ea typeface="微软雅黑" panose="020B0503020204020204" pitchFamily="34" charset="-122"/>
              </a:rPr>
              <a:t>例会中不做技术问题沟通讨论；具体技术问题讨论会后进行或另外组织问题沟通会；</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dirty="0">
                <a:latin typeface="微软雅黑" panose="020B0503020204020204" pitchFamily="34" charset="-122"/>
                <a:ea typeface="微软雅黑" panose="020B0503020204020204" pitchFamily="34" charset="-122"/>
              </a:rPr>
              <a:t>本周计划安排，</a:t>
            </a:r>
            <a:r>
              <a:rPr lang="zh-CN" altLang="zh-CN" sz="1800" dirty="0">
                <a:solidFill>
                  <a:srgbClr val="FF0000"/>
                </a:solidFill>
                <a:latin typeface="微软雅黑" panose="020B0503020204020204" pitchFamily="34" charset="-122"/>
                <a:ea typeface="微软雅黑" panose="020B0503020204020204" pitchFamily="34" charset="-122"/>
              </a:rPr>
              <a:t>明确关键达成目标，</a:t>
            </a:r>
            <a:r>
              <a:rPr lang="zh-CN" altLang="zh-CN" sz="1800" dirty="0">
                <a:latin typeface="微软雅黑" panose="020B0503020204020204" pitchFamily="34" charset="-122"/>
                <a:ea typeface="微软雅黑" panose="020B0503020204020204" pitchFamily="34" charset="-122"/>
              </a:rPr>
              <a:t>时间节点，确认各人员工作量，</a:t>
            </a:r>
            <a:r>
              <a:rPr lang="zh-CN" altLang="zh-CN" sz="1800" dirty="0">
                <a:solidFill>
                  <a:srgbClr val="FF0000"/>
                </a:solidFill>
                <a:latin typeface="微软雅黑" panose="020B0503020204020204" pitchFamily="34" charset="-122"/>
                <a:ea typeface="微软雅黑" panose="020B0503020204020204" pitchFamily="34" charset="-122"/>
              </a:rPr>
              <a:t>如存在资源冲突，需及时与其他项目经理沟通协调，最终人员工作量需得到责任人承诺；</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r>
              <a:rPr lang="zh-CN" altLang="zh-CN" sz="1800" dirty="0">
                <a:latin typeface="微软雅黑" panose="020B0503020204020204" pitchFamily="34" charset="-122"/>
                <a:ea typeface="微软雅黑" panose="020B0503020204020204" pitchFamily="34" charset="-122"/>
              </a:rPr>
              <a:t>会后及时将完善的总结计划发至项目群，周知相关干系人；</a:t>
            </a:r>
            <a:endParaRPr lang="zh-CN" altLang="zh-CN" sz="1800" dirty="0">
              <a:latin typeface="微软雅黑" panose="020B0503020204020204" pitchFamily="34" charset="-122"/>
              <a:ea typeface="微软雅黑" panose="020B0503020204020204" pitchFamily="34" charset="-122"/>
            </a:endParaRPr>
          </a:p>
          <a:p>
            <a:pPr marL="342900" indent="-342900">
              <a:lnSpc>
                <a:spcPct val="150000"/>
              </a:lnSpc>
              <a:buFont typeface="Wingdings" panose="05000000000000000000" charset="0"/>
              <a:buChar char="Ø"/>
            </a:pPr>
            <a:endParaRPr lang="zh-CN" altLang="zh-CN" sz="1800" dirty="0">
              <a:latin typeface="微软雅黑" panose="020B0503020204020204" pitchFamily="34" charset="-122"/>
              <a:ea typeface="微软雅黑" panose="020B0503020204020204" pitchFamily="34" charset="-122"/>
            </a:endParaRPr>
          </a:p>
          <a:p>
            <a:pPr>
              <a:lnSpc>
                <a:spcPct val="150000"/>
              </a:lnSpc>
            </a:pPr>
            <a:r>
              <a:rPr lang="zh-CN" altLang="zh-CN" sz="1800" dirty="0">
                <a:latin typeface="微软雅黑" panose="020B0503020204020204" pitchFamily="34" charset="-122"/>
                <a:ea typeface="微软雅黑" panose="020B0503020204020204" pitchFamily="34" charset="-122"/>
              </a:rPr>
              <a:t>注：会议时间尽量控制在</a:t>
            </a:r>
            <a:r>
              <a:rPr lang="zh-CN" altLang="zh-CN" sz="1800" dirty="0">
                <a:solidFill>
                  <a:srgbClr val="FF0000"/>
                </a:solidFill>
                <a:latin typeface="微软雅黑" panose="020B0503020204020204" pitchFamily="34" charset="-122"/>
                <a:ea typeface="微软雅黑" panose="020B0503020204020204" pitchFamily="34" charset="-122"/>
              </a:rPr>
              <a:t>半小时</a:t>
            </a:r>
            <a:r>
              <a:rPr lang="zh-CN" altLang="zh-CN" sz="1800" dirty="0">
                <a:latin typeface="微软雅黑" panose="020B0503020204020204" pitchFamily="34" charset="-122"/>
                <a:ea typeface="微软雅黑" panose="020B0503020204020204" pitchFamily="34" charset="-122"/>
              </a:rPr>
              <a:t>内。</a:t>
            </a:r>
            <a:endParaRPr lang="zh-CN" altLang="zh-CN" sz="18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问题管理</a:t>
            </a:r>
            <a:endParaRPr lang="zh-CN" altLang="en-US" dirty="0">
              <a:solidFill>
                <a:srgbClr val="FF0000"/>
              </a:solidFill>
            </a:endParaRPr>
          </a:p>
        </p:txBody>
      </p:sp>
      <p:sp>
        <p:nvSpPr>
          <p:cNvPr id="5" name="Rounded Rectangle 7"/>
          <p:cNvSpPr/>
          <p:nvPr/>
        </p:nvSpPr>
        <p:spPr>
          <a:xfrm>
            <a:off x="888153" y="1404502"/>
            <a:ext cx="2952000" cy="2052000"/>
          </a:xfrm>
          <a:prstGeom prst="roundRect">
            <a:avLst/>
          </a:prstGeom>
          <a:noFill/>
          <a:ln w="63500">
            <a:solidFill>
              <a:srgbClr val="2B4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grpSp>
        <p:nvGrpSpPr>
          <p:cNvPr id="18" name="Group 18"/>
          <p:cNvGrpSpPr/>
          <p:nvPr/>
        </p:nvGrpSpPr>
        <p:grpSpPr>
          <a:xfrm>
            <a:off x="1253668" y="1647497"/>
            <a:ext cx="299208" cy="263083"/>
            <a:chOff x="7816850" y="1350963"/>
            <a:chExt cx="895350" cy="820738"/>
          </a:xfrm>
          <a:solidFill>
            <a:srgbClr val="2B4D8A"/>
          </a:solidFill>
        </p:grpSpPr>
        <p:sp>
          <p:nvSpPr>
            <p:cNvPr id="19" name="Freeform 29"/>
            <p:cNvSpPr/>
            <p:nvPr/>
          </p:nvSpPr>
          <p:spPr bwMode="auto">
            <a:xfrm>
              <a:off x="7850188" y="1792289"/>
              <a:ext cx="828675" cy="379412"/>
            </a:xfrm>
            <a:custGeom>
              <a:avLst/>
              <a:gdLst>
                <a:gd name="T0" fmla="*/ 119 w 218"/>
                <a:gd name="T1" fmla="*/ 26 h 100"/>
                <a:gd name="T2" fmla="*/ 99 w 218"/>
                <a:gd name="T3" fmla="*/ 26 h 100"/>
                <a:gd name="T4" fmla="*/ 73 w 218"/>
                <a:gd name="T5" fmla="*/ 0 h 100"/>
                <a:gd name="T6" fmla="*/ 0 w 218"/>
                <a:gd name="T7" fmla="*/ 0 h 100"/>
                <a:gd name="T8" fmla="*/ 0 w 218"/>
                <a:gd name="T9" fmla="*/ 70 h 100"/>
                <a:gd name="T10" fmla="*/ 29 w 218"/>
                <a:gd name="T11" fmla="*/ 100 h 100"/>
                <a:gd name="T12" fmla="*/ 189 w 218"/>
                <a:gd name="T13" fmla="*/ 100 h 100"/>
                <a:gd name="T14" fmla="*/ 218 w 218"/>
                <a:gd name="T15" fmla="*/ 70 h 100"/>
                <a:gd name="T16" fmla="*/ 218 w 218"/>
                <a:gd name="T17" fmla="*/ 0 h 100"/>
                <a:gd name="T18" fmla="*/ 145 w 218"/>
                <a:gd name="T19" fmla="*/ 0 h 100"/>
                <a:gd name="T20" fmla="*/ 119 w 218"/>
                <a:gd name="T21" fmla="*/ 2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 h="100">
                  <a:moveTo>
                    <a:pt x="119" y="26"/>
                  </a:moveTo>
                  <a:cubicBezTo>
                    <a:pt x="99" y="26"/>
                    <a:pt x="99" y="26"/>
                    <a:pt x="99" y="26"/>
                  </a:cubicBezTo>
                  <a:cubicBezTo>
                    <a:pt x="85" y="26"/>
                    <a:pt x="73" y="14"/>
                    <a:pt x="73" y="0"/>
                  </a:cubicBezTo>
                  <a:cubicBezTo>
                    <a:pt x="0" y="0"/>
                    <a:pt x="0" y="0"/>
                    <a:pt x="0" y="0"/>
                  </a:cubicBezTo>
                  <a:cubicBezTo>
                    <a:pt x="0" y="70"/>
                    <a:pt x="0" y="70"/>
                    <a:pt x="0" y="70"/>
                  </a:cubicBezTo>
                  <a:cubicBezTo>
                    <a:pt x="0" y="86"/>
                    <a:pt x="13" y="100"/>
                    <a:pt x="29" y="100"/>
                  </a:cubicBezTo>
                  <a:cubicBezTo>
                    <a:pt x="189" y="100"/>
                    <a:pt x="189" y="100"/>
                    <a:pt x="189" y="100"/>
                  </a:cubicBezTo>
                  <a:cubicBezTo>
                    <a:pt x="205" y="100"/>
                    <a:pt x="218" y="86"/>
                    <a:pt x="218" y="70"/>
                  </a:cubicBezTo>
                  <a:cubicBezTo>
                    <a:pt x="218" y="0"/>
                    <a:pt x="218" y="0"/>
                    <a:pt x="218" y="0"/>
                  </a:cubicBezTo>
                  <a:cubicBezTo>
                    <a:pt x="145" y="0"/>
                    <a:pt x="145" y="0"/>
                    <a:pt x="145" y="0"/>
                  </a:cubicBezTo>
                  <a:cubicBezTo>
                    <a:pt x="145" y="14"/>
                    <a:pt x="133" y="26"/>
                    <a:pt x="119"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sp>
          <p:nvSpPr>
            <p:cNvPr id="20" name="Freeform 30"/>
            <p:cNvSpPr>
              <a:spLocks noEditPoints="1"/>
            </p:cNvSpPr>
            <p:nvPr/>
          </p:nvSpPr>
          <p:spPr bwMode="auto">
            <a:xfrm>
              <a:off x="7816850" y="1350963"/>
              <a:ext cx="895350" cy="498475"/>
            </a:xfrm>
            <a:custGeom>
              <a:avLst/>
              <a:gdLst>
                <a:gd name="T0" fmla="*/ 204 w 236"/>
                <a:gd name="T1" fmla="*/ 44 h 131"/>
                <a:gd name="T2" fmla="*/ 163 w 236"/>
                <a:gd name="T3" fmla="*/ 44 h 131"/>
                <a:gd name="T4" fmla="*/ 163 w 236"/>
                <a:gd name="T5" fmla="*/ 30 h 131"/>
                <a:gd name="T6" fmla="*/ 133 w 236"/>
                <a:gd name="T7" fmla="*/ 0 h 131"/>
                <a:gd name="T8" fmla="*/ 103 w 236"/>
                <a:gd name="T9" fmla="*/ 0 h 131"/>
                <a:gd name="T10" fmla="*/ 73 w 236"/>
                <a:gd name="T11" fmla="*/ 30 h 131"/>
                <a:gd name="T12" fmla="*/ 73 w 236"/>
                <a:gd name="T13" fmla="*/ 44 h 131"/>
                <a:gd name="T14" fmla="*/ 32 w 236"/>
                <a:gd name="T15" fmla="*/ 44 h 131"/>
                <a:gd name="T16" fmla="*/ 0 w 236"/>
                <a:gd name="T17" fmla="*/ 75 h 131"/>
                <a:gd name="T18" fmla="*/ 0 w 236"/>
                <a:gd name="T19" fmla="*/ 106 h 131"/>
                <a:gd name="T20" fmla="*/ 92 w 236"/>
                <a:gd name="T21" fmla="*/ 106 h 131"/>
                <a:gd name="T22" fmla="*/ 92 w 236"/>
                <a:gd name="T23" fmla="*/ 115 h 131"/>
                <a:gd name="T24" fmla="*/ 108 w 236"/>
                <a:gd name="T25" fmla="*/ 131 h 131"/>
                <a:gd name="T26" fmla="*/ 128 w 236"/>
                <a:gd name="T27" fmla="*/ 131 h 131"/>
                <a:gd name="T28" fmla="*/ 144 w 236"/>
                <a:gd name="T29" fmla="*/ 115 h 131"/>
                <a:gd name="T30" fmla="*/ 144 w 236"/>
                <a:gd name="T31" fmla="*/ 106 h 131"/>
                <a:gd name="T32" fmla="*/ 236 w 236"/>
                <a:gd name="T33" fmla="*/ 106 h 131"/>
                <a:gd name="T34" fmla="*/ 236 w 236"/>
                <a:gd name="T35" fmla="*/ 75 h 131"/>
                <a:gd name="T36" fmla="*/ 204 w 236"/>
                <a:gd name="T37" fmla="*/ 44 h 131"/>
                <a:gd name="T38" fmla="*/ 92 w 236"/>
                <a:gd name="T39" fmla="*/ 30 h 131"/>
                <a:gd name="T40" fmla="*/ 103 w 236"/>
                <a:gd name="T41" fmla="*/ 19 h 131"/>
                <a:gd name="T42" fmla="*/ 133 w 236"/>
                <a:gd name="T43" fmla="*/ 19 h 131"/>
                <a:gd name="T44" fmla="*/ 144 w 236"/>
                <a:gd name="T45" fmla="*/ 30 h 131"/>
                <a:gd name="T46" fmla="*/ 144 w 236"/>
                <a:gd name="T47" fmla="*/ 44 h 131"/>
                <a:gd name="T48" fmla="*/ 92 w 236"/>
                <a:gd name="T49" fmla="*/ 44 h 131"/>
                <a:gd name="T50" fmla="*/ 92 w 236"/>
                <a:gd name="T51" fmla="*/ 3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6" h="131">
                  <a:moveTo>
                    <a:pt x="204" y="44"/>
                  </a:moveTo>
                  <a:cubicBezTo>
                    <a:pt x="163" y="44"/>
                    <a:pt x="163" y="44"/>
                    <a:pt x="163" y="44"/>
                  </a:cubicBezTo>
                  <a:cubicBezTo>
                    <a:pt x="163" y="30"/>
                    <a:pt x="163" y="30"/>
                    <a:pt x="163" y="30"/>
                  </a:cubicBezTo>
                  <a:cubicBezTo>
                    <a:pt x="163" y="14"/>
                    <a:pt x="150" y="0"/>
                    <a:pt x="133" y="0"/>
                  </a:cubicBezTo>
                  <a:cubicBezTo>
                    <a:pt x="103" y="0"/>
                    <a:pt x="103" y="0"/>
                    <a:pt x="103" y="0"/>
                  </a:cubicBezTo>
                  <a:cubicBezTo>
                    <a:pt x="86" y="0"/>
                    <a:pt x="73" y="14"/>
                    <a:pt x="73" y="30"/>
                  </a:cubicBezTo>
                  <a:cubicBezTo>
                    <a:pt x="73" y="44"/>
                    <a:pt x="73" y="44"/>
                    <a:pt x="73" y="44"/>
                  </a:cubicBezTo>
                  <a:cubicBezTo>
                    <a:pt x="32" y="44"/>
                    <a:pt x="32" y="44"/>
                    <a:pt x="32" y="44"/>
                  </a:cubicBezTo>
                  <a:cubicBezTo>
                    <a:pt x="15" y="44"/>
                    <a:pt x="0" y="58"/>
                    <a:pt x="0" y="75"/>
                  </a:cubicBezTo>
                  <a:cubicBezTo>
                    <a:pt x="0" y="106"/>
                    <a:pt x="0" y="106"/>
                    <a:pt x="0" y="106"/>
                  </a:cubicBezTo>
                  <a:cubicBezTo>
                    <a:pt x="92" y="106"/>
                    <a:pt x="92" y="106"/>
                    <a:pt x="92" y="106"/>
                  </a:cubicBezTo>
                  <a:cubicBezTo>
                    <a:pt x="92" y="115"/>
                    <a:pt x="92" y="115"/>
                    <a:pt x="92" y="115"/>
                  </a:cubicBezTo>
                  <a:cubicBezTo>
                    <a:pt x="92" y="124"/>
                    <a:pt x="99" y="131"/>
                    <a:pt x="108" y="131"/>
                  </a:cubicBezTo>
                  <a:cubicBezTo>
                    <a:pt x="128" y="131"/>
                    <a:pt x="128" y="131"/>
                    <a:pt x="128" y="131"/>
                  </a:cubicBezTo>
                  <a:cubicBezTo>
                    <a:pt x="137" y="131"/>
                    <a:pt x="144" y="124"/>
                    <a:pt x="144" y="115"/>
                  </a:cubicBezTo>
                  <a:cubicBezTo>
                    <a:pt x="144" y="106"/>
                    <a:pt x="144" y="106"/>
                    <a:pt x="144" y="106"/>
                  </a:cubicBezTo>
                  <a:cubicBezTo>
                    <a:pt x="236" y="106"/>
                    <a:pt x="236" y="106"/>
                    <a:pt x="236" y="106"/>
                  </a:cubicBezTo>
                  <a:cubicBezTo>
                    <a:pt x="236" y="75"/>
                    <a:pt x="236" y="75"/>
                    <a:pt x="236" y="75"/>
                  </a:cubicBezTo>
                  <a:cubicBezTo>
                    <a:pt x="236" y="58"/>
                    <a:pt x="221" y="44"/>
                    <a:pt x="204" y="44"/>
                  </a:cubicBezTo>
                  <a:close/>
                  <a:moveTo>
                    <a:pt x="92" y="30"/>
                  </a:moveTo>
                  <a:cubicBezTo>
                    <a:pt x="92" y="24"/>
                    <a:pt x="97" y="19"/>
                    <a:pt x="103" y="19"/>
                  </a:cubicBezTo>
                  <a:cubicBezTo>
                    <a:pt x="133" y="19"/>
                    <a:pt x="133" y="19"/>
                    <a:pt x="133" y="19"/>
                  </a:cubicBezTo>
                  <a:cubicBezTo>
                    <a:pt x="139" y="19"/>
                    <a:pt x="144" y="24"/>
                    <a:pt x="144" y="30"/>
                  </a:cubicBezTo>
                  <a:cubicBezTo>
                    <a:pt x="144" y="44"/>
                    <a:pt x="144" y="44"/>
                    <a:pt x="144" y="44"/>
                  </a:cubicBezTo>
                  <a:cubicBezTo>
                    <a:pt x="92" y="44"/>
                    <a:pt x="92" y="44"/>
                    <a:pt x="92" y="44"/>
                  </a:cubicBezTo>
                  <a:lnTo>
                    <a:pt x="92"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grpSp>
      <p:sp>
        <p:nvSpPr>
          <p:cNvPr id="3" name="文本框 2"/>
          <p:cNvSpPr txBox="1"/>
          <p:nvPr/>
        </p:nvSpPr>
        <p:spPr>
          <a:xfrm>
            <a:off x="1654118" y="1599978"/>
            <a:ext cx="1806363" cy="306177"/>
          </a:xfrm>
          <a:prstGeom prst="rect">
            <a:avLst/>
          </a:prstGeom>
          <a:noFill/>
        </p:spPr>
        <p:txBody>
          <a:bodyPr wrap="square" rtlCol="0">
            <a:spAutoFit/>
          </a:bodyPr>
          <a:lstStyle/>
          <a:p>
            <a:r>
              <a:rPr lang="zh-CN" altLang="en-US" sz="1800" b="1" dirty="0" smtClean="0"/>
              <a:t>原因分析</a:t>
            </a:r>
            <a:endParaRPr lang="zh-CN" altLang="en-US" sz="1800" b="1" dirty="0"/>
          </a:p>
        </p:txBody>
      </p:sp>
      <p:sp>
        <p:nvSpPr>
          <p:cNvPr id="4" name="文本框 3"/>
          <p:cNvSpPr txBox="1"/>
          <p:nvPr/>
        </p:nvSpPr>
        <p:spPr>
          <a:xfrm>
            <a:off x="1015466" y="2004441"/>
            <a:ext cx="2697375" cy="1224707"/>
          </a:xfrm>
          <a:prstGeom prst="rect">
            <a:avLst/>
          </a:prstGeom>
          <a:noFill/>
        </p:spPr>
        <p:txBody>
          <a:bodyPr wrap="square" rtlCol="0">
            <a:spAutoFit/>
          </a:bodyPr>
          <a:lstStyle/>
          <a:p>
            <a:pPr marL="161925" indent="-161925">
              <a:buFont typeface="Arial" panose="020B0604020202020204" pitchFamily="34" charset="0"/>
              <a:buChar char="•"/>
            </a:pPr>
            <a:r>
              <a:rPr lang="zh-CN" altLang="en-US" sz="1800" dirty="0" smtClean="0"/>
              <a:t>项目经理组织问题分析</a:t>
            </a:r>
            <a:endParaRPr lang="en-US" altLang="zh-CN" sz="1800" dirty="0" smtClean="0"/>
          </a:p>
          <a:p>
            <a:pPr marL="161925" indent="-161925">
              <a:buFont typeface="Arial" panose="020B0604020202020204" pitchFamily="34" charset="0"/>
              <a:buChar char="•"/>
            </a:pPr>
            <a:r>
              <a:rPr lang="zh-CN" altLang="en-US" sz="1800" dirty="0" smtClean="0"/>
              <a:t>对问题进行归类，划分优先级</a:t>
            </a:r>
            <a:endParaRPr lang="en-US" altLang="zh-CN" sz="1800" dirty="0" smtClean="0"/>
          </a:p>
          <a:p>
            <a:pPr marL="161925" indent="-161925">
              <a:buFont typeface="Arial" panose="020B0604020202020204" pitchFamily="34" charset="0"/>
              <a:buChar char="•"/>
            </a:pPr>
            <a:r>
              <a:rPr lang="zh-CN" altLang="en-US" sz="1800" dirty="0" smtClean="0"/>
              <a:t>找出根本原因</a:t>
            </a:r>
            <a:endParaRPr lang="zh-CN" altLang="en-US" sz="1800" dirty="0"/>
          </a:p>
        </p:txBody>
      </p:sp>
      <p:sp>
        <p:nvSpPr>
          <p:cNvPr id="6" name="Rounded Rectangle 8"/>
          <p:cNvSpPr/>
          <p:nvPr/>
        </p:nvSpPr>
        <p:spPr>
          <a:xfrm>
            <a:off x="4684430" y="1375895"/>
            <a:ext cx="2952000" cy="2052000"/>
          </a:xfrm>
          <a:prstGeom prst="roundRect">
            <a:avLst/>
          </a:prstGeom>
          <a:noFill/>
          <a:ln w="63500">
            <a:solidFill>
              <a:srgbClr val="2B4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grpSp>
        <p:nvGrpSpPr>
          <p:cNvPr id="21" name="Group 21"/>
          <p:cNvGrpSpPr/>
          <p:nvPr/>
        </p:nvGrpSpPr>
        <p:grpSpPr>
          <a:xfrm>
            <a:off x="4825281" y="1624288"/>
            <a:ext cx="257553" cy="262669"/>
            <a:chOff x="4063989" y="5460988"/>
            <a:chExt cx="735015" cy="709611"/>
          </a:xfrm>
          <a:solidFill>
            <a:srgbClr val="2B4D8A"/>
          </a:solidFill>
        </p:grpSpPr>
        <p:sp>
          <p:nvSpPr>
            <p:cNvPr id="22" name="Freeform 20"/>
            <p:cNvSpPr>
              <a:spLocks noEditPoints="1"/>
            </p:cNvSpPr>
            <p:nvPr/>
          </p:nvSpPr>
          <p:spPr bwMode="auto">
            <a:xfrm>
              <a:off x="4063989" y="5460988"/>
              <a:ext cx="708022" cy="709611"/>
            </a:xfrm>
            <a:custGeom>
              <a:avLst/>
              <a:gdLst>
                <a:gd name="T0" fmla="*/ 142 w 186"/>
                <a:gd name="T1" fmla="*/ 155 h 186"/>
                <a:gd name="T2" fmla="*/ 125 w 186"/>
                <a:gd name="T3" fmla="*/ 165 h 186"/>
                <a:gd name="T4" fmla="*/ 131 w 186"/>
                <a:gd name="T5" fmla="*/ 156 h 186"/>
                <a:gd name="T6" fmla="*/ 121 w 186"/>
                <a:gd name="T7" fmla="*/ 157 h 186"/>
                <a:gd name="T8" fmla="*/ 114 w 186"/>
                <a:gd name="T9" fmla="*/ 156 h 186"/>
                <a:gd name="T10" fmla="*/ 93 w 186"/>
                <a:gd name="T11" fmla="*/ 172 h 186"/>
                <a:gd name="T12" fmla="*/ 60 w 186"/>
                <a:gd name="T13" fmla="*/ 131 h 186"/>
                <a:gd name="T14" fmla="*/ 76 w 186"/>
                <a:gd name="T15" fmla="*/ 131 h 186"/>
                <a:gd name="T16" fmla="*/ 72 w 186"/>
                <a:gd name="T17" fmla="*/ 120 h 186"/>
                <a:gd name="T18" fmla="*/ 71 w 186"/>
                <a:gd name="T19" fmla="*/ 117 h 186"/>
                <a:gd name="T20" fmla="*/ 57 w 186"/>
                <a:gd name="T21" fmla="*/ 117 h 186"/>
                <a:gd name="T22" fmla="*/ 56 w 186"/>
                <a:gd name="T23" fmla="*/ 93 h 186"/>
                <a:gd name="T24" fmla="*/ 57 w 186"/>
                <a:gd name="T25" fmla="*/ 72 h 186"/>
                <a:gd name="T26" fmla="*/ 81 w 186"/>
                <a:gd name="T27" fmla="*/ 72 h 186"/>
                <a:gd name="T28" fmla="*/ 98 w 186"/>
                <a:gd name="T29" fmla="*/ 58 h 186"/>
                <a:gd name="T30" fmla="*/ 60 w 186"/>
                <a:gd name="T31" fmla="*/ 58 h 186"/>
                <a:gd name="T32" fmla="*/ 93 w 186"/>
                <a:gd name="T33" fmla="*/ 14 h 186"/>
                <a:gd name="T34" fmla="*/ 125 w 186"/>
                <a:gd name="T35" fmla="*/ 53 h 186"/>
                <a:gd name="T36" fmla="*/ 140 w 186"/>
                <a:gd name="T37" fmla="*/ 56 h 186"/>
                <a:gd name="T38" fmla="*/ 125 w 186"/>
                <a:gd name="T39" fmla="*/ 21 h 186"/>
                <a:gd name="T40" fmla="*/ 164 w 186"/>
                <a:gd name="T41" fmla="*/ 58 h 186"/>
                <a:gd name="T42" fmla="*/ 145 w 186"/>
                <a:gd name="T43" fmla="*/ 58 h 186"/>
                <a:gd name="T44" fmla="*/ 162 w 186"/>
                <a:gd name="T45" fmla="*/ 72 h 186"/>
                <a:gd name="T46" fmla="*/ 169 w 186"/>
                <a:gd name="T47" fmla="*/ 72 h 186"/>
                <a:gd name="T48" fmla="*/ 172 w 186"/>
                <a:gd name="T49" fmla="*/ 93 h 186"/>
                <a:gd name="T50" fmla="*/ 172 w 186"/>
                <a:gd name="T51" fmla="*/ 94 h 186"/>
                <a:gd name="T52" fmla="*/ 170 w 186"/>
                <a:gd name="T53" fmla="*/ 123 h 186"/>
                <a:gd name="T54" fmla="*/ 178 w 186"/>
                <a:gd name="T55" fmla="*/ 131 h 186"/>
                <a:gd name="T56" fmla="*/ 178 w 186"/>
                <a:gd name="T57" fmla="*/ 131 h 186"/>
                <a:gd name="T58" fmla="*/ 179 w 186"/>
                <a:gd name="T59" fmla="*/ 131 h 186"/>
                <a:gd name="T60" fmla="*/ 179 w 186"/>
                <a:gd name="T61" fmla="*/ 128 h 186"/>
                <a:gd name="T62" fmla="*/ 186 w 186"/>
                <a:gd name="T63" fmla="*/ 93 h 186"/>
                <a:gd name="T64" fmla="*/ 93 w 186"/>
                <a:gd name="T65" fmla="*/ 0 h 186"/>
                <a:gd name="T66" fmla="*/ 0 w 186"/>
                <a:gd name="T67" fmla="*/ 93 h 186"/>
                <a:gd name="T68" fmla="*/ 93 w 186"/>
                <a:gd name="T69" fmla="*/ 186 h 186"/>
                <a:gd name="T70" fmla="*/ 151 w 186"/>
                <a:gd name="T71" fmla="*/ 166 h 186"/>
                <a:gd name="T72" fmla="*/ 142 w 186"/>
                <a:gd name="T73" fmla="*/ 155 h 186"/>
                <a:gd name="T74" fmla="*/ 61 w 186"/>
                <a:gd name="T75" fmla="*/ 21 h 186"/>
                <a:gd name="T76" fmla="*/ 45 w 186"/>
                <a:gd name="T77" fmla="*/ 58 h 186"/>
                <a:gd name="T78" fmla="*/ 22 w 186"/>
                <a:gd name="T79" fmla="*/ 58 h 186"/>
                <a:gd name="T80" fmla="*/ 61 w 186"/>
                <a:gd name="T81" fmla="*/ 21 h 186"/>
                <a:gd name="T82" fmla="*/ 14 w 186"/>
                <a:gd name="T83" fmla="*/ 93 h 186"/>
                <a:gd name="T84" fmla="*/ 17 w 186"/>
                <a:gd name="T85" fmla="*/ 72 h 186"/>
                <a:gd name="T86" fmla="*/ 43 w 186"/>
                <a:gd name="T87" fmla="*/ 72 h 186"/>
                <a:gd name="T88" fmla="*/ 42 w 186"/>
                <a:gd name="T89" fmla="*/ 93 h 186"/>
                <a:gd name="T90" fmla="*/ 43 w 186"/>
                <a:gd name="T91" fmla="*/ 117 h 186"/>
                <a:gd name="T92" fmla="*/ 17 w 186"/>
                <a:gd name="T93" fmla="*/ 117 h 186"/>
                <a:gd name="T94" fmla="*/ 14 w 186"/>
                <a:gd name="T95" fmla="*/ 93 h 186"/>
                <a:gd name="T96" fmla="*/ 23 w 186"/>
                <a:gd name="T97" fmla="*/ 131 h 186"/>
                <a:gd name="T98" fmla="*/ 46 w 186"/>
                <a:gd name="T99" fmla="*/ 131 h 186"/>
                <a:gd name="T100" fmla="*/ 61 w 186"/>
                <a:gd name="T101" fmla="*/ 165 h 186"/>
                <a:gd name="T102" fmla="*/ 23 w 186"/>
                <a:gd name="T103" fmla="*/ 13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6" h="186">
                  <a:moveTo>
                    <a:pt x="142" y="155"/>
                  </a:moveTo>
                  <a:cubicBezTo>
                    <a:pt x="137" y="159"/>
                    <a:pt x="131" y="163"/>
                    <a:pt x="125" y="165"/>
                  </a:cubicBezTo>
                  <a:cubicBezTo>
                    <a:pt x="127" y="162"/>
                    <a:pt x="129" y="159"/>
                    <a:pt x="131" y="156"/>
                  </a:cubicBezTo>
                  <a:cubicBezTo>
                    <a:pt x="128" y="157"/>
                    <a:pt x="124" y="157"/>
                    <a:pt x="121" y="157"/>
                  </a:cubicBezTo>
                  <a:cubicBezTo>
                    <a:pt x="119" y="157"/>
                    <a:pt x="117" y="157"/>
                    <a:pt x="114" y="156"/>
                  </a:cubicBezTo>
                  <a:cubicBezTo>
                    <a:pt x="108" y="166"/>
                    <a:pt x="100" y="172"/>
                    <a:pt x="93" y="172"/>
                  </a:cubicBezTo>
                  <a:cubicBezTo>
                    <a:pt x="81" y="172"/>
                    <a:pt x="67" y="156"/>
                    <a:pt x="60" y="131"/>
                  </a:cubicBezTo>
                  <a:cubicBezTo>
                    <a:pt x="76" y="131"/>
                    <a:pt x="76" y="131"/>
                    <a:pt x="76" y="131"/>
                  </a:cubicBezTo>
                  <a:cubicBezTo>
                    <a:pt x="74" y="127"/>
                    <a:pt x="73" y="124"/>
                    <a:pt x="72" y="120"/>
                  </a:cubicBezTo>
                  <a:cubicBezTo>
                    <a:pt x="71" y="119"/>
                    <a:pt x="71" y="118"/>
                    <a:pt x="71" y="117"/>
                  </a:cubicBezTo>
                  <a:cubicBezTo>
                    <a:pt x="57" y="117"/>
                    <a:pt x="57" y="117"/>
                    <a:pt x="57" y="117"/>
                  </a:cubicBezTo>
                  <a:cubicBezTo>
                    <a:pt x="56" y="109"/>
                    <a:pt x="56" y="101"/>
                    <a:pt x="56" y="93"/>
                  </a:cubicBezTo>
                  <a:cubicBezTo>
                    <a:pt x="56" y="86"/>
                    <a:pt x="56" y="79"/>
                    <a:pt x="57" y="72"/>
                  </a:cubicBezTo>
                  <a:cubicBezTo>
                    <a:pt x="81" y="72"/>
                    <a:pt x="81" y="72"/>
                    <a:pt x="81" y="72"/>
                  </a:cubicBezTo>
                  <a:cubicBezTo>
                    <a:pt x="85" y="66"/>
                    <a:pt x="91" y="62"/>
                    <a:pt x="98" y="58"/>
                  </a:cubicBezTo>
                  <a:cubicBezTo>
                    <a:pt x="60" y="58"/>
                    <a:pt x="60" y="58"/>
                    <a:pt x="60" y="58"/>
                  </a:cubicBezTo>
                  <a:cubicBezTo>
                    <a:pt x="66" y="32"/>
                    <a:pt x="80" y="14"/>
                    <a:pt x="93" y="14"/>
                  </a:cubicBezTo>
                  <a:cubicBezTo>
                    <a:pt x="105" y="14"/>
                    <a:pt x="118" y="29"/>
                    <a:pt x="125" y="53"/>
                  </a:cubicBezTo>
                  <a:cubicBezTo>
                    <a:pt x="130" y="53"/>
                    <a:pt x="135" y="54"/>
                    <a:pt x="140" y="56"/>
                  </a:cubicBezTo>
                  <a:cubicBezTo>
                    <a:pt x="137" y="42"/>
                    <a:pt x="132" y="30"/>
                    <a:pt x="125" y="21"/>
                  </a:cubicBezTo>
                  <a:cubicBezTo>
                    <a:pt x="142" y="28"/>
                    <a:pt x="156" y="42"/>
                    <a:pt x="164" y="58"/>
                  </a:cubicBezTo>
                  <a:cubicBezTo>
                    <a:pt x="145" y="58"/>
                    <a:pt x="145" y="58"/>
                    <a:pt x="145" y="58"/>
                  </a:cubicBezTo>
                  <a:cubicBezTo>
                    <a:pt x="151" y="62"/>
                    <a:pt x="157" y="66"/>
                    <a:pt x="162" y="72"/>
                  </a:cubicBezTo>
                  <a:cubicBezTo>
                    <a:pt x="169" y="72"/>
                    <a:pt x="169" y="72"/>
                    <a:pt x="169" y="72"/>
                  </a:cubicBezTo>
                  <a:cubicBezTo>
                    <a:pt x="171" y="79"/>
                    <a:pt x="172" y="86"/>
                    <a:pt x="172" y="93"/>
                  </a:cubicBezTo>
                  <a:cubicBezTo>
                    <a:pt x="172" y="93"/>
                    <a:pt x="172" y="94"/>
                    <a:pt x="172" y="94"/>
                  </a:cubicBezTo>
                  <a:cubicBezTo>
                    <a:pt x="174" y="104"/>
                    <a:pt x="173" y="113"/>
                    <a:pt x="170" y="123"/>
                  </a:cubicBezTo>
                  <a:cubicBezTo>
                    <a:pt x="178" y="131"/>
                    <a:pt x="178" y="131"/>
                    <a:pt x="178" y="131"/>
                  </a:cubicBezTo>
                  <a:cubicBezTo>
                    <a:pt x="178" y="131"/>
                    <a:pt x="178" y="131"/>
                    <a:pt x="178" y="131"/>
                  </a:cubicBezTo>
                  <a:cubicBezTo>
                    <a:pt x="179" y="131"/>
                    <a:pt x="179" y="131"/>
                    <a:pt x="179" y="131"/>
                  </a:cubicBezTo>
                  <a:cubicBezTo>
                    <a:pt x="179" y="128"/>
                    <a:pt x="179" y="128"/>
                    <a:pt x="179" y="128"/>
                  </a:cubicBezTo>
                  <a:cubicBezTo>
                    <a:pt x="184" y="117"/>
                    <a:pt x="186" y="106"/>
                    <a:pt x="186" y="93"/>
                  </a:cubicBezTo>
                  <a:cubicBezTo>
                    <a:pt x="186" y="42"/>
                    <a:pt x="144" y="0"/>
                    <a:pt x="93" y="0"/>
                  </a:cubicBezTo>
                  <a:cubicBezTo>
                    <a:pt x="42" y="0"/>
                    <a:pt x="0" y="42"/>
                    <a:pt x="0" y="93"/>
                  </a:cubicBezTo>
                  <a:cubicBezTo>
                    <a:pt x="0" y="144"/>
                    <a:pt x="42" y="186"/>
                    <a:pt x="93" y="186"/>
                  </a:cubicBezTo>
                  <a:cubicBezTo>
                    <a:pt x="115" y="186"/>
                    <a:pt x="135" y="178"/>
                    <a:pt x="151" y="166"/>
                  </a:cubicBezTo>
                  <a:lnTo>
                    <a:pt x="142" y="155"/>
                  </a:lnTo>
                  <a:close/>
                  <a:moveTo>
                    <a:pt x="61" y="21"/>
                  </a:moveTo>
                  <a:cubicBezTo>
                    <a:pt x="54" y="31"/>
                    <a:pt x="49" y="44"/>
                    <a:pt x="45" y="58"/>
                  </a:cubicBezTo>
                  <a:cubicBezTo>
                    <a:pt x="22" y="58"/>
                    <a:pt x="22" y="58"/>
                    <a:pt x="22" y="58"/>
                  </a:cubicBezTo>
                  <a:cubicBezTo>
                    <a:pt x="30" y="42"/>
                    <a:pt x="44" y="28"/>
                    <a:pt x="61" y="21"/>
                  </a:cubicBezTo>
                  <a:close/>
                  <a:moveTo>
                    <a:pt x="14" y="93"/>
                  </a:moveTo>
                  <a:cubicBezTo>
                    <a:pt x="14" y="86"/>
                    <a:pt x="15" y="79"/>
                    <a:pt x="17" y="72"/>
                  </a:cubicBezTo>
                  <a:cubicBezTo>
                    <a:pt x="43" y="72"/>
                    <a:pt x="43" y="72"/>
                    <a:pt x="43" y="72"/>
                  </a:cubicBezTo>
                  <a:cubicBezTo>
                    <a:pt x="42" y="79"/>
                    <a:pt x="42" y="86"/>
                    <a:pt x="42" y="93"/>
                  </a:cubicBezTo>
                  <a:cubicBezTo>
                    <a:pt x="42" y="101"/>
                    <a:pt x="42" y="109"/>
                    <a:pt x="43" y="117"/>
                  </a:cubicBezTo>
                  <a:cubicBezTo>
                    <a:pt x="17" y="117"/>
                    <a:pt x="17" y="117"/>
                    <a:pt x="17" y="117"/>
                  </a:cubicBezTo>
                  <a:cubicBezTo>
                    <a:pt x="15" y="109"/>
                    <a:pt x="14" y="101"/>
                    <a:pt x="14" y="93"/>
                  </a:cubicBezTo>
                  <a:close/>
                  <a:moveTo>
                    <a:pt x="23" y="131"/>
                  </a:moveTo>
                  <a:cubicBezTo>
                    <a:pt x="46" y="131"/>
                    <a:pt x="46" y="131"/>
                    <a:pt x="46" y="131"/>
                  </a:cubicBezTo>
                  <a:cubicBezTo>
                    <a:pt x="49" y="144"/>
                    <a:pt x="54" y="156"/>
                    <a:pt x="61" y="165"/>
                  </a:cubicBezTo>
                  <a:cubicBezTo>
                    <a:pt x="45" y="158"/>
                    <a:pt x="32" y="146"/>
                    <a:pt x="23" y="1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sp>
          <p:nvSpPr>
            <p:cNvPr id="23" name="Freeform 21"/>
            <p:cNvSpPr>
              <a:spLocks noEditPoints="1"/>
            </p:cNvSpPr>
            <p:nvPr/>
          </p:nvSpPr>
          <p:spPr bwMode="auto">
            <a:xfrm>
              <a:off x="4352917" y="5691176"/>
              <a:ext cx="446087" cy="446087"/>
            </a:xfrm>
            <a:custGeom>
              <a:avLst/>
              <a:gdLst>
                <a:gd name="T0" fmla="*/ 116 w 117"/>
                <a:gd name="T1" fmla="*/ 103 h 117"/>
                <a:gd name="T2" fmla="*/ 81 w 117"/>
                <a:gd name="T3" fmla="*/ 65 h 117"/>
                <a:gd name="T4" fmla="*/ 80 w 117"/>
                <a:gd name="T5" fmla="*/ 65 h 117"/>
                <a:gd name="T6" fmla="*/ 84 w 117"/>
                <a:gd name="T7" fmla="*/ 33 h 117"/>
                <a:gd name="T8" fmla="*/ 33 w 117"/>
                <a:gd name="T9" fmla="*/ 6 h 117"/>
                <a:gd name="T10" fmla="*/ 7 w 117"/>
                <a:gd name="T11" fmla="*/ 57 h 117"/>
                <a:gd name="T12" fmla="*/ 57 w 117"/>
                <a:gd name="T13" fmla="*/ 83 h 117"/>
                <a:gd name="T14" fmla="*/ 67 w 117"/>
                <a:gd name="T15" fmla="*/ 79 h 117"/>
                <a:gd name="T16" fmla="*/ 101 w 117"/>
                <a:gd name="T17" fmla="*/ 116 h 117"/>
                <a:gd name="T18" fmla="*/ 106 w 117"/>
                <a:gd name="T19" fmla="*/ 115 h 117"/>
                <a:gd name="T20" fmla="*/ 114 w 117"/>
                <a:gd name="T21" fmla="*/ 108 h 117"/>
                <a:gd name="T22" fmla="*/ 116 w 117"/>
                <a:gd name="T23" fmla="*/ 103 h 117"/>
                <a:gd name="T24" fmla="*/ 17 w 117"/>
                <a:gd name="T25" fmla="*/ 54 h 117"/>
                <a:gd name="T26" fmla="*/ 36 w 117"/>
                <a:gd name="T27" fmla="*/ 17 h 117"/>
                <a:gd name="T28" fmla="*/ 73 w 117"/>
                <a:gd name="T29" fmla="*/ 36 h 117"/>
                <a:gd name="T30" fmla="*/ 54 w 117"/>
                <a:gd name="T31" fmla="*/ 73 h 117"/>
                <a:gd name="T32" fmla="*/ 17 w 117"/>
                <a:gd name="T33" fmla="*/ 54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7" h="117">
                  <a:moveTo>
                    <a:pt x="116" y="103"/>
                  </a:moveTo>
                  <a:cubicBezTo>
                    <a:pt x="81" y="65"/>
                    <a:pt x="81" y="65"/>
                    <a:pt x="81" y="65"/>
                  </a:cubicBezTo>
                  <a:cubicBezTo>
                    <a:pt x="81" y="65"/>
                    <a:pt x="80" y="65"/>
                    <a:pt x="80" y="65"/>
                  </a:cubicBezTo>
                  <a:cubicBezTo>
                    <a:pt x="86" y="55"/>
                    <a:pt x="87" y="44"/>
                    <a:pt x="84" y="33"/>
                  </a:cubicBezTo>
                  <a:cubicBezTo>
                    <a:pt x="77" y="11"/>
                    <a:pt x="54" y="0"/>
                    <a:pt x="33" y="6"/>
                  </a:cubicBezTo>
                  <a:cubicBezTo>
                    <a:pt x="12" y="13"/>
                    <a:pt x="0" y="36"/>
                    <a:pt x="7" y="57"/>
                  </a:cubicBezTo>
                  <a:cubicBezTo>
                    <a:pt x="13" y="78"/>
                    <a:pt x="36" y="90"/>
                    <a:pt x="57" y="83"/>
                  </a:cubicBezTo>
                  <a:cubicBezTo>
                    <a:pt x="61" y="82"/>
                    <a:pt x="64" y="81"/>
                    <a:pt x="67" y="79"/>
                  </a:cubicBezTo>
                  <a:cubicBezTo>
                    <a:pt x="101" y="116"/>
                    <a:pt x="101" y="116"/>
                    <a:pt x="101" y="116"/>
                  </a:cubicBezTo>
                  <a:cubicBezTo>
                    <a:pt x="102" y="117"/>
                    <a:pt x="104" y="117"/>
                    <a:pt x="106" y="115"/>
                  </a:cubicBezTo>
                  <a:cubicBezTo>
                    <a:pt x="114" y="108"/>
                    <a:pt x="114" y="108"/>
                    <a:pt x="114" y="108"/>
                  </a:cubicBezTo>
                  <a:cubicBezTo>
                    <a:pt x="116" y="106"/>
                    <a:pt x="117" y="104"/>
                    <a:pt x="116" y="103"/>
                  </a:cubicBezTo>
                  <a:close/>
                  <a:moveTo>
                    <a:pt x="17" y="54"/>
                  </a:moveTo>
                  <a:cubicBezTo>
                    <a:pt x="12" y="38"/>
                    <a:pt x="21" y="22"/>
                    <a:pt x="36" y="17"/>
                  </a:cubicBezTo>
                  <a:cubicBezTo>
                    <a:pt x="52" y="12"/>
                    <a:pt x="69" y="20"/>
                    <a:pt x="73" y="36"/>
                  </a:cubicBezTo>
                  <a:cubicBezTo>
                    <a:pt x="78" y="52"/>
                    <a:pt x="70" y="68"/>
                    <a:pt x="54" y="73"/>
                  </a:cubicBezTo>
                  <a:cubicBezTo>
                    <a:pt x="39" y="78"/>
                    <a:pt x="22" y="69"/>
                    <a:pt x="17" y="5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sp>
          <p:nvSpPr>
            <p:cNvPr id="24" name="Freeform 22"/>
            <p:cNvSpPr/>
            <p:nvPr/>
          </p:nvSpPr>
          <p:spPr bwMode="auto">
            <a:xfrm>
              <a:off x="4433888" y="5754688"/>
              <a:ext cx="190500" cy="141287"/>
            </a:xfrm>
            <a:custGeom>
              <a:avLst/>
              <a:gdLst>
                <a:gd name="T0" fmla="*/ 10 w 50"/>
                <a:gd name="T1" fmla="*/ 16 h 37"/>
                <a:gd name="T2" fmla="*/ 48 w 50"/>
                <a:gd name="T3" fmla="*/ 36 h 37"/>
                <a:gd name="T4" fmla="*/ 48 w 50"/>
                <a:gd name="T5" fmla="*/ 37 h 37"/>
                <a:gd name="T6" fmla="*/ 49 w 50"/>
                <a:gd name="T7" fmla="*/ 20 h 37"/>
                <a:gd name="T8" fmla="*/ 17 w 50"/>
                <a:gd name="T9" fmla="*/ 4 h 37"/>
                <a:gd name="T10" fmla="*/ 0 w 50"/>
                <a:gd name="T11" fmla="*/ 21 h 37"/>
                <a:gd name="T12" fmla="*/ 10 w 50"/>
                <a:gd name="T13" fmla="*/ 16 h 37"/>
              </a:gdLst>
              <a:ahLst/>
              <a:cxnLst>
                <a:cxn ang="0">
                  <a:pos x="T0" y="T1"/>
                </a:cxn>
                <a:cxn ang="0">
                  <a:pos x="T2" y="T3"/>
                </a:cxn>
                <a:cxn ang="0">
                  <a:pos x="T4" y="T5"/>
                </a:cxn>
                <a:cxn ang="0">
                  <a:pos x="T6" y="T7"/>
                </a:cxn>
                <a:cxn ang="0">
                  <a:pos x="T8" y="T9"/>
                </a:cxn>
                <a:cxn ang="0">
                  <a:pos x="T10" y="T11"/>
                </a:cxn>
                <a:cxn ang="0">
                  <a:pos x="T12" y="T13"/>
                </a:cxn>
              </a:cxnLst>
              <a:rect l="0" t="0" r="r" b="b"/>
              <a:pathLst>
                <a:path w="50" h="37">
                  <a:moveTo>
                    <a:pt x="10" y="16"/>
                  </a:moveTo>
                  <a:cubicBezTo>
                    <a:pt x="26" y="11"/>
                    <a:pt x="43" y="20"/>
                    <a:pt x="48" y="36"/>
                  </a:cubicBezTo>
                  <a:cubicBezTo>
                    <a:pt x="48" y="36"/>
                    <a:pt x="48" y="36"/>
                    <a:pt x="48" y="37"/>
                  </a:cubicBezTo>
                  <a:cubicBezTo>
                    <a:pt x="50" y="32"/>
                    <a:pt x="50" y="26"/>
                    <a:pt x="49" y="20"/>
                  </a:cubicBezTo>
                  <a:cubicBezTo>
                    <a:pt x="45" y="7"/>
                    <a:pt x="30" y="0"/>
                    <a:pt x="17" y="4"/>
                  </a:cubicBezTo>
                  <a:cubicBezTo>
                    <a:pt x="8" y="6"/>
                    <a:pt x="2" y="13"/>
                    <a:pt x="0" y="21"/>
                  </a:cubicBezTo>
                  <a:cubicBezTo>
                    <a:pt x="3" y="19"/>
                    <a:pt x="6" y="17"/>
                    <a:pt x="10"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grpSp>
      <p:sp>
        <p:nvSpPr>
          <p:cNvPr id="35" name="文本框 34"/>
          <p:cNvSpPr txBox="1"/>
          <p:nvPr/>
        </p:nvSpPr>
        <p:spPr>
          <a:xfrm>
            <a:off x="5195989" y="1554278"/>
            <a:ext cx="2032591" cy="295429"/>
          </a:xfrm>
          <a:prstGeom prst="rect">
            <a:avLst/>
          </a:prstGeom>
          <a:noFill/>
        </p:spPr>
        <p:txBody>
          <a:bodyPr wrap="square" rtlCol="0">
            <a:spAutoFit/>
          </a:bodyPr>
          <a:lstStyle/>
          <a:p>
            <a:r>
              <a:rPr lang="zh-CN" altLang="en-US" sz="1800" b="1" dirty="0" smtClean="0"/>
              <a:t>制定纠正措施</a:t>
            </a:r>
            <a:endParaRPr lang="zh-CN" altLang="en-US" sz="1800" b="1" dirty="0"/>
          </a:p>
        </p:txBody>
      </p:sp>
      <p:sp>
        <p:nvSpPr>
          <p:cNvPr id="37" name="文本框 36"/>
          <p:cNvSpPr txBox="1"/>
          <p:nvPr/>
        </p:nvSpPr>
        <p:spPr>
          <a:xfrm>
            <a:off x="4656624" y="1940604"/>
            <a:ext cx="2660443" cy="1200329"/>
          </a:xfrm>
          <a:prstGeom prst="rect">
            <a:avLst/>
          </a:prstGeom>
          <a:noFill/>
        </p:spPr>
        <p:txBody>
          <a:bodyPr wrap="square" rtlCol="0">
            <a:spAutoFit/>
          </a:bodyPr>
          <a:lstStyle/>
          <a:p>
            <a:pPr marL="161925" indent="-161925">
              <a:buFont typeface="Arial" panose="020B0604020202020204" pitchFamily="34" charset="0"/>
              <a:buChar char="•"/>
            </a:pPr>
            <a:r>
              <a:rPr lang="zh-CN" altLang="en-US" sz="1800" dirty="0" smtClean="0"/>
              <a:t>根据分析出的根本原因</a:t>
            </a:r>
            <a:r>
              <a:rPr lang="zh-CN" altLang="en-US" sz="1800" smtClean="0"/>
              <a:t>，</a:t>
            </a:r>
            <a:r>
              <a:rPr lang="zh-CN" altLang="en-US" sz="1800" smtClean="0">
                <a:solidFill>
                  <a:srgbClr val="FF0000"/>
                </a:solidFill>
              </a:rPr>
              <a:t>制定可落地措施</a:t>
            </a:r>
            <a:endParaRPr lang="en-US" altLang="zh-CN" sz="1800" dirty="0" smtClean="0">
              <a:solidFill>
                <a:srgbClr val="FF0000"/>
              </a:solidFill>
            </a:endParaRPr>
          </a:p>
          <a:p>
            <a:pPr marL="161925" indent="-161925">
              <a:buFont typeface="Arial" panose="020B0604020202020204" pitchFamily="34" charset="0"/>
              <a:buChar char="•"/>
            </a:pPr>
            <a:r>
              <a:rPr lang="zh-CN" altLang="en-US" sz="1800" dirty="0" smtClean="0"/>
              <a:t>根据问题优先级、指派责任人，明确解决时间</a:t>
            </a:r>
            <a:endParaRPr lang="zh-CN" altLang="en-US" sz="1800" dirty="0"/>
          </a:p>
        </p:txBody>
      </p:sp>
      <p:grpSp>
        <p:nvGrpSpPr>
          <p:cNvPr id="12" name="组合 11"/>
          <p:cNvGrpSpPr/>
          <p:nvPr/>
        </p:nvGrpSpPr>
        <p:grpSpPr>
          <a:xfrm>
            <a:off x="8541067" y="1405297"/>
            <a:ext cx="2952000" cy="2052000"/>
            <a:chOff x="8378941" y="1374820"/>
            <a:chExt cx="2952000" cy="2052000"/>
          </a:xfrm>
        </p:grpSpPr>
        <p:sp>
          <p:nvSpPr>
            <p:cNvPr id="11" name="Rounded Rectangle 11"/>
            <p:cNvSpPr/>
            <p:nvPr/>
          </p:nvSpPr>
          <p:spPr>
            <a:xfrm>
              <a:off x="8378941" y="1374820"/>
              <a:ext cx="2952000" cy="2052000"/>
            </a:xfrm>
            <a:prstGeom prst="roundRect">
              <a:avLst/>
            </a:prstGeom>
            <a:noFill/>
            <a:ln w="63500">
              <a:solidFill>
                <a:srgbClr val="2B4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grpSp>
          <p:nvGrpSpPr>
            <p:cNvPr id="25" name="Group 26"/>
            <p:cNvGrpSpPr/>
            <p:nvPr/>
          </p:nvGrpSpPr>
          <p:grpSpPr>
            <a:xfrm>
              <a:off x="8645547" y="1531927"/>
              <a:ext cx="286090" cy="261748"/>
              <a:chOff x="7404097" y="3633795"/>
              <a:chExt cx="628654" cy="666749"/>
            </a:xfrm>
            <a:solidFill>
              <a:srgbClr val="2B4D8A"/>
            </a:solidFill>
          </p:grpSpPr>
          <p:sp>
            <p:nvSpPr>
              <p:cNvPr id="26" name="Freeform 20"/>
              <p:cNvSpPr>
                <a:spLocks noEditPoints="1"/>
              </p:cNvSpPr>
              <p:nvPr/>
            </p:nvSpPr>
            <p:spPr bwMode="auto">
              <a:xfrm>
                <a:off x="7404097" y="3870330"/>
                <a:ext cx="427038" cy="430214"/>
              </a:xfrm>
              <a:custGeom>
                <a:avLst/>
                <a:gdLst>
                  <a:gd name="T0" fmla="*/ 115 w 136"/>
                  <a:gd name="T1" fmla="*/ 94 h 137"/>
                  <a:gd name="T2" fmla="*/ 119 w 136"/>
                  <a:gd name="T3" fmla="*/ 83 h 137"/>
                  <a:gd name="T4" fmla="*/ 136 w 136"/>
                  <a:gd name="T5" fmla="*/ 77 h 137"/>
                  <a:gd name="T6" fmla="*/ 136 w 136"/>
                  <a:gd name="T7" fmla="*/ 68 h 137"/>
                  <a:gd name="T8" fmla="*/ 136 w 136"/>
                  <a:gd name="T9" fmla="*/ 60 h 137"/>
                  <a:gd name="T10" fmla="*/ 119 w 136"/>
                  <a:gd name="T11" fmla="*/ 54 h 137"/>
                  <a:gd name="T12" fmla="*/ 115 w 136"/>
                  <a:gd name="T13" fmla="*/ 43 h 137"/>
                  <a:gd name="T14" fmla="*/ 122 w 136"/>
                  <a:gd name="T15" fmla="*/ 27 h 137"/>
                  <a:gd name="T16" fmla="*/ 110 w 136"/>
                  <a:gd name="T17" fmla="*/ 14 h 137"/>
                  <a:gd name="T18" fmla="*/ 94 w 136"/>
                  <a:gd name="T19" fmla="*/ 22 h 137"/>
                  <a:gd name="T20" fmla="*/ 83 w 136"/>
                  <a:gd name="T21" fmla="*/ 18 h 137"/>
                  <a:gd name="T22" fmla="*/ 77 w 136"/>
                  <a:gd name="T23" fmla="*/ 1 h 137"/>
                  <a:gd name="T24" fmla="*/ 68 w 136"/>
                  <a:gd name="T25" fmla="*/ 0 h 137"/>
                  <a:gd name="T26" fmla="*/ 59 w 136"/>
                  <a:gd name="T27" fmla="*/ 1 h 137"/>
                  <a:gd name="T28" fmla="*/ 53 w 136"/>
                  <a:gd name="T29" fmla="*/ 18 h 137"/>
                  <a:gd name="T30" fmla="*/ 43 w 136"/>
                  <a:gd name="T31" fmla="*/ 22 h 137"/>
                  <a:gd name="T32" fmla="*/ 26 w 136"/>
                  <a:gd name="T33" fmla="*/ 14 h 137"/>
                  <a:gd name="T34" fmla="*/ 14 w 136"/>
                  <a:gd name="T35" fmla="*/ 27 h 137"/>
                  <a:gd name="T36" fmla="*/ 22 w 136"/>
                  <a:gd name="T37" fmla="*/ 43 h 137"/>
                  <a:gd name="T38" fmla="*/ 17 w 136"/>
                  <a:gd name="T39" fmla="*/ 54 h 137"/>
                  <a:gd name="T40" fmla="*/ 0 w 136"/>
                  <a:gd name="T41" fmla="*/ 60 h 137"/>
                  <a:gd name="T42" fmla="*/ 0 w 136"/>
                  <a:gd name="T43" fmla="*/ 68 h 137"/>
                  <a:gd name="T44" fmla="*/ 0 w 136"/>
                  <a:gd name="T45" fmla="*/ 77 h 137"/>
                  <a:gd name="T46" fmla="*/ 17 w 136"/>
                  <a:gd name="T47" fmla="*/ 83 h 137"/>
                  <a:gd name="T48" fmla="*/ 22 w 136"/>
                  <a:gd name="T49" fmla="*/ 94 h 137"/>
                  <a:gd name="T50" fmla="*/ 14 w 136"/>
                  <a:gd name="T51" fmla="*/ 110 h 137"/>
                  <a:gd name="T52" fmla="*/ 26 w 136"/>
                  <a:gd name="T53" fmla="*/ 123 h 137"/>
                  <a:gd name="T54" fmla="*/ 43 w 136"/>
                  <a:gd name="T55" fmla="*/ 115 h 137"/>
                  <a:gd name="T56" fmla="*/ 53 w 136"/>
                  <a:gd name="T57" fmla="*/ 119 h 137"/>
                  <a:gd name="T58" fmla="*/ 59 w 136"/>
                  <a:gd name="T59" fmla="*/ 136 h 137"/>
                  <a:gd name="T60" fmla="*/ 68 w 136"/>
                  <a:gd name="T61" fmla="*/ 137 h 137"/>
                  <a:gd name="T62" fmla="*/ 77 w 136"/>
                  <a:gd name="T63" fmla="*/ 136 h 137"/>
                  <a:gd name="T64" fmla="*/ 83 w 136"/>
                  <a:gd name="T65" fmla="*/ 119 h 137"/>
                  <a:gd name="T66" fmla="*/ 94 w 136"/>
                  <a:gd name="T67" fmla="*/ 115 h 137"/>
                  <a:gd name="T68" fmla="*/ 110 w 136"/>
                  <a:gd name="T69" fmla="*/ 123 h 137"/>
                  <a:gd name="T70" fmla="*/ 122 w 136"/>
                  <a:gd name="T71" fmla="*/ 110 h 137"/>
                  <a:gd name="T72" fmla="*/ 115 w 136"/>
                  <a:gd name="T73" fmla="*/ 94 h 137"/>
                  <a:gd name="T74" fmla="*/ 68 w 136"/>
                  <a:gd name="T75" fmla="*/ 92 h 137"/>
                  <a:gd name="T76" fmla="*/ 44 w 136"/>
                  <a:gd name="T77" fmla="*/ 68 h 137"/>
                  <a:gd name="T78" fmla="*/ 68 w 136"/>
                  <a:gd name="T79" fmla="*/ 45 h 137"/>
                  <a:gd name="T80" fmla="*/ 92 w 136"/>
                  <a:gd name="T81" fmla="*/ 68 h 137"/>
                  <a:gd name="T82" fmla="*/ 68 w 136"/>
                  <a:gd name="T83" fmla="*/ 92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6" h="137">
                    <a:moveTo>
                      <a:pt x="115" y="94"/>
                    </a:moveTo>
                    <a:cubicBezTo>
                      <a:pt x="116" y="91"/>
                      <a:pt x="118" y="87"/>
                      <a:pt x="119" y="83"/>
                    </a:cubicBezTo>
                    <a:cubicBezTo>
                      <a:pt x="136" y="77"/>
                      <a:pt x="136" y="77"/>
                      <a:pt x="136" y="77"/>
                    </a:cubicBezTo>
                    <a:cubicBezTo>
                      <a:pt x="136" y="74"/>
                      <a:pt x="136" y="71"/>
                      <a:pt x="136" y="68"/>
                    </a:cubicBezTo>
                    <a:cubicBezTo>
                      <a:pt x="136" y="65"/>
                      <a:pt x="136" y="63"/>
                      <a:pt x="136" y="60"/>
                    </a:cubicBezTo>
                    <a:cubicBezTo>
                      <a:pt x="119" y="54"/>
                      <a:pt x="119" y="54"/>
                      <a:pt x="119" y="54"/>
                    </a:cubicBezTo>
                    <a:cubicBezTo>
                      <a:pt x="118" y="50"/>
                      <a:pt x="116" y="46"/>
                      <a:pt x="115" y="43"/>
                    </a:cubicBezTo>
                    <a:cubicBezTo>
                      <a:pt x="122" y="27"/>
                      <a:pt x="122" y="27"/>
                      <a:pt x="122" y="27"/>
                    </a:cubicBezTo>
                    <a:cubicBezTo>
                      <a:pt x="119" y="22"/>
                      <a:pt x="115" y="18"/>
                      <a:pt x="110" y="14"/>
                    </a:cubicBezTo>
                    <a:cubicBezTo>
                      <a:pt x="94" y="22"/>
                      <a:pt x="94" y="22"/>
                      <a:pt x="94" y="22"/>
                    </a:cubicBezTo>
                    <a:cubicBezTo>
                      <a:pt x="90" y="20"/>
                      <a:pt x="87" y="19"/>
                      <a:pt x="83" y="18"/>
                    </a:cubicBezTo>
                    <a:cubicBezTo>
                      <a:pt x="77" y="1"/>
                      <a:pt x="77" y="1"/>
                      <a:pt x="77" y="1"/>
                    </a:cubicBezTo>
                    <a:cubicBezTo>
                      <a:pt x="74" y="0"/>
                      <a:pt x="71" y="0"/>
                      <a:pt x="68" y="0"/>
                    </a:cubicBezTo>
                    <a:cubicBezTo>
                      <a:pt x="65" y="0"/>
                      <a:pt x="62" y="0"/>
                      <a:pt x="59" y="1"/>
                    </a:cubicBezTo>
                    <a:cubicBezTo>
                      <a:pt x="53" y="18"/>
                      <a:pt x="53" y="18"/>
                      <a:pt x="53" y="18"/>
                    </a:cubicBezTo>
                    <a:cubicBezTo>
                      <a:pt x="50" y="19"/>
                      <a:pt x="46" y="20"/>
                      <a:pt x="43" y="22"/>
                    </a:cubicBezTo>
                    <a:cubicBezTo>
                      <a:pt x="26" y="14"/>
                      <a:pt x="26" y="14"/>
                      <a:pt x="26" y="14"/>
                    </a:cubicBezTo>
                    <a:cubicBezTo>
                      <a:pt x="22" y="18"/>
                      <a:pt x="18" y="22"/>
                      <a:pt x="14" y="27"/>
                    </a:cubicBezTo>
                    <a:cubicBezTo>
                      <a:pt x="22" y="43"/>
                      <a:pt x="22" y="43"/>
                      <a:pt x="22" y="43"/>
                    </a:cubicBezTo>
                    <a:cubicBezTo>
                      <a:pt x="20" y="46"/>
                      <a:pt x="18" y="50"/>
                      <a:pt x="17" y="54"/>
                    </a:cubicBezTo>
                    <a:cubicBezTo>
                      <a:pt x="0" y="60"/>
                      <a:pt x="0" y="60"/>
                      <a:pt x="0" y="60"/>
                    </a:cubicBezTo>
                    <a:cubicBezTo>
                      <a:pt x="0" y="63"/>
                      <a:pt x="0" y="65"/>
                      <a:pt x="0" y="68"/>
                    </a:cubicBezTo>
                    <a:cubicBezTo>
                      <a:pt x="0" y="71"/>
                      <a:pt x="0" y="74"/>
                      <a:pt x="0" y="77"/>
                    </a:cubicBezTo>
                    <a:cubicBezTo>
                      <a:pt x="17" y="83"/>
                      <a:pt x="17" y="83"/>
                      <a:pt x="17" y="83"/>
                    </a:cubicBezTo>
                    <a:cubicBezTo>
                      <a:pt x="18" y="87"/>
                      <a:pt x="20" y="91"/>
                      <a:pt x="22" y="94"/>
                    </a:cubicBezTo>
                    <a:cubicBezTo>
                      <a:pt x="14" y="110"/>
                      <a:pt x="14" y="110"/>
                      <a:pt x="14" y="110"/>
                    </a:cubicBezTo>
                    <a:cubicBezTo>
                      <a:pt x="18" y="115"/>
                      <a:pt x="22" y="119"/>
                      <a:pt x="26" y="123"/>
                    </a:cubicBezTo>
                    <a:cubicBezTo>
                      <a:pt x="43" y="115"/>
                      <a:pt x="43" y="115"/>
                      <a:pt x="43" y="115"/>
                    </a:cubicBezTo>
                    <a:cubicBezTo>
                      <a:pt x="46" y="117"/>
                      <a:pt x="50" y="118"/>
                      <a:pt x="53" y="119"/>
                    </a:cubicBezTo>
                    <a:cubicBezTo>
                      <a:pt x="59" y="136"/>
                      <a:pt x="59" y="136"/>
                      <a:pt x="59" y="136"/>
                    </a:cubicBezTo>
                    <a:cubicBezTo>
                      <a:pt x="62" y="137"/>
                      <a:pt x="65" y="137"/>
                      <a:pt x="68" y="137"/>
                    </a:cubicBezTo>
                    <a:cubicBezTo>
                      <a:pt x="71" y="137"/>
                      <a:pt x="74" y="137"/>
                      <a:pt x="77" y="136"/>
                    </a:cubicBezTo>
                    <a:cubicBezTo>
                      <a:pt x="83" y="119"/>
                      <a:pt x="83" y="119"/>
                      <a:pt x="83" y="119"/>
                    </a:cubicBezTo>
                    <a:cubicBezTo>
                      <a:pt x="87" y="118"/>
                      <a:pt x="90" y="117"/>
                      <a:pt x="94" y="115"/>
                    </a:cubicBezTo>
                    <a:cubicBezTo>
                      <a:pt x="110" y="123"/>
                      <a:pt x="110" y="123"/>
                      <a:pt x="110" y="123"/>
                    </a:cubicBezTo>
                    <a:cubicBezTo>
                      <a:pt x="115" y="119"/>
                      <a:pt x="119" y="115"/>
                      <a:pt x="122" y="110"/>
                    </a:cubicBezTo>
                    <a:lnTo>
                      <a:pt x="115" y="94"/>
                    </a:lnTo>
                    <a:close/>
                    <a:moveTo>
                      <a:pt x="68" y="92"/>
                    </a:moveTo>
                    <a:cubicBezTo>
                      <a:pt x="55" y="92"/>
                      <a:pt x="44" y="82"/>
                      <a:pt x="44" y="68"/>
                    </a:cubicBezTo>
                    <a:cubicBezTo>
                      <a:pt x="44" y="55"/>
                      <a:pt x="55" y="45"/>
                      <a:pt x="68" y="45"/>
                    </a:cubicBezTo>
                    <a:cubicBezTo>
                      <a:pt x="81" y="45"/>
                      <a:pt x="92" y="55"/>
                      <a:pt x="92" y="68"/>
                    </a:cubicBezTo>
                    <a:cubicBezTo>
                      <a:pt x="92" y="82"/>
                      <a:pt x="81" y="92"/>
                      <a:pt x="68" y="9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sp>
            <p:nvSpPr>
              <p:cNvPr id="27" name="Freeform 21"/>
              <p:cNvSpPr>
                <a:spLocks noEditPoints="1"/>
              </p:cNvSpPr>
              <p:nvPr/>
            </p:nvSpPr>
            <p:spPr bwMode="auto">
              <a:xfrm>
                <a:off x="7608885" y="3633795"/>
                <a:ext cx="282574" cy="282575"/>
              </a:xfrm>
              <a:custGeom>
                <a:avLst/>
                <a:gdLst>
                  <a:gd name="T0" fmla="*/ 4 w 90"/>
                  <a:gd name="T1" fmla="*/ 67 h 90"/>
                  <a:gd name="T2" fmla="*/ 16 w 90"/>
                  <a:gd name="T3" fmla="*/ 67 h 90"/>
                  <a:gd name="T4" fmla="*/ 22 w 90"/>
                  <a:gd name="T5" fmla="*/ 73 h 90"/>
                  <a:gd name="T6" fmla="*/ 21 w 90"/>
                  <a:gd name="T7" fmla="*/ 85 h 90"/>
                  <a:gd name="T8" fmla="*/ 26 w 90"/>
                  <a:gd name="T9" fmla="*/ 88 h 90"/>
                  <a:gd name="T10" fmla="*/ 32 w 90"/>
                  <a:gd name="T11" fmla="*/ 90 h 90"/>
                  <a:gd name="T12" fmla="*/ 40 w 90"/>
                  <a:gd name="T13" fmla="*/ 81 h 90"/>
                  <a:gd name="T14" fmla="*/ 48 w 90"/>
                  <a:gd name="T15" fmla="*/ 81 h 90"/>
                  <a:gd name="T16" fmla="*/ 56 w 90"/>
                  <a:gd name="T17" fmla="*/ 90 h 90"/>
                  <a:gd name="T18" fmla="*/ 67 w 90"/>
                  <a:gd name="T19" fmla="*/ 86 h 90"/>
                  <a:gd name="T20" fmla="*/ 67 w 90"/>
                  <a:gd name="T21" fmla="*/ 74 h 90"/>
                  <a:gd name="T22" fmla="*/ 73 w 90"/>
                  <a:gd name="T23" fmla="*/ 68 h 90"/>
                  <a:gd name="T24" fmla="*/ 85 w 90"/>
                  <a:gd name="T25" fmla="*/ 69 h 90"/>
                  <a:gd name="T26" fmla="*/ 87 w 90"/>
                  <a:gd name="T27" fmla="*/ 64 h 90"/>
                  <a:gd name="T28" fmla="*/ 89 w 90"/>
                  <a:gd name="T29" fmla="*/ 58 h 90"/>
                  <a:gd name="T30" fmla="*/ 81 w 90"/>
                  <a:gd name="T31" fmla="*/ 50 h 90"/>
                  <a:gd name="T32" fmla="*/ 81 w 90"/>
                  <a:gd name="T33" fmla="*/ 42 h 90"/>
                  <a:gd name="T34" fmla="*/ 90 w 90"/>
                  <a:gd name="T35" fmla="*/ 34 h 90"/>
                  <a:gd name="T36" fmla="*/ 86 w 90"/>
                  <a:gd name="T37" fmla="*/ 23 h 90"/>
                  <a:gd name="T38" fmla="*/ 73 w 90"/>
                  <a:gd name="T39" fmla="*/ 23 h 90"/>
                  <a:gd name="T40" fmla="*/ 68 w 90"/>
                  <a:gd name="T41" fmla="*/ 17 h 90"/>
                  <a:gd name="T42" fmla="*/ 69 w 90"/>
                  <a:gd name="T43" fmla="*/ 5 h 90"/>
                  <a:gd name="T44" fmla="*/ 63 w 90"/>
                  <a:gd name="T45" fmla="*/ 3 h 90"/>
                  <a:gd name="T46" fmla="*/ 58 w 90"/>
                  <a:gd name="T47" fmla="*/ 0 h 90"/>
                  <a:gd name="T48" fmla="*/ 49 w 90"/>
                  <a:gd name="T49" fmla="*/ 9 h 90"/>
                  <a:gd name="T50" fmla="*/ 41 w 90"/>
                  <a:gd name="T51" fmla="*/ 9 h 90"/>
                  <a:gd name="T52" fmla="*/ 33 w 90"/>
                  <a:gd name="T53" fmla="*/ 0 h 90"/>
                  <a:gd name="T54" fmla="*/ 22 w 90"/>
                  <a:gd name="T55" fmla="*/ 4 h 90"/>
                  <a:gd name="T56" fmla="*/ 23 w 90"/>
                  <a:gd name="T57" fmla="*/ 17 h 90"/>
                  <a:gd name="T58" fmla="*/ 17 w 90"/>
                  <a:gd name="T59" fmla="*/ 22 h 90"/>
                  <a:gd name="T60" fmla="*/ 5 w 90"/>
                  <a:gd name="T61" fmla="*/ 21 h 90"/>
                  <a:gd name="T62" fmla="*/ 2 w 90"/>
                  <a:gd name="T63" fmla="*/ 27 h 90"/>
                  <a:gd name="T64" fmla="*/ 0 w 90"/>
                  <a:gd name="T65" fmla="*/ 32 h 90"/>
                  <a:gd name="T66" fmla="*/ 9 w 90"/>
                  <a:gd name="T67" fmla="*/ 40 h 90"/>
                  <a:gd name="T68" fmla="*/ 9 w 90"/>
                  <a:gd name="T69" fmla="*/ 48 h 90"/>
                  <a:gd name="T70" fmla="*/ 0 w 90"/>
                  <a:gd name="T71" fmla="*/ 56 h 90"/>
                  <a:gd name="T72" fmla="*/ 4 w 90"/>
                  <a:gd name="T73" fmla="*/ 67 h 90"/>
                  <a:gd name="T74" fmla="*/ 30 w 90"/>
                  <a:gd name="T75" fmla="*/ 39 h 90"/>
                  <a:gd name="T76" fmla="*/ 51 w 90"/>
                  <a:gd name="T77" fmla="*/ 30 h 90"/>
                  <a:gd name="T78" fmla="*/ 60 w 90"/>
                  <a:gd name="T79" fmla="*/ 52 h 90"/>
                  <a:gd name="T80" fmla="*/ 38 w 90"/>
                  <a:gd name="T81" fmla="*/ 60 h 90"/>
                  <a:gd name="T82" fmla="*/ 30 w 90"/>
                  <a:gd name="T83" fmla="*/ 39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0" h="90">
                    <a:moveTo>
                      <a:pt x="4" y="67"/>
                    </a:moveTo>
                    <a:cubicBezTo>
                      <a:pt x="16" y="67"/>
                      <a:pt x="16" y="67"/>
                      <a:pt x="16" y="67"/>
                    </a:cubicBezTo>
                    <a:cubicBezTo>
                      <a:pt x="18" y="69"/>
                      <a:pt x="20" y="71"/>
                      <a:pt x="22" y="73"/>
                    </a:cubicBezTo>
                    <a:cubicBezTo>
                      <a:pt x="21" y="85"/>
                      <a:pt x="21" y="85"/>
                      <a:pt x="21" y="85"/>
                    </a:cubicBezTo>
                    <a:cubicBezTo>
                      <a:pt x="23" y="86"/>
                      <a:pt x="25" y="87"/>
                      <a:pt x="26" y="88"/>
                    </a:cubicBezTo>
                    <a:cubicBezTo>
                      <a:pt x="28" y="88"/>
                      <a:pt x="30" y="89"/>
                      <a:pt x="32" y="90"/>
                    </a:cubicBezTo>
                    <a:cubicBezTo>
                      <a:pt x="40" y="81"/>
                      <a:pt x="40" y="81"/>
                      <a:pt x="40" y="81"/>
                    </a:cubicBezTo>
                    <a:cubicBezTo>
                      <a:pt x="43" y="81"/>
                      <a:pt x="46" y="81"/>
                      <a:pt x="48" y="81"/>
                    </a:cubicBezTo>
                    <a:cubicBezTo>
                      <a:pt x="56" y="90"/>
                      <a:pt x="56" y="90"/>
                      <a:pt x="56" y="90"/>
                    </a:cubicBezTo>
                    <a:cubicBezTo>
                      <a:pt x="60" y="89"/>
                      <a:pt x="64" y="88"/>
                      <a:pt x="67" y="86"/>
                    </a:cubicBezTo>
                    <a:cubicBezTo>
                      <a:pt x="67" y="74"/>
                      <a:pt x="67" y="74"/>
                      <a:pt x="67" y="74"/>
                    </a:cubicBezTo>
                    <a:cubicBezTo>
                      <a:pt x="69" y="72"/>
                      <a:pt x="71" y="70"/>
                      <a:pt x="73" y="68"/>
                    </a:cubicBezTo>
                    <a:cubicBezTo>
                      <a:pt x="85" y="69"/>
                      <a:pt x="85" y="69"/>
                      <a:pt x="85" y="69"/>
                    </a:cubicBezTo>
                    <a:cubicBezTo>
                      <a:pt x="86" y="67"/>
                      <a:pt x="87" y="65"/>
                      <a:pt x="87" y="64"/>
                    </a:cubicBezTo>
                    <a:cubicBezTo>
                      <a:pt x="88" y="62"/>
                      <a:pt x="89" y="60"/>
                      <a:pt x="89" y="58"/>
                    </a:cubicBezTo>
                    <a:cubicBezTo>
                      <a:pt x="81" y="50"/>
                      <a:pt x="81" y="50"/>
                      <a:pt x="81" y="50"/>
                    </a:cubicBezTo>
                    <a:cubicBezTo>
                      <a:pt x="81" y="47"/>
                      <a:pt x="81" y="44"/>
                      <a:pt x="81" y="42"/>
                    </a:cubicBezTo>
                    <a:cubicBezTo>
                      <a:pt x="90" y="34"/>
                      <a:pt x="90" y="34"/>
                      <a:pt x="90" y="34"/>
                    </a:cubicBezTo>
                    <a:cubicBezTo>
                      <a:pt x="89" y="30"/>
                      <a:pt x="87" y="26"/>
                      <a:pt x="86" y="23"/>
                    </a:cubicBezTo>
                    <a:cubicBezTo>
                      <a:pt x="73" y="23"/>
                      <a:pt x="73" y="23"/>
                      <a:pt x="73" y="23"/>
                    </a:cubicBezTo>
                    <a:cubicBezTo>
                      <a:pt x="72" y="21"/>
                      <a:pt x="70" y="19"/>
                      <a:pt x="68" y="17"/>
                    </a:cubicBezTo>
                    <a:cubicBezTo>
                      <a:pt x="69" y="5"/>
                      <a:pt x="69" y="5"/>
                      <a:pt x="69" y="5"/>
                    </a:cubicBezTo>
                    <a:cubicBezTo>
                      <a:pt x="67" y="4"/>
                      <a:pt x="65" y="3"/>
                      <a:pt x="63" y="3"/>
                    </a:cubicBezTo>
                    <a:cubicBezTo>
                      <a:pt x="62" y="2"/>
                      <a:pt x="60" y="1"/>
                      <a:pt x="58" y="0"/>
                    </a:cubicBezTo>
                    <a:cubicBezTo>
                      <a:pt x="49" y="9"/>
                      <a:pt x="49" y="9"/>
                      <a:pt x="49" y="9"/>
                    </a:cubicBezTo>
                    <a:cubicBezTo>
                      <a:pt x="47" y="9"/>
                      <a:pt x="44" y="9"/>
                      <a:pt x="41" y="9"/>
                    </a:cubicBezTo>
                    <a:cubicBezTo>
                      <a:pt x="33" y="0"/>
                      <a:pt x="33" y="0"/>
                      <a:pt x="33" y="0"/>
                    </a:cubicBezTo>
                    <a:cubicBezTo>
                      <a:pt x="30" y="1"/>
                      <a:pt x="26" y="3"/>
                      <a:pt x="22" y="4"/>
                    </a:cubicBezTo>
                    <a:cubicBezTo>
                      <a:pt x="23" y="17"/>
                      <a:pt x="23" y="17"/>
                      <a:pt x="23" y="17"/>
                    </a:cubicBezTo>
                    <a:cubicBezTo>
                      <a:pt x="21" y="18"/>
                      <a:pt x="19" y="20"/>
                      <a:pt x="17" y="22"/>
                    </a:cubicBezTo>
                    <a:cubicBezTo>
                      <a:pt x="5" y="21"/>
                      <a:pt x="5" y="21"/>
                      <a:pt x="5" y="21"/>
                    </a:cubicBezTo>
                    <a:cubicBezTo>
                      <a:pt x="4" y="23"/>
                      <a:pt x="3" y="25"/>
                      <a:pt x="2" y="27"/>
                    </a:cubicBezTo>
                    <a:cubicBezTo>
                      <a:pt x="2" y="28"/>
                      <a:pt x="1" y="30"/>
                      <a:pt x="0" y="32"/>
                    </a:cubicBezTo>
                    <a:cubicBezTo>
                      <a:pt x="9" y="40"/>
                      <a:pt x="9" y="40"/>
                      <a:pt x="9" y="40"/>
                    </a:cubicBezTo>
                    <a:cubicBezTo>
                      <a:pt x="9" y="43"/>
                      <a:pt x="9" y="46"/>
                      <a:pt x="9" y="48"/>
                    </a:cubicBezTo>
                    <a:cubicBezTo>
                      <a:pt x="0" y="56"/>
                      <a:pt x="0" y="56"/>
                      <a:pt x="0" y="56"/>
                    </a:cubicBezTo>
                    <a:cubicBezTo>
                      <a:pt x="1" y="60"/>
                      <a:pt x="2" y="64"/>
                      <a:pt x="4" y="67"/>
                    </a:cubicBezTo>
                    <a:close/>
                    <a:moveTo>
                      <a:pt x="30" y="39"/>
                    </a:moveTo>
                    <a:cubicBezTo>
                      <a:pt x="34" y="30"/>
                      <a:pt x="43" y="27"/>
                      <a:pt x="51" y="30"/>
                    </a:cubicBezTo>
                    <a:cubicBezTo>
                      <a:pt x="60" y="34"/>
                      <a:pt x="63" y="43"/>
                      <a:pt x="60" y="52"/>
                    </a:cubicBezTo>
                    <a:cubicBezTo>
                      <a:pt x="56" y="60"/>
                      <a:pt x="47" y="63"/>
                      <a:pt x="38" y="60"/>
                    </a:cubicBezTo>
                    <a:cubicBezTo>
                      <a:pt x="30" y="56"/>
                      <a:pt x="26" y="47"/>
                      <a:pt x="30" y="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sp>
            <p:nvSpPr>
              <p:cNvPr id="28" name="Freeform 22"/>
              <p:cNvSpPr>
                <a:spLocks noEditPoints="1"/>
              </p:cNvSpPr>
              <p:nvPr/>
            </p:nvSpPr>
            <p:spPr bwMode="auto">
              <a:xfrm>
                <a:off x="7805738" y="3832226"/>
                <a:ext cx="227013" cy="228600"/>
              </a:xfrm>
              <a:custGeom>
                <a:avLst/>
                <a:gdLst>
                  <a:gd name="T0" fmla="*/ 63 w 72"/>
                  <a:gd name="T1" fmla="*/ 44 h 73"/>
                  <a:gd name="T2" fmla="*/ 72 w 72"/>
                  <a:gd name="T3" fmla="*/ 41 h 73"/>
                  <a:gd name="T4" fmla="*/ 72 w 72"/>
                  <a:gd name="T5" fmla="*/ 36 h 73"/>
                  <a:gd name="T6" fmla="*/ 72 w 72"/>
                  <a:gd name="T7" fmla="*/ 31 h 73"/>
                  <a:gd name="T8" fmla="*/ 63 w 72"/>
                  <a:gd name="T9" fmla="*/ 28 h 73"/>
                  <a:gd name="T10" fmla="*/ 60 w 72"/>
                  <a:gd name="T11" fmla="*/ 23 h 73"/>
                  <a:gd name="T12" fmla="*/ 64 w 72"/>
                  <a:gd name="T13" fmla="*/ 14 h 73"/>
                  <a:gd name="T14" fmla="*/ 58 w 72"/>
                  <a:gd name="T15" fmla="*/ 8 h 73"/>
                  <a:gd name="T16" fmla="*/ 49 w 72"/>
                  <a:gd name="T17" fmla="*/ 12 h 73"/>
                  <a:gd name="T18" fmla="*/ 43 w 72"/>
                  <a:gd name="T19" fmla="*/ 10 h 73"/>
                  <a:gd name="T20" fmla="*/ 40 w 72"/>
                  <a:gd name="T21" fmla="*/ 1 h 73"/>
                  <a:gd name="T22" fmla="*/ 35 w 72"/>
                  <a:gd name="T23" fmla="*/ 0 h 73"/>
                  <a:gd name="T24" fmla="*/ 31 w 72"/>
                  <a:gd name="T25" fmla="*/ 1 h 73"/>
                  <a:gd name="T26" fmla="*/ 28 w 72"/>
                  <a:gd name="T27" fmla="*/ 10 h 73"/>
                  <a:gd name="T28" fmla="*/ 22 w 72"/>
                  <a:gd name="T29" fmla="*/ 12 h 73"/>
                  <a:gd name="T30" fmla="*/ 13 w 72"/>
                  <a:gd name="T31" fmla="*/ 8 h 73"/>
                  <a:gd name="T32" fmla="*/ 7 w 72"/>
                  <a:gd name="T33" fmla="*/ 15 h 73"/>
                  <a:gd name="T34" fmla="*/ 11 w 72"/>
                  <a:gd name="T35" fmla="*/ 24 h 73"/>
                  <a:gd name="T36" fmla="*/ 9 w 72"/>
                  <a:gd name="T37" fmla="*/ 29 h 73"/>
                  <a:gd name="T38" fmla="*/ 0 w 72"/>
                  <a:gd name="T39" fmla="*/ 33 h 73"/>
                  <a:gd name="T40" fmla="*/ 0 w 72"/>
                  <a:gd name="T41" fmla="*/ 37 h 73"/>
                  <a:gd name="T42" fmla="*/ 0 w 72"/>
                  <a:gd name="T43" fmla="*/ 42 h 73"/>
                  <a:gd name="T44" fmla="*/ 9 w 72"/>
                  <a:gd name="T45" fmla="*/ 45 h 73"/>
                  <a:gd name="T46" fmla="*/ 12 w 72"/>
                  <a:gd name="T47" fmla="*/ 51 h 73"/>
                  <a:gd name="T48" fmla="*/ 8 w 72"/>
                  <a:gd name="T49" fmla="*/ 59 h 73"/>
                  <a:gd name="T50" fmla="*/ 15 w 72"/>
                  <a:gd name="T51" fmla="*/ 66 h 73"/>
                  <a:gd name="T52" fmla="*/ 23 w 72"/>
                  <a:gd name="T53" fmla="*/ 62 h 73"/>
                  <a:gd name="T54" fmla="*/ 29 w 72"/>
                  <a:gd name="T55" fmla="*/ 64 h 73"/>
                  <a:gd name="T56" fmla="*/ 32 w 72"/>
                  <a:gd name="T57" fmla="*/ 73 h 73"/>
                  <a:gd name="T58" fmla="*/ 37 w 72"/>
                  <a:gd name="T59" fmla="*/ 73 h 73"/>
                  <a:gd name="T60" fmla="*/ 41 w 72"/>
                  <a:gd name="T61" fmla="*/ 72 h 73"/>
                  <a:gd name="T62" fmla="*/ 44 w 72"/>
                  <a:gd name="T63" fmla="*/ 63 h 73"/>
                  <a:gd name="T64" fmla="*/ 50 w 72"/>
                  <a:gd name="T65" fmla="*/ 61 h 73"/>
                  <a:gd name="T66" fmla="*/ 59 w 72"/>
                  <a:gd name="T67" fmla="*/ 65 h 73"/>
                  <a:gd name="T68" fmla="*/ 65 w 72"/>
                  <a:gd name="T69" fmla="*/ 58 h 73"/>
                  <a:gd name="T70" fmla="*/ 61 w 72"/>
                  <a:gd name="T71" fmla="*/ 50 h 73"/>
                  <a:gd name="T72" fmla="*/ 63 w 72"/>
                  <a:gd name="T73" fmla="*/ 44 h 73"/>
                  <a:gd name="T74" fmla="*/ 36 w 72"/>
                  <a:gd name="T75" fmla="*/ 49 h 73"/>
                  <a:gd name="T76" fmla="*/ 23 w 72"/>
                  <a:gd name="T77" fmla="*/ 37 h 73"/>
                  <a:gd name="T78" fmla="*/ 36 w 72"/>
                  <a:gd name="T79" fmla="*/ 24 h 73"/>
                  <a:gd name="T80" fmla="*/ 49 w 72"/>
                  <a:gd name="T81" fmla="*/ 36 h 73"/>
                  <a:gd name="T82" fmla="*/ 36 w 72"/>
                  <a:gd name="T83" fmla="*/ 49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2" h="73">
                    <a:moveTo>
                      <a:pt x="63" y="44"/>
                    </a:moveTo>
                    <a:cubicBezTo>
                      <a:pt x="72" y="41"/>
                      <a:pt x="72" y="41"/>
                      <a:pt x="72" y="41"/>
                    </a:cubicBezTo>
                    <a:cubicBezTo>
                      <a:pt x="72" y="39"/>
                      <a:pt x="72" y="37"/>
                      <a:pt x="72" y="36"/>
                    </a:cubicBezTo>
                    <a:cubicBezTo>
                      <a:pt x="72" y="34"/>
                      <a:pt x="72" y="33"/>
                      <a:pt x="72" y="31"/>
                    </a:cubicBezTo>
                    <a:cubicBezTo>
                      <a:pt x="63" y="28"/>
                      <a:pt x="63" y="28"/>
                      <a:pt x="63" y="28"/>
                    </a:cubicBezTo>
                    <a:cubicBezTo>
                      <a:pt x="62" y="26"/>
                      <a:pt x="61" y="24"/>
                      <a:pt x="60" y="23"/>
                    </a:cubicBezTo>
                    <a:cubicBezTo>
                      <a:pt x="64" y="14"/>
                      <a:pt x="64" y="14"/>
                      <a:pt x="64" y="14"/>
                    </a:cubicBezTo>
                    <a:cubicBezTo>
                      <a:pt x="62" y="12"/>
                      <a:pt x="60" y="9"/>
                      <a:pt x="58" y="8"/>
                    </a:cubicBezTo>
                    <a:cubicBezTo>
                      <a:pt x="49" y="12"/>
                      <a:pt x="49" y="12"/>
                      <a:pt x="49" y="12"/>
                    </a:cubicBezTo>
                    <a:cubicBezTo>
                      <a:pt x="47" y="11"/>
                      <a:pt x="45" y="10"/>
                      <a:pt x="43" y="10"/>
                    </a:cubicBezTo>
                    <a:cubicBezTo>
                      <a:pt x="40" y="1"/>
                      <a:pt x="40" y="1"/>
                      <a:pt x="40" y="1"/>
                    </a:cubicBezTo>
                    <a:cubicBezTo>
                      <a:pt x="38" y="0"/>
                      <a:pt x="37" y="0"/>
                      <a:pt x="35" y="0"/>
                    </a:cubicBezTo>
                    <a:cubicBezTo>
                      <a:pt x="34" y="0"/>
                      <a:pt x="32" y="1"/>
                      <a:pt x="31" y="1"/>
                    </a:cubicBezTo>
                    <a:cubicBezTo>
                      <a:pt x="28" y="10"/>
                      <a:pt x="28" y="10"/>
                      <a:pt x="28" y="10"/>
                    </a:cubicBezTo>
                    <a:cubicBezTo>
                      <a:pt x="26" y="10"/>
                      <a:pt x="24" y="11"/>
                      <a:pt x="22" y="12"/>
                    </a:cubicBezTo>
                    <a:cubicBezTo>
                      <a:pt x="13" y="8"/>
                      <a:pt x="13" y="8"/>
                      <a:pt x="13" y="8"/>
                    </a:cubicBezTo>
                    <a:cubicBezTo>
                      <a:pt x="11" y="10"/>
                      <a:pt x="9" y="13"/>
                      <a:pt x="7" y="15"/>
                    </a:cubicBezTo>
                    <a:cubicBezTo>
                      <a:pt x="11" y="24"/>
                      <a:pt x="11" y="24"/>
                      <a:pt x="11" y="24"/>
                    </a:cubicBezTo>
                    <a:cubicBezTo>
                      <a:pt x="10" y="25"/>
                      <a:pt x="10" y="27"/>
                      <a:pt x="9" y="29"/>
                    </a:cubicBezTo>
                    <a:cubicBezTo>
                      <a:pt x="0" y="33"/>
                      <a:pt x="0" y="33"/>
                      <a:pt x="0" y="33"/>
                    </a:cubicBezTo>
                    <a:cubicBezTo>
                      <a:pt x="0" y="34"/>
                      <a:pt x="0" y="36"/>
                      <a:pt x="0" y="37"/>
                    </a:cubicBezTo>
                    <a:cubicBezTo>
                      <a:pt x="0" y="39"/>
                      <a:pt x="0" y="41"/>
                      <a:pt x="0" y="42"/>
                    </a:cubicBezTo>
                    <a:cubicBezTo>
                      <a:pt x="9" y="45"/>
                      <a:pt x="9" y="45"/>
                      <a:pt x="9" y="45"/>
                    </a:cubicBezTo>
                    <a:cubicBezTo>
                      <a:pt x="10" y="47"/>
                      <a:pt x="11" y="49"/>
                      <a:pt x="12" y="51"/>
                    </a:cubicBezTo>
                    <a:cubicBezTo>
                      <a:pt x="8" y="59"/>
                      <a:pt x="8" y="59"/>
                      <a:pt x="8" y="59"/>
                    </a:cubicBezTo>
                    <a:cubicBezTo>
                      <a:pt x="10" y="62"/>
                      <a:pt x="12" y="64"/>
                      <a:pt x="15" y="66"/>
                    </a:cubicBezTo>
                    <a:cubicBezTo>
                      <a:pt x="23" y="62"/>
                      <a:pt x="23" y="62"/>
                      <a:pt x="23" y="62"/>
                    </a:cubicBezTo>
                    <a:cubicBezTo>
                      <a:pt x="25" y="62"/>
                      <a:pt x="27" y="63"/>
                      <a:pt x="29" y="64"/>
                    </a:cubicBezTo>
                    <a:cubicBezTo>
                      <a:pt x="32" y="73"/>
                      <a:pt x="32" y="73"/>
                      <a:pt x="32" y="73"/>
                    </a:cubicBezTo>
                    <a:cubicBezTo>
                      <a:pt x="34" y="73"/>
                      <a:pt x="35" y="73"/>
                      <a:pt x="37" y="73"/>
                    </a:cubicBezTo>
                    <a:cubicBezTo>
                      <a:pt x="38" y="73"/>
                      <a:pt x="40" y="73"/>
                      <a:pt x="41" y="72"/>
                    </a:cubicBezTo>
                    <a:cubicBezTo>
                      <a:pt x="44" y="63"/>
                      <a:pt x="44" y="63"/>
                      <a:pt x="44" y="63"/>
                    </a:cubicBezTo>
                    <a:cubicBezTo>
                      <a:pt x="46" y="63"/>
                      <a:pt x="48" y="62"/>
                      <a:pt x="50" y="61"/>
                    </a:cubicBezTo>
                    <a:cubicBezTo>
                      <a:pt x="59" y="65"/>
                      <a:pt x="59" y="65"/>
                      <a:pt x="59" y="65"/>
                    </a:cubicBezTo>
                    <a:cubicBezTo>
                      <a:pt x="61" y="63"/>
                      <a:pt x="63" y="61"/>
                      <a:pt x="65" y="58"/>
                    </a:cubicBezTo>
                    <a:cubicBezTo>
                      <a:pt x="61" y="50"/>
                      <a:pt x="61" y="50"/>
                      <a:pt x="61" y="50"/>
                    </a:cubicBezTo>
                    <a:cubicBezTo>
                      <a:pt x="62" y="48"/>
                      <a:pt x="63" y="46"/>
                      <a:pt x="63" y="44"/>
                    </a:cubicBezTo>
                    <a:close/>
                    <a:moveTo>
                      <a:pt x="36" y="49"/>
                    </a:moveTo>
                    <a:cubicBezTo>
                      <a:pt x="29" y="49"/>
                      <a:pt x="24" y="44"/>
                      <a:pt x="23" y="37"/>
                    </a:cubicBezTo>
                    <a:cubicBezTo>
                      <a:pt x="23" y="30"/>
                      <a:pt x="29" y="24"/>
                      <a:pt x="36" y="24"/>
                    </a:cubicBezTo>
                    <a:cubicBezTo>
                      <a:pt x="43" y="24"/>
                      <a:pt x="49" y="29"/>
                      <a:pt x="49" y="36"/>
                    </a:cubicBezTo>
                    <a:cubicBezTo>
                      <a:pt x="49" y="43"/>
                      <a:pt x="43" y="49"/>
                      <a:pt x="36"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800"/>
              </a:p>
            </p:txBody>
          </p:sp>
        </p:grpSp>
        <p:sp>
          <p:nvSpPr>
            <p:cNvPr id="36" name="文本框 35"/>
            <p:cNvSpPr txBox="1"/>
            <p:nvPr/>
          </p:nvSpPr>
          <p:spPr>
            <a:xfrm>
              <a:off x="9028591" y="1470031"/>
              <a:ext cx="2102887" cy="369332"/>
            </a:xfrm>
            <a:prstGeom prst="rect">
              <a:avLst/>
            </a:prstGeom>
            <a:noFill/>
          </p:spPr>
          <p:txBody>
            <a:bodyPr wrap="square" rtlCol="0">
              <a:spAutoFit/>
            </a:bodyPr>
            <a:lstStyle/>
            <a:p>
              <a:r>
                <a:rPr lang="zh-CN" altLang="en-US" sz="1800" b="1" dirty="0" smtClean="0"/>
                <a:t>跟踪纠正措施</a:t>
              </a:r>
              <a:endParaRPr lang="zh-CN" altLang="en-US" sz="1800" b="1" dirty="0"/>
            </a:p>
          </p:txBody>
        </p:sp>
        <p:sp>
          <p:nvSpPr>
            <p:cNvPr id="38" name="文本框 37"/>
            <p:cNvSpPr txBox="1"/>
            <p:nvPr/>
          </p:nvSpPr>
          <p:spPr>
            <a:xfrm>
              <a:off x="8480707" y="1825426"/>
              <a:ext cx="2748468" cy="1477328"/>
            </a:xfrm>
            <a:prstGeom prst="rect">
              <a:avLst/>
            </a:prstGeom>
            <a:noFill/>
          </p:spPr>
          <p:txBody>
            <a:bodyPr wrap="square" rtlCol="0">
              <a:spAutoFit/>
            </a:bodyPr>
            <a:lstStyle/>
            <a:p>
              <a:pPr marL="161925" indent="-161925">
                <a:buFont typeface="Arial" panose="020B0604020202020204" pitchFamily="34" charset="0"/>
                <a:buChar char="•"/>
              </a:pPr>
              <a:r>
                <a:rPr lang="zh-CN" altLang="en-US" sz="1800" dirty="0" smtClean="0"/>
                <a:t>责任人实施纠正措施，</a:t>
              </a:r>
              <a:r>
                <a:rPr lang="zh-CN" altLang="en-US" sz="1800" dirty="0"/>
                <a:t>记录</a:t>
              </a:r>
              <a:r>
                <a:rPr lang="zh-CN" altLang="en-US" sz="1800" dirty="0" smtClean="0"/>
                <a:t>解决方法，更新状态；</a:t>
              </a:r>
              <a:endParaRPr lang="en-US" altLang="zh-CN" sz="1800" dirty="0" smtClean="0"/>
            </a:p>
            <a:p>
              <a:pPr marL="161925" indent="-161925">
                <a:buFont typeface="Arial" panose="020B0604020202020204" pitchFamily="34" charset="0"/>
                <a:buChar char="•"/>
              </a:pPr>
              <a:r>
                <a:rPr lang="zh-CN" altLang="en-US" sz="1800" dirty="0" smtClean="0"/>
                <a:t>项目经理跟踪实施过程，并进行验证至问题关闭</a:t>
              </a:r>
              <a:endParaRPr lang="zh-CN" altLang="en-US" sz="1800" dirty="0"/>
            </a:p>
          </p:txBody>
        </p:sp>
      </p:grpSp>
      <p:sp>
        <p:nvSpPr>
          <p:cNvPr id="39" name="右箭头 38"/>
          <p:cNvSpPr/>
          <p:nvPr/>
        </p:nvSpPr>
        <p:spPr>
          <a:xfrm>
            <a:off x="4064535" y="2222022"/>
            <a:ext cx="491443" cy="359746"/>
          </a:xfrm>
          <a:prstGeom prst="rightArrow">
            <a:avLst/>
          </a:prstGeom>
          <a:solidFill>
            <a:srgbClr val="2B4D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800"/>
          </a:p>
        </p:txBody>
      </p:sp>
      <p:sp>
        <p:nvSpPr>
          <p:cNvPr id="40" name="右箭头 39"/>
          <p:cNvSpPr/>
          <p:nvPr/>
        </p:nvSpPr>
        <p:spPr>
          <a:xfrm>
            <a:off x="7843027" y="2222022"/>
            <a:ext cx="491443" cy="359746"/>
          </a:xfrm>
          <a:prstGeom prst="rightArrow">
            <a:avLst/>
          </a:prstGeom>
          <a:solidFill>
            <a:srgbClr val="2B4D8A"/>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800"/>
          </a:p>
        </p:txBody>
      </p:sp>
      <p:sp>
        <p:nvSpPr>
          <p:cNvPr id="42" name="Rounded Rectangle 7"/>
          <p:cNvSpPr/>
          <p:nvPr/>
        </p:nvSpPr>
        <p:spPr>
          <a:xfrm>
            <a:off x="683503" y="3683856"/>
            <a:ext cx="11032782" cy="2696779"/>
          </a:xfrm>
          <a:prstGeom prst="roundRect">
            <a:avLst/>
          </a:prstGeom>
          <a:noFill/>
          <a:ln w="63500">
            <a:solidFill>
              <a:srgbClr val="2B4D8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800"/>
          </a:p>
        </p:txBody>
      </p:sp>
      <p:sp>
        <p:nvSpPr>
          <p:cNvPr id="43" name="文本框 42"/>
          <p:cNvSpPr txBox="1"/>
          <p:nvPr/>
        </p:nvSpPr>
        <p:spPr>
          <a:xfrm>
            <a:off x="932942" y="3712213"/>
            <a:ext cx="10550277" cy="2668423"/>
          </a:xfrm>
          <a:prstGeom prst="rect">
            <a:avLst/>
          </a:prstGeom>
          <a:noFill/>
        </p:spPr>
        <p:txBody>
          <a:bodyPr wrap="square" rtlCol="0">
            <a:spAutoFit/>
          </a:bodyPr>
          <a:lstStyle/>
          <a:p>
            <a:pPr>
              <a:lnSpc>
                <a:spcPct val="150000"/>
              </a:lnSpc>
            </a:pPr>
            <a:r>
              <a:rPr lang="zh-CN" altLang="en-US" sz="1800" b="1" dirty="0" smtClean="0">
                <a:solidFill>
                  <a:srgbClr val="FF0000"/>
                </a:solidFill>
                <a:effectLst>
                  <a:outerShdw blurRad="38100" dist="38100" dir="2700000" algn="tl">
                    <a:srgbClr val="000000">
                      <a:alpha val="43137"/>
                    </a:srgbClr>
                  </a:outerShdw>
                </a:effectLst>
              </a:rPr>
              <a:t>要求</a:t>
            </a:r>
            <a:endParaRPr lang="en-US" altLang="zh-CN" sz="1800" b="1" dirty="0" smtClean="0">
              <a:solidFill>
                <a:srgbClr val="FF0000"/>
              </a:solidFill>
              <a:effectLst>
                <a:outerShdw blurRad="38100" dist="38100" dir="2700000" algn="tl">
                  <a:srgbClr val="000000">
                    <a:alpha val="43137"/>
                  </a:srgbClr>
                </a:outerShdw>
              </a:effectLst>
            </a:endParaRPr>
          </a:p>
          <a:p>
            <a:pPr marL="285750" indent="-285750">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cs typeface="Times New Roman" panose="02020603050405020304" pitchFamily="18" charset="0"/>
              </a:rPr>
              <a:t>问题</a:t>
            </a:r>
            <a:r>
              <a:rPr lang="zh-CN" altLang="en-US" sz="1800" b="1" dirty="0">
                <a:latin typeface="微软雅黑" panose="020B0503020204020204" pitchFamily="34" charset="-122"/>
                <a:ea typeface="微软雅黑" panose="020B0503020204020204" pitchFamily="34" charset="-122"/>
                <a:cs typeface="Times New Roman" panose="02020603050405020304" pitchFamily="18" charset="0"/>
              </a:rPr>
              <a:t>重复</a:t>
            </a:r>
            <a:r>
              <a:rPr lang="zh-CN" altLang="en-US" sz="1800" b="1" dirty="0" smtClean="0">
                <a:latin typeface="微软雅黑" panose="020B0503020204020204" pitchFamily="34" charset="-122"/>
                <a:ea typeface="微软雅黑" panose="020B0503020204020204" pitchFamily="34" charset="-122"/>
                <a:cs typeface="Times New Roman" panose="02020603050405020304" pitchFamily="18" charset="0"/>
              </a:rPr>
              <a:t>出现</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：将</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问题升级</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，再分析找出</a:t>
            </a:r>
            <a:r>
              <a:rPr lang="zh-CN" altLang="en-US" sz="1800" dirty="0">
                <a:latin typeface="微软雅黑" panose="020B0503020204020204" pitchFamily="34" charset="-122"/>
                <a:ea typeface="微软雅黑" panose="020B0503020204020204" pitchFamily="34" charset="-122"/>
                <a:cs typeface="Times New Roman" panose="02020603050405020304" pitchFamily="18" charset="0"/>
              </a:rPr>
              <a:t>根本原因，采取新的纠正措施，并持续对问题进行跟踪处理直至</a:t>
            </a:r>
            <a:r>
              <a:rPr lang="zh-CN" altLang="en-US" sz="1800">
                <a:latin typeface="微软雅黑" panose="020B0503020204020204" pitchFamily="34" charset="-122"/>
                <a:ea typeface="微软雅黑" panose="020B0503020204020204" pitchFamily="34" charset="-122"/>
                <a:cs typeface="Times New Roman" panose="02020603050405020304" pitchFamily="18" charset="0"/>
              </a:rPr>
              <a:t>解决</a:t>
            </a:r>
            <a:r>
              <a:rPr lang="zh-CN" altLang="en-US" sz="180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必要时，问题解决后应及时进行复盘，输出财富库。</a:t>
            </a:r>
            <a:endParaRPr lang="en-US" altLang="zh-CN" sz="18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30000"/>
              </a:lnSpc>
              <a:buFont typeface="Arial" panose="020B0604020202020204" pitchFamily="34" charset="0"/>
              <a:buChar char="•"/>
            </a:pPr>
            <a:r>
              <a:rPr lang="zh-CN" altLang="en-US" sz="1800" b="1" dirty="0" smtClean="0">
                <a:latin typeface="微软雅黑" panose="020B0503020204020204" pitchFamily="34" charset="-122"/>
                <a:ea typeface="微软雅黑" panose="020B0503020204020204" pitchFamily="34" charset="-122"/>
                <a:cs typeface="Times New Roman" panose="02020603050405020304" pitchFamily="18" charset="0"/>
              </a:rPr>
              <a:t>问题反馈及共享</a:t>
            </a:r>
            <a:r>
              <a:rPr lang="zh-CN" altLang="en-US" sz="18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800" dirty="0" smtClean="0">
                <a:latin typeface="微软雅黑" panose="020B0503020204020204" pitchFamily="34" charset="-122"/>
                <a:ea typeface="微软雅黑" panose="020B0503020204020204" pitchFamily="34" charset="-122"/>
              </a:rPr>
              <a:t>发现的问题</a:t>
            </a:r>
            <a:r>
              <a:rPr lang="zh-CN" altLang="en-US" sz="1800" dirty="0">
                <a:latin typeface="微软雅黑" panose="020B0503020204020204" pitchFamily="34" charset="-122"/>
                <a:ea typeface="微软雅黑" panose="020B0503020204020204" pitchFamily="34" charset="-122"/>
              </a:rPr>
              <a:t>及时在</a:t>
            </a:r>
            <a:r>
              <a:rPr lang="zh-CN" altLang="en-US" sz="1800" dirty="0">
                <a:solidFill>
                  <a:srgbClr val="FF0000"/>
                </a:solidFill>
                <a:latin typeface="微软雅黑" panose="020B0503020204020204" pitchFamily="34" charset="-122"/>
                <a:ea typeface="微软雅黑" panose="020B0503020204020204" pitchFamily="34" charset="-122"/>
              </a:rPr>
              <a:t>项目</a:t>
            </a:r>
            <a:r>
              <a:rPr lang="zh-CN" altLang="en-US" sz="1800" dirty="0" smtClean="0">
                <a:solidFill>
                  <a:srgbClr val="FF0000"/>
                </a:solidFill>
                <a:latin typeface="微软雅黑" panose="020B0503020204020204" pitchFamily="34" charset="-122"/>
                <a:ea typeface="微软雅黑" panose="020B0503020204020204" pitchFamily="34" charset="-122"/>
              </a:rPr>
              <a:t>群汇报</a:t>
            </a:r>
            <a:r>
              <a:rPr lang="zh-CN" altLang="en-US" sz="1800" dirty="0" smtClean="0">
                <a:latin typeface="微软雅黑" panose="020B0503020204020204" pitchFamily="34" charset="-122"/>
                <a:ea typeface="微软雅黑" panose="020B0503020204020204" pitchFamily="34" charset="-122"/>
              </a:rPr>
              <a:t>，关键问题及时沟通并组织专家讨论（</a:t>
            </a:r>
            <a:r>
              <a:rPr lang="zh-CN" altLang="en-US" sz="1800" dirty="0">
                <a:latin typeface="微软雅黑" panose="020B0503020204020204" pitchFamily="34" charset="-122"/>
                <a:ea typeface="微软雅黑" panose="020B0503020204020204" pitchFamily="34" charset="-122"/>
              </a:rPr>
              <a:t>项目群是正式项目情况交流的渠道，不准撇开领导、另行</a:t>
            </a:r>
            <a:r>
              <a:rPr lang="zh-CN" altLang="en-US" sz="1800" dirty="0" smtClean="0">
                <a:latin typeface="微软雅黑" panose="020B0503020204020204" pitchFamily="34" charset="-122"/>
                <a:ea typeface="微软雅黑" panose="020B0503020204020204" pitchFamily="34" charset="-122"/>
              </a:rPr>
              <a:t>建群</a:t>
            </a:r>
            <a:r>
              <a:rPr lang="zh-CN" altLang="en-US" sz="1800" smtClean="0">
                <a:latin typeface="微软雅黑" panose="020B0503020204020204" pitchFamily="34" charset="-122"/>
                <a:ea typeface="微软雅黑" panose="020B0503020204020204" pitchFamily="34" charset="-122"/>
              </a:rPr>
              <a:t>）。</a:t>
            </a:r>
            <a:endParaRPr lang="en-US" altLang="zh-CN" sz="1800" smtClean="0">
              <a:latin typeface="微软雅黑" panose="020B0503020204020204" pitchFamily="34" charset="-122"/>
              <a:ea typeface="微软雅黑" panose="020B0503020204020204" pitchFamily="34" charset="-122"/>
            </a:endParaRPr>
          </a:p>
          <a:p>
            <a:pPr marL="285750" indent="-285750">
              <a:lnSpc>
                <a:spcPct val="130000"/>
              </a:lnSpc>
              <a:buFont typeface="Arial" panose="020B0604020202020204" pitchFamily="34" charset="0"/>
              <a:buChar char="•"/>
            </a:pPr>
            <a:r>
              <a:rPr lang="zh-CN" altLang="en-US" sz="1800" b="1" smtClean="0">
                <a:latin typeface="微软雅黑" panose="020B0503020204020204" pitchFamily="34" charset="-122"/>
                <a:ea typeface="微软雅黑" panose="020B0503020204020204" pitchFamily="34" charset="-122"/>
              </a:rPr>
              <a:t>问题影响评估</a:t>
            </a:r>
            <a:r>
              <a:rPr lang="zh-CN" altLang="en-US" sz="1800" smtClean="0">
                <a:latin typeface="微软雅黑" panose="020B0503020204020204" pitchFamily="34" charset="-122"/>
                <a:ea typeface="微软雅黑" panose="020B0503020204020204" pitchFamily="34" charset="-122"/>
              </a:rPr>
              <a:t>：当项目中已发生和可预测到的问题对本项目工期、工作量、需求实现等方面影响较大时，应及时组织专家评估，并制定有效方案。</a:t>
            </a:r>
            <a:endParaRPr lang="zh-CN" altLang="zh-CN" sz="1800" dirty="0">
              <a:latin typeface="微软雅黑" panose="020B0503020204020204" pitchFamily="34" charset="-122"/>
              <a:ea typeface="微软雅黑" panose="020B0503020204020204" pitchFamily="34" charset="-122"/>
            </a:endParaRPr>
          </a:p>
        </p:txBody>
      </p:sp>
      <p:sp>
        <p:nvSpPr>
          <p:cNvPr id="44" name="爆炸形 2 43"/>
          <p:cNvSpPr/>
          <p:nvPr/>
        </p:nvSpPr>
        <p:spPr>
          <a:xfrm>
            <a:off x="7330902" y="345125"/>
            <a:ext cx="4577541" cy="1296416"/>
          </a:xfrm>
          <a:prstGeom prst="irregularSeal2">
            <a:avLst/>
          </a:prstGeom>
          <a:noFill/>
          <a:ln w="15875">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dirty="0">
                <a:solidFill>
                  <a:schemeClr val="tx1"/>
                </a:solidFill>
              </a:rPr>
              <a:t>提取财富、总结经验！</a:t>
            </a:r>
            <a:endParaRPr lang="zh-CN" altLang="en-US" dirty="0">
              <a:solidFill>
                <a:schemeClr val="tx1"/>
              </a:solidFill>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风险管理</a:t>
            </a:r>
            <a:endParaRPr lang="zh-CN" altLang="en-US" dirty="0">
              <a:solidFill>
                <a:srgbClr val="FF0000"/>
              </a:solidFill>
            </a:endParaRPr>
          </a:p>
        </p:txBody>
      </p:sp>
      <p:graphicFrame>
        <p:nvGraphicFramePr>
          <p:cNvPr id="4" name="Object 1"/>
          <p:cNvGraphicFramePr>
            <a:graphicFrameLocks noChangeAspect="1"/>
          </p:cNvGraphicFramePr>
          <p:nvPr/>
        </p:nvGraphicFramePr>
        <p:xfrm>
          <a:off x="3404553" y="1129983"/>
          <a:ext cx="5262245" cy="4598035"/>
        </p:xfrm>
        <a:graphic>
          <a:graphicData uri="http://schemas.openxmlformats.org/presentationml/2006/ole">
            <mc:AlternateContent xmlns:mc="http://schemas.openxmlformats.org/markup-compatibility/2006">
              <mc:Choice xmlns:v="urn:schemas-microsoft-com:vml" Requires="v">
                <p:oleObj spid="_x0000_s6147" name="" r:id="rId1" imgW="6253480" imgH="5457190" progId="Visio.Drawing.11">
                  <p:embed/>
                </p:oleObj>
              </mc:Choice>
              <mc:Fallback>
                <p:oleObj name="" r:id="rId1" imgW="6253480" imgH="5457190" progId="Visio.Drawing.11">
                  <p:embed/>
                  <p:pic>
                    <p:nvPicPr>
                      <p:cNvPr id="0" name="Object 1"/>
                      <p:cNvPicPr/>
                      <p:nvPr/>
                    </p:nvPicPr>
                    <p:blipFill>
                      <a:blip r:embed="rId2"/>
                      <a:stretch>
                        <a:fillRect/>
                      </a:stretch>
                    </p:blipFill>
                    <p:spPr>
                      <a:xfrm>
                        <a:off x="3404553" y="1129983"/>
                        <a:ext cx="5262245" cy="4598035"/>
                      </a:xfrm>
                      <a:prstGeom prst="rect">
                        <a:avLst/>
                      </a:prstGeom>
                      <a:noFill/>
                      <a:ln w="38100">
                        <a:noFill/>
                        <a:miter/>
                      </a:ln>
                    </p:spPr>
                  </p:pic>
                </p:oleObj>
              </mc:Fallback>
            </mc:AlternateContent>
          </a:graphicData>
        </a:graphic>
      </p:graphicFrame>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风险管理</a:t>
            </a:r>
            <a:endParaRPr lang="zh-CN" altLang="en-US" dirty="0" smtClean="0">
              <a:solidFill>
                <a:srgbClr val="FF0000"/>
              </a:solidFill>
            </a:endParaRPr>
          </a:p>
        </p:txBody>
      </p:sp>
      <p:sp>
        <p:nvSpPr>
          <p:cNvPr id="4" name="Rectangle: Rounded Corners 6"/>
          <p:cNvSpPr/>
          <p:nvPr/>
        </p:nvSpPr>
        <p:spPr>
          <a:xfrm flipH="1">
            <a:off x="470526" y="1211641"/>
            <a:ext cx="4570095" cy="1801495"/>
          </a:xfrm>
          <a:prstGeom prst="roundRect">
            <a:avLst>
              <a:gd name="adj" fmla="val 7612"/>
            </a:avLst>
          </a:prstGeom>
          <a:solidFill>
            <a:schemeClr val="bg1"/>
          </a:solidFill>
          <a:ln>
            <a:noFill/>
          </a:ln>
          <a:effectLst>
            <a:outerShdw blurRad="1905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sz="1800">
              <a:sym typeface="+mn-ea"/>
            </a:endParaRPr>
          </a:p>
        </p:txBody>
      </p:sp>
      <p:sp>
        <p:nvSpPr>
          <p:cNvPr id="5" name="Rectangle: Rounded Corners 18"/>
          <p:cNvSpPr/>
          <p:nvPr/>
        </p:nvSpPr>
        <p:spPr>
          <a:xfrm flipH="1">
            <a:off x="5115551" y="1211641"/>
            <a:ext cx="4570095" cy="1801495"/>
          </a:xfrm>
          <a:prstGeom prst="roundRect">
            <a:avLst>
              <a:gd name="adj" fmla="val 7612"/>
            </a:avLst>
          </a:prstGeom>
          <a:solidFill>
            <a:schemeClr val="bg1"/>
          </a:solidFill>
          <a:ln>
            <a:noFill/>
          </a:ln>
          <a:effectLst>
            <a:outerShdw blurRad="1905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sz="1800">
              <a:sym typeface="+mn-ea"/>
            </a:endParaRPr>
          </a:p>
        </p:txBody>
      </p:sp>
      <p:sp>
        <p:nvSpPr>
          <p:cNvPr id="6" name="Rectangle: Rounded Corners 29"/>
          <p:cNvSpPr/>
          <p:nvPr/>
        </p:nvSpPr>
        <p:spPr>
          <a:xfrm flipH="1">
            <a:off x="470526" y="3349686"/>
            <a:ext cx="4570095" cy="1867535"/>
          </a:xfrm>
          <a:prstGeom prst="roundRect">
            <a:avLst>
              <a:gd name="adj" fmla="val 7612"/>
            </a:avLst>
          </a:prstGeom>
          <a:solidFill>
            <a:schemeClr val="bg1"/>
          </a:solidFill>
          <a:ln>
            <a:noFill/>
          </a:ln>
          <a:effectLst>
            <a:outerShdw blurRad="1905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sz="1800">
              <a:latin typeface="微软雅黑" panose="020B0503020204020204" pitchFamily="34" charset="-122"/>
              <a:ea typeface="微软雅黑" panose="020B0503020204020204" pitchFamily="34" charset="-122"/>
              <a:sym typeface="+mn-ea"/>
            </a:endParaRPr>
          </a:p>
        </p:txBody>
      </p:sp>
      <p:sp>
        <p:nvSpPr>
          <p:cNvPr id="8" name="Rectangle: Rounded Corners 40"/>
          <p:cNvSpPr/>
          <p:nvPr/>
        </p:nvSpPr>
        <p:spPr>
          <a:xfrm flipH="1">
            <a:off x="5115551" y="3349686"/>
            <a:ext cx="4570095" cy="1867535"/>
          </a:xfrm>
          <a:prstGeom prst="roundRect">
            <a:avLst>
              <a:gd name="adj" fmla="val 7612"/>
            </a:avLst>
          </a:prstGeom>
          <a:solidFill>
            <a:schemeClr val="bg1"/>
          </a:solidFill>
          <a:ln>
            <a:noFill/>
          </a:ln>
          <a:effectLst>
            <a:outerShdw blurRad="190500"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ID" sz="1800">
              <a:latin typeface="微软雅黑" panose="020B0503020204020204" pitchFamily="34" charset="-122"/>
              <a:ea typeface="微软雅黑" panose="020B0503020204020204" pitchFamily="34" charset="-122"/>
              <a:sym typeface="+mn-ea"/>
            </a:endParaRPr>
          </a:p>
        </p:txBody>
      </p:sp>
      <p:sp>
        <p:nvSpPr>
          <p:cNvPr id="10" name="Oval 22"/>
          <p:cNvSpPr/>
          <p:nvPr/>
        </p:nvSpPr>
        <p:spPr>
          <a:xfrm>
            <a:off x="5366376" y="1565971"/>
            <a:ext cx="200660" cy="200660"/>
          </a:xfrm>
          <a:prstGeom prst="ellipse">
            <a:avLst/>
          </a:prstGeom>
          <a:gradFill>
            <a:gsLst>
              <a:gs pos="0">
                <a:srgbClr val="208CC3"/>
              </a:gs>
              <a:gs pos="100000">
                <a:srgbClr val="1C79A9"/>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0">
              <a:latin typeface="微软雅黑" panose="020B0503020204020204" pitchFamily="34" charset="-122"/>
              <a:ea typeface="微软雅黑" panose="020B0503020204020204" pitchFamily="34" charset="-122"/>
            </a:endParaRPr>
          </a:p>
        </p:txBody>
      </p:sp>
      <p:sp>
        <p:nvSpPr>
          <p:cNvPr id="11" name="Oval 33"/>
          <p:cNvSpPr/>
          <p:nvPr/>
        </p:nvSpPr>
        <p:spPr>
          <a:xfrm>
            <a:off x="800091" y="3641151"/>
            <a:ext cx="175260" cy="175260"/>
          </a:xfrm>
          <a:prstGeom prst="ellipse">
            <a:avLst/>
          </a:prstGeom>
          <a:gradFill>
            <a:gsLst>
              <a:gs pos="0">
                <a:srgbClr val="4085D2"/>
              </a:gs>
              <a:gs pos="100000">
                <a:srgbClr val="3073BC"/>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0">
              <a:latin typeface="微软雅黑" panose="020B0503020204020204" pitchFamily="34" charset="-122"/>
              <a:ea typeface="微软雅黑" panose="020B0503020204020204" pitchFamily="34" charset="-122"/>
            </a:endParaRPr>
          </a:p>
        </p:txBody>
      </p:sp>
      <p:sp>
        <p:nvSpPr>
          <p:cNvPr id="12" name="Oval 7"/>
          <p:cNvSpPr/>
          <p:nvPr/>
        </p:nvSpPr>
        <p:spPr>
          <a:xfrm>
            <a:off x="800091" y="1571051"/>
            <a:ext cx="195580" cy="195580"/>
          </a:xfrm>
          <a:prstGeom prst="ellipse">
            <a:avLst/>
          </a:prstGeom>
          <a:gradFill>
            <a:gsLst>
              <a:gs pos="0">
                <a:schemeClr val="accent1"/>
              </a:gs>
              <a:gs pos="100000">
                <a:schemeClr val="accent1">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0">
              <a:latin typeface="微软雅黑" panose="020B0503020204020204" pitchFamily="34" charset="-122"/>
              <a:ea typeface="微软雅黑" panose="020B0503020204020204" pitchFamily="34" charset="-122"/>
            </a:endParaRPr>
          </a:p>
        </p:txBody>
      </p:sp>
      <p:sp>
        <p:nvSpPr>
          <p:cNvPr id="13" name="文本框 12"/>
          <p:cNvSpPr txBox="1"/>
          <p:nvPr/>
        </p:nvSpPr>
        <p:spPr>
          <a:xfrm>
            <a:off x="1118226" y="1391981"/>
            <a:ext cx="3514725" cy="460375"/>
          </a:xfrm>
          <a:prstGeom prst="rect">
            <a:avLst/>
          </a:prstGeom>
          <a:noFill/>
          <a:ln w="9525">
            <a:noFill/>
          </a:ln>
        </p:spPr>
        <p:txBody>
          <a:bodyPr wrap="square">
            <a:spAutoFit/>
          </a:bodyPr>
          <a:lstStyle/>
          <a:p>
            <a:pPr marL="0" indent="0">
              <a:lnSpc>
                <a:spcPct val="150000"/>
              </a:lnSpc>
              <a:buFont typeface="微软雅黑" panose="020B0503020204020204" pitchFamily="34" charset="-122"/>
              <a:buNone/>
            </a:pPr>
            <a:r>
              <a:rPr lang="zh-CN" sz="1600" b="1">
                <a:solidFill>
                  <a:schemeClr val="tx1">
                    <a:lumMod val="65000"/>
                    <a:lumOff val="35000"/>
                  </a:schemeClr>
                </a:solidFill>
                <a:latin typeface="微软雅黑" panose="020B0503020204020204" pitchFamily="34" charset="-122"/>
                <a:ea typeface="微软雅黑" panose="020B0503020204020204" pitchFamily="34" charset="-122"/>
              </a:rPr>
              <a:t>风险识别</a:t>
            </a:r>
            <a:endParaRPr lang="zh-CN" sz="1600" b="1">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4" name="Oval 7"/>
          <p:cNvSpPr/>
          <p:nvPr/>
        </p:nvSpPr>
        <p:spPr>
          <a:xfrm>
            <a:off x="5380981" y="3635436"/>
            <a:ext cx="180975" cy="180975"/>
          </a:xfrm>
          <a:prstGeom prst="ellipse">
            <a:avLst/>
          </a:prstGeom>
          <a:gradFill>
            <a:gsLst>
              <a:gs pos="0">
                <a:schemeClr val="accent1"/>
              </a:gs>
              <a:gs pos="100000">
                <a:schemeClr val="accent1">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00">
              <a:latin typeface="微软雅黑" panose="020B0503020204020204" pitchFamily="34" charset="-122"/>
              <a:ea typeface="微软雅黑" panose="020B0503020204020204" pitchFamily="34" charset="-122"/>
            </a:endParaRPr>
          </a:p>
        </p:txBody>
      </p:sp>
      <p:sp>
        <p:nvSpPr>
          <p:cNvPr id="15" name="Rectangle 23"/>
          <p:cNvSpPr/>
          <p:nvPr/>
        </p:nvSpPr>
        <p:spPr>
          <a:xfrm>
            <a:off x="741036" y="1880296"/>
            <a:ext cx="4084955" cy="866140"/>
          </a:xfrm>
          <a:prstGeom prst="rect">
            <a:avLst/>
          </a:prstGeom>
        </p:spPr>
        <p:txBody>
          <a:bodyPr wrap="square">
            <a:spAutoFit/>
          </a:bodyPr>
          <a:lstStyle/>
          <a:p>
            <a:pPr>
              <a:lnSpc>
                <a:spcPct val="12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确定对项目的进度、成本和质量造成不利影响的风险的来源、风险产生的条件，描述其风险特征和确定哪些风险有可能影响本项目。</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5690861" y="1391981"/>
            <a:ext cx="3514725" cy="460375"/>
          </a:xfrm>
          <a:prstGeom prst="rect">
            <a:avLst/>
          </a:prstGeom>
          <a:noFill/>
          <a:ln w="9525">
            <a:noFill/>
          </a:ln>
        </p:spPr>
        <p:txBody>
          <a:bodyPr wrap="square">
            <a:spAutoFit/>
          </a:bodyPr>
          <a:lstStyle/>
          <a:p>
            <a:pPr marL="0" indent="0">
              <a:lnSpc>
                <a:spcPct val="150000"/>
              </a:lnSpc>
              <a:buFont typeface="微软雅黑" panose="020B0503020204020204" pitchFamily="34" charset="-122"/>
              <a:buNone/>
            </a:pPr>
            <a:r>
              <a:rPr lang="zh-CN" sz="1600" b="1">
                <a:solidFill>
                  <a:schemeClr val="tx1">
                    <a:lumMod val="65000"/>
                    <a:lumOff val="35000"/>
                  </a:schemeClr>
                </a:solidFill>
                <a:latin typeface="微软雅黑" panose="020B0503020204020204" pitchFamily="34" charset="-122"/>
                <a:ea typeface="微软雅黑" panose="020B0503020204020204" pitchFamily="34" charset="-122"/>
              </a:rPr>
              <a:t>风险评估</a:t>
            </a:r>
            <a:endParaRPr lang="zh-CN" sz="1600" b="1">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7" name="Rectangle 23"/>
          <p:cNvSpPr/>
          <p:nvPr/>
        </p:nvSpPr>
        <p:spPr>
          <a:xfrm>
            <a:off x="5325736" y="1877121"/>
            <a:ext cx="4072890" cy="1124585"/>
          </a:xfrm>
          <a:prstGeom prst="rect">
            <a:avLst/>
          </a:prstGeom>
        </p:spPr>
        <p:txBody>
          <a:bodyPr wrap="square">
            <a:spAutoFit/>
          </a:bodyPr>
          <a:lstStyle/>
          <a:p>
            <a:pPr>
              <a:lnSpc>
                <a:spcPct val="12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运用风险参数（风险概率、风险影响、风险值等）对每个风险进行评估和量化，并依据风险对项目目标的影响程度对项目风险进行分级排序。</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nSpc>
                <a:spcPct val="120000"/>
              </a:lnSpc>
            </a:pP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8" name="文本框 17"/>
          <p:cNvSpPr txBox="1"/>
          <p:nvPr/>
        </p:nvSpPr>
        <p:spPr>
          <a:xfrm>
            <a:off x="1118226" y="3463351"/>
            <a:ext cx="3514725" cy="460375"/>
          </a:xfrm>
          <a:prstGeom prst="rect">
            <a:avLst/>
          </a:prstGeom>
          <a:noFill/>
          <a:ln w="9525">
            <a:noFill/>
          </a:ln>
        </p:spPr>
        <p:txBody>
          <a:bodyPr wrap="square">
            <a:spAutoFit/>
          </a:bodyPr>
          <a:lstStyle/>
          <a:p>
            <a:pPr marL="0" indent="0">
              <a:lnSpc>
                <a:spcPct val="150000"/>
              </a:lnSpc>
              <a:buFont typeface="微软雅黑" panose="020B0503020204020204" pitchFamily="34" charset="-122"/>
              <a:buNone/>
            </a:pPr>
            <a:r>
              <a:rPr lang="zh-CN" sz="1600" b="1">
                <a:solidFill>
                  <a:schemeClr val="tx1">
                    <a:lumMod val="65000"/>
                    <a:lumOff val="35000"/>
                  </a:schemeClr>
                </a:solidFill>
                <a:latin typeface="微软雅黑" panose="020B0503020204020204" pitchFamily="34" charset="-122"/>
                <a:ea typeface="微软雅黑" panose="020B0503020204020204" pitchFamily="34" charset="-122"/>
              </a:rPr>
              <a:t>风险应对</a:t>
            </a:r>
            <a:endParaRPr lang="zh-CN" sz="1600" b="1">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9" name="Rectangle 23"/>
          <p:cNvSpPr/>
          <p:nvPr/>
        </p:nvSpPr>
        <p:spPr>
          <a:xfrm>
            <a:off x="744846" y="3967541"/>
            <a:ext cx="4081145" cy="866140"/>
          </a:xfrm>
          <a:prstGeom prst="rect">
            <a:avLst/>
          </a:prstGeom>
        </p:spPr>
        <p:txBody>
          <a:bodyPr wrap="square">
            <a:spAutoFit/>
          </a:bodyPr>
          <a:lstStyle/>
          <a:p>
            <a:pPr>
              <a:lnSpc>
                <a:spcPct val="12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针对风险量化的结果，针对那些对项目来说最重要的风险拟订风险应对策略和技术手段的过程。</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nSpc>
                <a:spcPct val="120000"/>
              </a:lnSpc>
            </a:pP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0" name="文本框 19"/>
          <p:cNvSpPr txBox="1"/>
          <p:nvPr/>
        </p:nvSpPr>
        <p:spPr>
          <a:xfrm>
            <a:off x="5714991" y="3463351"/>
            <a:ext cx="3514725" cy="460375"/>
          </a:xfrm>
          <a:prstGeom prst="rect">
            <a:avLst/>
          </a:prstGeom>
          <a:noFill/>
          <a:ln w="9525">
            <a:noFill/>
          </a:ln>
        </p:spPr>
        <p:txBody>
          <a:bodyPr wrap="square">
            <a:spAutoFit/>
          </a:bodyPr>
          <a:lstStyle/>
          <a:p>
            <a:pPr marL="0" indent="0">
              <a:lnSpc>
                <a:spcPct val="150000"/>
              </a:lnSpc>
              <a:buFont typeface="微软雅黑" panose="020B0503020204020204" pitchFamily="34" charset="-122"/>
              <a:buNone/>
            </a:pPr>
            <a:r>
              <a:rPr lang="zh-CN" sz="1600" b="1">
                <a:solidFill>
                  <a:schemeClr val="tx1">
                    <a:lumMod val="65000"/>
                    <a:lumOff val="35000"/>
                  </a:schemeClr>
                </a:solidFill>
                <a:latin typeface="微软雅黑" panose="020B0503020204020204" pitchFamily="34" charset="-122"/>
                <a:ea typeface="微软雅黑" panose="020B0503020204020204" pitchFamily="34" charset="-122"/>
              </a:rPr>
              <a:t>风险监控</a:t>
            </a:r>
            <a:endParaRPr lang="zh-CN" sz="1600" b="1">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1" name="Rectangle 23"/>
          <p:cNvSpPr/>
          <p:nvPr/>
        </p:nvSpPr>
        <p:spPr>
          <a:xfrm>
            <a:off x="5325736" y="3967541"/>
            <a:ext cx="4072890" cy="1383030"/>
          </a:xfrm>
          <a:prstGeom prst="rect">
            <a:avLst/>
          </a:prstGeom>
        </p:spPr>
        <p:txBody>
          <a:bodyPr wrap="square">
            <a:spAutoFit/>
          </a:bodyPr>
          <a:lstStyle/>
          <a:p>
            <a:pPr>
              <a:lnSpc>
                <a:spcPct val="120000"/>
              </a:lnSpc>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涉及整个项目管理过程中定期监督每个风险的状态，并在适当时候实施风险应对措施。该活动的输出包括应对风险的应对措施以及更新的风险跟踪表。</a:t>
            </a: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a:p>
            <a:pPr>
              <a:lnSpc>
                <a:spcPct val="120000"/>
              </a:lnSpc>
            </a:pPr>
            <a:endPar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2" name="圆角矩形 21"/>
          <p:cNvSpPr/>
          <p:nvPr/>
        </p:nvSpPr>
        <p:spPr>
          <a:xfrm>
            <a:off x="470526" y="5466141"/>
            <a:ext cx="9185275" cy="337185"/>
          </a:xfrm>
          <a:prstGeom prst="roundRect">
            <a:avLst/>
          </a:prstGeom>
          <a:solidFill>
            <a:schemeClr val="bg1"/>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3" name="文本框 22"/>
          <p:cNvSpPr txBox="1"/>
          <p:nvPr/>
        </p:nvSpPr>
        <p:spPr>
          <a:xfrm>
            <a:off x="470526" y="5466141"/>
            <a:ext cx="9215755" cy="337185"/>
          </a:xfrm>
          <a:prstGeom prst="rect">
            <a:avLst/>
          </a:prstGeom>
          <a:noFill/>
        </p:spPr>
        <p:txBody>
          <a:bodyPr wrap="square" rtlCol="0">
            <a:spAutoFit/>
          </a:bodyPr>
          <a:lstStyle/>
          <a:p>
            <a:r>
              <a:rPr lang="en-US" altLang="zh-CN" sz="1600" b="1" dirty="0">
                <a:solidFill>
                  <a:srgbClr val="FF0000"/>
                </a:solidFill>
                <a:latin typeface="微软雅黑" panose="020B0503020204020204" pitchFamily="34" charset="-122"/>
                <a:ea typeface="微软雅黑" panose="020B0503020204020204" pitchFamily="34" charset="-122"/>
                <a:sym typeface="+mn-ea"/>
              </a:rPr>
              <a:t>        </a:t>
            </a:r>
            <a:r>
              <a:rPr lang="zh-CN" altLang="en-US" sz="1600" b="1" dirty="0">
                <a:solidFill>
                  <a:srgbClr val="FF0000"/>
                </a:solidFill>
                <a:latin typeface="微软雅黑" panose="020B0503020204020204" pitchFamily="34" charset="-122"/>
                <a:ea typeface="微软雅黑" panose="020B0503020204020204" pitchFamily="34" charset="-122"/>
                <a:sym typeface="+mn-ea"/>
              </a:rPr>
              <a:t>风险识别不是一次就可以完成的事，应当在项目生命周期内自始至终地定期进行。</a:t>
            </a:r>
            <a:endParaRPr lang="zh-CN" altLang="en-US" sz="1600" b="1" dirty="0">
              <a:solidFill>
                <a:srgbClr val="FF0000"/>
              </a:solidFill>
              <a:latin typeface="微软雅黑" panose="020B0503020204020204" pitchFamily="34" charset="-122"/>
              <a:ea typeface="微软雅黑" panose="020B0503020204020204" pitchFamily="34" charset="-122"/>
              <a:sym typeface="+mn-ea"/>
            </a:endParaRPr>
          </a:p>
        </p:txBody>
      </p:sp>
      <p:sp>
        <p:nvSpPr>
          <p:cNvPr id="24" name="五角星 23"/>
          <p:cNvSpPr/>
          <p:nvPr/>
        </p:nvSpPr>
        <p:spPr>
          <a:xfrm>
            <a:off x="602606" y="5522656"/>
            <a:ext cx="271145" cy="219075"/>
          </a:xfrm>
          <a:prstGeom prst="star5">
            <a:avLst/>
          </a:prstGeom>
          <a:solidFill>
            <a:srgbClr val="FFFF00"/>
          </a:solidFill>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cSld>
  <p:clrMapOvr>
    <a:masterClrMapping/>
  </p:clrMapOvr>
  <p:transition/>
  <p:timing>
    <p:tnLst>
      <p:par>
        <p:cTn id="1" dur="indefinite" restart="never" nodeType="tmRoot"/>
      </p:par>
    </p:tnLst>
    <p:bldLst>
      <p:bldP spid="4" grpId="0" bldLvl="0" animBg="1"/>
      <p:bldP spid="5" grpId="0" bldLvl="0" animBg="1"/>
      <p:bldP spid="6" grpId="0" bldLvl="0" animBg="1"/>
      <p:bldP spid="8"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风险管理</a:t>
            </a:r>
            <a:endParaRPr lang="zh-CN" altLang="en-US" dirty="0">
              <a:solidFill>
                <a:srgbClr val="FF0000"/>
              </a:solidFill>
            </a:endParaRPr>
          </a:p>
        </p:txBody>
      </p:sp>
      <p:graphicFrame>
        <p:nvGraphicFramePr>
          <p:cNvPr id="25" name="表格 24"/>
          <p:cNvGraphicFramePr/>
          <p:nvPr>
            <p:custDataLst>
              <p:tags r:id="rId1"/>
            </p:custDataLst>
          </p:nvPr>
        </p:nvGraphicFramePr>
        <p:xfrm>
          <a:off x="539750" y="2076450"/>
          <a:ext cx="8530590" cy="2667000"/>
        </p:xfrm>
        <a:graphic>
          <a:graphicData uri="http://schemas.openxmlformats.org/drawingml/2006/table">
            <a:tbl>
              <a:tblPr firstRow="1" bandRow="1">
                <a:tableStyleId>{5C22544A-7EE6-4342-B048-85BDC9FD1C3A}</a:tableStyleId>
              </a:tblPr>
              <a:tblGrid>
                <a:gridCol w="1421765"/>
                <a:gridCol w="1421765"/>
                <a:gridCol w="1421765"/>
                <a:gridCol w="1421765"/>
                <a:gridCol w="1421765"/>
                <a:gridCol w="1421765"/>
              </a:tblGrid>
              <a:tr h="381000">
                <a:tc rowSpan="2">
                  <a:txBody>
                    <a:bodyPr/>
                    <a:lstStyle/>
                    <a:p>
                      <a:pPr algn="ctr">
                        <a:buNone/>
                      </a:pPr>
                      <a:r>
                        <a:rPr lang="zh-CN" altLang="en-US" sz="1400"/>
                        <a:t>风险发生概率</a:t>
                      </a:r>
                      <a:endParaRPr lang="zh-CN" altLang="en-US" sz="1400"/>
                    </a:p>
                  </a:txBody>
                  <a:tcPr anchor="ctr"/>
                </a:tc>
                <a:tc gridSpan="5">
                  <a:txBody>
                    <a:bodyPr/>
                    <a:lstStyle/>
                    <a:p>
                      <a:pPr algn="ctr">
                        <a:buNone/>
                      </a:pPr>
                      <a:r>
                        <a:rPr lang="zh-CN" altLang="en-US" sz="1400"/>
                        <a:t>风险影响值</a:t>
                      </a:r>
                      <a:endParaRPr lang="zh-CN" altLang="en-US" sz="1400"/>
                    </a:p>
                  </a:txBody>
                  <a:tcPr anchor="ctr"/>
                </a:tc>
                <a:tc hMerge="1">
                  <a:tcPr/>
                </a:tc>
                <a:tc hMerge="1">
                  <a:tcPr/>
                </a:tc>
                <a:tc hMerge="1">
                  <a:tcPr/>
                </a:tc>
                <a:tc hMerge="1">
                  <a:tcPr/>
                </a:tc>
              </a:tr>
              <a:tr h="381000">
                <a:tc vMerge="1">
                  <a:tcPr/>
                </a:tc>
                <a:tc>
                  <a:txBody>
                    <a:bodyPr/>
                    <a:lstStyle/>
                    <a:p>
                      <a:pPr indent="0" algn="ctr">
                        <a:buNone/>
                      </a:pPr>
                      <a:r>
                        <a:rPr lang="en-US" sz="1600" b="0">
                          <a:latin typeface="Times New Roman" panose="02020603050405020304" pitchFamily="18" charset="0"/>
                          <a:cs typeface="Times New Roman" panose="02020603050405020304" pitchFamily="18" charset="0"/>
                        </a:rPr>
                        <a:t>0.05</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buNone/>
                      </a:pPr>
                      <a:r>
                        <a:rPr lang="en-US" sz="1600" b="0">
                          <a:latin typeface="Times New Roman" panose="02020603050405020304" pitchFamily="18" charset="0"/>
                          <a:cs typeface="Times New Roman" panose="02020603050405020304" pitchFamily="18" charset="0"/>
                        </a:rPr>
                        <a:t>0.10</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buNone/>
                      </a:pPr>
                      <a:r>
                        <a:rPr lang="en-US" sz="1600" b="0">
                          <a:latin typeface="Times New Roman" panose="02020603050405020304" pitchFamily="18" charset="0"/>
                          <a:cs typeface="Times New Roman" panose="02020603050405020304" pitchFamily="18" charset="0"/>
                        </a:rPr>
                        <a:t>0.20</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buNone/>
                      </a:pPr>
                      <a:r>
                        <a:rPr lang="en-US" sz="1600" b="0">
                          <a:latin typeface="Times New Roman" panose="02020603050405020304" pitchFamily="18" charset="0"/>
                          <a:cs typeface="Times New Roman" panose="02020603050405020304" pitchFamily="18" charset="0"/>
                        </a:rPr>
                        <a:t>0.40</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lgn="ctr">
                        <a:buNone/>
                      </a:pPr>
                      <a:r>
                        <a:rPr lang="en-US" sz="1600" b="0">
                          <a:latin typeface="Times New Roman" panose="02020603050405020304" pitchFamily="18" charset="0"/>
                          <a:cs typeface="Times New Roman" panose="02020603050405020304" pitchFamily="18" charset="0"/>
                        </a:rPr>
                        <a:t>0.80</a:t>
                      </a:r>
                      <a:endParaRPr lang="en-US" altLang="en-US" sz="16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r>
              <a:tr h="381000">
                <a:tc>
                  <a:txBody>
                    <a:bodyPr/>
                    <a:lstStyle/>
                    <a:p>
                      <a:pPr indent="0" algn="ctr">
                        <a:buNone/>
                      </a:pP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0.9（</a:t>
                      </a:r>
                      <a:r>
                        <a:rPr lang="en-US" sz="1400" b="0">
                          <a:solidFill>
                            <a:schemeClr val="tx1"/>
                          </a:solidFill>
                          <a:uFillTx/>
                          <a:latin typeface="微软雅黑" panose="020B0503020204020204" pitchFamily="34" charset="-122"/>
                          <a:ea typeface="微软雅黑" panose="020B0503020204020204" pitchFamily="34" charset="-122"/>
                          <a:cs typeface="Times New Roman" panose="02020603050405020304" pitchFamily="18" charset="0"/>
                        </a:rPr>
                        <a:t>很高</a:t>
                      </a: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solidFill>
                      <a:srgbClr val="CDE1F3"/>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0.045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0.09</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0.18</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0.36</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0.72</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E36C09"/>
                    </a:solidFill>
                  </a:tcPr>
                </a:tc>
              </a:tr>
              <a:tr h="381000">
                <a:tc>
                  <a:txBody>
                    <a:bodyPr/>
                    <a:lstStyle/>
                    <a:p>
                      <a:pPr indent="0" algn="ctr">
                        <a:buNone/>
                      </a:pP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0.7（</a:t>
                      </a:r>
                      <a:r>
                        <a:rPr lang="en-US" sz="1400" b="0">
                          <a:solidFill>
                            <a:schemeClr val="tx1"/>
                          </a:solidFill>
                          <a:uFillTx/>
                          <a:latin typeface="微软雅黑" panose="020B0503020204020204" pitchFamily="34" charset="-122"/>
                          <a:ea typeface="微软雅黑" panose="020B0503020204020204" pitchFamily="34" charset="-122"/>
                          <a:cs typeface="Times New Roman" panose="02020603050405020304" pitchFamily="18" charset="0"/>
                        </a:rPr>
                        <a:t>高</a:t>
                      </a: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solidFill>
                      <a:srgbClr val="CDE1F3"/>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0.035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0.07</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0.14</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0.28</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0.56</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E36C09"/>
                    </a:solidFill>
                  </a:tcPr>
                </a:tc>
              </a:tr>
              <a:tr h="381000">
                <a:tc>
                  <a:txBody>
                    <a:bodyPr/>
                    <a:lstStyle/>
                    <a:p>
                      <a:pPr indent="0" algn="ctr">
                        <a:buNone/>
                      </a:pP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0.5（</a:t>
                      </a:r>
                      <a:r>
                        <a:rPr lang="en-US" sz="1400" b="0">
                          <a:solidFill>
                            <a:schemeClr val="tx1"/>
                          </a:solidFill>
                          <a:uFillTx/>
                          <a:latin typeface="微软雅黑" panose="020B0503020204020204" pitchFamily="34" charset="-122"/>
                          <a:ea typeface="微软雅黑" panose="020B0503020204020204" pitchFamily="34" charset="-122"/>
                          <a:cs typeface="Times New Roman" panose="02020603050405020304" pitchFamily="18" charset="0"/>
                        </a:rPr>
                        <a:t>中</a:t>
                      </a: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solidFill>
                      <a:srgbClr val="CDE1F3"/>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0.025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dirty="0">
                          <a:latin typeface="Times New Roman" panose="02020603050405020304" pitchFamily="18" charset="0"/>
                          <a:cs typeface="Times New Roman" panose="02020603050405020304" pitchFamily="18" charset="0"/>
                        </a:rPr>
                        <a:t>0.10</a:t>
                      </a:r>
                      <a:endParaRPr lang="en-US" altLang="en-US" sz="14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0.20</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0.40</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r>
              <a:tr h="381000">
                <a:tc>
                  <a:txBody>
                    <a:bodyPr/>
                    <a:lstStyle/>
                    <a:p>
                      <a:pPr indent="0" algn="ctr">
                        <a:buNone/>
                      </a:pP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0.3（</a:t>
                      </a:r>
                      <a:r>
                        <a:rPr lang="en-US" sz="1400" b="0">
                          <a:solidFill>
                            <a:schemeClr val="tx1"/>
                          </a:solidFill>
                          <a:uFillTx/>
                          <a:latin typeface="微软雅黑" panose="020B0503020204020204" pitchFamily="34" charset="-122"/>
                          <a:ea typeface="微软雅黑" panose="020B0503020204020204" pitchFamily="34" charset="-122"/>
                          <a:cs typeface="Times New Roman" panose="02020603050405020304" pitchFamily="18" charset="0"/>
                        </a:rPr>
                        <a:t>低</a:t>
                      </a: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solidFill>
                      <a:srgbClr val="CDE1F3"/>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0.015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0.03</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0.06</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0.12</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0.24</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FC000"/>
                    </a:solidFill>
                  </a:tcPr>
                </a:tc>
              </a:tr>
              <a:tr h="381000">
                <a:tc>
                  <a:txBody>
                    <a:bodyPr/>
                    <a:lstStyle/>
                    <a:p>
                      <a:pPr indent="0" algn="ctr">
                        <a:buNone/>
                      </a:pP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0.1（</a:t>
                      </a:r>
                      <a:r>
                        <a:rPr lang="en-US" sz="1400" b="0">
                          <a:solidFill>
                            <a:schemeClr val="tx1"/>
                          </a:solidFill>
                          <a:uFillTx/>
                          <a:latin typeface="微软雅黑" panose="020B0503020204020204" pitchFamily="34" charset="-122"/>
                          <a:ea typeface="微软雅黑" panose="020B0503020204020204" pitchFamily="34" charset="-122"/>
                          <a:cs typeface="Times New Roman" panose="02020603050405020304" pitchFamily="18" charset="0"/>
                        </a:rPr>
                        <a:t>很低</a:t>
                      </a:r>
                      <a:r>
                        <a:rPr 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rPr>
                        <a:t>）</a:t>
                      </a:r>
                      <a:endParaRPr lang="en-US" altLang="en-US" sz="1400" b="0">
                        <a:solidFill>
                          <a:schemeClr val="tx1"/>
                        </a:solidFill>
                        <a:uFillTx/>
                        <a:latin typeface="Times New Roman" panose="02020603050405020304" pitchFamily="18" charset="0"/>
                        <a:ea typeface="微软雅黑" panose="020B0503020204020204" pitchFamily="34" charset="-122"/>
                        <a:cs typeface="Times New Roman" panose="02020603050405020304" pitchFamily="18" charset="0"/>
                      </a:endParaRPr>
                    </a:p>
                  </a:txBody>
                  <a:tcPr marL="68580" marR="68580" marT="0" marB="0" anchor="ctr">
                    <a:solidFill>
                      <a:srgbClr val="CDE1F3"/>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0.005</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0.01</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0.02</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a:latin typeface="Times New Roman" panose="02020603050405020304" pitchFamily="18" charset="0"/>
                          <a:cs typeface="Times New Roman" panose="02020603050405020304" pitchFamily="18" charset="0"/>
                        </a:rPr>
                        <a:t>0.04</a:t>
                      </a:r>
                      <a:endParaRPr lang="en-US" altLang="en-US" sz="14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c>
                  <a:txBody>
                    <a:bodyPr/>
                    <a:lstStyle/>
                    <a:p>
                      <a:pPr indent="0" algn="ctr">
                        <a:buNone/>
                      </a:pPr>
                      <a:r>
                        <a:rPr lang="en-US" sz="1400" b="0" dirty="0">
                          <a:latin typeface="Times New Roman" panose="02020603050405020304" pitchFamily="18" charset="0"/>
                          <a:cs typeface="Times New Roman" panose="02020603050405020304" pitchFamily="18" charset="0"/>
                        </a:rPr>
                        <a:t>0.08</a:t>
                      </a:r>
                      <a:endParaRPr lang="en-US" altLang="en-US" sz="14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FBD4B4"/>
                    </a:solidFill>
                  </a:tcPr>
                </a:tc>
              </a:tr>
            </a:tbl>
          </a:graphicData>
        </a:graphic>
      </p:graphicFrame>
      <p:sp>
        <p:nvSpPr>
          <p:cNvPr id="26" name="文本框 25"/>
          <p:cNvSpPr txBox="1"/>
          <p:nvPr/>
        </p:nvSpPr>
        <p:spPr>
          <a:xfrm>
            <a:off x="539750" y="1383348"/>
            <a:ext cx="5080000" cy="368300"/>
          </a:xfrm>
          <a:prstGeom prst="rect">
            <a:avLst/>
          </a:prstGeom>
          <a:noFill/>
          <a:ln w="9525">
            <a:noFill/>
          </a:ln>
        </p:spPr>
        <p:txBody>
          <a:bodyPr>
            <a:spAutoFit/>
          </a:bodyPr>
          <a:lstStyle/>
          <a:p>
            <a:pPr indent="0" fontAlgn="auto"/>
            <a:r>
              <a:rPr lang="zh-CN" sz="1800" b="1">
                <a:ea typeface="宋体" panose="02010600030101010101" pitchFamily="2" charset="-122"/>
              </a:rPr>
              <a:t>风险值</a:t>
            </a:r>
            <a:r>
              <a:rPr lang="en-US" altLang="zh-CN" sz="1800" b="1">
                <a:ea typeface="宋体" panose="02010600030101010101" pitchFamily="2" charset="-122"/>
              </a:rPr>
              <a:t> </a:t>
            </a:r>
            <a:r>
              <a:rPr lang="en-US" sz="1800" b="1">
                <a:latin typeface="Times New Roman" panose="02020603050405020304" pitchFamily="18" charset="0"/>
              </a:rPr>
              <a:t>= </a:t>
            </a:r>
            <a:r>
              <a:rPr lang="zh-CN" sz="1800" b="1">
                <a:ea typeface="宋体" panose="02010600030101010101" pitchFamily="2" charset="-122"/>
              </a:rPr>
              <a:t>风险影响值</a:t>
            </a:r>
            <a:r>
              <a:rPr lang="en-US" altLang="zh-CN" sz="1800" b="1">
                <a:ea typeface="宋体" panose="02010600030101010101" pitchFamily="2" charset="-122"/>
              </a:rPr>
              <a:t> * </a:t>
            </a:r>
            <a:r>
              <a:rPr lang="zh-CN" sz="1800" b="1">
                <a:ea typeface="宋体" panose="02010600030101010101" pitchFamily="2" charset="-122"/>
              </a:rPr>
              <a:t>风险发生概率。</a:t>
            </a:r>
            <a:endParaRPr lang="zh-CN" altLang="en-US" sz="1800" b="1"/>
          </a:p>
        </p:txBody>
      </p:sp>
      <p:sp>
        <p:nvSpPr>
          <p:cNvPr id="27" name="矩形 26"/>
          <p:cNvSpPr/>
          <p:nvPr/>
        </p:nvSpPr>
        <p:spPr>
          <a:xfrm>
            <a:off x="6316345" y="5010150"/>
            <a:ext cx="459740" cy="133985"/>
          </a:xfrm>
          <a:prstGeom prst="rect">
            <a:avLst/>
          </a:prstGeom>
          <a:solidFill>
            <a:srgbClr val="FBD4B4"/>
          </a:solidFill>
          <a:ln>
            <a:noFill/>
          </a:ln>
        </p:spPr>
        <p:style>
          <a:lnRef idx="1">
            <a:schemeClr val="accent1"/>
          </a:lnRef>
          <a:fillRef idx="3">
            <a:schemeClr val="accent1"/>
          </a:fillRef>
          <a:effectRef idx="2">
            <a:schemeClr val="accent1"/>
          </a:effectRef>
          <a:fontRef idx="minor">
            <a:schemeClr val="lt1"/>
          </a:fontRef>
        </p:style>
        <p:txBody>
          <a:bodyPr/>
          <a:lstStyle/>
          <a:p>
            <a:pPr algn="r"/>
            <a:endParaRPr lang="zh-CN" altLang="en-US"/>
          </a:p>
        </p:txBody>
      </p:sp>
      <p:sp>
        <p:nvSpPr>
          <p:cNvPr id="28" name="矩形 27"/>
          <p:cNvSpPr/>
          <p:nvPr/>
        </p:nvSpPr>
        <p:spPr>
          <a:xfrm>
            <a:off x="7415530" y="5012690"/>
            <a:ext cx="459740" cy="133985"/>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a:lstStyle/>
          <a:p>
            <a:pPr algn="r"/>
            <a:endParaRPr lang="zh-CN" altLang="en-US"/>
          </a:p>
        </p:txBody>
      </p:sp>
      <p:sp>
        <p:nvSpPr>
          <p:cNvPr id="29" name="矩形 28"/>
          <p:cNvSpPr/>
          <p:nvPr/>
        </p:nvSpPr>
        <p:spPr>
          <a:xfrm>
            <a:off x="8515350" y="5005070"/>
            <a:ext cx="459740" cy="133985"/>
          </a:xfrm>
          <a:prstGeom prst="rect">
            <a:avLst/>
          </a:prstGeom>
          <a:solidFill>
            <a:srgbClr val="E36C09"/>
          </a:solidFill>
          <a:ln>
            <a:noFill/>
          </a:ln>
        </p:spPr>
        <p:style>
          <a:lnRef idx="1">
            <a:schemeClr val="accent1"/>
          </a:lnRef>
          <a:fillRef idx="3">
            <a:schemeClr val="accent1"/>
          </a:fillRef>
          <a:effectRef idx="2">
            <a:schemeClr val="accent1"/>
          </a:effectRef>
          <a:fontRef idx="minor">
            <a:schemeClr val="lt1"/>
          </a:fontRef>
        </p:style>
        <p:txBody>
          <a:bodyPr/>
          <a:lstStyle/>
          <a:p>
            <a:pPr algn="r"/>
            <a:endParaRPr lang="zh-CN" altLang="en-US"/>
          </a:p>
        </p:txBody>
      </p:sp>
      <p:sp>
        <p:nvSpPr>
          <p:cNvPr id="30" name="文本框 29"/>
          <p:cNvSpPr txBox="1"/>
          <p:nvPr/>
        </p:nvSpPr>
        <p:spPr>
          <a:xfrm>
            <a:off x="5673090" y="4939030"/>
            <a:ext cx="441325" cy="275590"/>
          </a:xfrm>
          <a:prstGeom prst="rect">
            <a:avLst/>
          </a:prstGeom>
          <a:noFill/>
        </p:spPr>
        <p:txBody>
          <a:bodyPr wrap="square" rtlCol="0">
            <a:spAutoFit/>
          </a:bodyPr>
          <a:lstStyle/>
          <a:p>
            <a:pPr algn="r"/>
            <a:r>
              <a:rPr lang="zh-CN" altLang="en-US" sz="1200" b="1">
                <a:latin typeface="+mn-ea"/>
              </a:rPr>
              <a:t>低</a:t>
            </a:r>
            <a:endParaRPr lang="zh-CN" altLang="en-US" sz="1200" b="1">
              <a:latin typeface="+mn-ea"/>
            </a:endParaRPr>
          </a:p>
        </p:txBody>
      </p:sp>
      <p:sp>
        <p:nvSpPr>
          <p:cNvPr id="31" name="文本框 30"/>
          <p:cNvSpPr txBox="1"/>
          <p:nvPr/>
        </p:nvSpPr>
        <p:spPr>
          <a:xfrm>
            <a:off x="6875145" y="4941570"/>
            <a:ext cx="441325" cy="275590"/>
          </a:xfrm>
          <a:prstGeom prst="rect">
            <a:avLst/>
          </a:prstGeom>
          <a:noFill/>
        </p:spPr>
        <p:txBody>
          <a:bodyPr wrap="square" rtlCol="0">
            <a:spAutoFit/>
          </a:bodyPr>
          <a:lstStyle/>
          <a:p>
            <a:pPr algn="r"/>
            <a:r>
              <a:rPr lang="zh-CN" altLang="en-US" sz="1200" b="1">
                <a:latin typeface="+mn-ea"/>
              </a:rPr>
              <a:t>中</a:t>
            </a:r>
            <a:endParaRPr lang="zh-CN" altLang="en-US" sz="1200" b="1">
              <a:latin typeface="+mn-ea"/>
            </a:endParaRPr>
          </a:p>
        </p:txBody>
      </p:sp>
      <p:sp>
        <p:nvSpPr>
          <p:cNvPr id="32" name="文本框 31"/>
          <p:cNvSpPr txBox="1"/>
          <p:nvPr/>
        </p:nvSpPr>
        <p:spPr>
          <a:xfrm>
            <a:off x="7974965" y="4933950"/>
            <a:ext cx="441325" cy="275590"/>
          </a:xfrm>
          <a:prstGeom prst="rect">
            <a:avLst/>
          </a:prstGeom>
          <a:noFill/>
        </p:spPr>
        <p:txBody>
          <a:bodyPr wrap="square" rtlCol="0">
            <a:spAutoFit/>
          </a:bodyPr>
          <a:lstStyle/>
          <a:p>
            <a:pPr algn="r"/>
            <a:r>
              <a:rPr lang="zh-CN" altLang="en-US" sz="1200" b="1">
                <a:latin typeface="+mn-ea"/>
              </a:rPr>
              <a:t>高</a:t>
            </a:r>
            <a:endParaRPr lang="zh-CN" altLang="en-US" sz="1200" b="1">
              <a:latin typeface="+mn-ea"/>
            </a:endParaRPr>
          </a:p>
        </p:txBody>
      </p:sp>
      <p:graphicFrame>
        <p:nvGraphicFramePr>
          <p:cNvPr id="2" name="表格 1"/>
          <p:cNvGraphicFramePr/>
          <p:nvPr>
            <p:custDataLst>
              <p:tags r:id="rId2"/>
            </p:custDataLst>
          </p:nvPr>
        </p:nvGraphicFramePr>
        <p:xfrm>
          <a:off x="9400540" y="2084705"/>
          <a:ext cx="2254250" cy="2689225"/>
        </p:xfrm>
        <a:graphic>
          <a:graphicData uri="http://schemas.openxmlformats.org/drawingml/2006/table">
            <a:tbl>
              <a:tblPr firstRow="1" bandRow="1">
                <a:tableStyleId>{5C22544A-7EE6-4342-B048-85BDC9FD1C3A}</a:tableStyleId>
              </a:tblPr>
              <a:tblGrid>
                <a:gridCol w="901700"/>
                <a:gridCol w="1352550"/>
              </a:tblGrid>
              <a:tr h="498475">
                <a:tc>
                  <a:txBody>
                    <a:bodyPr/>
                    <a:p>
                      <a:pPr algn="ctr">
                        <a:buNone/>
                      </a:pPr>
                      <a:r>
                        <a:rPr lang="zh-CN" altLang="en-US" sz="1400"/>
                        <a:t>影响程度</a:t>
                      </a:r>
                      <a:endParaRPr lang="zh-CN" altLang="en-US" sz="1400"/>
                    </a:p>
                  </a:txBody>
                  <a:tcPr anchor="ctr" anchorCtr="0"/>
                </a:tc>
                <a:tc>
                  <a:txBody>
                    <a:bodyPr/>
                    <a:p>
                      <a:pPr algn="ctr">
                        <a:buNone/>
                      </a:pPr>
                      <a:r>
                        <a:rPr lang="zh-CN" altLang="en-US" sz="1400"/>
                        <a:t>风险值范围</a:t>
                      </a:r>
                      <a:endParaRPr lang="zh-CN" altLang="en-US" sz="1400"/>
                    </a:p>
                  </a:txBody>
                  <a:tcPr anchor="ctr" anchorCtr="0"/>
                </a:tc>
              </a:tr>
              <a:tr h="730250">
                <a:tc>
                  <a:txBody>
                    <a:bodyPr/>
                    <a:p>
                      <a:pPr algn="ctr">
                        <a:buNone/>
                      </a:pPr>
                      <a:r>
                        <a:rPr lang="zh-CN" altLang="en-US" sz="1400"/>
                        <a:t>低</a:t>
                      </a:r>
                      <a:endParaRPr lang="zh-CN" altLang="en-US" sz="1400"/>
                    </a:p>
                  </a:txBody>
                  <a:tcPr anchor="ctr" anchorCtr="0"/>
                </a:tc>
                <a:tc>
                  <a:txBody>
                    <a:bodyPr/>
                    <a:p>
                      <a:pPr algn="ctr">
                        <a:buNone/>
                      </a:pPr>
                      <a:r>
                        <a:rPr lang="en-US" altLang="zh-CN" sz="1400"/>
                        <a:t>&lt;0.10</a:t>
                      </a:r>
                      <a:endParaRPr lang="en-US" altLang="zh-CN" sz="1400"/>
                    </a:p>
                  </a:txBody>
                  <a:tcPr anchor="ctr" anchorCtr="0"/>
                </a:tc>
              </a:tr>
              <a:tr h="730250">
                <a:tc>
                  <a:txBody>
                    <a:bodyPr/>
                    <a:p>
                      <a:pPr algn="ctr">
                        <a:buNone/>
                      </a:pPr>
                      <a:r>
                        <a:rPr lang="zh-CN" altLang="en-US" sz="1400"/>
                        <a:t>中</a:t>
                      </a:r>
                      <a:endParaRPr lang="zh-CN" altLang="en-US" sz="1400"/>
                    </a:p>
                  </a:txBody>
                  <a:tcPr anchor="ctr" anchorCtr="0"/>
                </a:tc>
                <a:tc>
                  <a:txBody>
                    <a:bodyPr/>
                    <a:p>
                      <a:pPr algn="ctr">
                        <a:buNone/>
                      </a:pPr>
                      <a:r>
                        <a:rPr lang="en-US" altLang="zh-CN" sz="1400"/>
                        <a:t>0.10-0.40</a:t>
                      </a:r>
                      <a:endParaRPr lang="en-US" altLang="zh-CN" sz="1400"/>
                    </a:p>
                  </a:txBody>
                  <a:tcPr anchor="ctr" anchorCtr="0"/>
                </a:tc>
              </a:tr>
              <a:tr h="730250">
                <a:tc>
                  <a:txBody>
                    <a:bodyPr/>
                    <a:p>
                      <a:pPr algn="ctr">
                        <a:buNone/>
                      </a:pPr>
                      <a:r>
                        <a:rPr lang="zh-CN" altLang="en-US" sz="1400"/>
                        <a:t>高</a:t>
                      </a:r>
                      <a:endParaRPr lang="zh-CN" altLang="en-US" sz="1400"/>
                    </a:p>
                  </a:txBody>
                  <a:tcPr anchor="ctr" anchorCtr="0"/>
                </a:tc>
                <a:tc>
                  <a:txBody>
                    <a:bodyPr/>
                    <a:p>
                      <a:pPr algn="ctr">
                        <a:buNone/>
                      </a:pPr>
                      <a:r>
                        <a:rPr lang="en-US" altLang="zh-CN" sz="1400"/>
                        <a:t>&gt;0.40</a:t>
                      </a:r>
                      <a:endParaRPr lang="en-US" altLang="zh-CN" sz="1400"/>
                    </a:p>
                  </a:txBody>
                  <a:tcPr anchor="ctr" anchorCtr="0"/>
                </a:tc>
              </a:tr>
            </a:tbl>
          </a:graphicData>
        </a:graphic>
      </p:graphicFrame>
      <p:sp>
        <p:nvSpPr>
          <p:cNvPr id="4" name="文本框 3"/>
          <p:cNvSpPr txBox="1"/>
          <p:nvPr/>
        </p:nvSpPr>
        <p:spPr>
          <a:xfrm>
            <a:off x="9400540" y="4941570"/>
            <a:ext cx="2253615" cy="306705"/>
          </a:xfrm>
          <a:prstGeom prst="rect">
            <a:avLst/>
          </a:prstGeom>
          <a:noFill/>
          <a:ln w="9525">
            <a:noFill/>
          </a:ln>
        </p:spPr>
        <p:txBody>
          <a:bodyPr wrap="square">
            <a:spAutoFit/>
          </a:bodyPr>
          <a:p>
            <a:pPr indent="0" algn="r" fontAlgn="auto"/>
            <a:r>
              <a:rPr lang="zh-CN" sz="1400" b="1">
                <a:ea typeface="宋体" panose="02010600030101010101" pitchFamily="2" charset="-122"/>
              </a:rPr>
              <a:t>风险阈值定义为</a:t>
            </a:r>
            <a:r>
              <a:rPr lang="en-US" altLang="zh-CN" sz="1400" b="1">
                <a:ea typeface="宋体" panose="02010600030101010101" pitchFamily="2" charset="-122"/>
              </a:rPr>
              <a:t>0.1</a:t>
            </a:r>
            <a:endParaRPr lang="en-US" altLang="zh-CN" sz="1400" b="1">
              <a:ea typeface="宋体" panose="02010600030101010101" pitchFamily="2" charset="-122"/>
            </a:endParaRPr>
          </a:p>
        </p:txBody>
      </p:sp>
      <p:sp>
        <p:nvSpPr>
          <p:cNvPr id="5" name="文本框 4"/>
          <p:cNvSpPr txBox="1"/>
          <p:nvPr/>
        </p:nvSpPr>
        <p:spPr>
          <a:xfrm>
            <a:off x="539750" y="5488305"/>
            <a:ext cx="11114405" cy="368300"/>
          </a:xfrm>
          <a:prstGeom prst="rect">
            <a:avLst/>
          </a:prstGeom>
          <a:noFill/>
        </p:spPr>
        <p:txBody>
          <a:bodyPr wrap="square" rtlCol="0">
            <a:spAutoFit/>
          </a:bodyPr>
          <a:p>
            <a:r>
              <a:rPr lang="zh-CN" altLang="en-US" sz="1800">
                <a:solidFill>
                  <a:srgbClr val="FF0000"/>
                </a:solidFill>
              </a:rPr>
              <a:t>注：大于风险阈值的风险应制定对应措施，并重点监控跟踪。</a:t>
            </a:r>
            <a:endParaRPr lang="zh-CN" altLang="en-US" sz="1800">
              <a:solidFill>
                <a:srgbClr val="FF0000"/>
              </a:solidFill>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风险管理</a:t>
            </a:r>
            <a:endParaRPr lang="zh-CN" altLang="en-US" dirty="0">
              <a:solidFill>
                <a:srgbClr val="FF0000"/>
              </a:solidFill>
            </a:endParaRPr>
          </a:p>
        </p:txBody>
      </p:sp>
      <p:pic>
        <p:nvPicPr>
          <p:cNvPr id="25" name="图片 24"/>
          <p:cNvPicPr>
            <a:picLocks noChangeAspect="1"/>
          </p:cNvPicPr>
          <p:nvPr/>
        </p:nvPicPr>
        <p:blipFill>
          <a:blip r:embed="rId1"/>
          <a:stretch>
            <a:fillRect/>
          </a:stretch>
        </p:blipFill>
        <p:spPr>
          <a:xfrm>
            <a:off x="539750" y="1080135"/>
            <a:ext cx="11184890" cy="3172460"/>
          </a:xfrm>
          <a:prstGeom prst="rect">
            <a:avLst/>
          </a:prstGeom>
        </p:spPr>
      </p:pic>
      <p:sp>
        <p:nvSpPr>
          <p:cNvPr id="26" name="文本框 25"/>
          <p:cNvSpPr txBox="1"/>
          <p:nvPr/>
        </p:nvSpPr>
        <p:spPr>
          <a:xfrm>
            <a:off x="539750" y="5490210"/>
            <a:ext cx="9182100" cy="398780"/>
          </a:xfrm>
          <a:prstGeom prst="rect">
            <a:avLst/>
          </a:prstGeom>
          <a:noFill/>
        </p:spPr>
        <p:txBody>
          <a:bodyPr wrap="square" rtlCol="0">
            <a:spAutoFit/>
          </a:bodyPr>
          <a:lstStyle/>
          <a:p>
            <a:r>
              <a:rPr lang="zh-CN" altLang="en-US"/>
              <a:t>项目组可将该表格附与项目周报后，便于每周更新以及项目风险情况通报。</a:t>
            </a:r>
            <a:endParaRPr lang="zh-CN" altLang="en-US"/>
          </a:p>
        </p:txBody>
      </p:sp>
      <p:sp>
        <p:nvSpPr>
          <p:cNvPr id="27" name="文本框 26"/>
          <p:cNvSpPr txBox="1"/>
          <p:nvPr/>
        </p:nvSpPr>
        <p:spPr>
          <a:xfrm>
            <a:off x="539750" y="4559300"/>
            <a:ext cx="11051540" cy="687705"/>
          </a:xfrm>
          <a:prstGeom prst="rect">
            <a:avLst/>
          </a:prstGeom>
          <a:noFill/>
        </p:spPr>
        <p:txBody>
          <a:bodyPr wrap="square" rtlCol="0">
            <a:spAutoFit/>
          </a:bodyPr>
          <a:lstStyle/>
          <a:p>
            <a:r>
              <a:rPr lang="zh-CN" altLang="en-US"/>
              <a:t>项目组内任何人员都可识别项目风险，并将识别出来的风险汇总给项目经理，项目组依据风险值共同判断影响程度，并制定应对措施。</a:t>
            </a:r>
            <a:endParaRPr lang="zh-CN" altLang="en-US"/>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风险管理</a:t>
            </a:r>
            <a:endParaRPr lang="zh-CN" altLang="en-US" dirty="0">
              <a:solidFill>
                <a:srgbClr val="FF0000"/>
              </a:solidFill>
            </a:endParaRPr>
          </a:p>
        </p:txBody>
      </p:sp>
      <p:sp>
        <p:nvSpPr>
          <p:cNvPr id="6" name="文本框 5"/>
          <p:cNvSpPr txBox="1"/>
          <p:nvPr/>
        </p:nvSpPr>
        <p:spPr>
          <a:xfrm>
            <a:off x="539750" y="978535"/>
            <a:ext cx="10893425" cy="5105400"/>
          </a:xfrm>
          <a:prstGeom prst="rect">
            <a:avLst/>
          </a:prstGeom>
          <a:noFill/>
        </p:spPr>
        <p:txBody>
          <a:bodyPr wrap="square" rtlCol="0">
            <a:spAutoFit/>
          </a:bodyPr>
          <a:lstStyle/>
          <a:p>
            <a:pPr>
              <a:lnSpc>
                <a:spcPct val="120000"/>
              </a:lnSpc>
            </a:pPr>
            <a:r>
              <a:rPr lang="zh-CN" altLang="en-US" sz="1600" b="1" dirty="0"/>
              <a:t>风险类别：</a:t>
            </a:r>
            <a:r>
              <a:rPr lang="zh-CN" altLang="en-US" sz="1600" dirty="0"/>
              <a:t>人力资源风险、硬件资源和办公环境风险、政策与行规风险、客户关系风险、质量风险、项目管理风险、技术风险、客户需求风险。详细可查询风险库。</a:t>
            </a:r>
            <a:endParaRPr lang="zh-CN" altLang="en-US" sz="1600" dirty="0"/>
          </a:p>
          <a:p>
            <a:pPr>
              <a:lnSpc>
                <a:spcPct val="120000"/>
              </a:lnSpc>
            </a:pPr>
            <a:endParaRPr lang="zh-CN" altLang="en-US" sz="1600" dirty="0"/>
          </a:p>
          <a:p>
            <a:pPr>
              <a:lnSpc>
                <a:spcPct val="120000"/>
              </a:lnSpc>
            </a:pPr>
            <a:r>
              <a:rPr lang="zh-CN" altLang="en-US" sz="1600" b="1" dirty="0"/>
              <a:t>风险状态说明：</a:t>
            </a:r>
            <a:endParaRPr lang="zh-CN" altLang="en-US" sz="1600" dirty="0"/>
          </a:p>
          <a:p>
            <a:pPr>
              <a:lnSpc>
                <a:spcPct val="120000"/>
              </a:lnSpc>
            </a:pPr>
            <a:r>
              <a:rPr lang="zh-CN" altLang="en-US" sz="1600" dirty="0"/>
              <a:t>新识别：指当周新识别出来的风险，只在风险识别的当周为此状态。</a:t>
            </a:r>
            <a:endParaRPr lang="zh-CN" altLang="en-US" sz="1600" dirty="0"/>
          </a:p>
          <a:p>
            <a:pPr>
              <a:lnSpc>
                <a:spcPct val="120000"/>
              </a:lnSpc>
            </a:pPr>
            <a:r>
              <a:rPr lang="zh-CN" altLang="en-US" sz="1600" dirty="0"/>
              <a:t>已发生：指风险正在发生，转化为问题。</a:t>
            </a:r>
            <a:endParaRPr lang="zh-CN" altLang="en-US" sz="1600" dirty="0"/>
          </a:p>
          <a:p>
            <a:pPr>
              <a:lnSpc>
                <a:spcPct val="120000"/>
              </a:lnSpc>
            </a:pPr>
            <a:r>
              <a:rPr lang="zh-CN" altLang="en-US" sz="1600" dirty="0"/>
              <a:t>已关闭：由于执行缓解措施或其他原因导致风险已经不会再发生。</a:t>
            </a:r>
            <a:endParaRPr lang="zh-CN" altLang="en-US" sz="1600" dirty="0"/>
          </a:p>
          <a:p>
            <a:pPr>
              <a:lnSpc>
                <a:spcPct val="120000"/>
              </a:lnSpc>
            </a:pPr>
            <a:r>
              <a:rPr lang="zh-CN" altLang="en-US" sz="1600" dirty="0"/>
              <a:t>监控中：指风险在发生或消除前的状态，所有已识别的风险在发生或消除前的状态均为未发生。</a:t>
            </a:r>
            <a:endParaRPr lang="zh-CN" altLang="en-US" sz="1600" dirty="0"/>
          </a:p>
          <a:p>
            <a:pPr>
              <a:lnSpc>
                <a:spcPct val="120000"/>
              </a:lnSpc>
            </a:pPr>
            <a:endParaRPr lang="zh-CN" altLang="en-US" sz="1600" dirty="0"/>
          </a:p>
          <a:p>
            <a:pPr>
              <a:lnSpc>
                <a:spcPct val="120000"/>
              </a:lnSpc>
            </a:pPr>
            <a:r>
              <a:rPr lang="zh-CN" altLang="en-US" sz="1600" b="1" dirty="0"/>
              <a:t>风险处理措施：</a:t>
            </a:r>
            <a:endParaRPr lang="zh-CN" altLang="en-US" sz="1600" b="1" dirty="0"/>
          </a:p>
          <a:p>
            <a:pPr>
              <a:lnSpc>
                <a:spcPct val="120000"/>
              </a:lnSpc>
            </a:pPr>
            <a:r>
              <a:rPr lang="zh-CN" altLang="en-US" sz="1600" dirty="0"/>
              <a:t>风险减轻：采用成熟的技术或其它一些方法将风险发生的概率或不利影响降至项目可以接受的水平；</a:t>
            </a:r>
            <a:endParaRPr lang="zh-CN" altLang="en-US" sz="1600" dirty="0"/>
          </a:p>
          <a:p>
            <a:pPr>
              <a:lnSpc>
                <a:spcPct val="120000"/>
              </a:lnSpc>
            </a:pPr>
            <a:r>
              <a:rPr lang="zh-CN" altLang="en-US" sz="1600" dirty="0"/>
              <a:t>风险预防：通过一系列措施降低风险发生的可能或风险发生时的影响；</a:t>
            </a:r>
            <a:endParaRPr lang="zh-CN" altLang="en-US" sz="1600" dirty="0"/>
          </a:p>
          <a:p>
            <a:pPr>
              <a:lnSpc>
                <a:spcPct val="120000"/>
              </a:lnSpc>
            </a:pPr>
            <a:r>
              <a:rPr lang="zh-CN" altLang="en-US" sz="1600" dirty="0"/>
              <a:t>风险转移：借用合同或协议，在风险事故一旦发生时将损失的一部分转移到项目以外的第三方身上；</a:t>
            </a:r>
            <a:endParaRPr lang="zh-CN" altLang="en-US" sz="1600" dirty="0"/>
          </a:p>
          <a:p>
            <a:pPr>
              <a:lnSpc>
                <a:spcPct val="120000"/>
              </a:lnSpc>
            </a:pPr>
            <a:r>
              <a:rPr lang="zh-CN" altLang="en-US" sz="1600" dirty="0"/>
              <a:t>风险回避：改变原有项目计划以消除风险存在的条件，保证项目目标实现，从而规避风险；</a:t>
            </a:r>
            <a:endParaRPr lang="zh-CN" altLang="en-US" sz="1600" dirty="0"/>
          </a:p>
          <a:p>
            <a:pPr>
              <a:lnSpc>
                <a:spcPct val="120000"/>
              </a:lnSpc>
            </a:pPr>
            <a:r>
              <a:rPr lang="zh-CN" altLang="en-US" sz="1600" dirty="0"/>
              <a:t>风险自留：项目团队可以把风险事件的不利后果自愿接受下来，自愿接受可以使主动地，也可以是被动的；</a:t>
            </a:r>
            <a:endParaRPr lang="zh-CN" altLang="en-US" sz="1600" dirty="0"/>
          </a:p>
          <a:p>
            <a:pPr>
              <a:lnSpc>
                <a:spcPct val="120000"/>
              </a:lnSpc>
            </a:pPr>
            <a:r>
              <a:rPr lang="zh-CN" altLang="en-US" sz="1600" dirty="0"/>
              <a:t>风险后备：有些风险要求实现制定后备措施，一旦项目实际进展情况与计划不同，就动用后备措施，主要有费用、进度和技术三种后备措施；</a:t>
            </a:r>
            <a:endParaRPr lang="zh-CN" altLang="en-US" sz="1600" dirty="0"/>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lang="zh-CN" altLang="en-US" dirty="0">
                <a:solidFill>
                  <a:schemeClr val="tx1"/>
                </a:solidFill>
              </a:rPr>
              <a:t>监控</a:t>
            </a:r>
            <a:r>
              <a:rPr lang="en-US" altLang="zh-CN" dirty="0" smtClean="0">
                <a:solidFill>
                  <a:schemeClr val="tx1"/>
                </a:solidFill>
              </a:rPr>
              <a:t>-</a:t>
            </a:r>
            <a:r>
              <a:rPr lang="zh-CN" altLang="en-US" dirty="0" smtClean="0">
                <a:solidFill>
                  <a:srgbClr val="FF0000"/>
                </a:solidFill>
              </a:rPr>
              <a:t>工作流程</a:t>
            </a:r>
            <a:endParaRPr lang="zh-CN" altLang="en-US" dirty="0">
              <a:solidFill>
                <a:srgbClr val="FF0000"/>
              </a:solidFill>
            </a:endParaRPr>
          </a:p>
        </p:txBody>
      </p:sp>
      <p:grpSp>
        <p:nvGrpSpPr>
          <p:cNvPr id="2" name="组合 1"/>
          <p:cNvGrpSpPr/>
          <p:nvPr/>
        </p:nvGrpSpPr>
        <p:grpSpPr>
          <a:xfrm>
            <a:off x="4124044" y="2488934"/>
            <a:ext cx="2295645" cy="2225812"/>
            <a:chOff x="4124044" y="2488934"/>
            <a:chExt cx="2295645" cy="2225812"/>
          </a:xfrm>
        </p:grpSpPr>
        <p:sp>
          <p:nvSpPr>
            <p:cNvPr id="30" name="AutoShape 33"/>
            <p:cNvSpPr>
              <a:spLocks noChangeArrowheads="1"/>
            </p:cNvSpPr>
            <p:nvPr/>
          </p:nvSpPr>
          <p:spPr bwMode="auto">
            <a:xfrm>
              <a:off x="4124044" y="2645825"/>
              <a:ext cx="2295645" cy="2068921"/>
            </a:xfrm>
            <a:prstGeom prst="roundRect">
              <a:avLst>
                <a:gd name="adj" fmla="val 4690"/>
              </a:avLst>
            </a:prstGeom>
            <a:noFill/>
            <a:ln w="57150">
              <a:solidFill>
                <a:schemeClr val="folHlink"/>
              </a:solidFill>
              <a:round/>
            </a:ln>
          </p:spPr>
          <p:txBody>
            <a:bodyPr wrap="none" anchor="ctr"/>
            <a:lstStyle/>
            <a:p>
              <a:endParaRPr lang="zh-CN" altLang="en-US"/>
            </a:p>
          </p:txBody>
        </p:sp>
        <p:sp>
          <p:nvSpPr>
            <p:cNvPr id="31" name="AutoShape 34"/>
            <p:cNvSpPr>
              <a:spLocks noChangeArrowheads="1"/>
            </p:cNvSpPr>
            <p:nvPr/>
          </p:nvSpPr>
          <p:spPr bwMode="gray">
            <a:xfrm>
              <a:off x="4339955" y="2521964"/>
              <a:ext cx="1863822" cy="254122"/>
            </a:xfrm>
            <a:prstGeom prst="roundRect">
              <a:avLst>
                <a:gd name="adj" fmla="val 50000"/>
              </a:avLst>
            </a:prstGeom>
            <a:gradFill rotWithShape="1">
              <a:gsLst>
                <a:gs pos="0">
                  <a:schemeClr val="folHlink">
                    <a:gamma/>
                    <a:shade val="38824"/>
                    <a:invGamma/>
                  </a:schemeClr>
                </a:gs>
                <a:gs pos="50000">
                  <a:schemeClr val="folHlink"/>
                </a:gs>
                <a:gs pos="100000">
                  <a:schemeClr val="folHlink">
                    <a:gamma/>
                    <a:shade val="38824"/>
                    <a:invGamma/>
                  </a:schemeClr>
                </a:gs>
              </a:gsLst>
              <a:lin ang="5400000" scaled="1"/>
            </a:gradFill>
            <a:ln w="9525">
              <a:noFill/>
              <a:round/>
            </a:ln>
            <a:effectLst/>
          </p:spPr>
          <p:txBody>
            <a:bodyPr wrap="none" anchor="ctr"/>
            <a:lstStyle/>
            <a:p>
              <a:pPr>
                <a:defRPr/>
              </a:pPr>
              <a:endParaRPr lang="zh-CN" altLang="en-US"/>
            </a:p>
          </p:txBody>
        </p:sp>
        <p:sp>
          <p:nvSpPr>
            <p:cNvPr id="32" name="AutoShape 35"/>
            <p:cNvSpPr>
              <a:spLocks noChangeArrowheads="1"/>
            </p:cNvSpPr>
            <p:nvPr/>
          </p:nvSpPr>
          <p:spPr bwMode="auto">
            <a:xfrm flipH="1">
              <a:off x="6024380" y="2583894"/>
              <a:ext cx="71441" cy="129916"/>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33" name="AutoShape 36"/>
            <p:cNvSpPr>
              <a:spLocks noChangeArrowheads="1"/>
            </p:cNvSpPr>
            <p:nvPr/>
          </p:nvSpPr>
          <p:spPr bwMode="auto">
            <a:xfrm flipH="1">
              <a:off x="4441560" y="2583894"/>
              <a:ext cx="73029" cy="129916"/>
            </a:xfrm>
            <a:prstGeom prst="octagon">
              <a:avLst>
                <a:gd name="adj" fmla="val 29287"/>
              </a:avLst>
            </a:prstGeom>
            <a:solidFill>
              <a:schemeClr val="bg1"/>
            </a:solidFill>
            <a:ln w="9525">
              <a:noFill/>
              <a:miter lim="800000"/>
            </a:ln>
          </p:spPr>
          <p:txBody>
            <a:bodyPr wrap="none" anchor="ctr"/>
            <a:lstStyle/>
            <a:p>
              <a:endParaRPr lang="zh-CN" altLang="en-US"/>
            </a:p>
          </p:txBody>
        </p:sp>
        <p:sp>
          <p:nvSpPr>
            <p:cNvPr id="34" name="Text Box 37"/>
            <p:cNvSpPr txBox="1">
              <a:spLocks noChangeArrowheads="1"/>
            </p:cNvSpPr>
            <p:nvPr/>
          </p:nvSpPr>
          <p:spPr bwMode="gray">
            <a:xfrm>
              <a:off x="4816230" y="2488934"/>
              <a:ext cx="903335" cy="298643"/>
            </a:xfrm>
            <a:prstGeom prst="rect">
              <a:avLst/>
            </a:prstGeom>
            <a:noFill/>
            <a:ln w="9525" algn="ctr">
              <a:noFill/>
              <a:miter lim="800000"/>
            </a:ln>
          </p:spPr>
          <p:txBody>
            <a:bodyPr wrap="none">
              <a:spAutoFit/>
            </a:bodyPr>
            <a:lstStyle/>
            <a:p>
              <a:pPr eaLnBrk="0" hangingPunct="0"/>
              <a:r>
                <a:rPr lang="zh-CN" altLang="en-US" sz="1400" dirty="0">
                  <a:solidFill>
                    <a:schemeClr val="bg1"/>
                  </a:solidFill>
                </a:rPr>
                <a:t>工作产物</a:t>
              </a:r>
              <a:endParaRPr lang="zh-CN" altLang="en-US" sz="1400" dirty="0">
                <a:solidFill>
                  <a:schemeClr val="bg1"/>
                </a:solidFill>
              </a:endParaRPr>
            </a:p>
          </p:txBody>
        </p:sp>
        <p:sp>
          <p:nvSpPr>
            <p:cNvPr id="41" name="Text Box 38"/>
            <p:cNvSpPr txBox="1">
              <a:spLocks noChangeArrowheads="1"/>
            </p:cNvSpPr>
            <p:nvPr/>
          </p:nvSpPr>
          <p:spPr bwMode="auto">
            <a:xfrm>
              <a:off x="4200248" y="2879744"/>
              <a:ext cx="2219441" cy="1753235"/>
            </a:xfrm>
            <a:prstGeom prst="rect">
              <a:avLst/>
            </a:prstGeom>
            <a:noFill/>
            <a:ln w="9525" algn="ctr">
              <a:noFill/>
              <a:miter lim="800000"/>
            </a:ln>
          </p:spPr>
          <p:txBody>
            <a:bodyPr wrap="square">
              <a:spAutoFit/>
            </a:bodyPr>
            <a:lstStyle/>
            <a:p>
              <a:pPr eaLnBrk="0" hangingPunct="0">
                <a:lnSpc>
                  <a:spcPct val="150000"/>
                </a:lnSpc>
                <a:buFont typeface="Wingdings" panose="05000000000000000000"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sym typeface="+mn-ea"/>
                </a:rPr>
                <a:t>问题跟踪表</a:t>
              </a:r>
              <a:endParaRPr lang="en-US" altLang="zh-CN" sz="1800" dirty="0">
                <a:solidFill>
                  <a:srgbClr val="000000"/>
                </a:solidFill>
                <a:latin typeface="微软雅黑" panose="020B0503020204020204" pitchFamily="34" charset="-122"/>
                <a:ea typeface="微软雅黑" panose="020B0503020204020204" pitchFamily="34" charset="-122"/>
              </a:endParaRPr>
            </a:p>
            <a:p>
              <a:pPr eaLnBrk="0" hangingPunct="0">
                <a:lnSpc>
                  <a:spcPct val="150000"/>
                </a:lnSpc>
                <a:buFont typeface="Wingdings" panose="05000000000000000000"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sym typeface="+mn-ea"/>
                </a:rPr>
                <a:t>项目</a:t>
              </a:r>
              <a:r>
                <a:rPr lang="zh-CN" altLang="en-US" sz="1800" dirty="0" smtClean="0">
                  <a:solidFill>
                    <a:srgbClr val="000000"/>
                  </a:solidFill>
                  <a:latin typeface="微软雅黑" panose="020B0503020204020204" pitchFamily="34" charset="-122"/>
                  <a:ea typeface="微软雅黑" panose="020B0503020204020204" pitchFamily="34" charset="-122"/>
                  <a:sym typeface="+mn-ea"/>
                </a:rPr>
                <a:t>周报</a:t>
              </a:r>
              <a:endParaRPr lang="en-US" altLang="zh-CN" sz="1800" dirty="0" smtClean="0">
                <a:solidFill>
                  <a:srgbClr val="000000"/>
                </a:solidFill>
                <a:latin typeface="微软雅黑" panose="020B0503020204020204" pitchFamily="34" charset="-122"/>
                <a:ea typeface="微软雅黑" panose="020B0503020204020204" pitchFamily="34" charset="-122"/>
                <a:sym typeface="+mn-ea"/>
              </a:endParaRPr>
            </a:p>
            <a:p>
              <a:pPr eaLnBrk="0" hangingPunct="0">
                <a:lnSpc>
                  <a:spcPct val="150000"/>
                </a:lnSpc>
                <a:buFont typeface="Wingdings" panose="05000000000000000000" pitchFamily="2" charset="2"/>
                <a:buChar char="Ø"/>
              </a:pPr>
              <a:r>
                <a:rPr lang="zh-CN" altLang="en-US" sz="1800" dirty="0" smtClean="0">
                  <a:solidFill>
                    <a:srgbClr val="000000"/>
                  </a:solidFill>
                  <a:latin typeface="微软雅黑" panose="020B0503020204020204" pitchFamily="34" charset="-122"/>
                  <a:ea typeface="微软雅黑" panose="020B0503020204020204" pitchFamily="34" charset="-122"/>
                  <a:sym typeface="+mn-ea"/>
                </a:rPr>
                <a:t>项目风险跟踪表</a:t>
              </a:r>
              <a:endParaRPr lang="zh-CN" altLang="en-US" sz="1800" dirty="0" smtClean="0">
                <a:solidFill>
                  <a:srgbClr val="000000"/>
                </a:solidFill>
                <a:latin typeface="微软雅黑" panose="020B0503020204020204" pitchFamily="34" charset="-122"/>
                <a:ea typeface="微软雅黑" panose="020B0503020204020204" pitchFamily="34" charset="-122"/>
                <a:sym typeface="+mn-ea"/>
              </a:endParaRPr>
            </a:p>
            <a:p>
              <a:pPr eaLnBrk="0" hangingPunct="0">
                <a:lnSpc>
                  <a:spcPct val="150000"/>
                </a:lnSpc>
                <a:buFont typeface="Wingdings" panose="05000000000000000000" pitchFamily="2" charset="2"/>
                <a:buChar char="Ø"/>
              </a:pPr>
              <a:r>
                <a:rPr lang="zh-CN" altLang="en-US" sz="1800" dirty="0">
                  <a:solidFill>
                    <a:srgbClr val="000000"/>
                  </a:solidFill>
                  <a:latin typeface="微软雅黑" panose="020B0503020204020204" pitchFamily="34" charset="-122"/>
                  <a:ea typeface="微软雅黑" panose="020B0503020204020204" pitchFamily="34" charset="-122"/>
                  <a:sym typeface="+mn-ea"/>
                </a:rPr>
                <a:t>项目总结报告</a:t>
              </a:r>
              <a:endParaRPr lang="zh-CN" altLang="en-US" sz="1800" dirty="0">
                <a:latin typeface="微软雅黑" panose="020B0503020204020204" pitchFamily="34" charset="-122"/>
                <a:ea typeface="微软雅黑" panose="020B0503020204020204" pitchFamily="34" charset="-122"/>
              </a:endParaRPr>
            </a:p>
          </p:txBody>
        </p:sp>
      </p:grpSp>
      <p:sp>
        <p:nvSpPr>
          <p:cNvPr id="45" name="Text Box 45"/>
          <p:cNvSpPr txBox="1">
            <a:spLocks noChangeArrowheads="1"/>
          </p:cNvSpPr>
          <p:nvPr/>
        </p:nvSpPr>
        <p:spPr bwMode="gray">
          <a:xfrm>
            <a:off x="3299287" y="1678646"/>
            <a:ext cx="5808980" cy="368300"/>
          </a:xfrm>
          <a:prstGeom prst="rect">
            <a:avLst/>
          </a:prstGeom>
          <a:noFill/>
          <a:ln w="9525" algn="ctr">
            <a:noFill/>
            <a:miter lim="800000"/>
          </a:ln>
        </p:spPr>
        <p:txBody>
          <a:bodyPr wrap="square">
            <a:spAutoFit/>
          </a:bodyPr>
          <a:lstStyle/>
          <a:p>
            <a:pPr algn="l">
              <a:spcBef>
                <a:spcPct val="30000"/>
              </a:spcBef>
            </a:pPr>
            <a:r>
              <a:rPr lang="zh-CN" altLang="en-US" sz="1800" dirty="0">
                <a:latin typeface="微软雅黑" panose="020B0503020204020204" pitchFamily="34" charset="-122"/>
                <a:ea typeface="微软雅黑" panose="020B0503020204020204" pitchFamily="34" charset="-122"/>
              </a:rPr>
              <a:t>项目跟踪</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分析</a:t>
            </a:r>
            <a:r>
              <a:rPr lang="en-US" altLang="zh-CN" sz="1800" dirty="0">
                <a:latin typeface="微软雅黑" panose="020B0503020204020204" pitchFamily="34" charset="-122"/>
                <a:ea typeface="微软雅黑" panose="020B0503020204020204" pitchFamily="34" charset="-122"/>
              </a:rPr>
              <a:t>——</a:t>
            </a:r>
            <a:r>
              <a:rPr lang="zh-CN" altLang="en-US" sz="1800" dirty="0">
                <a:latin typeface="微软雅黑" panose="020B0503020204020204" pitchFamily="34" charset="-122"/>
                <a:ea typeface="微软雅黑" panose="020B0503020204020204" pitchFamily="34" charset="-122"/>
              </a:rPr>
              <a:t>预防</a:t>
            </a:r>
            <a:r>
              <a:rPr lang="zh-CN" altLang="en-US" sz="1800" dirty="0">
                <a:latin typeface="微软雅黑" panose="020B0503020204020204" pitchFamily="34" charset="-122"/>
                <a:ea typeface="微软雅黑" panose="020B0503020204020204" pitchFamily="34" charset="-122"/>
                <a:sym typeface="+mn-ea"/>
              </a:rPr>
              <a:t>纠正</a:t>
            </a:r>
            <a:r>
              <a:rPr lang="en-US" altLang="zh-CN" sz="1800" dirty="0">
                <a:latin typeface="微软雅黑" panose="020B0503020204020204" pitchFamily="34" charset="-122"/>
                <a:ea typeface="微软雅黑" panose="020B0503020204020204" pitchFamily="34" charset="-122"/>
                <a:sym typeface="+mn-ea"/>
              </a:rPr>
              <a:t>——</a:t>
            </a:r>
            <a:r>
              <a:rPr lang="zh-CN" altLang="en-US" sz="1800" dirty="0">
                <a:latin typeface="微软雅黑" panose="020B0503020204020204" pitchFamily="34" charset="-122"/>
                <a:ea typeface="微软雅黑" panose="020B0503020204020204" pitchFamily="34" charset="-122"/>
                <a:sym typeface="+mn-ea"/>
              </a:rPr>
              <a:t>问题闭环</a:t>
            </a:r>
            <a:endParaRPr lang="zh-CN" altLang="en-US" sz="1800" dirty="0">
              <a:latin typeface="微软雅黑" panose="020B0503020204020204" pitchFamily="34" charset="-122"/>
              <a:ea typeface="微软雅黑" panose="020B0503020204020204" pitchFamily="34" charset="-122"/>
              <a:sym typeface="+mn-ea"/>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r>
              <a:rPr dirty="0" smtClean="0">
                <a:solidFill>
                  <a:schemeClr val="tx1"/>
                </a:solidFill>
              </a:rPr>
              <a:t>监控</a:t>
            </a:r>
            <a:r>
              <a:rPr lang="en-US" altLang="zh-CN" dirty="0" smtClean="0">
                <a:solidFill>
                  <a:schemeClr val="tx1"/>
                </a:solidFill>
              </a:rPr>
              <a:t>-</a:t>
            </a:r>
            <a:r>
              <a:rPr lang="zh-CN" altLang="en-US" dirty="0" smtClean="0">
                <a:solidFill>
                  <a:srgbClr val="FF0000"/>
                </a:solidFill>
              </a:rPr>
              <a:t>常见问</a:t>
            </a:r>
            <a:r>
              <a:rPr lang="zh-CN" altLang="en-US" dirty="0" smtClean="0">
                <a:solidFill>
                  <a:srgbClr val="FF0000"/>
                </a:solidFill>
              </a:rPr>
              <a:t>题</a:t>
            </a:r>
            <a:endParaRPr lang="zh-CN" altLang="en-US" dirty="0" smtClean="0">
              <a:solidFill>
                <a:srgbClr val="FF0000"/>
              </a:solidFill>
            </a:endParaRPr>
          </a:p>
        </p:txBody>
      </p:sp>
      <p:sp>
        <p:nvSpPr>
          <p:cNvPr id="2" name="文本框 1"/>
          <p:cNvSpPr txBox="1"/>
          <p:nvPr/>
        </p:nvSpPr>
        <p:spPr>
          <a:xfrm>
            <a:off x="1201420" y="1116330"/>
            <a:ext cx="9512935" cy="5151120"/>
          </a:xfrm>
          <a:prstGeom prst="rect">
            <a:avLst/>
          </a:prstGeom>
          <a:noFill/>
        </p:spPr>
        <p:txBody>
          <a:bodyPr wrap="square" rtlCol="0">
            <a:noAutofit/>
          </a:bodyPr>
          <a:p>
            <a:pPr marL="457200" indent="-457200" fontAlgn="auto">
              <a:lnSpc>
                <a:spcPct val="150000"/>
              </a:lnSpc>
              <a:buFont typeface="+mj-lt"/>
              <a:buAutoNum type="arabicPeriod"/>
            </a:pPr>
            <a:r>
              <a:rPr lang="zh-CN" altLang="en-US"/>
              <a:t>项目组员未及时更新项目周报；</a:t>
            </a:r>
            <a:endParaRPr lang="zh-CN" altLang="en-US"/>
          </a:p>
          <a:p>
            <a:pPr marL="457200" indent="-457200" fontAlgn="auto">
              <a:lnSpc>
                <a:spcPct val="150000"/>
              </a:lnSpc>
              <a:buFont typeface="+mj-lt"/>
              <a:buAutoNum type="arabicPeriod"/>
            </a:pPr>
            <a:r>
              <a:rPr lang="zh-CN" altLang="en-US">
                <a:solidFill>
                  <a:srgbClr val="FF0000"/>
                </a:solidFill>
              </a:rPr>
              <a:t>周任务描述不清晰</a:t>
            </a:r>
            <a:r>
              <a:rPr lang="zh-CN" altLang="en-US"/>
              <a:t>，无法准确验证完成情况，未完成任务剩余工时未填写；</a:t>
            </a:r>
            <a:endParaRPr lang="zh-CN" altLang="en-US"/>
          </a:p>
          <a:p>
            <a:pPr marL="457200" indent="-457200" fontAlgn="auto">
              <a:lnSpc>
                <a:spcPct val="150000"/>
              </a:lnSpc>
              <a:buFont typeface="+mj-lt"/>
              <a:buAutoNum type="arabicPeriod"/>
            </a:pPr>
            <a:r>
              <a:rPr lang="zh-CN" altLang="en-US"/>
              <a:t>临时新增插队任务，当前任务不能投入，</a:t>
            </a:r>
            <a:r>
              <a:rPr lang="zh-CN" altLang="en-US">
                <a:solidFill>
                  <a:srgbClr val="FF0000"/>
                </a:solidFill>
              </a:rPr>
              <a:t>未及时与</a:t>
            </a:r>
            <a:r>
              <a:rPr lang="en-US" altLang="zh-CN">
                <a:solidFill>
                  <a:srgbClr val="FF0000"/>
                </a:solidFill>
              </a:rPr>
              <a:t>PM</a:t>
            </a:r>
            <a:r>
              <a:rPr lang="zh-CN" altLang="en-US">
                <a:solidFill>
                  <a:srgbClr val="FF0000"/>
                </a:solidFill>
              </a:rPr>
              <a:t>沟通</a:t>
            </a:r>
            <a:r>
              <a:rPr lang="zh-CN" altLang="en-US"/>
              <a:t>并更新当周的周计划内容；</a:t>
            </a:r>
            <a:endParaRPr lang="zh-CN" altLang="en-US"/>
          </a:p>
          <a:p>
            <a:pPr marL="457200" indent="-457200" fontAlgn="auto">
              <a:lnSpc>
                <a:spcPct val="150000"/>
              </a:lnSpc>
              <a:buFont typeface="+mj-lt"/>
              <a:buAutoNum type="arabicPeriod"/>
            </a:pPr>
            <a:r>
              <a:rPr lang="zh-CN" altLang="en-US"/>
              <a:t>技术难题责任人独自钻研，迟迟未解决，</a:t>
            </a:r>
            <a:r>
              <a:rPr lang="zh-CN" altLang="en-US">
                <a:solidFill>
                  <a:srgbClr val="FF0000"/>
                </a:solidFill>
              </a:rPr>
              <a:t>不及时汇报</a:t>
            </a:r>
            <a:r>
              <a:rPr lang="zh-CN" altLang="en-US"/>
              <a:t>，待后置任务临近才发现，导致</a:t>
            </a:r>
            <a:r>
              <a:rPr lang="zh-CN" altLang="en-US"/>
              <a:t>后续任务无法按计划开展；</a:t>
            </a:r>
            <a:endParaRPr lang="zh-CN" altLang="en-US"/>
          </a:p>
          <a:p>
            <a:pPr marL="457200" indent="-457200" fontAlgn="auto">
              <a:lnSpc>
                <a:spcPct val="150000"/>
              </a:lnSpc>
              <a:buFont typeface="+mj-lt"/>
              <a:buAutoNum type="arabicPeriod"/>
            </a:pPr>
            <a:r>
              <a:rPr lang="zh-CN" altLang="en-US"/>
              <a:t>项目经理</a:t>
            </a:r>
            <a:r>
              <a:rPr lang="zh-CN" altLang="en-US">
                <a:solidFill>
                  <a:srgbClr val="FF0000"/>
                </a:solidFill>
              </a:rPr>
              <a:t>未及时关注到人员工作进展，或未及时协调任务冲突，</a:t>
            </a:r>
            <a:r>
              <a:rPr lang="zh-CN" altLang="en-US"/>
              <a:t>导致任务完成度不达预期；</a:t>
            </a:r>
            <a:endParaRPr lang="zh-CN" altLang="en-US"/>
          </a:p>
          <a:p>
            <a:pPr marL="457200" indent="-457200" fontAlgn="auto">
              <a:lnSpc>
                <a:spcPct val="150000"/>
              </a:lnSpc>
              <a:buFont typeface="+mj-lt"/>
              <a:buAutoNum type="arabicPeriod"/>
            </a:pPr>
            <a:r>
              <a:rPr lang="zh-CN" altLang="en-US"/>
              <a:t>填写工作日志时，项目阶段选择错误；（未按照实际工作任务对应阶段选择）；</a:t>
            </a:r>
            <a:endParaRPr lang="zh-CN" altLang="en-US"/>
          </a:p>
          <a:p>
            <a:pPr marL="457200" indent="-457200" fontAlgn="auto">
              <a:lnSpc>
                <a:spcPct val="150000"/>
              </a:lnSpc>
              <a:buFont typeface="+mj-lt"/>
              <a:buAutoNum type="arabicPeriod"/>
            </a:pPr>
            <a:r>
              <a:rPr lang="zh-CN" altLang="en-US"/>
              <a:t>策划阶段风险识别不到位，</a:t>
            </a:r>
            <a:r>
              <a:rPr lang="zh-CN" altLang="en-US">
                <a:solidFill>
                  <a:srgbClr val="FF0000"/>
                </a:solidFill>
                <a:sym typeface="+mn-ea"/>
              </a:rPr>
              <a:t>改进措施不</a:t>
            </a:r>
            <a:r>
              <a:rPr lang="en-US" altLang="zh-CN">
                <a:solidFill>
                  <a:srgbClr val="FF0000"/>
                </a:solidFill>
                <a:sym typeface="+mn-ea"/>
              </a:rPr>
              <a:t>SMART</a:t>
            </a:r>
            <a:r>
              <a:rPr lang="zh-CN" altLang="en-US">
                <a:solidFill>
                  <a:srgbClr val="FF0000"/>
                </a:solidFill>
                <a:sym typeface="+mn-ea"/>
              </a:rPr>
              <a:t>化</a:t>
            </a:r>
            <a:r>
              <a:rPr lang="zh-CN" altLang="en-US">
                <a:sym typeface="+mn-ea"/>
              </a:rPr>
              <a:t>；</a:t>
            </a:r>
            <a:endParaRPr lang="zh-CN" altLang="en-US">
              <a:sym typeface="+mn-ea"/>
            </a:endParaRPr>
          </a:p>
          <a:p>
            <a:pPr marL="457200" indent="-457200" fontAlgn="auto">
              <a:lnSpc>
                <a:spcPct val="150000"/>
              </a:lnSpc>
              <a:buFont typeface="+mj-lt"/>
              <a:buAutoNum type="arabicPeriod"/>
            </a:pPr>
            <a:r>
              <a:rPr lang="zh-CN" altLang="en-US">
                <a:sym typeface="+mn-ea"/>
              </a:rPr>
              <a:t>风险未能在文档中记录、跟踪、闭环；</a:t>
            </a:r>
            <a:endParaRPr lang="zh-CN" altLang="en-US">
              <a:sym typeface="+mn-ea"/>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4"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5"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6"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7"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8"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cxnSp>
        <p:nvCxnSpPr>
          <p:cNvPr id="9" name="直接连接符 8"/>
          <p:cNvCxnSpPr/>
          <p:nvPr/>
        </p:nvCxnSpPr>
        <p:spPr>
          <a:xfrm>
            <a:off x="3395668" y="2249488"/>
            <a:ext cx="545782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395668" y="4179888"/>
            <a:ext cx="545782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7"/>
          <p:cNvSpPr txBox="1"/>
          <p:nvPr/>
        </p:nvSpPr>
        <p:spPr>
          <a:xfrm>
            <a:off x="3395663" y="2484447"/>
            <a:ext cx="1814512" cy="1462087"/>
          </a:xfrm>
          <a:prstGeom prst="rect">
            <a:avLst/>
          </a:prstGeom>
          <a:noFill/>
        </p:spPr>
        <p:txBody>
          <a:bodyPr lIns="0" tIns="0" rIns="0" bIns="0" anchor="ctr"/>
          <a:lstStyle/>
          <a:p>
            <a:pPr algn="ctr">
              <a:defRPr/>
            </a:pPr>
            <a:r>
              <a:rPr lang="en-US" altLang="zh-CN" sz="11500" spc="-500" dirty="0" smtClean="0">
                <a:solidFill>
                  <a:schemeClr val="accent1"/>
                </a:solidFill>
                <a:latin typeface="Arial" panose="020B0604020202020204" pitchFamily="34" charset="0"/>
                <a:ea typeface="微软雅黑" panose="020B0503020204020204" pitchFamily="34" charset="-122"/>
              </a:rPr>
              <a:t>04</a:t>
            </a:r>
            <a:endParaRPr lang="zh-CN" altLang="en-US" sz="11500" spc="-500" dirty="0">
              <a:solidFill>
                <a:schemeClr val="accent1"/>
              </a:solidFill>
              <a:latin typeface="Arial" panose="020B0604020202020204" pitchFamily="34" charset="0"/>
              <a:ea typeface="微软雅黑" panose="020B0503020204020204" pitchFamily="34" charset="-122"/>
            </a:endParaRPr>
          </a:p>
        </p:txBody>
      </p:sp>
      <p:sp>
        <p:nvSpPr>
          <p:cNvPr id="12" name="文本框 8"/>
          <p:cNvSpPr txBox="1">
            <a:spLocks noChangeArrowheads="1"/>
          </p:cNvSpPr>
          <p:nvPr/>
        </p:nvSpPr>
        <p:spPr bwMode="auto">
          <a:xfrm>
            <a:off x="5209215" y="2249488"/>
            <a:ext cx="3775731" cy="1930400"/>
          </a:xfrm>
          <a:prstGeom prst="rect">
            <a:avLst/>
          </a:prstGeom>
          <a:noFill/>
          <a:ln w="9525">
            <a:noFill/>
            <a:miter lim="800000"/>
          </a:ln>
        </p:spPr>
        <p:txBody>
          <a:bodyPr lIns="0" tIns="0" rIns="0" bIns="0" anchor="ctr"/>
          <a:lstStyle/>
          <a:p>
            <a:pPr lvl="0" algn="ctr">
              <a:lnSpc>
                <a:spcPct val="110000"/>
              </a:lnSpc>
            </a:pPr>
            <a:r>
              <a:rPr lang="zh-CN" altLang="en-US" sz="4000" b="1" smtClean="0">
                <a:latin typeface="Arial" panose="020B0604020202020204" pitchFamily="34" charset="0"/>
                <a:ea typeface="微软雅黑" panose="020B0503020204020204" pitchFamily="34" charset="-122"/>
              </a:rPr>
              <a:t>人员绩效及奖金</a:t>
            </a:r>
            <a:endParaRPr lang="en-US" altLang="zh-CN" sz="4000" b="1" dirty="0">
              <a:latin typeface="Arial" panose="020B0604020202020204" pitchFamily="34" charset="0"/>
              <a:ea typeface="微软雅黑" panose="020B0503020204020204" pitchFamily="34" charset="-122"/>
            </a:endParaRPr>
          </a:p>
        </p:txBody>
      </p:sp>
      <p:sp>
        <p:nvSpPr>
          <p:cNvPr id="2" name="灯片编号占位符 1"/>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ChangeArrowheads="1"/>
          </p:cNvSpPr>
          <p:nvPr/>
        </p:nvSpPr>
        <p:spPr bwMode="auto">
          <a:xfrm>
            <a:off x="6003635" y="-195438"/>
            <a:ext cx="184731" cy="390876"/>
          </a:xfrm>
          <a:prstGeom prst="rect">
            <a:avLst/>
          </a:prstGeom>
          <a:noFill/>
          <a:ln w="9525">
            <a:noFill/>
            <a:miter lim="800000"/>
          </a:ln>
        </p:spPr>
        <p:txBody>
          <a:bodyPr wrap="none" anchor="ctr">
            <a:spAutoFit/>
          </a:bodyPr>
          <a:lstStyle/>
          <a:p>
            <a:pPr algn="ctr"/>
            <a:endParaRPr lang="zh-CN" altLang="en-US"/>
          </a:p>
        </p:txBody>
      </p:sp>
      <p:sp>
        <p:nvSpPr>
          <p:cNvPr id="4" name="标题 3"/>
          <p:cNvSpPr>
            <a:spLocks noGrp="1"/>
          </p:cNvSpPr>
          <p:nvPr>
            <p:ph type="title"/>
          </p:nvPr>
        </p:nvSpPr>
        <p:spPr/>
        <p:txBody>
          <a:bodyPr>
            <a:normAutofit/>
          </a:bodyPr>
          <a:lstStyle/>
          <a:p>
            <a:r>
              <a:rPr>
                <a:solidFill>
                  <a:schemeClr val="tx1"/>
                </a:solidFill>
                <a:sym typeface="+mn-ea"/>
              </a:rPr>
              <a:t>年度个人绩效考评</a:t>
            </a:r>
            <a:endParaRPr lang="zh-CN" altLang="en-US" dirty="0" smtClean="0">
              <a:solidFill>
                <a:schemeClr val="tx1"/>
              </a:solidFill>
              <a:sym typeface="+mn-ea"/>
            </a:endParaRPr>
          </a:p>
        </p:txBody>
      </p:sp>
      <p:sp>
        <p:nvSpPr>
          <p:cNvPr id="5" name="灯片编号占位符 4"/>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6" name="矩形 5"/>
          <p:cNvSpPr/>
          <p:nvPr/>
        </p:nvSpPr>
        <p:spPr>
          <a:xfrm>
            <a:off x="429798" y="961869"/>
            <a:ext cx="11598371" cy="3830955"/>
          </a:xfrm>
          <a:prstGeom prst="rect">
            <a:avLst/>
          </a:prstGeom>
        </p:spPr>
        <p:txBody>
          <a:bodyPr wrap="square">
            <a:spAutoFit/>
          </a:bodyPr>
          <a:lstStyle/>
          <a:p>
            <a:pPr>
              <a:lnSpc>
                <a:spcPct val="150000"/>
              </a:lnSpc>
            </a:pPr>
            <a:r>
              <a:rPr lang="en-US" altLang="zh-CN" sz="1800" b="1" dirty="0">
                <a:latin typeface="+mn-ea"/>
              </a:rPr>
              <a:t>1</a:t>
            </a:r>
            <a:r>
              <a:rPr lang="zh-CN" altLang="en-US" sz="1800" b="1" dirty="0">
                <a:latin typeface="+mn-ea"/>
              </a:rPr>
              <a:t>、人员绩效评级要求：</a:t>
            </a:r>
            <a:endParaRPr lang="en-US" altLang="zh-CN" sz="1800" b="1" dirty="0">
              <a:latin typeface="+mn-ea"/>
            </a:endParaRPr>
          </a:p>
          <a:p>
            <a:pPr indent="-457200">
              <a:lnSpc>
                <a:spcPct val="150000"/>
              </a:lnSpc>
              <a:buFont typeface="Wingdings" panose="05000000000000000000" pitchFamily="2" charset="2"/>
              <a:buChar char="Ø"/>
            </a:pPr>
            <a:r>
              <a:rPr lang="zh-CN" altLang="en-US" sz="1800">
                <a:latin typeface="+mn-ea"/>
                <a:cs typeface="+mn-ea"/>
                <a:sym typeface="+mn-ea"/>
              </a:rPr>
              <a:t>年度个人绩效考核结果从高到低分为</a:t>
            </a:r>
            <a:r>
              <a:rPr lang="zh-CN" altLang="en-US" sz="1800">
                <a:latin typeface="+mn-ea"/>
                <a:cs typeface="+mn-ea"/>
              </a:rPr>
              <a:t>“A”、”A-”、“B+”、“B”、”B-”、“C”、“D”七档；</a:t>
            </a:r>
            <a:endParaRPr lang="zh-CN" altLang="en-US" sz="1800">
              <a:latin typeface="+mn-ea"/>
              <a:cs typeface="+mn-ea"/>
            </a:endParaRPr>
          </a:p>
          <a:p>
            <a:pPr marL="342900" indent="-342900" algn="l">
              <a:lnSpc>
                <a:spcPct val="150000"/>
              </a:lnSpc>
              <a:buClrTx/>
              <a:buSzTx/>
              <a:buFont typeface="Wingdings" panose="05000000000000000000" charset="0"/>
              <a:buChar char="Ø"/>
            </a:pPr>
            <a:r>
              <a:rPr lang="zh-CN" altLang="en-US" sz="1800">
                <a:latin typeface="+mn-ea"/>
                <a:cs typeface="+mn-ea"/>
                <a:sym typeface="+mn-ea"/>
              </a:rPr>
              <a:t>研发人员年度个人绩效考核主要参考年度研发项目个人考评结果以及年度综合事务考评结果。</a:t>
            </a:r>
            <a:r>
              <a:rPr lang="zh-CN" altLang="en-US" sz="1800">
                <a:solidFill>
                  <a:srgbClr val="FF0000"/>
                </a:solidFill>
                <a:latin typeface="+mn-ea"/>
                <a:cs typeface="+mn-ea"/>
                <a:sym typeface="+mn-ea"/>
              </a:rPr>
              <a:t>年度个人绩效考核需综合评估研发人员在考核周期内的研发项目执行情况、研发产出及综合维度的工作成效，以及年度个人贡献。</a:t>
            </a:r>
            <a:endParaRPr lang="zh-CN" altLang="en-US" sz="1800" b="0">
              <a:latin typeface="+mn-ea"/>
              <a:cs typeface="+mn-ea"/>
            </a:endParaRPr>
          </a:p>
          <a:p>
            <a:pPr marL="342900" indent="-342900" algn="l">
              <a:lnSpc>
                <a:spcPct val="150000"/>
              </a:lnSpc>
              <a:buClrTx/>
              <a:buSzTx/>
              <a:buFont typeface="Wingdings" panose="05000000000000000000" charset="0"/>
              <a:buChar char="Ø"/>
            </a:pPr>
            <a:r>
              <a:rPr lang="zh-CN" altLang="en-US" sz="1800">
                <a:latin typeface="+mn-ea"/>
                <a:cs typeface="+mn-ea"/>
                <a:sym typeface="+mn-ea"/>
              </a:rPr>
              <a:t>个人绩效等级评价，原则上</a:t>
            </a:r>
            <a:r>
              <a:rPr lang="zh-CN" altLang="en-US" sz="1800">
                <a:solidFill>
                  <a:srgbClr val="FF0000"/>
                </a:solidFill>
                <a:latin typeface="+mn-ea"/>
                <a:cs typeface="+mn-ea"/>
                <a:sym typeface="+mn-ea"/>
              </a:rPr>
              <a:t>根据对人员的预期进行评价</a:t>
            </a:r>
            <a:r>
              <a:rPr lang="zh-CN" altLang="en-US" sz="1800">
                <a:latin typeface="+mn-ea"/>
                <a:cs typeface="+mn-ea"/>
                <a:sym typeface="+mn-ea"/>
              </a:rPr>
              <a:t>，对职级高的人员相应预期也高，对职级低的或刚入职人员的预期也低，尽可能同专业方向同职级的保持横向对比。因此，</a:t>
            </a:r>
            <a:r>
              <a:rPr lang="zh-CN" altLang="en-US" sz="1800">
                <a:solidFill>
                  <a:srgbClr val="FF0000"/>
                </a:solidFill>
                <a:latin typeface="+mn-ea"/>
                <a:cs typeface="+mn-ea"/>
                <a:sym typeface="+mn-ea"/>
              </a:rPr>
              <a:t>各级组织在对组织内人员进行考评时，应按照对人员的绩效预期进行客观评价。</a:t>
            </a:r>
            <a:endParaRPr lang="zh-CN" altLang="en-US" sz="1800">
              <a:solidFill>
                <a:srgbClr val="FF0000"/>
              </a:solidFill>
              <a:latin typeface="+mn-ea"/>
              <a:cs typeface="+mn-ea"/>
              <a:sym typeface="+mn-ea"/>
            </a:endParaRPr>
          </a:p>
          <a:p>
            <a:pPr indent="0" algn="l">
              <a:lnSpc>
                <a:spcPct val="150000"/>
              </a:lnSpc>
              <a:buClrTx/>
              <a:buSzTx/>
              <a:buFont typeface="Wingdings" panose="05000000000000000000" charset="0"/>
              <a:buNone/>
            </a:pPr>
            <a:endParaRPr lang="zh-CN" altLang="en-US" sz="1800" dirty="0">
              <a:latin typeface="+mn-e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a:solidFill>
                  <a:schemeClr val="tx1"/>
                </a:solidFill>
                <a:sym typeface="+mn-ea"/>
              </a:rPr>
              <a:t>项目维度</a:t>
            </a:r>
            <a:r>
              <a:rPr lang="en-US" altLang="zh-CN">
                <a:solidFill>
                  <a:srgbClr val="FF0000"/>
                </a:solidFill>
                <a:sym typeface="+mn-ea"/>
              </a:rPr>
              <a:t>-</a:t>
            </a:r>
            <a:r>
              <a:rPr>
                <a:solidFill>
                  <a:srgbClr val="FF0000"/>
                </a:solidFill>
                <a:sym typeface="+mn-ea"/>
              </a:rPr>
              <a:t>个人绩效考评</a:t>
            </a:r>
            <a:endParaRPr lang="zh-CN" altLang="en-US" dirty="0">
              <a:solidFill>
                <a:srgbClr val="FF0000"/>
              </a:solidFill>
              <a:sym typeface="+mn-ea"/>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100" name="文本框 99"/>
          <p:cNvSpPr txBox="1"/>
          <p:nvPr>
            <p:custDataLst>
              <p:tags r:id="rId1"/>
            </p:custDataLst>
          </p:nvPr>
        </p:nvSpPr>
        <p:spPr>
          <a:xfrm>
            <a:off x="690880" y="1020445"/>
            <a:ext cx="10433050" cy="2861310"/>
          </a:xfrm>
          <a:prstGeom prst="rect">
            <a:avLst/>
          </a:prstGeom>
          <a:noFill/>
          <a:ln w="9525">
            <a:noFill/>
          </a:ln>
        </p:spPr>
        <p:txBody>
          <a:bodyPr wrap="square">
            <a:spAutoFit/>
          </a:bodyPr>
          <a:p>
            <a:pPr marL="342900" indent="-342900">
              <a:lnSpc>
                <a:spcPct val="200000"/>
              </a:lnSpc>
              <a:buClrTx/>
              <a:buSzTx/>
              <a:buFont typeface="Wingdings" panose="05000000000000000000" charset="0"/>
              <a:buChar char="Ø"/>
            </a:pPr>
            <a:r>
              <a:rPr lang="zh-CN" altLang="en-US" sz="1800" b="0">
                <a:latin typeface="+mn-ea"/>
                <a:cs typeface="+mn-ea"/>
              </a:rPr>
              <a:t>研发人员绩效主要从阶段任务的完成情况和工作成果的总体质量，对项目总目标的贡献，包括</a:t>
            </a:r>
            <a:r>
              <a:rPr lang="zh-CN" altLang="en-US" sz="1800" b="0">
                <a:solidFill>
                  <a:srgbClr val="FF0000"/>
                </a:solidFill>
                <a:latin typeface="+mn-ea"/>
                <a:cs typeface="+mn-ea"/>
              </a:rPr>
              <a:t>项目提前或延期的责任占比情况</a:t>
            </a:r>
            <a:r>
              <a:rPr lang="zh-CN" altLang="en-US" sz="1800" b="0">
                <a:latin typeface="+mn-ea"/>
                <a:cs typeface="+mn-ea"/>
              </a:rPr>
              <a:t>进行考评，结合研发过程中收集统计的各项数据作为评价参考依据，</a:t>
            </a:r>
            <a:r>
              <a:rPr lang="zh-CN" altLang="en-US" sz="1800" b="0">
                <a:solidFill>
                  <a:srgbClr val="FF0000"/>
                </a:solidFill>
                <a:latin typeface="+mn-ea"/>
                <a:cs typeface="+mn-ea"/>
              </a:rPr>
              <a:t>如项目阶段进度偏差责任占比、人员周任务完成情况、人员阶段绩效等级等</a:t>
            </a:r>
            <a:r>
              <a:rPr lang="zh-CN" altLang="en-US" sz="1800" b="0">
                <a:latin typeface="+mn-ea"/>
                <a:cs typeface="+mn-ea"/>
              </a:rPr>
              <a:t>。项目经理综合评估人员对项目总目标贡献的差异进行个人绩效等级评价，绩效评价标准参考</a:t>
            </a:r>
            <a:r>
              <a:rPr lang="zh-CN" altLang="en-US" sz="1800" b="0">
                <a:solidFill>
                  <a:srgbClr val="FF0000"/>
                </a:solidFill>
                <a:latin typeface="+mn-ea"/>
                <a:cs typeface="+mn-ea"/>
              </a:rPr>
              <a:t>《附件一研发项目中研发人员阶段绩效评价基本标准》</a:t>
            </a:r>
            <a:r>
              <a:rPr lang="zh-CN" altLang="en-US" sz="1800" b="0">
                <a:latin typeface="+mn-ea"/>
                <a:cs typeface="+mn-ea"/>
              </a:rPr>
              <a:t>。</a:t>
            </a:r>
            <a:endParaRPr lang="zh-CN" altLang="en-US" sz="1800" b="0">
              <a:latin typeface="+mn-ea"/>
              <a:cs typeface="+mn-ea"/>
            </a:endParaRPr>
          </a:p>
        </p:txBody>
      </p:sp>
      <p:sp>
        <p:nvSpPr>
          <p:cNvPr id="3" name="文本框 2"/>
          <p:cNvSpPr txBox="1"/>
          <p:nvPr>
            <p:custDataLst>
              <p:tags r:id="rId2"/>
            </p:custDataLst>
          </p:nvPr>
        </p:nvSpPr>
        <p:spPr>
          <a:xfrm>
            <a:off x="690880" y="3881755"/>
            <a:ext cx="10167620" cy="1753235"/>
          </a:xfrm>
          <a:prstGeom prst="rect">
            <a:avLst/>
          </a:prstGeom>
          <a:noFill/>
          <a:ln w="9525">
            <a:noFill/>
          </a:ln>
        </p:spPr>
        <p:txBody>
          <a:bodyPr wrap="square">
            <a:spAutoFit/>
          </a:bodyPr>
          <a:p>
            <a:pPr marL="342900" indent="-342900" algn="l" fontAlgn="auto">
              <a:lnSpc>
                <a:spcPct val="200000"/>
              </a:lnSpc>
              <a:buClrTx/>
              <a:buSzTx/>
              <a:buFont typeface="Wingdings" panose="05000000000000000000" charset="0"/>
              <a:buChar char="Ø"/>
            </a:pPr>
            <a:r>
              <a:rPr lang="zh-CN" altLang="en-US" sz="1800" b="0">
                <a:latin typeface="+mn-ea"/>
                <a:cs typeface="+mn-ea"/>
              </a:rPr>
              <a:t>个人项目绩效等级评价，应结合项目中人员的目标和项目实际进度、质量结果，以及项目提前或延期的责任占比进行客观评价，</a:t>
            </a:r>
            <a:r>
              <a:rPr lang="zh-CN" altLang="en-US" sz="1800" b="0">
                <a:solidFill>
                  <a:srgbClr val="FF0000"/>
                </a:solidFill>
                <a:latin typeface="+mn-ea"/>
                <a:cs typeface="+mn-ea"/>
              </a:rPr>
              <a:t>特殊情况可进行备注说明，部门经理进行半年度和年度个人绩效考核时需综合评估。</a:t>
            </a:r>
            <a:endParaRPr lang="zh-CN" altLang="en-US" sz="1800" b="0">
              <a:solidFill>
                <a:srgbClr val="FF0000"/>
              </a:solidFill>
              <a:latin typeface="+mn-ea"/>
              <a:cs typeface="+mn-ea"/>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ChangeArrowheads="1"/>
          </p:cNvSpPr>
          <p:nvPr/>
        </p:nvSpPr>
        <p:spPr bwMode="auto">
          <a:xfrm>
            <a:off x="6003635" y="-195438"/>
            <a:ext cx="184731" cy="390876"/>
          </a:xfrm>
          <a:prstGeom prst="rect">
            <a:avLst/>
          </a:prstGeom>
          <a:noFill/>
          <a:ln w="9525">
            <a:noFill/>
            <a:miter lim="800000"/>
          </a:ln>
        </p:spPr>
        <p:txBody>
          <a:bodyPr wrap="none" anchor="ctr">
            <a:spAutoFit/>
          </a:bodyPr>
          <a:lstStyle/>
          <a:p>
            <a:pPr algn="ctr"/>
            <a:endParaRPr lang="zh-CN" altLang="en-US"/>
          </a:p>
        </p:txBody>
      </p:sp>
      <p:sp>
        <p:nvSpPr>
          <p:cNvPr id="4" name="标题 3"/>
          <p:cNvSpPr>
            <a:spLocks noGrp="1"/>
          </p:cNvSpPr>
          <p:nvPr>
            <p:ph type="title"/>
          </p:nvPr>
        </p:nvSpPr>
        <p:spPr/>
        <p:txBody>
          <a:bodyPr>
            <a:normAutofit/>
          </a:bodyPr>
          <a:lstStyle/>
          <a:p>
            <a:r>
              <a:rPr>
                <a:solidFill>
                  <a:schemeClr val="tx1"/>
                </a:solidFill>
                <a:sym typeface="+mn-ea"/>
              </a:rPr>
              <a:t>项目维度</a:t>
            </a:r>
            <a:r>
              <a:rPr lang="en-US" altLang="zh-CN">
                <a:solidFill>
                  <a:schemeClr val="tx1"/>
                </a:solidFill>
                <a:sym typeface="+mn-ea"/>
              </a:rPr>
              <a:t>-</a:t>
            </a:r>
            <a:r>
              <a:rPr>
                <a:solidFill>
                  <a:srgbClr val="FF0000"/>
                </a:solidFill>
                <a:sym typeface="+mn-ea"/>
              </a:rPr>
              <a:t>个人绩效考评</a:t>
            </a:r>
            <a:endParaRPr lang="zh-CN" altLang="en-US" dirty="0" smtClean="0">
              <a:solidFill>
                <a:srgbClr val="FF0000"/>
              </a:solidFill>
              <a:sym typeface="+mn-ea"/>
            </a:endParaRPr>
          </a:p>
        </p:txBody>
      </p:sp>
      <p:sp>
        <p:nvSpPr>
          <p:cNvPr id="6" name="矩形 5"/>
          <p:cNvSpPr/>
          <p:nvPr/>
        </p:nvSpPr>
        <p:spPr>
          <a:xfrm>
            <a:off x="476896" y="2688186"/>
            <a:ext cx="10800058" cy="4246245"/>
          </a:xfrm>
          <a:prstGeom prst="rect">
            <a:avLst/>
          </a:prstGeom>
        </p:spPr>
        <p:txBody>
          <a:bodyPr wrap="square">
            <a:spAutoFit/>
          </a:bodyPr>
          <a:lstStyle/>
          <a:p>
            <a:pPr marL="285750" indent="-285750">
              <a:lnSpc>
                <a:spcPct val="150000"/>
              </a:lnSpc>
              <a:buFont typeface="Wingdings" panose="05000000000000000000" charset="0"/>
              <a:buChar char="Ø"/>
            </a:pPr>
            <a:r>
              <a:rPr lang="zh-CN" altLang="en-US" sz="1800">
                <a:latin typeface="+mn-ea"/>
                <a:cs typeface="+mn-ea"/>
                <a:sym typeface="+mn-ea"/>
              </a:rPr>
              <a:t>项目发布试用总结阶段</a:t>
            </a:r>
            <a:r>
              <a:rPr lang="en-US" altLang="zh-CN" sz="1800">
                <a:latin typeface="+mn-ea"/>
                <a:cs typeface="+mn-ea"/>
                <a:sym typeface="+mn-ea"/>
              </a:rPr>
              <a:t>/</a:t>
            </a:r>
            <a:r>
              <a:rPr lang="zh-CN" altLang="en-US" sz="1800">
                <a:latin typeface="+mn-ea"/>
                <a:cs typeface="+mn-ea"/>
                <a:sym typeface="+mn-ea"/>
              </a:rPr>
              <a:t>结项阶段项目经理针对前期确定的关键绩效项的完成情况和总体质量，项目提前或延期的责任占比，依据评价标准完成《员工项目绩效考评表》，高级经理和分管领导对评价结果进行确认，并达成一致。</a:t>
            </a:r>
            <a:endParaRPr lang="zh-CN" altLang="en-US" sz="1800" b="0">
              <a:latin typeface="+mn-ea"/>
              <a:cs typeface="+mn-ea"/>
            </a:endParaRPr>
          </a:p>
          <a:p>
            <a:pPr marL="285750" indent="-285750">
              <a:lnSpc>
                <a:spcPct val="150000"/>
              </a:lnSpc>
              <a:buFont typeface="Wingdings" panose="05000000000000000000" charset="0"/>
              <a:buChar char="Ø"/>
            </a:pPr>
            <a:r>
              <a:rPr lang="zh-CN" altLang="en-US" sz="1800" dirty="0" smtClean="0">
                <a:latin typeface="+mn-ea"/>
              </a:rPr>
              <a:t>其中，项目经理个人绩效</a:t>
            </a:r>
            <a:r>
              <a:rPr lang="zh-CN" altLang="en-US" sz="1800" smtClean="0">
                <a:latin typeface="+mn-ea"/>
              </a:rPr>
              <a:t>由高级经理评价</a:t>
            </a:r>
            <a:r>
              <a:rPr lang="zh-CN" altLang="en-US" sz="1800">
                <a:latin typeface="+mn-ea"/>
              </a:rPr>
              <a:t>；</a:t>
            </a:r>
            <a:r>
              <a:rPr sz="1800">
                <a:latin typeface="微软雅黑" panose="020B0503020204020204" pitchFamily="34" charset="-122"/>
                <a:ea typeface="微软雅黑" panose="020B0503020204020204" pitchFamily="34" charset="-122"/>
                <a:cs typeface="微软雅黑" panose="020B0503020204020204" pitchFamily="34" charset="-122"/>
                <a:sym typeface="+mn-ea"/>
              </a:rPr>
              <a:t>技术研究院-测试工程师绩效由</a:t>
            </a:r>
            <a:r>
              <a:rPr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研发产品经理</a:t>
            </a:r>
            <a:r>
              <a:rPr lang="zh-CN" sz="180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评价</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sz="1800" smtClean="0">
              <a:latin typeface="+mn-ea"/>
            </a:endParaRPr>
          </a:p>
          <a:p>
            <a:pPr marL="342900" indent="-342900" algn="l">
              <a:lnSpc>
                <a:spcPct val="150000"/>
              </a:lnSpc>
              <a:buClrTx/>
              <a:buSzTx/>
              <a:buFont typeface="Wingdings" panose="05000000000000000000" charset="0"/>
              <a:buChar char="Ø"/>
            </a:pPr>
            <a:r>
              <a:rPr lang="zh-CN" altLang="en-US" sz="1800">
                <a:latin typeface="+mn-ea"/>
                <a:cs typeface="+mn-ea"/>
                <a:sym typeface="+mn-ea"/>
              </a:rPr>
              <a:t>项目发布试用总结或结项评估会议上</a:t>
            </a:r>
            <a:r>
              <a:rPr lang="zh-CN" altLang="en-US" sz="1800">
                <a:solidFill>
                  <a:srgbClr val="FF0000"/>
                </a:solidFill>
                <a:latin typeface="+mn-ea"/>
                <a:cs typeface="+mn-ea"/>
                <a:sym typeface="+mn-ea"/>
              </a:rPr>
              <a:t>可不公示《员工项目绩效考评表》。</a:t>
            </a:r>
            <a:endParaRPr lang="zh-CN" altLang="en-US" sz="1800" b="0">
              <a:latin typeface="+mn-ea"/>
              <a:cs typeface="+mn-ea"/>
            </a:endParaRPr>
          </a:p>
          <a:p>
            <a:pPr marL="342900" indent="-342900" algn="l">
              <a:lnSpc>
                <a:spcPct val="150000"/>
              </a:lnSpc>
              <a:buClrTx/>
              <a:buSzTx/>
              <a:buFont typeface="Wingdings" panose="05000000000000000000" charset="0"/>
              <a:buChar char="Ø"/>
            </a:pPr>
            <a:r>
              <a:rPr lang="zh-CN" altLang="en-US" sz="1800">
                <a:latin typeface="+mn-ea"/>
                <a:cs typeface="+mn-ea"/>
                <a:sym typeface="+mn-ea"/>
              </a:rPr>
              <a:t>项目经理可协同高级经理或项目组员的直属上级，结合员工实际工作表现、个人绩效达成情况，在项目过程中与相关组员就项目表现进行沟通，提供指导和反馈，以优化项目执行并促进团队成长。</a:t>
            </a:r>
            <a:endParaRPr lang="zh-CN" altLang="en-US" sz="1800">
              <a:latin typeface="+mn-ea"/>
              <a:cs typeface="+mn-ea"/>
              <a:sym typeface="+mn-ea"/>
            </a:endParaRPr>
          </a:p>
          <a:p>
            <a:pPr marL="342900" indent="-342900" algn="l">
              <a:lnSpc>
                <a:spcPct val="150000"/>
              </a:lnSpc>
              <a:buClrTx/>
              <a:buSzTx/>
              <a:buFont typeface="Wingdings" panose="05000000000000000000" charset="0"/>
              <a:buChar char="Ø"/>
            </a:pPr>
            <a:r>
              <a:rPr lang="zh-CN" sz="1800" dirty="0">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有</a:t>
            </a:r>
            <a:r>
              <a:rPr lang="zh-CN" sz="180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试用</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的项目在</a:t>
            </a:r>
            <a:r>
              <a:rPr lang="zh-CN" sz="180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项目结项</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阶段要给所有人员进行绩效评价，可以</a:t>
            </a:r>
            <a:r>
              <a:rPr lang="zh-CN" sz="1800"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对原研发阶段人员的绩效等级进行修正</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，作为项目人员在此项目上的最终的绩效等级</a:t>
            </a:r>
            <a:endParaRPr lang="zh-CN" altLang="en-US" sz="1800" b="0">
              <a:latin typeface="+mn-ea"/>
              <a:cs typeface="+mn-ea"/>
            </a:endParaRPr>
          </a:p>
          <a:p>
            <a:pPr indent="-457200">
              <a:lnSpc>
                <a:spcPct val="150000"/>
              </a:lnSpc>
              <a:buFont typeface="Wingdings" panose="05000000000000000000" pitchFamily="2" charset="2"/>
              <a:buChar char="Ø"/>
            </a:pPr>
            <a:endParaRPr lang="zh-CN" altLang="en-US" sz="1800" b="0" dirty="0">
              <a:latin typeface="+mn-ea"/>
              <a:cs typeface="+mn-ea"/>
            </a:endParaRPr>
          </a:p>
        </p:txBody>
      </p:sp>
      <p:sp>
        <p:nvSpPr>
          <p:cNvPr id="7" name="矩形 6"/>
          <p:cNvSpPr/>
          <p:nvPr/>
        </p:nvSpPr>
        <p:spPr>
          <a:xfrm>
            <a:off x="550545" y="2527300"/>
            <a:ext cx="10940415" cy="368300"/>
          </a:xfrm>
          <a:prstGeom prst="rect">
            <a:avLst/>
          </a:prstGeom>
        </p:spPr>
        <p:txBody>
          <a:bodyPr wrap="square">
            <a:spAutoFit/>
          </a:bodyPr>
          <a:lstStyle/>
          <a:p>
            <a:pPr lvl="0"/>
            <a:r>
              <a:rPr lang="en-US" altLang="zh-CN" sz="1800" b="1" dirty="0" smtClean="0"/>
              <a:t>2</a:t>
            </a:r>
            <a:r>
              <a:rPr lang="zh-CN" altLang="en-US" sz="1800" b="1" dirty="0" smtClean="0"/>
              <a:t>、人员绩效评级填写</a:t>
            </a:r>
            <a:endParaRPr lang="zh-CN" altLang="zh-CN" sz="1800" b="1" dirty="0"/>
          </a:p>
        </p:txBody>
      </p:sp>
      <p:sp>
        <p:nvSpPr>
          <p:cNvPr id="2" name="灯片编号占位符 1"/>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8" name="矩形 7"/>
          <p:cNvSpPr/>
          <p:nvPr>
            <p:custDataLst>
              <p:tags r:id="rId1"/>
            </p:custDataLst>
          </p:nvPr>
        </p:nvSpPr>
        <p:spPr>
          <a:xfrm>
            <a:off x="429798" y="1244205"/>
            <a:ext cx="11445971" cy="1337945"/>
          </a:xfrm>
          <a:prstGeom prst="rect">
            <a:avLst/>
          </a:prstGeom>
        </p:spPr>
        <p:txBody>
          <a:bodyPr wrap="square">
            <a:spAutoFit/>
          </a:bodyPr>
          <a:p>
            <a:pPr indent="-457200">
              <a:lnSpc>
                <a:spcPct val="150000"/>
              </a:lnSpc>
              <a:buFont typeface="Wingdings" panose="05000000000000000000" pitchFamily="2" charset="2"/>
              <a:buChar char="Ø"/>
            </a:pPr>
            <a:r>
              <a:rPr lang="zh-CN" altLang="en-US" sz="1800" dirty="0">
                <a:latin typeface="+mn-ea"/>
              </a:rPr>
              <a:t>在项目</a:t>
            </a:r>
            <a:r>
              <a:rPr lang="en-US" altLang="zh-CN" sz="1800" dirty="0">
                <a:solidFill>
                  <a:srgbClr val="FF0000"/>
                </a:solidFill>
                <a:latin typeface="+mn-ea"/>
              </a:rPr>
              <a:t>(</a:t>
            </a:r>
            <a:r>
              <a:rPr lang="zh-CN" altLang="en-US" sz="1800" dirty="0">
                <a:solidFill>
                  <a:srgbClr val="FF0000"/>
                </a:solidFill>
                <a:latin typeface="+mn-ea"/>
              </a:rPr>
              <a:t>跨年节点、发布、结项</a:t>
            </a:r>
            <a:r>
              <a:rPr lang="en-US" altLang="zh-CN" sz="1800" dirty="0">
                <a:solidFill>
                  <a:srgbClr val="FF0000"/>
                </a:solidFill>
                <a:latin typeface="+mn-ea"/>
              </a:rPr>
              <a:t>)</a:t>
            </a:r>
            <a:r>
              <a:rPr lang="zh-CN" altLang="en-US" sz="1800" dirty="0">
                <a:solidFill>
                  <a:srgbClr val="FF0000"/>
                </a:solidFill>
                <a:latin typeface="+mn-ea"/>
              </a:rPr>
              <a:t>阶段</a:t>
            </a:r>
            <a:r>
              <a:rPr lang="zh-CN" altLang="en-US" sz="1800" dirty="0">
                <a:latin typeface="+mn-ea"/>
              </a:rPr>
              <a:t>，由</a:t>
            </a:r>
            <a:r>
              <a:rPr lang="zh-CN" altLang="en-US" sz="1800" dirty="0">
                <a:solidFill>
                  <a:srgbClr val="FF0000"/>
                </a:solidFill>
                <a:latin typeface="+mn-ea"/>
              </a:rPr>
              <a:t>项目经理负责</a:t>
            </a:r>
            <a:r>
              <a:rPr lang="zh-CN" altLang="en-US" sz="1800" dirty="0">
                <a:latin typeface="+mn-ea"/>
              </a:rPr>
              <a:t>，</a:t>
            </a:r>
            <a:r>
              <a:rPr lang="zh-CN" altLang="en-US" sz="1800">
                <a:latin typeface="+mn-ea"/>
                <a:cs typeface="+mn-ea"/>
                <a:sym typeface="+mn-ea"/>
              </a:rPr>
              <a:t>针对前期确定的</a:t>
            </a:r>
            <a:r>
              <a:rPr lang="zh-CN" altLang="en-US" sz="1800">
                <a:solidFill>
                  <a:srgbClr val="FF0000"/>
                </a:solidFill>
                <a:latin typeface="+mn-ea"/>
                <a:cs typeface="+mn-ea"/>
                <a:sym typeface="+mn-ea"/>
              </a:rPr>
              <a:t>关键绩效项的完成情况和总体质量，项目提前或延期的责任占比</a:t>
            </a:r>
            <a:r>
              <a:rPr lang="zh-CN" altLang="en-US" sz="1800">
                <a:latin typeface="+mn-ea"/>
                <a:cs typeface="+mn-ea"/>
                <a:sym typeface="+mn-ea"/>
              </a:rPr>
              <a:t>，依据评价标准完成《员工项目绩效考评表》，高级经理和分管领导对评价结果进行确认，并达成一致</a:t>
            </a:r>
            <a:r>
              <a:rPr lang="zh-CN" altLang="en-US" sz="1800" dirty="0" smtClean="0">
                <a:latin typeface="+mn-ea"/>
              </a:rPr>
              <a:t>。</a:t>
            </a:r>
            <a:endParaRPr lang="en-US" altLang="zh-CN" sz="1800" dirty="0">
              <a:latin typeface="+mn-ea"/>
            </a:endParaRPr>
          </a:p>
        </p:txBody>
      </p:sp>
      <p:sp>
        <p:nvSpPr>
          <p:cNvPr id="13" name="矩形 12"/>
          <p:cNvSpPr/>
          <p:nvPr>
            <p:custDataLst>
              <p:tags r:id="rId2"/>
            </p:custDataLst>
          </p:nvPr>
        </p:nvSpPr>
        <p:spPr>
          <a:xfrm>
            <a:off x="550545" y="845820"/>
            <a:ext cx="3293110" cy="339090"/>
          </a:xfrm>
          <a:prstGeom prst="rect">
            <a:avLst/>
          </a:prstGeom>
        </p:spPr>
        <p:txBody>
          <a:bodyPr wrap="square">
            <a:noAutofit/>
          </a:bodyPr>
          <a:p>
            <a:pPr lvl="0"/>
            <a:r>
              <a:rPr lang="en-US" altLang="zh-CN" sz="1800" b="1" dirty="0" smtClean="0"/>
              <a:t>1</a:t>
            </a:r>
            <a:r>
              <a:rPr lang="zh-CN" altLang="en-US" sz="1800" b="1" dirty="0" smtClean="0"/>
              <a:t>、人员绩效评分时机和依据：</a:t>
            </a:r>
            <a:endParaRPr lang="zh-CN" altLang="zh-CN" sz="1800" b="1" dirty="0"/>
          </a:p>
        </p:txBody>
      </p:sp>
      <p:sp>
        <p:nvSpPr>
          <p:cNvPr id="3" name="文本框 2"/>
          <p:cNvSpPr txBox="1"/>
          <p:nvPr/>
        </p:nvSpPr>
        <p:spPr>
          <a:xfrm>
            <a:off x="2974340" y="2073910"/>
            <a:ext cx="8517255" cy="762000"/>
          </a:xfrm>
          <a:prstGeom prst="rect">
            <a:avLst/>
          </a:prstGeom>
          <a:solidFill>
            <a:schemeClr val="accent4">
              <a:lumMod val="20000"/>
              <a:lumOff val="80000"/>
            </a:schemeClr>
          </a:solidFill>
        </p:spPr>
        <p:txBody>
          <a:bodyPr wrap="square" rtlCol="0">
            <a:noAutofit/>
          </a:bodyPr>
          <a:p>
            <a:r>
              <a:rPr lang="zh-CN" altLang="en-US" b="1" dirty="0" smtClean="0">
                <a:sym typeface="+mn-ea"/>
              </a:rPr>
              <a:t>注：</a:t>
            </a:r>
            <a:r>
              <a:rPr dirty="0">
                <a:latin typeface="+mn-ea"/>
                <a:sym typeface="+mn-ea"/>
              </a:rPr>
              <a:t>应结合项目中人员的目标和项目实际进度、质量结果，以及项目提前或延期的责任占比进行客观评价，特殊情况可进行备注说明</a:t>
            </a:r>
            <a:endParaRPr dirty="0">
              <a:latin typeface="+mn-ea"/>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a:solidFill>
                  <a:schemeClr val="tx1"/>
                </a:solidFill>
                <a:sym typeface="+mn-ea"/>
              </a:rPr>
              <a:t>项目维度</a:t>
            </a:r>
            <a:r>
              <a:rPr lang="en-US" altLang="zh-CN">
                <a:solidFill>
                  <a:schemeClr val="tx1"/>
                </a:solidFill>
                <a:sym typeface="+mn-ea"/>
              </a:rPr>
              <a:t>-</a:t>
            </a:r>
            <a:r>
              <a:rPr>
                <a:solidFill>
                  <a:srgbClr val="FF0000"/>
                </a:solidFill>
                <a:sym typeface="+mn-ea"/>
              </a:rPr>
              <a:t>个人绩效考评</a:t>
            </a:r>
            <a:endParaRPr lang="zh-CN" altLang="en-US">
              <a:solidFill>
                <a:srgbClr val="FF0000"/>
              </a:solidFill>
              <a:sym typeface="+mn-ea"/>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100" name="文本框 99"/>
          <p:cNvSpPr txBox="1"/>
          <p:nvPr/>
        </p:nvSpPr>
        <p:spPr>
          <a:xfrm>
            <a:off x="436880" y="811530"/>
            <a:ext cx="10975340" cy="5300345"/>
          </a:xfrm>
          <a:prstGeom prst="rect">
            <a:avLst/>
          </a:prstGeom>
          <a:noFill/>
          <a:ln w="9525">
            <a:noFill/>
          </a:ln>
        </p:spPr>
        <p:txBody>
          <a:bodyPr>
            <a:noAutofit/>
          </a:bodyPr>
          <a:p>
            <a:pPr indent="0"/>
            <a:r>
              <a:rPr lang="en-US" sz="1800" b="1">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b="1">
                <a:latin typeface="微软雅黑" panose="020B0503020204020204" pitchFamily="34" charset="-122"/>
                <a:ea typeface="微软雅黑" panose="020B0503020204020204" pitchFamily="34" charset="-122"/>
                <a:cs typeface="微软雅黑" panose="020B0503020204020204" pitchFamily="34" charset="-122"/>
                <a:sym typeface="+mn-ea"/>
              </a:rPr>
              <a:t>、</a:t>
            </a:r>
            <a:r>
              <a:rPr sz="1800" b="1">
                <a:latin typeface="微软雅黑" panose="020B0503020204020204" pitchFamily="34" charset="-122"/>
                <a:ea typeface="微软雅黑" panose="020B0503020204020204" pitchFamily="34" charset="-122"/>
                <a:cs typeface="微软雅黑" panose="020B0503020204020204" pitchFamily="34" charset="-122"/>
                <a:sym typeface="+mn-ea"/>
              </a:rPr>
              <a:t>研发项目中研发人员阶段绩效评价基本标准</a:t>
            </a:r>
            <a:endParaRPr lang="zh-CN" altLang="en-US"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buFont typeface="Wingdings" panose="05000000000000000000" charset="0"/>
              <a:buChar char="Ø"/>
            </a:pPr>
            <a:r>
              <a:rPr lang="zh-CN" sz="1800" b="1">
                <a:latin typeface="微软雅黑" panose="020B0503020204020204" pitchFamily="34" charset="-122"/>
                <a:ea typeface="微软雅黑" panose="020B0503020204020204" pitchFamily="34" charset="-122"/>
                <a:cs typeface="微软雅黑" panose="020B0503020204020204" pitchFamily="34" charset="-122"/>
              </a:rPr>
              <a:t>★</a:t>
            </a:r>
            <a:r>
              <a:rPr lang="zh-CN" sz="18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任务目标的达成以质量合格为前提，后续阶段发现前期阶段存在较大的质量问题或存在弄虚作假情况，前期阶段绩效进行追溯评价并进行惩罚性修正。</a:t>
            </a:r>
            <a:r>
              <a:rPr lang="en-US" sz="1800" b="0">
                <a:latin typeface="微软雅黑" panose="020B0503020204020204" pitchFamily="34" charset="-122"/>
                <a:ea typeface="微软雅黑" panose="020B0503020204020204" pitchFamily="34" charset="-122"/>
                <a:cs typeface="微软雅黑" panose="020B0503020204020204" pitchFamily="34" charset="-122"/>
              </a:rPr>
              <a:t>(1) </a:t>
            </a:r>
            <a:r>
              <a:rPr lang="zh-CN" sz="1800" b="0">
                <a:latin typeface="微软雅黑" panose="020B0503020204020204" pitchFamily="34" charset="-122"/>
                <a:ea typeface="微软雅黑" panose="020B0503020204020204" pitchFamily="34" charset="-122"/>
                <a:cs typeface="微软雅黑" panose="020B0503020204020204" pitchFamily="34" charset="-122"/>
              </a:rPr>
              <a:t>研发项目阶段任务未达成，阶段</a:t>
            </a:r>
            <a:r>
              <a:rPr lang="zh-CN" sz="1800" b="1">
                <a:latin typeface="微软雅黑" panose="020B0503020204020204" pitchFamily="34" charset="-122"/>
                <a:ea typeface="微软雅黑" panose="020B0503020204020204" pitchFamily="34" charset="-122"/>
                <a:cs typeface="微软雅黑" panose="020B0503020204020204" pitchFamily="34" charset="-122"/>
              </a:rPr>
              <a:t>延期</a:t>
            </a:r>
            <a:r>
              <a:rPr lang="en-US" sz="1800" b="1">
                <a:latin typeface="微软雅黑" panose="020B0503020204020204" pitchFamily="34" charset="-122"/>
                <a:ea typeface="微软雅黑" panose="020B0503020204020204" pitchFamily="34" charset="-122"/>
                <a:cs typeface="微软雅黑" panose="020B0503020204020204" pitchFamily="34" charset="-122"/>
              </a:rPr>
              <a:t>10%</a:t>
            </a:r>
            <a:r>
              <a:rPr lang="zh-CN" sz="1800" b="1">
                <a:latin typeface="微软雅黑" panose="020B0503020204020204" pitchFamily="34" charset="-122"/>
                <a:ea typeface="微软雅黑" panose="020B0503020204020204" pitchFamily="34" charset="-122"/>
                <a:cs typeface="微软雅黑" panose="020B0503020204020204" pitchFamily="34" charset="-122"/>
              </a:rPr>
              <a:t>及以上</a:t>
            </a:r>
            <a:r>
              <a:rPr lang="zh-CN" sz="1800" b="0">
                <a:latin typeface="微软雅黑" panose="020B0503020204020204" pitchFamily="34" charset="-122"/>
                <a:ea typeface="微软雅黑" panose="020B0503020204020204" pitchFamily="34" charset="-122"/>
                <a:cs typeface="微软雅黑" panose="020B0503020204020204" pitchFamily="34" charset="-122"/>
              </a:rPr>
              <a:t>：负主要延期责任的人绩效为</a:t>
            </a:r>
            <a:r>
              <a:rPr lang="en-US"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zh-CN"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或</a:t>
            </a:r>
            <a:r>
              <a:rPr lang="en-US"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a:t>
            </a:r>
            <a:r>
              <a:rPr lang="zh-CN" sz="1800" b="0">
                <a:latin typeface="微软雅黑" panose="020B0503020204020204" pitchFamily="34" charset="-122"/>
                <a:ea typeface="微软雅黑" panose="020B0503020204020204" pitchFamily="34" charset="-122"/>
                <a:cs typeface="微软雅黑" panose="020B0503020204020204" pitchFamily="34" charset="-122"/>
              </a:rPr>
              <a:t>；所负责任务有延期没有</a:t>
            </a:r>
            <a:r>
              <a:rPr lang="en-US" sz="1800" b="0">
                <a:latin typeface="微软雅黑" panose="020B0503020204020204" pitchFamily="34" charset="-122"/>
                <a:ea typeface="微软雅黑" panose="020B0503020204020204" pitchFamily="34" charset="-122"/>
                <a:cs typeface="微软雅黑" panose="020B0503020204020204" pitchFamily="34" charset="-122"/>
              </a:rPr>
              <a:t>100%</a:t>
            </a:r>
            <a:r>
              <a:rPr lang="zh-CN" sz="1800" b="0">
                <a:latin typeface="微软雅黑" panose="020B0503020204020204" pitchFamily="34" charset="-122"/>
                <a:ea typeface="微软雅黑" panose="020B0503020204020204" pitchFamily="34" charset="-122"/>
                <a:cs typeface="微软雅黑" panose="020B0503020204020204" pitchFamily="34" charset="-122"/>
              </a:rPr>
              <a:t>达成的人绩效为</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；按期达成的绩效为</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；超前达成的或者对项目有特殊贡献的可以</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及以上。</a:t>
            </a:r>
            <a:r>
              <a:rPr lang="en-US" sz="1800" b="0">
                <a:latin typeface="微软雅黑" panose="020B0503020204020204" pitchFamily="34" charset="-122"/>
                <a:ea typeface="微软雅黑" panose="020B0503020204020204" pitchFamily="34" charset="-122"/>
                <a:cs typeface="微软雅黑" panose="020B0503020204020204" pitchFamily="34" charset="-122"/>
              </a:rPr>
              <a:t>(2) </a:t>
            </a:r>
            <a:r>
              <a:rPr lang="zh-CN" sz="1800" b="0">
                <a:latin typeface="微软雅黑" panose="020B0503020204020204" pitchFamily="34" charset="-122"/>
                <a:ea typeface="微软雅黑" panose="020B0503020204020204" pitchFamily="34" charset="-122"/>
                <a:cs typeface="微软雅黑" panose="020B0503020204020204" pitchFamily="34" charset="-122"/>
              </a:rPr>
              <a:t>研发项目阶段任务未达成，阶段</a:t>
            </a:r>
            <a:r>
              <a:rPr lang="zh-CN" sz="1800" b="1">
                <a:latin typeface="微软雅黑" panose="020B0503020204020204" pitchFamily="34" charset="-122"/>
                <a:ea typeface="微软雅黑" panose="020B0503020204020204" pitchFamily="34" charset="-122"/>
                <a:cs typeface="微软雅黑" panose="020B0503020204020204" pitchFamily="34" charset="-122"/>
              </a:rPr>
              <a:t>延期</a:t>
            </a:r>
            <a:r>
              <a:rPr lang="en-US" sz="1800" b="1">
                <a:latin typeface="微软雅黑" panose="020B0503020204020204" pitchFamily="34" charset="-122"/>
                <a:ea typeface="微软雅黑" panose="020B0503020204020204" pitchFamily="34" charset="-122"/>
                <a:cs typeface="微软雅黑" panose="020B0503020204020204" pitchFamily="34" charset="-122"/>
              </a:rPr>
              <a:t>10%</a:t>
            </a:r>
            <a:r>
              <a:rPr lang="zh-CN" sz="1800" b="1">
                <a:latin typeface="微软雅黑" panose="020B0503020204020204" pitchFamily="34" charset="-122"/>
                <a:ea typeface="微软雅黑" panose="020B0503020204020204" pitchFamily="34" charset="-122"/>
                <a:cs typeface="微软雅黑" panose="020B0503020204020204" pitchFamily="34" charset="-122"/>
              </a:rPr>
              <a:t>以内</a:t>
            </a:r>
            <a:r>
              <a:rPr lang="zh-CN" sz="1800" b="0">
                <a:latin typeface="微软雅黑" panose="020B0503020204020204" pitchFamily="34" charset="-122"/>
                <a:ea typeface="微软雅黑" panose="020B0503020204020204" pitchFamily="34" charset="-122"/>
                <a:cs typeface="微软雅黑" panose="020B0503020204020204" pitchFamily="34" charset="-122"/>
              </a:rPr>
              <a:t>：负主要延期责任的人绩效</a:t>
            </a:r>
            <a:r>
              <a:rPr lang="zh-CN"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不得高于</a:t>
            </a:r>
            <a:r>
              <a:rPr lang="en-US"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；所负责任务有延期，在他人额外帮助下最终阶段延期不超过</a:t>
            </a:r>
            <a:r>
              <a:rPr lang="en-US" sz="1800" b="0">
                <a:latin typeface="微软雅黑" panose="020B0503020204020204" pitchFamily="34" charset="-122"/>
                <a:ea typeface="微软雅黑" panose="020B0503020204020204" pitchFamily="34" charset="-122"/>
                <a:cs typeface="微软雅黑" panose="020B0503020204020204" pitchFamily="34" charset="-122"/>
              </a:rPr>
              <a:t>5%</a:t>
            </a:r>
            <a:r>
              <a:rPr lang="zh-CN" sz="1800" b="0">
                <a:latin typeface="微软雅黑" panose="020B0503020204020204" pitchFamily="34" charset="-122"/>
                <a:ea typeface="微软雅黑" panose="020B0503020204020204" pitchFamily="34" charset="-122"/>
                <a:cs typeface="微软雅黑" panose="020B0503020204020204" pitchFamily="34" charset="-122"/>
              </a:rPr>
              <a:t>的打</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；所负责任务有延期，在没有他人帮助下的延期不超过</a:t>
            </a:r>
            <a:r>
              <a:rPr lang="en-US" sz="1800" b="0">
                <a:latin typeface="微软雅黑" panose="020B0503020204020204" pitchFamily="34" charset="-122"/>
                <a:ea typeface="微软雅黑" panose="020B0503020204020204" pitchFamily="34" charset="-122"/>
                <a:cs typeface="微软雅黑" panose="020B0503020204020204" pitchFamily="34" charset="-122"/>
              </a:rPr>
              <a:t>5%</a:t>
            </a:r>
            <a:r>
              <a:rPr lang="zh-CN" sz="1800" b="0">
                <a:latin typeface="微软雅黑" panose="020B0503020204020204" pitchFamily="34" charset="-122"/>
                <a:ea typeface="微软雅黑" panose="020B0503020204020204" pitchFamily="34" charset="-122"/>
                <a:cs typeface="微软雅黑" panose="020B0503020204020204" pitchFamily="34" charset="-122"/>
              </a:rPr>
              <a:t>的达成的人绩效为</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；按期达成任务目标的，绩效为</a:t>
            </a:r>
            <a:r>
              <a:rPr lang="en-US" sz="1800" b="0">
                <a:latin typeface="微软雅黑" panose="020B0503020204020204" pitchFamily="34" charset="-122"/>
                <a:ea typeface="微软雅黑" panose="020B0503020204020204" pitchFamily="34" charset="-122"/>
                <a:cs typeface="微软雅黑" panose="020B0503020204020204" pitchFamily="34" charset="-122"/>
              </a:rPr>
              <a:t>B+</a:t>
            </a:r>
            <a:r>
              <a:rPr lang="zh-CN" sz="1800" b="0">
                <a:latin typeface="微软雅黑" panose="020B0503020204020204" pitchFamily="34" charset="-122"/>
                <a:ea typeface="微软雅黑" panose="020B0503020204020204" pitchFamily="34" charset="-122"/>
                <a:cs typeface="微软雅黑" panose="020B0503020204020204" pitchFamily="34" charset="-122"/>
              </a:rPr>
              <a:t>；超前达成的或者对项目有特殊贡献的可以</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A-</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及以上。</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(3) </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研发项目阶段任务</a:t>
            </a:r>
            <a:r>
              <a:rPr lang="zh-CN" sz="1800" b="1">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无延期或者提前达成的</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对项目推进发挥主要作用的人员</a:t>
            </a:r>
            <a:r>
              <a:rPr lang="zh-CN" sz="1800" b="1">
                <a:solidFill>
                  <a:srgbClr val="FF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绩效</a:t>
            </a:r>
            <a:r>
              <a:rPr lang="en-US" sz="1800" b="1">
                <a:solidFill>
                  <a:srgbClr val="FF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A-</a:t>
            </a:r>
            <a:r>
              <a:rPr lang="zh-CN" sz="1800" b="1">
                <a:solidFill>
                  <a:srgbClr val="FF0000"/>
                </a:solidFill>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及以上</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；所负责任务按期达成，但是在他人较多的额外帮助下达成的为</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B-</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；所负责任务目标按期达成，绩效为</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B</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；按期达成任务目标，并对组内其它人员提供支持的绩效为</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B+</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；超前达成的或者对项目有特殊贡献的可以</a:t>
            </a:r>
            <a:r>
              <a:rPr lang="en-US"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A-</a:t>
            </a:r>
            <a:r>
              <a:rPr lang="zh-CN" sz="1800" b="0">
                <a:highlight>
                  <a:srgbClr val="000000">
                    <a:alpha val="0"/>
                  </a:srgbClr>
                </a:highlight>
                <a:latin typeface="微软雅黑" panose="020B0503020204020204" pitchFamily="34" charset="-122"/>
                <a:ea typeface="微软雅黑" panose="020B0503020204020204" pitchFamily="34" charset="-122"/>
                <a:cs typeface="微软雅黑" panose="020B0503020204020204" pitchFamily="34" charset="-122"/>
              </a:rPr>
              <a:t>及以上。</a:t>
            </a:r>
            <a:endParaRPr lang="zh-CN" sz="1800" b="0">
              <a:latin typeface="微软雅黑" panose="020B0503020204020204" pitchFamily="34" charset="-122"/>
              <a:ea typeface="微软雅黑" panose="020B0503020204020204" pitchFamily="34" charset="-122"/>
              <a:cs typeface="微软雅黑" panose="020B0503020204020204" pitchFamily="34" charset="-122"/>
            </a:endParaRPr>
          </a:p>
          <a:p>
            <a:pPr indent="0"/>
            <a:endParaRPr lang="zh-CN" sz="1800" b="1">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800" b="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nvSpPr>
        <p:spPr>
          <a:xfrm>
            <a:off x="5605780" y="1524635"/>
            <a:ext cx="6096000" cy="645160"/>
          </a:xfrm>
          <a:prstGeom prst="rect">
            <a:avLst/>
          </a:prstGeom>
          <a:solidFill>
            <a:schemeClr val="accent4">
              <a:lumMod val="20000"/>
              <a:lumOff val="80000"/>
            </a:schemeClr>
          </a:solidFill>
        </p:spPr>
        <p:txBody>
          <a:bodyPr wrap="square" rtlCol="0" anchor="t">
            <a:spAutoFit/>
          </a:bodyPr>
          <a:p>
            <a:pPr indent="0"/>
            <a:r>
              <a:rPr lang="zh-CN" sz="1800" b="1">
                <a:latin typeface="微软雅黑" panose="020B0503020204020204" pitchFamily="34" charset="-122"/>
                <a:ea typeface="微软雅黑" panose="020B0503020204020204" pitchFamily="34" charset="-122"/>
                <a:cs typeface="微软雅黑" panose="020B0503020204020204" pitchFamily="34" charset="-122"/>
                <a:sym typeface="+mn-ea"/>
              </a:rPr>
              <a:t>备注：</a:t>
            </a: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所有的绩效评价严格参照评价标准，特殊情况可进行备注补充说明。</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2"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olidFill>
                  <a:schemeClr val="tx1"/>
                </a:solidFill>
                <a:sym typeface="+mn-ea"/>
              </a:rPr>
              <a:t>研发个人绩效考评</a:t>
            </a:r>
            <a:r>
              <a:rPr lang="en-US" altLang="zh-CN">
                <a:solidFill>
                  <a:schemeClr val="tx1"/>
                </a:solidFill>
                <a:sym typeface="+mn-ea"/>
              </a:rPr>
              <a:t>-</a:t>
            </a:r>
            <a:r>
              <a:rPr>
                <a:solidFill>
                  <a:schemeClr val="tx1"/>
                </a:solidFill>
                <a:sym typeface="+mn-ea"/>
              </a:rPr>
              <a:t>特殊情况说</a:t>
            </a:r>
            <a:r>
              <a:rPr>
                <a:solidFill>
                  <a:schemeClr val="tx1"/>
                </a:solidFill>
                <a:sym typeface="+mn-ea"/>
              </a:rPr>
              <a:t>明</a:t>
            </a:r>
            <a:endParaRPr>
              <a:solidFill>
                <a:schemeClr val="tx1"/>
              </a:solidFill>
              <a:sym typeface="+mn-ea"/>
            </a:endParaRPr>
          </a:p>
        </p:txBody>
      </p:sp>
      <p:sp>
        <p:nvSpPr>
          <p:cNvPr id="374" name="PA_矩形 471"/>
          <p:cNvSpPr/>
          <p:nvPr>
            <p:custDataLst>
              <p:tags r:id="rId1"/>
            </p:custDataLst>
          </p:nvPr>
        </p:nvSpPr>
        <p:spPr>
          <a:xfrm>
            <a:off x="751840" y="903605"/>
            <a:ext cx="10949305" cy="57143015"/>
          </a:xfrm>
          <a:prstGeom prst="rect">
            <a:avLst/>
          </a:prstGeom>
        </p:spPr>
        <p:txBody>
          <a:bodyPr wrap="square">
            <a:noAutofit/>
          </a:bodyPr>
          <a:lstStyle/>
          <a:p>
            <a:pPr algn="l">
              <a:lnSpc>
                <a:spcPct val="150000"/>
              </a:lnSpc>
              <a:buClrTx/>
              <a:buSzTx/>
              <a:buNone/>
            </a:pPr>
            <a:r>
              <a:rPr lang="en-US" alt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1</a:t>
            </a:r>
            <a:r>
              <a:rPr lang="zh-CN" altLang="en-US"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a:t>
            </a:r>
            <a:r>
              <a:rPr lang="zh-CN" sz="18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跨年项目</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情况：</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可以在年底设置一个</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绩效节点</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对本年度完成工作绩效进行评价，需要评价个人节点绩效等级；</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数据统计</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研发项目（节点）进度偏差率、个人（节点）绩效等级</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，评价标准参考《附件一研发项目中研发人员阶段绩效评价基本标准》；</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0" algn="l">
              <a:lnSpc>
                <a:spcPct val="150000"/>
              </a:lnSpc>
              <a:buClrTx/>
              <a:buSzTx/>
              <a:buNone/>
            </a:pPr>
            <a:r>
              <a:rPr lang="en-US" alt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a:t>
            </a:r>
            <a:r>
              <a:rPr lang="zh-CN" sz="18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维护项目</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的情况：</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buClrTx/>
              <a:buSzTx/>
              <a:buNone/>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主要统计</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项目结项得分、个人绩效等级，个人绩效等级评价</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主要参考工作任务的</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优先级、工作难度、工作完成质量、月度维护项目任务单绩效</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等进行综合评估。年度维护类项目的结项时间建议在</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12月27号</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前，研发项目绩效登记流程在</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12月底</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前完成审批。</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buClrTx/>
              <a:buSzTx/>
              <a:buNone/>
            </a:pPr>
            <a:r>
              <a:rPr lang="en-US" alt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a:t>
            </a:r>
            <a:r>
              <a:rPr lang="zh-CN" sz="18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基准计划变更</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的情况：</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基准计划变更由分管领导同意后，项目评价中关于进度评价规则以新的基准计划为基准，最终项目整体绩效评价时，综合考虑基准计划变更原因，评价项目得分；</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基准计划变更分客观因素、主观因素导致的变更，如为</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客观因素，变更系数为1</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；如为主观因素，需确定变更系数；</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mj-lt"/>
              <a:buAutoNum type="arabicPeriod"/>
            </a:pP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bldLst>
      <p:bldP spid="374"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olidFill>
                  <a:schemeClr val="tx1"/>
                </a:solidFill>
                <a:sym typeface="+mn-ea"/>
              </a:rPr>
              <a:t>研发个人绩效考评</a:t>
            </a:r>
            <a:r>
              <a:rPr lang="en-US" altLang="zh-CN">
                <a:solidFill>
                  <a:schemeClr val="tx1"/>
                </a:solidFill>
                <a:sym typeface="+mn-ea"/>
              </a:rPr>
              <a:t>-</a:t>
            </a:r>
            <a:r>
              <a:rPr>
                <a:solidFill>
                  <a:schemeClr val="tx1"/>
                </a:solidFill>
              </a:rPr>
              <a:t>特殊情况说明</a:t>
            </a:r>
            <a:endParaRPr lang="en-US" altLang="zh-CN">
              <a:solidFill>
                <a:schemeClr val="tx1"/>
              </a:solidFill>
            </a:endParaRPr>
          </a:p>
        </p:txBody>
      </p:sp>
      <p:sp>
        <p:nvSpPr>
          <p:cNvPr id="374" name="PA_矩形 471"/>
          <p:cNvSpPr/>
          <p:nvPr>
            <p:custDataLst>
              <p:tags r:id="rId1"/>
            </p:custDataLst>
          </p:nvPr>
        </p:nvSpPr>
        <p:spPr>
          <a:xfrm>
            <a:off x="840105" y="932815"/>
            <a:ext cx="9871075" cy="57113805"/>
          </a:xfrm>
          <a:prstGeom prst="rect">
            <a:avLst/>
          </a:prstGeom>
        </p:spPr>
        <p:txBody>
          <a:bodyPr wrap="square">
            <a:noAutofit/>
          </a:bodyPr>
          <a:lstStyle/>
          <a:p>
            <a:pPr algn="l">
              <a:lnSpc>
                <a:spcPct val="150000"/>
              </a:lnSpc>
              <a:buClrTx/>
              <a:buSzTx/>
              <a:buNone/>
            </a:pPr>
            <a:r>
              <a:rPr lang="en-US" alt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4</a:t>
            </a:r>
            <a:r>
              <a:rPr lang="zh-CN" altLang="en-US"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针对采取“</a:t>
            </a:r>
            <a:r>
              <a:rPr lang="zh-CN" sz="18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一事一议</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”形式的项目的情况：</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目标不够明确的如预研项目，原则上按照基准计划评估项目绩效，如无明确基准计划，则参考实际项目成果输出综合评估，可采取“一事一议”的形式进行，根据具体的项目，在立项或策划时确定该类项目“一事一议”的评价标准。</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342900" indent="-342900" algn="l">
              <a:lnSpc>
                <a:spcPct val="150000"/>
              </a:lnSpc>
              <a:buClrTx/>
              <a:buSzTx/>
              <a:buFont typeface="Wingdings" panose="05000000000000000000" charset="0"/>
              <a:buChar char="Ø"/>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中途终止或暂停项目的奖金，采取“一事一议”的形式，根据当前节点完成情况进行绩效评价。</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buClrTx/>
              <a:buSzTx/>
              <a:buNone/>
            </a:pPr>
            <a:r>
              <a:rPr lang="en-US" alt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5</a:t>
            </a:r>
            <a:r>
              <a:rPr lang="zh-CN" altLang="en-US"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针对项目</a:t>
            </a:r>
            <a:r>
              <a:rPr lang="zh-CN" sz="1800" b="1" dirty="0">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sym typeface="+mn-ea"/>
              </a:rPr>
              <a:t>产品试用阶段</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的情况：</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buClrTx/>
              <a:buSzTx/>
              <a:buNone/>
            </a:pP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主要统计</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项目结项得分、个人绩效等级</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，个人绩效等级评价主要参考产品试用阶段</a:t>
            </a:r>
            <a:r>
              <a:rPr lang="zh-CN" sz="1800" b="1" dirty="0">
                <a:effectLst/>
                <a:latin typeface="微软雅黑" panose="020B0503020204020204" pitchFamily="34" charset="-122"/>
                <a:ea typeface="微软雅黑" panose="020B0503020204020204" pitchFamily="34" charset="-122"/>
                <a:cs typeface="微软雅黑" panose="020B0503020204020204" pitchFamily="34" charset="-122"/>
                <a:sym typeface="+mn-ea"/>
              </a:rPr>
              <a:t>产品质量情况、工作难度、工作任务完成情况和质量、工作配合情况</a:t>
            </a:r>
            <a:r>
              <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rPr>
              <a:t>等进行综合评估。</a:t>
            </a: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l">
              <a:lnSpc>
                <a:spcPct val="150000"/>
              </a:lnSpc>
              <a:buClrTx/>
              <a:buSzTx/>
              <a:buNone/>
            </a:pPr>
            <a:endParaRPr lang="zh-CN" sz="1800" dirty="0">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bldLst>
      <p:bldP spid="374"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chemeClr val="tx1"/>
                </a:solidFill>
              </a:rPr>
              <a:t>项目阶段绩效评价标准</a:t>
            </a:r>
            <a:r>
              <a:rPr lang="en-US" altLang="zh-CN">
                <a:solidFill>
                  <a:schemeClr val="tx1"/>
                </a:solidFill>
              </a:rPr>
              <a:t>-</a:t>
            </a:r>
            <a:r>
              <a:rPr>
                <a:solidFill>
                  <a:schemeClr val="tx1"/>
                </a:solidFill>
              </a:rPr>
              <a:t>填写说明</a:t>
            </a:r>
            <a:endParaRPr>
              <a:solidFill>
                <a:schemeClr val="tx1"/>
              </a:solidFill>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graphicFrame>
        <p:nvGraphicFramePr>
          <p:cNvPr id="3" name="表格 2"/>
          <p:cNvGraphicFramePr/>
          <p:nvPr>
            <p:custDataLst>
              <p:tags r:id="rId1"/>
            </p:custDataLst>
          </p:nvPr>
        </p:nvGraphicFramePr>
        <p:xfrm>
          <a:off x="354330" y="1017905"/>
          <a:ext cx="11550650" cy="5402580"/>
        </p:xfrm>
        <a:graphic>
          <a:graphicData uri="http://schemas.openxmlformats.org/drawingml/2006/table">
            <a:tbl>
              <a:tblPr/>
              <a:tblGrid>
                <a:gridCol w="662305"/>
                <a:gridCol w="558165"/>
                <a:gridCol w="397510"/>
                <a:gridCol w="257175"/>
                <a:gridCol w="483235"/>
                <a:gridCol w="267970"/>
                <a:gridCol w="267970"/>
                <a:gridCol w="267970"/>
                <a:gridCol w="800100"/>
                <a:gridCol w="381000"/>
                <a:gridCol w="527050"/>
                <a:gridCol w="252730"/>
                <a:gridCol w="408305"/>
                <a:gridCol w="267970"/>
                <a:gridCol w="267970"/>
                <a:gridCol w="297180"/>
                <a:gridCol w="309245"/>
                <a:gridCol w="267970"/>
                <a:gridCol w="267970"/>
                <a:gridCol w="267970"/>
                <a:gridCol w="267335"/>
                <a:gridCol w="267970"/>
                <a:gridCol w="267970"/>
                <a:gridCol w="268605"/>
                <a:gridCol w="267970"/>
                <a:gridCol w="267335"/>
                <a:gridCol w="267970"/>
                <a:gridCol w="267970"/>
                <a:gridCol w="267970"/>
                <a:gridCol w="267335"/>
                <a:gridCol w="267970"/>
                <a:gridCol w="267970"/>
                <a:gridCol w="273685"/>
                <a:gridCol w="584835"/>
              </a:tblGrid>
              <a:tr h="210820">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项目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项目难度系数</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部门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人员</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岗位</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gridSpan="28">
                  <a:txBody>
                    <a:bodyPr/>
                    <a:p>
                      <a:pPr indent="0" algn="ctr">
                        <a:buNone/>
                      </a:pPr>
                      <a:r>
                        <a:rPr lang="zh-CN" sz="1000" b="0">
                          <a:solidFill>
                            <a:srgbClr val="000000"/>
                          </a:solidFill>
                          <a:latin typeface="Arial" panose="020B0604020202020204" pitchFamily="34" charset="0"/>
                          <a:ea typeface="微软雅黑" panose="020B0503020204020204" pitchFamily="34" charset="-122"/>
                        </a:rPr>
                        <a:t>进度维度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indent="0" algn="ctr">
                        <a:buNone/>
                      </a:pPr>
                      <a:r>
                        <a:rPr lang="zh-CN" sz="1000" b="0">
                          <a:solidFill>
                            <a:srgbClr val="000000"/>
                          </a:solidFill>
                          <a:latin typeface="Arial" panose="020B0604020202020204" pitchFamily="34" charset="0"/>
                          <a:ea typeface="微软雅黑" panose="020B0503020204020204" pitchFamily="34" charset="-122"/>
                        </a:rPr>
                        <a:t>进度绩效评价</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76933C"/>
                    </a:solidFill>
                  </a:tcPr>
                </a:tc>
              </a:tr>
              <a:tr h="76200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需求</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设计</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2DCDB"/>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FFFFFF"/>
                          </a:solidFill>
                          <a:latin typeface="Arial" panose="020B0604020202020204" pitchFamily="34" charset="0"/>
                          <a:ea typeface="微软雅黑" panose="020B0503020204020204" pitchFamily="34" charset="-122"/>
                        </a:rPr>
                        <a:t>开发（转测节点）</a:t>
                      </a:r>
                      <a:endParaRPr lang="zh-CN" altLang="en-US" sz="1000" b="0">
                        <a:solidFill>
                          <a:srgbClr val="FFFFFF"/>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63634"/>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测试（试发布节点）</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试发布</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CD5B4"/>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中试</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4">
                  <a:txBody>
                    <a:bodyPr/>
                    <a:p>
                      <a:pPr indent="0" algn="ctr">
                        <a:buNone/>
                      </a:pPr>
                      <a:r>
                        <a:rPr lang="zh-CN" sz="1000" b="0">
                          <a:solidFill>
                            <a:srgbClr val="000000"/>
                          </a:solidFill>
                          <a:latin typeface="Arial" panose="020B0604020202020204" pitchFamily="34" charset="0"/>
                          <a:ea typeface="微软雅黑" panose="020B0503020204020204" pitchFamily="34" charset="-122"/>
                        </a:rPr>
                        <a:t>发布试用（涉及产品试用）/结项（无产品试用）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1582420">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项目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项目难度系数</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所属部门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人员</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岗位</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需求工作难度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需求职责占比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需求绩效评价</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需求备注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CE6F1"/>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设计工作难度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2DCDB"/>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设计职责占比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2DCDB"/>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设计绩效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2DCDB"/>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设计备注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2DCDB"/>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转测节点工作难度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6363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转测节点职责占比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6363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转测节点绩效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6363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转测节点备注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6363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试发布节点工作难度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试发布节点职责占比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试发布节点绩效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试发布节点备注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DE9D9"/>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发布试用节点工作难度</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发布试用节点职责占比</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发布试用节点绩效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发布试用节点备注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A9694"/>
                    </a:solidFill>
                  </a:tcPr>
                </a:tc>
                <a:tc>
                  <a:txBody>
                    <a:bodyPr/>
                    <a:p>
                      <a:pPr indent="0" algn="ctr">
                        <a:buNone/>
                      </a:pPr>
                      <a:r>
                        <a:rPr lang="zh-CN" sz="1000" b="1">
                          <a:solidFill>
                            <a:srgbClr val="000000"/>
                          </a:solidFill>
                          <a:latin typeface="Arial" panose="020B0604020202020204" pitchFamily="34" charset="0"/>
                          <a:ea typeface="微软雅黑" panose="020B0503020204020204" pitchFamily="34" charset="-122"/>
                        </a:rPr>
                        <a:t>关键里程碑点：硬件：转测和试发布；</a:t>
                      </a:r>
                      <a:endParaRPr lang="zh-CN" sz="1000" b="1">
                        <a:solidFill>
                          <a:srgbClr val="000000"/>
                        </a:solidFill>
                        <a:latin typeface="Arial" panose="020B0604020202020204" pitchFamily="34" charset="0"/>
                        <a:ea typeface="微软雅黑" panose="020B0503020204020204" pitchFamily="34" charset="-122"/>
                      </a:endParaRPr>
                    </a:p>
                    <a:p>
                      <a:pPr indent="0" algn="ctr">
                        <a:buNone/>
                      </a:pPr>
                      <a:endParaRPr lang="zh-CN" sz="1000" b="1">
                        <a:solidFill>
                          <a:srgbClr val="000000"/>
                        </a:solidFill>
                        <a:latin typeface="Arial" panose="020B0604020202020204" pitchFamily="34" charset="0"/>
                        <a:ea typeface="微软雅黑" panose="020B0503020204020204" pitchFamily="34" charset="-122"/>
                      </a:endParaRPr>
                    </a:p>
                    <a:p>
                      <a:pPr indent="0" algn="ctr">
                        <a:buNone/>
                      </a:pPr>
                      <a:r>
                        <a:rPr lang="zh-CN" sz="1000" b="1">
                          <a:solidFill>
                            <a:srgbClr val="000000"/>
                          </a:solidFill>
                          <a:latin typeface="Arial" panose="020B0604020202020204" pitchFamily="34" charset="0"/>
                          <a:ea typeface="微软雅黑" panose="020B0503020204020204" pitchFamily="34" charset="-122"/>
                        </a:rPr>
                        <a:t>软件：转测和发布试用；</a:t>
                      </a:r>
                      <a:endParaRPr lang="zh-CN" altLang="en-US" sz="1000" b="1">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10820">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220">
                <a:tc>
                  <a:txBody>
                    <a:bodyPr/>
                    <a:p>
                      <a:pPr indent="0" algn="ctr">
                        <a:buNone/>
                      </a:pPr>
                      <a:r>
                        <a:rPr lang="en-US" altLang="zh-CN" sz="1000" b="0">
                          <a:solidFill>
                            <a:srgbClr val="000000"/>
                          </a:solidFill>
                          <a:latin typeface="Arial" panose="020B0604020202020204" pitchFamily="34" charset="0"/>
                          <a:ea typeface="微软雅黑" panose="020B0503020204020204" pitchFamily="34" charset="-122"/>
                        </a:rPr>
                        <a:t>XXXX</a:t>
                      </a:r>
                      <a:r>
                        <a:rPr lang="zh-CN" sz="1000" b="0">
                          <a:solidFill>
                            <a:srgbClr val="000000"/>
                          </a:solidFill>
                          <a:latin typeface="Arial" panose="020B0604020202020204" pitchFamily="34" charset="0"/>
                          <a:ea typeface="微软雅黑" panose="020B0503020204020204" pitchFamily="34" charset="-122"/>
                        </a:rPr>
                        <a:t>项目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a:t>
                      </a:r>
                      <a:r>
                        <a:rPr lang="en-US" altLang="zh-CN" sz="1000" b="0">
                          <a:solidFill>
                            <a:srgbClr val="000000"/>
                          </a:solidFill>
                          <a:latin typeface="Arial" panose="020B0604020202020204" pitchFamily="34" charset="0"/>
                          <a:ea typeface="微软雅黑" panose="020B0503020204020204" pitchFamily="34" charset="-122"/>
                        </a:rPr>
                        <a:t>X</a:t>
                      </a:r>
                      <a:r>
                        <a:rPr lang="zh-CN" sz="1000" b="0">
                          <a:solidFill>
                            <a:srgbClr val="000000"/>
                          </a:solidFill>
                          <a:latin typeface="Arial" panose="020B0604020202020204" pitchFamily="34" charset="0"/>
                          <a:ea typeface="微软雅黑" panose="020B0503020204020204" pitchFamily="34" charset="-122"/>
                        </a:rPr>
                        <a:t>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000" b="0">
                          <a:solidFill>
                            <a:srgbClr val="000000"/>
                          </a:solidFill>
                          <a:latin typeface="Arial" panose="020B0604020202020204" pitchFamily="34" charset="0"/>
                          <a:ea typeface="微软雅黑" panose="020B0503020204020204" pitchFamily="34" charset="-122"/>
                        </a:rPr>
                        <a:t>张</a:t>
                      </a:r>
                      <a:r>
                        <a:rPr lang="en-US" altLang="zh-CN" sz="1000" b="0">
                          <a:solidFill>
                            <a:srgbClr val="000000"/>
                          </a:solidFill>
                          <a:latin typeface="Arial" panose="020B0604020202020204" pitchFamily="34" charset="0"/>
                          <a:ea typeface="微软雅黑" panose="020B0503020204020204" pitchFamily="34" charset="-122"/>
                        </a:rPr>
                        <a:t>X</a:t>
                      </a:r>
                      <a:endParaRPr lang="en-US" altLang="zh-CN"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部门经理</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5620">
                <a:tc>
                  <a:txBody>
                    <a:bodyPr/>
                    <a:p>
                      <a:pPr indent="0" algn="ctr">
                        <a:buNone/>
                      </a:pPr>
                      <a:r>
                        <a:rPr lang="en-US" altLang="zh-CN" sz="1000">
                          <a:solidFill>
                            <a:srgbClr val="000000"/>
                          </a:solidFill>
                          <a:latin typeface="Arial" panose="020B0604020202020204" pitchFamily="34" charset="0"/>
                          <a:ea typeface="微软雅黑" panose="020B0503020204020204" pitchFamily="34" charset="-122"/>
                          <a:sym typeface="+mn-ea"/>
                        </a:rPr>
                        <a:t>XXXX</a:t>
                      </a:r>
                      <a:r>
                        <a:rPr lang="zh-CN" sz="1000">
                          <a:solidFill>
                            <a:srgbClr val="000000"/>
                          </a:solidFill>
                          <a:latin typeface="Arial" panose="020B0604020202020204" pitchFamily="34" charset="0"/>
                          <a:ea typeface="微软雅黑" panose="020B0503020204020204" pitchFamily="34" charset="-122"/>
                          <a:sym typeface="+mn-ea"/>
                        </a:rPr>
                        <a:t>项目</a:t>
                      </a:r>
                      <a:endParaRPr lang="zh-CN" altLang="en-US" sz="1000" b="0">
                        <a:solidFill>
                          <a:srgbClr val="000000"/>
                        </a:solidFill>
                        <a:latin typeface="Arial" panose="020B0604020202020204" pitchFamily="34" charset="0"/>
                        <a:ea typeface="微软雅黑" panose="020B0503020204020204" pitchFamily="34" charset="-122"/>
                      </a:endParaRPr>
                    </a:p>
                    <a:p>
                      <a:pPr indent="0" algn="ctr">
                        <a:buNone/>
                      </a:pPr>
                      <a:r>
                        <a:rPr lang="zh-CN" sz="1000" b="0">
                          <a:solidFill>
                            <a:srgbClr val="000000"/>
                          </a:solidFill>
                          <a:latin typeface="Arial" panose="020B0604020202020204" pitchFamily="34" charset="0"/>
                          <a:ea typeface="微软雅黑" panose="020B0503020204020204" pitchFamily="34" charset="-122"/>
                        </a:rPr>
                        <a:t>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开发X部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altLang="en-US" sz="1000">
                          <a:solidFill>
                            <a:srgbClr val="000000"/>
                          </a:solidFill>
                          <a:latin typeface="Arial" panose="020B0604020202020204" pitchFamily="34" charset="0"/>
                          <a:ea typeface="微软雅黑" panose="020B0503020204020204" pitchFamily="34" charset="-122"/>
                          <a:sym typeface="+mn-ea"/>
                        </a:rPr>
                        <a:t>李</a:t>
                      </a:r>
                      <a:r>
                        <a:rPr lang="en-US" altLang="zh-CN" sz="1000">
                          <a:solidFill>
                            <a:srgbClr val="000000"/>
                          </a:solidFill>
                          <a:latin typeface="Arial" panose="020B0604020202020204" pitchFamily="34" charset="0"/>
                          <a:ea typeface="微软雅黑" panose="020B0503020204020204" pitchFamily="34" charset="-122"/>
                          <a:sym typeface="+mn-ea"/>
                        </a:rPr>
                        <a:t>X</a:t>
                      </a:r>
                      <a:endParaRPr lang="en-US" altLang="zh-CN" sz="1000" b="0">
                        <a:solidFill>
                          <a:srgbClr val="000000"/>
                        </a:solidFill>
                        <a:latin typeface="Arial" panose="020B0604020202020204" pitchFamily="34" charset="0"/>
                        <a:ea typeface="微软雅黑" panose="020B0503020204020204" pitchFamily="34" charset="-122"/>
                        <a:sym typeface="+mn-ea"/>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开发工程师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54%</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Arial" panose="020B0604020202020204" pitchFamily="34" charset="0"/>
                          <a:ea typeface="微软雅黑" panose="020B0503020204020204" pitchFamily="34" charset="-122"/>
                        </a:rPr>
                        <a:t>其他工作穿插，该项工作投入不足</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1">
                          <a:solidFill>
                            <a:srgbClr val="C00000"/>
                          </a:solidFill>
                          <a:latin typeface="微软雅黑" panose="020B0503020204020204" pitchFamily="34" charset="-122"/>
                        </a:rPr>
                        <a:t>c</a:t>
                      </a:r>
                      <a:endParaRPr lang="en-US" altLang="en-US" sz="1000" b="1">
                        <a:solidFill>
                          <a:srgbClr val="C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5620">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XXXX项目</a:t>
                      </a:r>
                      <a:endParaRPr lang="zh-CN" sz="1000" b="0">
                        <a:solidFill>
                          <a:srgbClr val="000000"/>
                        </a:solidFill>
                        <a:latin typeface="Arial" panose="020B0604020202020204" pitchFamily="34" charset="0"/>
                        <a:ea typeface="微软雅黑" panose="020B0503020204020204" pitchFamily="34" charset="-122"/>
                      </a:endParaRPr>
                    </a:p>
                    <a:p>
                      <a:pPr indent="0" algn="ctr">
                        <a:buNone/>
                      </a:pPr>
                      <a:r>
                        <a:rPr lang="zh-CN" sz="1000" b="0">
                          <a:solidFill>
                            <a:srgbClr val="000000"/>
                          </a:solidFill>
                          <a:latin typeface="Arial" panose="020B0604020202020204" pitchFamily="34" charset="0"/>
                          <a:ea typeface="微软雅黑" panose="020B0503020204020204" pitchFamily="34" charset="-122"/>
                        </a:rPr>
                        <a:t>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开发X部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altLang="zh-CN" sz="1000" b="0">
                          <a:solidFill>
                            <a:srgbClr val="000000"/>
                          </a:solidFill>
                          <a:latin typeface="Arial" panose="020B0604020202020204" pitchFamily="34" charset="0"/>
                          <a:ea typeface="微软雅黑" panose="020B0503020204020204" pitchFamily="34" charset="-122"/>
                        </a:rPr>
                        <a:t>XX</a:t>
                      </a:r>
                      <a:endParaRPr lang="en-US" altLang="zh-CN"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开发工程师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Arial" panose="020B0604020202020204" pitchFamily="34" charset="0"/>
                          <a:ea typeface="微软雅黑" panose="020B0503020204020204" pitchFamily="34" charset="-122"/>
                        </a:rPr>
                        <a:t>其他工作穿插，该项工作投入不足</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15620">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XXXX项目</a:t>
                      </a:r>
                      <a:endParaRPr lang="zh-CN" sz="1000" b="0">
                        <a:solidFill>
                          <a:srgbClr val="000000"/>
                        </a:solidFill>
                        <a:latin typeface="Arial" panose="020B0604020202020204" pitchFamily="34" charset="0"/>
                        <a:ea typeface="微软雅黑" panose="020B0503020204020204" pitchFamily="34" charset="-122"/>
                      </a:endParaRPr>
                    </a:p>
                    <a:p>
                      <a:pPr indent="0" algn="ctr">
                        <a:buNone/>
                      </a:pPr>
                      <a:r>
                        <a:rPr lang="zh-CN" sz="1000" b="0">
                          <a:solidFill>
                            <a:srgbClr val="000000"/>
                          </a:solidFill>
                          <a:latin typeface="Arial" panose="020B0604020202020204" pitchFamily="34" charset="0"/>
                          <a:ea typeface="微软雅黑" panose="020B0503020204020204" pitchFamily="34" charset="-122"/>
                        </a:rPr>
                        <a:t>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开发X部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开发工程师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5%</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Arial" panose="020B0604020202020204" pitchFamily="34" charset="0"/>
                          <a:ea typeface="微软雅黑" panose="020B0503020204020204" pitchFamily="34" charset="-122"/>
                        </a:rPr>
                        <a:t>其他工作穿插，该项工作投入不足</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50%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220">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XXXX项目</a:t>
                      </a:r>
                      <a:endParaRPr lang="zh-CN" sz="1000" b="0">
                        <a:solidFill>
                          <a:srgbClr val="000000"/>
                        </a:solidFill>
                        <a:latin typeface="Arial" panose="020B0604020202020204" pitchFamily="34" charset="0"/>
                        <a:ea typeface="微软雅黑" panose="020B0503020204020204" pitchFamily="34" charset="-122"/>
                      </a:endParaRPr>
                    </a:p>
                    <a:p>
                      <a:pPr indent="0" algn="ctr">
                        <a:buNone/>
                      </a:pPr>
                      <a:r>
                        <a:rPr lang="zh-CN" sz="1000" b="0">
                          <a:solidFill>
                            <a:srgbClr val="000000"/>
                          </a:solidFill>
                          <a:latin typeface="Arial" panose="020B0604020202020204" pitchFamily="34" charset="0"/>
                          <a:ea typeface="微软雅黑" panose="020B0503020204020204" pitchFamily="34" charset="-122"/>
                        </a:rPr>
                        <a:t>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开发X部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开发工程师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220">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XXXX项目</a:t>
                      </a:r>
                      <a:endParaRPr lang="zh-CN" sz="1000" b="0">
                        <a:solidFill>
                          <a:srgbClr val="000000"/>
                        </a:solidFill>
                        <a:latin typeface="Arial" panose="020B0604020202020204" pitchFamily="34" charset="0"/>
                        <a:ea typeface="微软雅黑" panose="020B0503020204020204" pitchFamily="34" charset="-122"/>
                      </a:endParaRPr>
                    </a:p>
                    <a:p>
                      <a:pPr indent="0" algn="ctr">
                        <a:buNone/>
                      </a:pPr>
                      <a:r>
                        <a:rPr lang="zh-CN" sz="1000" b="0">
                          <a:solidFill>
                            <a:srgbClr val="000000"/>
                          </a:solidFill>
                          <a:latin typeface="Arial" panose="020B0604020202020204" pitchFamily="34" charset="0"/>
                          <a:ea typeface="微软雅黑" panose="020B0503020204020204" pitchFamily="34" charset="-122"/>
                        </a:rPr>
                        <a:t>目</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开发X部</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XX</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Arial" panose="020B0604020202020204" pitchFamily="34" charset="0"/>
                          <a:ea typeface="微软雅黑" panose="020B0503020204020204" pitchFamily="34" charset="-122"/>
                        </a:rPr>
                        <a:t>开发工程师</a:t>
                      </a:r>
                      <a:endParaRPr lang="zh-CN" altLang="en-US" sz="1000" b="0">
                        <a:solidFill>
                          <a:srgbClr val="000000"/>
                        </a:solidFill>
                        <a:latin typeface="Arial" panose="020B0604020202020204" pitchFamily="34" charset="0"/>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10%</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rPr>
                        <a:t>B</a:t>
                      </a: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0" name="矩形标注 9"/>
          <p:cNvSpPr/>
          <p:nvPr/>
        </p:nvSpPr>
        <p:spPr>
          <a:xfrm>
            <a:off x="5894070" y="5437505"/>
            <a:ext cx="5770880" cy="1083310"/>
          </a:xfrm>
          <a:prstGeom prst="wedgeRectCallout">
            <a:avLst>
              <a:gd name="adj1" fmla="val -58285"/>
              <a:gd name="adj2" fmla="val 20281"/>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rPr>
              <a:t>当前阶段里程碑节点如能提前完成，责任占比大的人员阶段绩效不低于A</a:t>
            </a:r>
            <a:r>
              <a:rPr lang="en-US" altLang="zh-CN" sz="1200">
                <a:solidFill>
                  <a:schemeClr val="tx1"/>
                </a:solidFill>
              </a:rPr>
              <a:t>-</a:t>
            </a:r>
            <a:r>
              <a:rPr lang="zh-CN" altLang="en-US" sz="1200">
                <a:solidFill>
                  <a:schemeClr val="tx1"/>
                </a:solidFill>
              </a:rPr>
              <a:t>；如延期</a:t>
            </a:r>
            <a:r>
              <a:rPr lang="zh-CN" altLang="en-US" sz="1200" b="1">
                <a:solidFill>
                  <a:schemeClr val="tx1"/>
                </a:solidFill>
              </a:rPr>
              <a:t>偏差</a:t>
            </a:r>
            <a:r>
              <a:rPr lang="zh-CN" sz="1200" b="1">
                <a:solidFill>
                  <a:schemeClr val="tx1"/>
                </a:solidFill>
              </a:rPr>
              <a:t>较大</a:t>
            </a:r>
            <a:r>
              <a:rPr lang="zh-CN" altLang="en-US" sz="1200">
                <a:solidFill>
                  <a:schemeClr val="tx1"/>
                </a:solidFill>
              </a:rPr>
              <a:t>，责任占比大的人员阶段绩效不高于B-；如延期偏差超过</a:t>
            </a:r>
            <a:r>
              <a:rPr lang="en-US" altLang="zh-CN" sz="1200" b="1">
                <a:solidFill>
                  <a:schemeClr val="tx1"/>
                </a:solidFill>
              </a:rPr>
              <a:t>1</a:t>
            </a:r>
            <a:r>
              <a:rPr lang="zh-CN" altLang="en-US" sz="1200" b="1">
                <a:solidFill>
                  <a:schemeClr val="tx1"/>
                </a:solidFill>
              </a:rPr>
              <a:t>0%</a:t>
            </a:r>
            <a:r>
              <a:rPr lang="zh-CN" altLang="en-US" sz="1200">
                <a:solidFill>
                  <a:schemeClr val="tx1"/>
                </a:solidFill>
              </a:rPr>
              <a:t>，则相关人员都为C或</a:t>
            </a:r>
            <a:r>
              <a:rPr lang="en-US" altLang="zh-CN" sz="1200">
                <a:solidFill>
                  <a:schemeClr val="tx1"/>
                </a:solidFill>
              </a:rPr>
              <a:t>D</a:t>
            </a:r>
            <a:r>
              <a:rPr lang="zh-CN" altLang="en-US" sz="1200">
                <a:solidFill>
                  <a:schemeClr val="tx1"/>
                </a:solidFill>
              </a:rPr>
              <a:t>；其余非关键人员绩效评价正常是B，但是是经过别人的较多协助才达成目标的，绩效也为B-或者C;</a:t>
            </a:r>
            <a:r>
              <a:rPr lang="zh-CN" altLang="en-US" sz="1200">
                <a:solidFill>
                  <a:srgbClr val="FF0000"/>
                </a:solidFill>
              </a:rPr>
              <a:t>（如因优先级更高事宜导致资源冲突，对应人员工作调整导致的进度偏差，可进行备注说明）</a:t>
            </a:r>
            <a:endParaRPr lang="zh-CN" altLang="en-US" sz="1200">
              <a:solidFill>
                <a:srgbClr val="FF0000"/>
              </a:solidFill>
            </a:endParaRPr>
          </a:p>
        </p:txBody>
      </p:sp>
      <p:sp>
        <p:nvSpPr>
          <p:cNvPr id="11" name="矩形标注 10"/>
          <p:cNvSpPr/>
          <p:nvPr/>
        </p:nvSpPr>
        <p:spPr>
          <a:xfrm>
            <a:off x="5795645" y="3700780"/>
            <a:ext cx="5868035" cy="1581150"/>
          </a:xfrm>
          <a:prstGeom prst="wedgeRectCallout">
            <a:avLst>
              <a:gd name="adj1" fmla="val -69835"/>
              <a:gd name="adj2" fmla="val 35421"/>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sym typeface="+mn-ea"/>
              </a:rPr>
              <a:t>①</a:t>
            </a:r>
            <a:r>
              <a:rPr lang="zh-CN" altLang="en-US" sz="1200" b="1">
                <a:solidFill>
                  <a:schemeClr val="tx1"/>
                </a:solidFill>
                <a:sym typeface="+mn-ea"/>
              </a:rPr>
              <a:t>“工作难度和职责占比”</a:t>
            </a:r>
            <a:r>
              <a:rPr lang="zh-CN" altLang="en-US" sz="1200">
                <a:solidFill>
                  <a:schemeClr val="tx1"/>
                </a:solidFill>
                <a:sym typeface="+mn-ea"/>
              </a:rPr>
              <a:t>：每个阶段开始前项目经理给出每个参与项目的人员当前阶段的工作难度和职责占比，工作难度评估的是当前具体的人员对当前这个工作的难度（正常值为1）；</a:t>
            </a:r>
            <a:endParaRPr lang="zh-CN" altLang="en-US" sz="1200">
              <a:solidFill>
                <a:schemeClr val="tx1"/>
              </a:solidFill>
            </a:endParaRPr>
          </a:p>
          <a:p>
            <a:r>
              <a:rPr lang="zh-CN" altLang="en-US" sz="1200">
                <a:solidFill>
                  <a:schemeClr val="tx1"/>
                </a:solidFill>
                <a:sym typeface="+mn-ea"/>
              </a:rPr>
              <a:t>②"</a:t>
            </a:r>
            <a:r>
              <a:rPr lang="zh-CN" altLang="en-US" sz="1200" b="1">
                <a:solidFill>
                  <a:schemeClr val="tx1"/>
                </a:solidFill>
                <a:sym typeface="+mn-ea"/>
              </a:rPr>
              <a:t>绩效评价"</a:t>
            </a:r>
            <a:r>
              <a:rPr lang="zh-CN" altLang="en-US" sz="1200">
                <a:solidFill>
                  <a:schemeClr val="tx1"/>
                </a:solidFill>
                <a:sym typeface="+mn-ea"/>
              </a:rPr>
              <a:t>：当前阶段结束后，项目经理给出人员在当前里程碑点进度方面的绩效评价；除关键节点外，其余节点进度评估主要考虑当前阶段的相对偏差，关键节点评估绝对偏差；</a:t>
            </a:r>
            <a:endParaRPr lang="zh-CN" altLang="en-US" sz="1200">
              <a:solidFill>
                <a:schemeClr val="tx1"/>
              </a:solidFill>
            </a:endParaRPr>
          </a:p>
          <a:p>
            <a:r>
              <a:rPr lang="zh-CN" altLang="en-US" sz="1200">
                <a:solidFill>
                  <a:schemeClr val="tx1"/>
                </a:solidFill>
                <a:sym typeface="+mn-ea"/>
              </a:rPr>
              <a:t>其中：</a:t>
            </a:r>
            <a:r>
              <a:rPr lang="zh-CN" altLang="en-US" sz="1200" b="1">
                <a:solidFill>
                  <a:schemeClr val="tx1"/>
                </a:solidFill>
                <a:sym typeface="+mn-ea"/>
              </a:rPr>
              <a:t>项目经理的工作难度、职责占比和绩效评价</a:t>
            </a:r>
            <a:r>
              <a:rPr lang="zh-CN" altLang="en-US" sz="1200">
                <a:solidFill>
                  <a:schemeClr val="tx1"/>
                </a:solidFill>
                <a:sym typeface="+mn-ea"/>
              </a:rPr>
              <a:t>都由高经经理评估给出，高级经理和项目经理为同一个人时，由分管领导评估给出对应数据</a:t>
            </a:r>
            <a:endParaRPr lang="zh-CN" altLang="en-US" sz="1200">
              <a:solidFill>
                <a:schemeClr val="tx1"/>
              </a:solidFill>
              <a:sym typeface="+mn-ea"/>
            </a:endParaRPr>
          </a:p>
        </p:txBody>
      </p:sp>
      <p:sp>
        <p:nvSpPr>
          <p:cNvPr id="12" name="矩形标注 11"/>
          <p:cNvSpPr/>
          <p:nvPr/>
        </p:nvSpPr>
        <p:spPr>
          <a:xfrm>
            <a:off x="5697220" y="2711450"/>
            <a:ext cx="2658110" cy="805180"/>
          </a:xfrm>
          <a:prstGeom prst="wedgeRectCallout">
            <a:avLst>
              <a:gd name="adj1" fmla="val -63951"/>
              <a:gd name="adj2" fmla="val 129968"/>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rPr>
              <a:t>项目经理可协同高级经理或项目组员的直属上级，进行沟通提供指导和反馈，并提出改进建议，有需要部门经理也需要参与进行绩效辅导；</a:t>
            </a:r>
            <a:endParaRPr lang="zh-CN" altLang="en-US" sz="12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10" grpId="0" bldLvl="0" animBg="1"/>
      <p:bldP spid="12" grpId="1" animBg="1"/>
      <p:bldP spid="11" grpId="1" animBg="1"/>
      <p:bldP spid="10"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a:solidFill>
                  <a:schemeClr val="tx1"/>
                </a:solidFill>
                <a:sym typeface="+mn-ea"/>
              </a:rPr>
              <a:t>项目阶段绩效评价标准</a:t>
            </a:r>
            <a:r>
              <a:rPr lang="en-US" altLang="zh-CN">
                <a:solidFill>
                  <a:schemeClr val="tx1"/>
                </a:solidFill>
                <a:sym typeface="+mn-ea"/>
              </a:rPr>
              <a:t>-</a:t>
            </a:r>
            <a:r>
              <a:rPr>
                <a:solidFill>
                  <a:schemeClr val="tx1"/>
                </a:solidFill>
                <a:sym typeface="+mn-ea"/>
              </a:rPr>
              <a:t>填写说明</a:t>
            </a:r>
            <a:endParaRPr lang="zh-CN" altLang="en-US" dirty="0">
              <a:solidFill>
                <a:schemeClr val="tx1"/>
              </a:solidFill>
              <a:sym typeface="+mn-ea"/>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graphicFrame>
        <p:nvGraphicFramePr>
          <p:cNvPr id="3" name="表格 2"/>
          <p:cNvGraphicFramePr/>
          <p:nvPr>
            <p:custDataLst>
              <p:tags r:id="rId1"/>
            </p:custDataLst>
          </p:nvPr>
        </p:nvGraphicFramePr>
        <p:xfrm>
          <a:off x="423545" y="973455"/>
          <a:ext cx="11394440" cy="3985895"/>
        </p:xfrm>
        <a:graphic>
          <a:graphicData uri="http://schemas.openxmlformats.org/drawingml/2006/table">
            <a:tbl>
              <a:tblPr/>
              <a:tblGrid>
                <a:gridCol w="583565"/>
                <a:gridCol w="554355"/>
                <a:gridCol w="716915"/>
                <a:gridCol w="461645"/>
                <a:gridCol w="870585"/>
                <a:gridCol w="702945"/>
                <a:gridCol w="857250"/>
                <a:gridCol w="930275"/>
                <a:gridCol w="675005"/>
                <a:gridCol w="839470"/>
                <a:gridCol w="692785"/>
                <a:gridCol w="998855"/>
                <a:gridCol w="863600"/>
                <a:gridCol w="568960"/>
                <a:gridCol w="568960"/>
                <a:gridCol w="509270"/>
              </a:tblGrid>
              <a:tr h="211455">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项目难度系数</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部门</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人员</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岗位</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gridSpan="11">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过程质量</a:t>
                      </a:r>
                      <a:r>
                        <a:rPr 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endParaRPr lang="en-US"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cap="flat">
                      <a:noFill/>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6B8B7"/>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cap="flat">
                      <a:noFill/>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114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8">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项目维度</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gridSpan="3">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个人维度</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6B8B7"/>
                    </a:solidFill>
                  </a:tcPr>
                </a:tc>
                <a:tc hMerge="1">
                  <a:tcP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127760">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项目难度系数</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所属部门</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人员</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岗位</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需求后集中进行风险评估</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开发与测试提前交流，介入开发过程提前进行确认</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开发阶段演示质量</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（评审组长）</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单元测试是否执行，执行质量如何</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（评审组长）</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集成测试是否执行，执行质量如何</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（评审组长）</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故障插入测试有效性</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（评审组长）</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转测质量（关键用例覆盖度，转测一次成功率、被测试人员打回次数等）</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（测试人员）</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文档质量</a:t>
                      </a:r>
                      <a:endPar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（文档是否更新，是否与产品一致）</a:t>
                      </a:r>
                      <a:endPar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（主要由产品经理&amp;高级经理）</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开发过程低级错误情况</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阶段性总结</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其他项</a:t>
                      </a:r>
                      <a:endParaRPr lang="zh-CN" sz="1000" b="0">
                        <a:solidFill>
                          <a:srgbClr val="000000"/>
                        </a:solidFill>
                        <a:latin typeface="微软雅黑" panose="020B0503020204020204" pitchFamily="34" charset="-122"/>
                        <a:ea typeface="微软雅黑" panose="020B0503020204020204" pitchFamily="34" charset="-122"/>
                      </a:endParaRPr>
                    </a:p>
                    <a:p>
                      <a:pPr indent="0" algn="ctr">
                        <a:buNone/>
                      </a:pPr>
                      <a:r>
                        <a:rPr lang="zh-CN" sz="1000" b="0">
                          <a:solidFill>
                            <a:srgbClr val="000000"/>
                          </a:solidFill>
                          <a:latin typeface="微软雅黑" panose="020B0503020204020204" pitchFamily="34" charset="-122"/>
                          <a:ea typeface="微软雅黑" panose="020B0503020204020204" pitchFamily="34" charset="-122"/>
                        </a:rPr>
                        <a:t>如配合度等</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250825">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暂不具备条件</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进行中</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暂不具备条件</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不涉及</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855">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1</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张X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部门经理</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1</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449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1</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855">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855">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3</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449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4</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3855">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0</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6" name="矩形标注 5"/>
          <p:cNvSpPr/>
          <p:nvPr/>
        </p:nvSpPr>
        <p:spPr>
          <a:xfrm>
            <a:off x="1254125" y="4474210"/>
            <a:ext cx="3582035" cy="1767205"/>
          </a:xfrm>
          <a:prstGeom prst="wedgeRectCallout">
            <a:avLst>
              <a:gd name="adj1" fmla="val 39664"/>
              <a:gd name="adj2" fmla="val -69942"/>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rPr>
              <a:t>项目维度质量：</a:t>
            </a:r>
            <a:endParaRPr lang="zh-CN" altLang="en-US" sz="1200">
              <a:solidFill>
                <a:schemeClr val="tx1"/>
              </a:solidFill>
            </a:endParaRPr>
          </a:p>
          <a:p>
            <a:r>
              <a:rPr lang="zh-CN" altLang="en-US" sz="1200">
                <a:solidFill>
                  <a:schemeClr val="tx1"/>
                </a:solidFill>
              </a:rPr>
              <a:t>①开发阶段演示质量评价：由演示会议的主要参与方评价；</a:t>
            </a:r>
            <a:endParaRPr lang="zh-CN" altLang="en-US" sz="1200">
              <a:solidFill>
                <a:schemeClr val="tx1"/>
              </a:solidFill>
            </a:endParaRPr>
          </a:p>
          <a:p>
            <a:r>
              <a:rPr lang="zh-CN" altLang="en-US" sz="1200">
                <a:solidFill>
                  <a:schemeClr val="tx1"/>
                </a:solidFill>
              </a:rPr>
              <a:t>②单元测试、集成测试、故障插入测试质量由评审组长评价；</a:t>
            </a:r>
            <a:endParaRPr lang="zh-CN" altLang="en-US" sz="1200">
              <a:solidFill>
                <a:schemeClr val="tx1"/>
              </a:solidFill>
            </a:endParaRPr>
          </a:p>
          <a:p>
            <a:r>
              <a:rPr lang="zh-CN" altLang="en-US" sz="1200">
                <a:solidFill>
                  <a:schemeClr val="tx1"/>
                </a:solidFill>
              </a:rPr>
              <a:t>③转测质量由测试人员给出评价，主要参考关键用例覆盖情况，测试打回次数等； </a:t>
            </a:r>
            <a:endParaRPr lang="zh-CN" altLang="en-US" sz="1200">
              <a:solidFill>
                <a:schemeClr val="tx1"/>
              </a:solidFill>
            </a:endParaRPr>
          </a:p>
          <a:p>
            <a:r>
              <a:rPr lang="zh-CN" altLang="en-US" sz="1200">
                <a:solidFill>
                  <a:schemeClr val="tx1"/>
                </a:solidFill>
              </a:rPr>
              <a:t>④文档质量主要评估最终的文档是否与产品保持一致，主要由高级经理或产品经理评价;</a:t>
            </a:r>
            <a:endParaRPr lang="zh-CN" altLang="en-US" sz="1200">
              <a:solidFill>
                <a:schemeClr val="tx1"/>
              </a:solidFill>
            </a:endParaRPr>
          </a:p>
        </p:txBody>
      </p:sp>
      <p:sp>
        <p:nvSpPr>
          <p:cNvPr id="8" name="矩形标注 7"/>
          <p:cNvSpPr/>
          <p:nvPr/>
        </p:nvSpPr>
        <p:spPr>
          <a:xfrm>
            <a:off x="6798945" y="4474210"/>
            <a:ext cx="4287520" cy="1767205"/>
          </a:xfrm>
          <a:prstGeom prst="wedgeRectCallout">
            <a:avLst>
              <a:gd name="adj1" fmla="val 31842"/>
              <a:gd name="adj2" fmla="val -63295"/>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rPr>
              <a:t>个人维度质量： </a:t>
            </a:r>
            <a:endParaRPr lang="zh-CN" altLang="en-US" sz="1200">
              <a:solidFill>
                <a:schemeClr val="tx1"/>
              </a:solidFill>
            </a:endParaRPr>
          </a:p>
          <a:p>
            <a:r>
              <a:rPr lang="zh-CN" altLang="en-US" sz="1200">
                <a:solidFill>
                  <a:schemeClr val="tx1"/>
                </a:solidFill>
              </a:rPr>
              <a:t>①开发过程低级错误情况，由项目经理和高级经理评估给出；</a:t>
            </a:r>
            <a:endParaRPr lang="zh-CN" altLang="en-US" sz="1200">
              <a:solidFill>
                <a:schemeClr val="tx1"/>
              </a:solidFill>
            </a:endParaRPr>
          </a:p>
          <a:p>
            <a:r>
              <a:rPr lang="zh-CN" altLang="en-US" sz="1200">
                <a:solidFill>
                  <a:schemeClr val="tx1"/>
                </a:solidFill>
              </a:rPr>
              <a:t>②个人总结，由项目经理和高级经理，或者部门经理、分管领导评估需要总结的人员及时提交针对问题的阶段总结；</a:t>
            </a:r>
            <a:endParaRPr lang="zh-CN" altLang="en-US" sz="1200">
              <a:solidFill>
                <a:schemeClr val="tx1"/>
              </a:solidFill>
            </a:endParaRPr>
          </a:p>
          <a:p>
            <a:r>
              <a:rPr lang="zh-CN" altLang="en-US" sz="1200">
                <a:solidFill>
                  <a:schemeClr val="tx1"/>
                </a:solidFill>
              </a:rPr>
              <a:t>③对于项目过程中领导的重要指示或会议的纪要中的明确要求，未落实或落实延迟较久，或表现较好，可补充增加作为个人维度的考核项，填写在其他列中，其余评估有需要的也可在其他列填写；</a:t>
            </a:r>
            <a:endParaRPr lang="zh-CN" altLang="en-US" sz="120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6" grpId="1" animBg="1"/>
      <p:bldP spid="8"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a:solidFill>
                  <a:schemeClr val="tx1"/>
                </a:solidFill>
                <a:sym typeface="+mn-ea"/>
              </a:rPr>
              <a:t>项目阶段绩效评价标准</a:t>
            </a:r>
            <a:r>
              <a:rPr lang="en-US" altLang="zh-CN">
                <a:solidFill>
                  <a:schemeClr val="tx1"/>
                </a:solidFill>
                <a:sym typeface="+mn-ea"/>
              </a:rPr>
              <a:t>-</a:t>
            </a:r>
            <a:r>
              <a:rPr>
                <a:solidFill>
                  <a:schemeClr val="tx1"/>
                </a:solidFill>
                <a:sym typeface="+mn-ea"/>
              </a:rPr>
              <a:t>填写说明</a:t>
            </a:r>
            <a:endParaRPr lang="zh-CN" altLang="en-US" dirty="0">
              <a:solidFill>
                <a:schemeClr val="tx1"/>
              </a:solidFill>
              <a:sym typeface="+mn-ea"/>
            </a:endParaRPr>
          </a:p>
        </p:txBody>
      </p:sp>
      <p:sp>
        <p:nvSpPr>
          <p:cNvPr id="4" name="灯片编号占位符 3"/>
          <p:cNvSpPr>
            <a:spLocks noGrp="1"/>
          </p:cNvSpPr>
          <p:nvPr>
            <p:ph type="sldNum" sz="quarter" idx="4"/>
          </p:nvPr>
        </p:nvSpPr>
        <p:spPr/>
        <p:txBody>
          <a:bodyPr/>
          <a:lstStyle/>
          <a:p>
            <a:pPr algn="ctr"/>
            <a:fld id="{3AD9866C-B8E1-4B55-A986-B90A7612EBA6}" type="slidenum">
              <a:rPr lang="en-US" altLang="zh-CN" smtClean="0"/>
            </a:fld>
            <a:endParaRPr lang="en-US" dirty="0"/>
          </a:p>
        </p:txBody>
      </p:sp>
      <p:graphicFrame>
        <p:nvGraphicFramePr>
          <p:cNvPr id="2" name="表格 1"/>
          <p:cNvGraphicFramePr/>
          <p:nvPr>
            <p:custDataLst>
              <p:tags r:id="rId1"/>
            </p:custDataLst>
          </p:nvPr>
        </p:nvGraphicFramePr>
        <p:xfrm>
          <a:off x="442595" y="992505"/>
          <a:ext cx="11153140" cy="3693160"/>
        </p:xfrm>
        <a:graphic>
          <a:graphicData uri="http://schemas.openxmlformats.org/drawingml/2006/table">
            <a:tbl>
              <a:tblPr/>
              <a:tblGrid>
                <a:gridCol w="649605"/>
                <a:gridCol w="925830"/>
                <a:gridCol w="991870"/>
                <a:gridCol w="638810"/>
                <a:gridCol w="1204595"/>
                <a:gridCol w="1246505"/>
                <a:gridCol w="1455420"/>
                <a:gridCol w="954405"/>
                <a:gridCol w="955040"/>
                <a:gridCol w="796290"/>
                <a:gridCol w="667385"/>
                <a:gridCol w="667385"/>
              </a:tblGrid>
              <a:tr h="240665">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项目难度系数</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部门</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人员</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岗位</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gridSpan="2">
                  <a:txBody>
                    <a:bodyPr/>
                    <a:p>
                      <a:pPr indent="0" algn="ctr">
                        <a:buNone/>
                      </a:pPr>
                      <a:r>
                        <a:rPr lang="zh-CN" sz="1000" b="0">
                          <a:solidFill>
                            <a:srgbClr val="FFFFFF"/>
                          </a:solidFill>
                          <a:latin typeface="Arial" panose="020B0604020202020204" pitchFamily="34" charset="0"/>
                          <a:ea typeface="微软雅黑" panose="020B0503020204020204" pitchFamily="34" charset="-122"/>
                        </a:rPr>
                        <a:t>结果质量</a:t>
                      </a:r>
                      <a:r>
                        <a:rPr lang="en-US" sz="1000" b="0">
                          <a:solidFill>
                            <a:srgbClr val="FFFFFF"/>
                          </a:solidFill>
                          <a:latin typeface="微软雅黑" panose="020B0503020204020204" pitchFamily="34" charset="-122"/>
                        </a:rPr>
                        <a:t> </a:t>
                      </a:r>
                      <a:endParaRPr lang="en-US" altLang="en-US" sz="1000" b="0">
                        <a:solidFill>
                          <a:srgbClr val="FFFFFF"/>
                        </a:solidFill>
                        <a:latin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F81BD"/>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质量绩效评价</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76933C"/>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进度绩效评价</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总项目评价</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E26B0A"/>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项目总工时</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CDDC"/>
                    </a:solidFill>
                  </a:tcPr>
                </a:tc>
                <a:tc rowSpan="2">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项目等级</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CDDC"/>
                    </a:solidFill>
                  </a:tcPr>
                </a:tc>
              </a:tr>
              <a:tr h="24066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gridSpan="2">
                  <a:txBody>
                    <a:bodyPr/>
                    <a:p>
                      <a:pPr indent="0" algn="ctr">
                        <a:buNone/>
                      </a:pPr>
                      <a:r>
                        <a:rPr lang="en-US" sz="1000" b="0">
                          <a:solidFill>
                            <a:srgbClr val="FFFFFF"/>
                          </a:solidFill>
                          <a:latin typeface="微软雅黑" panose="020B0503020204020204" pitchFamily="34" charset="-122"/>
                          <a:ea typeface="微软雅黑" panose="020B0503020204020204" pitchFamily="34" charset="-122"/>
                        </a:rPr>
                        <a:t>严重缺陷涉及的</a:t>
                      </a:r>
                      <a:r>
                        <a:rPr lang="en-US" sz="1000" b="1">
                          <a:solidFill>
                            <a:srgbClr val="FF0000"/>
                          </a:solidFill>
                          <a:latin typeface="微软雅黑" panose="020B0503020204020204" pitchFamily="34" charset="-122"/>
                          <a:ea typeface="微软雅黑" panose="020B0503020204020204" pitchFamily="34" charset="-122"/>
                        </a:rPr>
                        <a:t>重大资源开销</a:t>
                      </a:r>
                      <a:endParaRPr lang="en-US" altLang="en-US" sz="1000" b="0">
                        <a:solidFill>
                          <a:srgbClr val="FFFFFF"/>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4F81BD"/>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768350">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项目难度系数</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所属部门</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人员</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岗位</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涉及到技术研究院之外的部门较大的投入</a:t>
                      </a:r>
                      <a:r>
                        <a:rPr lang="zh-CN" sz="1000" b="1">
                          <a:solidFill>
                            <a:srgbClr val="FF0000"/>
                          </a:solidFill>
                          <a:latin typeface="微软雅黑" panose="020B0503020204020204" pitchFamily="34" charset="-122"/>
                          <a:ea typeface="微软雅黑" panose="020B0503020204020204" pitchFamily="34" charset="-122"/>
                        </a:rPr>
                        <a:t>（试用阶段重点考虑）</a:t>
                      </a:r>
                      <a:endParaRPr lang="zh-CN" altLang="en-US" sz="1000" b="1">
                        <a:solidFill>
                          <a:srgbClr val="FF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研发体系内部额外的较多资源投入</a:t>
                      </a:r>
                      <a:r>
                        <a:rPr lang="zh-CN" sz="1000" b="1">
                          <a:solidFill>
                            <a:srgbClr val="FF0000"/>
                          </a:solidFill>
                          <a:latin typeface="微软雅黑" panose="020B0503020204020204" pitchFamily="34" charset="-122"/>
                          <a:ea typeface="微软雅黑" panose="020B0503020204020204" pitchFamily="34" charset="-122"/>
                        </a:rPr>
                        <a:t>（研发阶段工期作为重点考虑））</a:t>
                      </a:r>
                      <a:endParaRPr lang="zh-CN" altLang="en-US" sz="1000" b="1">
                        <a:solidFill>
                          <a:srgbClr val="FF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质量绩效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D8E4BC"/>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进度绩效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8DB4E2"/>
                    </a:solid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项目维度绩效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ABF8F"/>
                    </a:solid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项目各人员总工时</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CDDC"/>
                    </a:solid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项目等级</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92CDDC"/>
                    </a:solidFill>
                  </a:tcPr>
                </a:tc>
              </a:tr>
              <a:tr h="241300">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不涉及</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不涉及</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1</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张X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部门经理</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806</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1</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938.5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2</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891.5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3</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C</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C</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C</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923.5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4</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531.5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67030">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XXXX项目</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en-US" sz="1000" b="0">
                          <a:solidFill>
                            <a:srgbClr val="000000"/>
                          </a:solidFill>
                          <a:latin typeface="微软雅黑" panose="020B0503020204020204" pitchFamily="34" charset="-122"/>
                          <a:ea typeface="微软雅黑" panose="020B0503020204020204" pitchFamily="34" charset="-122"/>
                        </a:rPr>
                        <a:t>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开发X部</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李X</a:t>
                      </a:r>
                      <a:endParaRPr lang="zh-CN" altLang="en-US" sz="1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buNone/>
                      </a:pPr>
                      <a:r>
                        <a:rPr lang="zh-CN" sz="1000" b="0">
                          <a:solidFill>
                            <a:srgbClr val="000000"/>
                          </a:solidFill>
                          <a:latin typeface="微软雅黑" panose="020B0503020204020204" pitchFamily="34" charset="-122"/>
                          <a:ea typeface="微软雅黑" panose="020B0503020204020204" pitchFamily="34" charset="-122"/>
                        </a:rPr>
                        <a:t>开发工程师</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chemeClr val="bg1">
                        <a:lumMod val="85000"/>
                      </a:schemeClr>
                    </a:solid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B+</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en-US" sz="1000" b="0">
                          <a:solidFill>
                            <a:srgbClr val="000000"/>
                          </a:solidFill>
                          <a:latin typeface="微软雅黑" panose="020B0503020204020204" pitchFamily="34" charset="-122"/>
                          <a:ea typeface="微软雅黑" panose="020B0503020204020204" pitchFamily="34" charset="-122"/>
                        </a:rPr>
                        <a:t>629.5</a:t>
                      </a:r>
                      <a:endParaRPr lang="en-US"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indent="0" algn="ctr">
                        <a:buNone/>
                      </a:pPr>
                      <a:r>
                        <a:rPr lang="zh-CN" sz="1000" b="0">
                          <a:solidFill>
                            <a:srgbClr val="000000"/>
                          </a:solidFill>
                          <a:latin typeface="微软雅黑" panose="020B0503020204020204" pitchFamily="34" charset="-122"/>
                          <a:ea typeface="微软雅黑" panose="020B0503020204020204" pitchFamily="34" charset="-122"/>
                        </a:rPr>
                        <a:t>丙类</a:t>
                      </a:r>
                      <a:endParaRPr lang="zh-CN" altLang="en-US" sz="1000" b="0">
                        <a:solidFill>
                          <a:srgbClr val="000000"/>
                        </a:solidFill>
                        <a:latin typeface="微软雅黑" panose="020B0503020204020204" pitchFamily="34" charset="-122"/>
                        <a:ea typeface="微软雅黑" panose="020B0503020204020204" pitchFamily="34" charset="-122"/>
                      </a:endParaRPr>
                    </a:p>
                  </a:txBody>
                  <a:tcPr marL="12700" marR="12700" marT="12700"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6" name="矩形标注 5"/>
          <p:cNvSpPr/>
          <p:nvPr/>
        </p:nvSpPr>
        <p:spPr>
          <a:xfrm>
            <a:off x="1336040" y="4354830"/>
            <a:ext cx="3582035" cy="1767205"/>
          </a:xfrm>
          <a:prstGeom prst="wedgeRectCallout">
            <a:avLst>
              <a:gd name="adj1" fmla="val 39664"/>
              <a:gd name="adj2" fmla="val -69942"/>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sym typeface="+mn-ea"/>
              </a:rPr>
              <a:t>结果质量</a:t>
            </a:r>
            <a:endParaRPr lang="zh-CN" altLang="en-US" sz="1200">
              <a:solidFill>
                <a:schemeClr val="tx1"/>
              </a:solidFill>
              <a:sym typeface="+mn-ea"/>
            </a:endParaRPr>
          </a:p>
          <a:p>
            <a:r>
              <a:rPr lang="zh-CN" altLang="en-US" sz="1200">
                <a:solidFill>
                  <a:schemeClr val="tx1"/>
                </a:solidFill>
                <a:sym typeface="+mn-ea"/>
              </a:rPr>
              <a:t>在项目结项前评估，包括试用阶段的投入，严重缺陷涉及的重大资源开销；由产品经理和高级经理评估给出；</a:t>
            </a:r>
            <a:endParaRPr lang="zh-CN" altLang="en-US" sz="1200">
              <a:solidFill>
                <a:schemeClr val="tx1"/>
              </a:solidFill>
            </a:endParaRPr>
          </a:p>
          <a:p>
            <a:r>
              <a:rPr lang="zh-CN" altLang="en-US" sz="1200">
                <a:solidFill>
                  <a:schemeClr val="tx1"/>
                </a:solidFill>
                <a:sym typeface="+mn-ea"/>
              </a:rPr>
              <a:t>①涉及到技术研究院之外的部门较大的投入；</a:t>
            </a:r>
            <a:r>
              <a:rPr lang="zh-CN" sz="1200" b="1">
                <a:solidFill>
                  <a:srgbClr val="FF0000"/>
                </a:solidFill>
                <a:latin typeface="微软雅黑" panose="020B0503020204020204" pitchFamily="34" charset="-122"/>
                <a:ea typeface="微软雅黑" panose="020B0503020204020204" pitchFamily="34" charset="-122"/>
                <a:sym typeface="+mn-ea"/>
              </a:rPr>
              <a:t>（试用阶段重点考虑）</a:t>
            </a:r>
            <a:endParaRPr lang="zh-CN" altLang="en-US" sz="1200">
              <a:solidFill>
                <a:schemeClr val="tx1"/>
              </a:solidFill>
            </a:endParaRPr>
          </a:p>
          <a:p>
            <a:r>
              <a:rPr lang="zh-CN" altLang="en-US" sz="1200">
                <a:solidFill>
                  <a:schemeClr val="tx1"/>
                </a:solidFill>
                <a:sym typeface="+mn-ea"/>
              </a:rPr>
              <a:t>②研发体系内部额外的较多资源投入</a:t>
            </a:r>
            <a:r>
              <a:rPr lang="zh-CN" sz="1200" b="1">
                <a:solidFill>
                  <a:srgbClr val="FF0000"/>
                </a:solidFill>
                <a:latin typeface="微软雅黑" panose="020B0503020204020204" pitchFamily="34" charset="-122"/>
                <a:ea typeface="微软雅黑" panose="020B0503020204020204" pitchFamily="34" charset="-122"/>
                <a:sym typeface="+mn-ea"/>
              </a:rPr>
              <a:t>（研发阶段工期作为重点考虑））</a:t>
            </a:r>
            <a:endParaRPr lang="zh-CN" altLang="en-US" sz="1200">
              <a:solidFill>
                <a:schemeClr val="tx1"/>
              </a:solidFill>
              <a:sym typeface="+mn-ea"/>
            </a:endParaRPr>
          </a:p>
        </p:txBody>
      </p:sp>
      <p:sp>
        <p:nvSpPr>
          <p:cNvPr id="8" name="矩形标注 7"/>
          <p:cNvSpPr/>
          <p:nvPr/>
        </p:nvSpPr>
        <p:spPr>
          <a:xfrm>
            <a:off x="6318250" y="4354830"/>
            <a:ext cx="3582035" cy="1767205"/>
          </a:xfrm>
          <a:prstGeom prst="wedgeRectCallout">
            <a:avLst>
              <a:gd name="adj1" fmla="val 39664"/>
              <a:gd name="adj2" fmla="val -69942"/>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a:p>
            <a:r>
              <a:rPr lang="zh-CN" altLang="en-US" sz="1200">
                <a:solidFill>
                  <a:schemeClr val="tx1"/>
                </a:solidFill>
                <a:sym typeface="+mn-ea"/>
              </a:rPr>
              <a:t>质量绩效</a:t>
            </a:r>
            <a:r>
              <a:rPr lang="zh-CN" altLang="en-US" sz="1200">
                <a:solidFill>
                  <a:schemeClr val="tx1"/>
                </a:solidFill>
                <a:sym typeface="+mn-ea"/>
              </a:rPr>
              <a:t>评价</a:t>
            </a:r>
            <a:r>
              <a:rPr lang="zh-CN" altLang="en-US" sz="1200">
                <a:solidFill>
                  <a:schemeClr val="tx1"/>
                </a:solidFill>
                <a:sym typeface="+mn-ea"/>
              </a:rPr>
              <a:t>：质量侧整体评估</a:t>
            </a:r>
            <a:endParaRPr lang="zh-CN" altLang="en-US" sz="1200">
              <a:solidFill>
                <a:schemeClr val="tx1"/>
              </a:solidFill>
              <a:sym typeface="+mn-ea"/>
            </a:endParaRPr>
          </a:p>
          <a:p>
            <a:r>
              <a:rPr lang="zh-CN" altLang="en-US" sz="1200">
                <a:solidFill>
                  <a:schemeClr val="tx1"/>
                </a:solidFill>
                <a:sym typeface="+mn-ea"/>
              </a:rPr>
              <a:t>进度绩效</a:t>
            </a:r>
            <a:r>
              <a:rPr lang="zh-CN" altLang="en-US" sz="1200">
                <a:solidFill>
                  <a:schemeClr val="tx1"/>
                </a:solidFill>
                <a:sym typeface="+mn-ea"/>
              </a:rPr>
              <a:t>评价</a:t>
            </a:r>
            <a:r>
              <a:rPr lang="zh-CN" altLang="en-US" sz="1200">
                <a:solidFill>
                  <a:schemeClr val="tx1"/>
                </a:solidFill>
                <a:sym typeface="+mn-ea"/>
              </a:rPr>
              <a:t>：进度侧整体评估</a:t>
            </a:r>
            <a:endParaRPr lang="zh-CN" altLang="en-US" sz="1200">
              <a:solidFill>
                <a:schemeClr val="tx1"/>
              </a:solidFill>
              <a:sym typeface="+mn-ea"/>
            </a:endParaRPr>
          </a:p>
          <a:p>
            <a:r>
              <a:rPr lang="zh-CN" altLang="en-US" sz="1200">
                <a:solidFill>
                  <a:schemeClr val="tx1"/>
                </a:solidFill>
                <a:sym typeface="+mn-ea"/>
              </a:rPr>
              <a:t>总项目评价：综合质量、进度、结果质量等方面评估所得结果</a:t>
            </a:r>
            <a:endParaRPr lang="zh-CN" altLang="en-US" sz="1200">
              <a:solidFill>
                <a:schemeClr val="tx1"/>
              </a:solidFill>
              <a:sym typeface="+mn-ea"/>
            </a:endParaRPr>
          </a:p>
          <a:p>
            <a:endParaRPr lang="zh-CN" altLang="en-US" sz="1200">
              <a:solidFill>
                <a:schemeClr val="tx1"/>
              </a:solidFill>
              <a:sym typeface="+mn-ea"/>
            </a:endParaRPr>
          </a:p>
          <a:p>
            <a:r>
              <a:rPr lang="zh-CN" altLang="en-US" sz="1200">
                <a:solidFill>
                  <a:schemeClr val="tx1"/>
                </a:solidFill>
                <a:sym typeface="+mn-ea"/>
              </a:rPr>
              <a:t>项目总工时：</a:t>
            </a:r>
            <a:r>
              <a:rPr lang="en-US" altLang="zh-CN" sz="1200">
                <a:solidFill>
                  <a:schemeClr val="tx1"/>
                </a:solidFill>
                <a:sym typeface="+mn-ea"/>
              </a:rPr>
              <a:t>ERP</a:t>
            </a:r>
            <a:r>
              <a:rPr lang="zh-CN" altLang="en-US" sz="1200">
                <a:solidFill>
                  <a:schemeClr val="tx1"/>
                </a:solidFill>
                <a:sym typeface="+mn-ea"/>
              </a:rPr>
              <a:t>获取</a:t>
            </a:r>
            <a:endParaRPr lang="zh-CN" altLang="en-US" sz="1200">
              <a:solidFill>
                <a:schemeClr val="tx1"/>
              </a:solidFill>
              <a:sym typeface="+mn-ea"/>
            </a:endParaRPr>
          </a:p>
          <a:p>
            <a:r>
              <a:rPr lang="zh-CN" altLang="en-US" sz="1200">
                <a:solidFill>
                  <a:schemeClr val="tx1"/>
                </a:solidFill>
                <a:sym typeface="+mn-ea"/>
              </a:rPr>
              <a:t>项目等级：立项时等级</a:t>
            </a:r>
            <a:endParaRPr lang="en-US" altLang="zh-CN" sz="1200">
              <a:solidFill>
                <a:schemeClr val="tx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6" grpId="1" animBg="1"/>
      <p:bldP spid="8"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olidFill>
                  <a:schemeClr val="tx1"/>
                </a:solidFill>
                <a:cs typeface="微软雅黑" panose="020B0503020204020204" pitchFamily="34" charset="-122"/>
                <a:sym typeface="+mn-ea"/>
              </a:rPr>
              <a:t>研发人员年度综合事务考</a:t>
            </a:r>
            <a:r>
              <a:rPr>
                <a:solidFill>
                  <a:schemeClr val="tx1"/>
                </a:solidFill>
                <a:cs typeface="微软雅黑" panose="020B0503020204020204" pitchFamily="34" charset="-122"/>
                <a:sym typeface="+mn-ea"/>
              </a:rPr>
              <a:t>评</a:t>
            </a:r>
            <a:endParaRPr>
              <a:solidFill>
                <a:schemeClr val="tx1"/>
              </a:solidFill>
              <a:cs typeface="微软雅黑" panose="020B0503020204020204" pitchFamily="34" charset="-122"/>
              <a:sym typeface="+mn-ea"/>
            </a:endParaRPr>
          </a:p>
        </p:txBody>
      </p:sp>
      <p:sp>
        <p:nvSpPr>
          <p:cNvPr id="100" name="文本框 99"/>
          <p:cNvSpPr txBox="1"/>
          <p:nvPr/>
        </p:nvSpPr>
        <p:spPr>
          <a:xfrm>
            <a:off x="544830" y="1120140"/>
            <a:ext cx="11072495" cy="8079105"/>
          </a:xfrm>
          <a:prstGeom prst="rect">
            <a:avLst/>
          </a:prstGeom>
          <a:noFill/>
          <a:ln w="9525">
            <a:noFill/>
          </a:ln>
        </p:spPr>
        <p:txBody>
          <a:bodyPr>
            <a:noAutofit/>
          </a:bodyPr>
          <a:p>
            <a:pPr marL="342900" indent="-342900" fontAlgn="auto">
              <a:lnSpc>
                <a:spcPct val="150000"/>
              </a:lnSpc>
              <a:buClrTx/>
              <a:buSzTx/>
              <a:buFont typeface="Wingdings" panose="05000000000000000000" charset="0"/>
              <a:buChar char="Ø"/>
            </a:pPr>
            <a:r>
              <a:rPr lang="zh-CN" altLang="en-US" sz="1800">
                <a:latin typeface="+mn-ea"/>
                <a:cs typeface="+mn-ea"/>
                <a:sym typeface="+mn-ea"/>
              </a:rPr>
              <a:t>综合事务考评等级：由部门经理综合多维度考评等级给出，评价等级如下</a:t>
            </a:r>
            <a:endParaRPr lang="zh-CN" altLang="en-US" sz="1800">
              <a:latin typeface="+mn-ea"/>
              <a:cs typeface="+mn-ea"/>
              <a:sym typeface="+mn-ea"/>
            </a:endParaRPr>
          </a:p>
          <a:p>
            <a:pPr marL="342900" indent="-342900" fontAlgn="auto">
              <a:lnSpc>
                <a:spcPct val="150000"/>
              </a:lnSpc>
              <a:buClrTx/>
              <a:buSzTx/>
              <a:buFont typeface="Wingdings" panose="05000000000000000000" charset="0"/>
              <a:buChar char="Ø"/>
            </a:pPr>
            <a:endParaRPr lang="zh-CN" altLang="en-US" sz="1800">
              <a:latin typeface="+mn-ea"/>
              <a:cs typeface="+mn-ea"/>
              <a:sym typeface="+mn-ea"/>
            </a:endParaRPr>
          </a:p>
          <a:p>
            <a:pPr marL="342900" indent="-342900" fontAlgn="auto">
              <a:lnSpc>
                <a:spcPct val="150000"/>
              </a:lnSpc>
              <a:buClrTx/>
              <a:buSzTx/>
              <a:buFont typeface="Wingdings" panose="05000000000000000000" charset="0"/>
              <a:buChar char="Ø"/>
            </a:pPr>
            <a:endParaRPr lang="zh-CN" altLang="en-US" sz="1800">
              <a:latin typeface="+mn-ea"/>
              <a:cs typeface="+mn-ea"/>
              <a:sym typeface="+mn-ea"/>
            </a:endParaRPr>
          </a:p>
          <a:p>
            <a:pPr marL="342900" indent="-342900" fontAlgn="auto">
              <a:lnSpc>
                <a:spcPct val="150000"/>
              </a:lnSpc>
              <a:buClrTx/>
              <a:buSzTx/>
              <a:buFont typeface="Wingdings" panose="05000000000000000000" charset="0"/>
              <a:buChar char="Ø"/>
            </a:pPr>
            <a:endParaRPr lang="zh-CN" altLang="en-US" sz="1800">
              <a:latin typeface="+mn-ea"/>
              <a:cs typeface="+mn-ea"/>
              <a:sym typeface="+mn-ea"/>
            </a:endParaRPr>
          </a:p>
          <a:p>
            <a:pPr marL="342900" indent="-342900" fontAlgn="auto">
              <a:lnSpc>
                <a:spcPct val="150000"/>
              </a:lnSpc>
              <a:buClrTx/>
              <a:buSzTx/>
              <a:buFont typeface="Wingdings" panose="05000000000000000000" charset="0"/>
              <a:buChar char="Ø"/>
            </a:pPr>
            <a:r>
              <a:rPr lang="zh-CN" altLang="en-US" sz="1800">
                <a:latin typeface="+mn-ea"/>
                <a:cs typeface="+mn-ea"/>
                <a:sym typeface="+mn-ea"/>
              </a:rPr>
              <a:t>部门平台建设、关注团队能力建设、关注人员培养及指导等方面，以及着眼于部门长远发展、部门综合能力提升等方面，同时研发人员关注市场并重视研发产品的质量和用户满意度等。</a:t>
            </a:r>
            <a:endParaRPr lang="zh-CN" altLang="en-US" sz="1800" b="0">
              <a:latin typeface="+mn-ea"/>
              <a:cs typeface="+mn-ea"/>
            </a:endParaRPr>
          </a:p>
          <a:p>
            <a:pPr marL="342900" indent="-342900" fontAlgn="auto">
              <a:lnSpc>
                <a:spcPct val="150000"/>
              </a:lnSpc>
              <a:buClrTx/>
              <a:buSzTx/>
              <a:buFont typeface="Wingdings" panose="05000000000000000000" charset="0"/>
              <a:buChar char="Ø"/>
            </a:pPr>
            <a:endParaRPr lang="zh-CN" altLang="en-US" sz="1800" b="0">
              <a:latin typeface="+mn-ea"/>
              <a:cs typeface="+mn-ea"/>
            </a:endParaRPr>
          </a:p>
          <a:p>
            <a:pPr marL="342900" indent="-342900" fontAlgn="auto">
              <a:lnSpc>
                <a:spcPct val="150000"/>
              </a:lnSpc>
              <a:buClrTx/>
              <a:buSzTx/>
              <a:buFont typeface="Wingdings" panose="05000000000000000000" charset="0"/>
              <a:buChar char="Ø"/>
            </a:pPr>
            <a:r>
              <a:rPr lang="zh-CN" altLang="en-US" sz="1800">
                <a:latin typeface="+mn-ea"/>
                <a:cs typeface="+mn-ea"/>
                <a:sym typeface="+mn-ea"/>
              </a:rPr>
              <a:t>针对各方向关注的特有维度，可以由方向建立某一方面具体的考评标准，作为综合等级的有力依据。</a:t>
            </a:r>
            <a:endParaRPr lang="zh-CN" altLang="en-US" sz="1800">
              <a:latin typeface="+mn-ea"/>
              <a:ea typeface="微软雅黑" panose="020B0503020204020204" pitchFamily="34" charset="-122"/>
              <a:cs typeface="+mn-ea"/>
              <a:sym typeface="+mn-ea"/>
            </a:endParaRPr>
          </a:p>
        </p:txBody>
      </p:sp>
      <p:graphicFrame>
        <p:nvGraphicFramePr>
          <p:cNvPr id="4" name="表格 3"/>
          <p:cNvGraphicFramePr/>
          <p:nvPr>
            <p:custDataLst>
              <p:tags r:id="rId1"/>
            </p:custDataLst>
          </p:nvPr>
        </p:nvGraphicFramePr>
        <p:xfrm>
          <a:off x="951865" y="1821180"/>
          <a:ext cx="9408160" cy="915035"/>
        </p:xfrm>
        <a:graphic>
          <a:graphicData uri="http://schemas.openxmlformats.org/drawingml/2006/table">
            <a:tbl>
              <a:tblPr/>
              <a:tblGrid>
                <a:gridCol w="987425"/>
                <a:gridCol w="1127125"/>
                <a:gridCol w="1086485"/>
                <a:gridCol w="1219835"/>
                <a:gridCol w="1260475"/>
                <a:gridCol w="1382395"/>
                <a:gridCol w="1287145"/>
                <a:gridCol w="1057275"/>
              </a:tblGrid>
              <a:tr h="365760">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等级</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A</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A-</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B-</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C</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D</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49275">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说明</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优秀</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优良</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良好</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达标</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基本达标</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rPr>
                        <a:t>不胜任</a:t>
                      </a:r>
                      <a:endParaRPr lang="en-US" sz="2000" b="0">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不合格</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olidFill>
                  <a:schemeClr val="tx1"/>
                </a:solidFill>
                <a:cs typeface="微软雅黑" panose="020B0503020204020204" pitchFamily="34" charset="-122"/>
                <a:sym typeface="+mn-ea"/>
              </a:rPr>
              <a:t>研发人员年度绩效考评结果</a:t>
            </a:r>
            <a:endParaRPr>
              <a:solidFill>
                <a:schemeClr val="tx1"/>
              </a:solidFill>
              <a:effectLst>
                <a:outerShdw blurRad="38100" dist="38100" dir="2700000" algn="tl">
                  <a:srgbClr val="000000">
                    <a:alpha val="43137"/>
                  </a:srgbClr>
                </a:outerShdw>
              </a:effectLst>
              <a:cs typeface="微软雅黑" panose="020B0503020204020204" pitchFamily="34" charset="-122"/>
              <a:sym typeface="+mn-ea"/>
            </a:endParaRPr>
          </a:p>
        </p:txBody>
      </p:sp>
      <p:sp>
        <p:nvSpPr>
          <p:cNvPr id="100" name="文本框 99"/>
          <p:cNvSpPr txBox="1"/>
          <p:nvPr/>
        </p:nvSpPr>
        <p:spPr>
          <a:xfrm>
            <a:off x="544830" y="1120140"/>
            <a:ext cx="11072495" cy="8079105"/>
          </a:xfrm>
          <a:prstGeom prst="rect">
            <a:avLst/>
          </a:prstGeom>
          <a:noFill/>
          <a:ln w="9525">
            <a:noFill/>
          </a:ln>
        </p:spPr>
        <p:txBody>
          <a:bodyPr>
            <a:noAutofit/>
          </a:bodyPr>
          <a:p>
            <a:pPr marL="342900" indent="-342900" fontAlgn="auto">
              <a:lnSpc>
                <a:spcPct val="150000"/>
              </a:lnSpc>
              <a:buClrTx/>
              <a:buSzTx/>
              <a:buFont typeface="Wingdings" panose="05000000000000000000" charset="0"/>
              <a:buChar char="l"/>
            </a:pP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custDataLst>
              <p:tags r:id="rId1"/>
            </p:custDataLst>
          </p:nvPr>
        </p:nvSpPr>
        <p:spPr>
          <a:xfrm>
            <a:off x="690880" y="972185"/>
            <a:ext cx="10433050" cy="1950085"/>
          </a:xfrm>
          <a:prstGeom prst="rect">
            <a:avLst/>
          </a:prstGeom>
          <a:noFill/>
          <a:ln w="9525">
            <a:noFill/>
          </a:ln>
        </p:spPr>
        <p:txBody>
          <a:bodyPr wrap="square">
            <a:noAutofit/>
          </a:bodyPr>
          <a:p>
            <a:pPr indent="0" fontAlgn="auto">
              <a:lnSpc>
                <a:spcPct val="150000"/>
              </a:lnSpc>
              <a:buClrTx/>
              <a:buSzTx/>
              <a:buFont typeface="Wingdings" panose="05000000000000000000" charset="0"/>
              <a:buNone/>
            </a:pPr>
            <a:r>
              <a:rPr lang="en-US" altLang="zh-CN" b="0">
                <a:latin typeface="+mn-ea"/>
                <a:cs typeface="+mn-ea"/>
              </a:rPr>
              <a:t>      </a:t>
            </a:r>
            <a:r>
              <a:rPr lang="zh-CN" altLang="en-US" b="0">
                <a:latin typeface="+mn-ea"/>
                <a:cs typeface="+mn-ea"/>
              </a:rPr>
              <a:t>研发人员年度个人绩效考核是</a:t>
            </a:r>
            <a:r>
              <a:rPr lang="zh-CN" altLang="en-US" b="0">
                <a:solidFill>
                  <a:srgbClr val="FF0000"/>
                </a:solidFill>
                <a:latin typeface="+mn-ea"/>
                <a:cs typeface="+mn-ea"/>
              </a:rPr>
              <a:t>对研发人员在考核周期内的研发产出及综合维度的工作成效的综合评估</a:t>
            </a:r>
            <a:r>
              <a:rPr lang="zh-CN" altLang="en-US" b="0">
                <a:latin typeface="+mn-ea"/>
                <a:cs typeface="+mn-ea"/>
              </a:rPr>
              <a:t>，参考个人参与的研发产品整体质量、产品的价值及重要性、研发紧急程度及人员投入情况等，结合研发总体工作执行情况、产品质量追溯情况，以及综合维度工作的情况、个人贡献等进行综合评判，最终得到个人年度绩效等级。</a:t>
            </a:r>
            <a:endParaRPr lang="zh-CN" altLang="en-US" b="0">
              <a:latin typeface="+mn-ea"/>
              <a:cs typeface="+mn-ea"/>
            </a:endParaRPr>
          </a:p>
        </p:txBody>
      </p:sp>
      <p:sp>
        <p:nvSpPr>
          <p:cNvPr id="5" name="文本框 4"/>
          <p:cNvSpPr txBox="1"/>
          <p:nvPr>
            <p:custDataLst>
              <p:tags r:id="rId2"/>
            </p:custDataLst>
          </p:nvPr>
        </p:nvSpPr>
        <p:spPr>
          <a:xfrm>
            <a:off x="791845" y="3870325"/>
            <a:ext cx="10838180" cy="2168525"/>
          </a:xfrm>
          <a:prstGeom prst="rect">
            <a:avLst/>
          </a:prstGeom>
          <a:noFill/>
          <a:ln w="9525">
            <a:noFill/>
          </a:ln>
        </p:spPr>
        <p:txBody>
          <a:bodyPr wrap="square">
            <a:spAutoFit/>
          </a:bodyPr>
          <a:p>
            <a:pPr marL="285750" indent="-285750" fontAlgn="auto">
              <a:lnSpc>
                <a:spcPct val="150000"/>
              </a:lnSpc>
              <a:buFont typeface="Wingdings" panose="05000000000000000000" charset="0"/>
              <a:buChar char="Ø"/>
            </a:pPr>
            <a:r>
              <a:rPr lang="zh-CN" sz="1800" b="0">
                <a:latin typeface="微软雅黑" panose="020B0503020204020204" pitchFamily="34" charset="-122"/>
                <a:ea typeface="微软雅黑" panose="020B0503020204020204" pitchFamily="34" charset="-122"/>
                <a:cs typeface="微软雅黑" panose="020B0503020204020204" pitchFamily="34" charset="-122"/>
              </a:rPr>
              <a:t>研发</a:t>
            </a:r>
            <a:r>
              <a:rPr lang="en-US" sz="1800" b="0">
                <a:latin typeface="微软雅黑" panose="020B0503020204020204" pitchFamily="34" charset="-122"/>
                <a:ea typeface="微软雅黑" panose="020B0503020204020204" pitchFamily="34" charset="-122"/>
                <a:cs typeface="微软雅黑" panose="020B0503020204020204" pitchFamily="34" charset="-122"/>
              </a:rPr>
              <a:t>HRBP</a:t>
            </a:r>
            <a:r>
              <a:rPr lang="zh-CN" sz="1800" b="0">
                <a:latin typeface="微软雅黑" panose="020B0503020204020204" pitchFamily="34" charset="-122"/>
                <a:ea typeface="微软雅黑" panose="020B0503020204020204" pitchFamily="34" charset="-122"/>
                <a:cs typeface="微软雅黑" panose="020B0503020204020204" pitchFamily="34" charset="-122"/>
              </a:rPr>
              <a:t>统一组织复议评委在同方向相似团队间对各部门人员个人绩效考核结果进行绩效复评和调整。</a:t>
            </a:r>
            <a:endParaRPr lang="zh-CN" sz="18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fontAlgn="auto">
              <a:lnSpc>
                <a:spcPct val="150000"/>
              </a:lnSpc>
              <a:buFont typeface="Wingdings" panose="05000000000000000000" charset="0"/>
              <a:buChar char="Ø"/>
            </a:pPr>
            <a:r>
              <a:rPr lang="en-US" sz="1800" b="0">
                <a:latin typeface="微软雅黑" panose="020B0503020204020204" pitchFamily="34" charset="-122"/>
                <a:ea typeface="微软雅黑" panose="020B0503020204020204" pitchFamily="34" charset="-122"/>
                <a:cs typeface="微软雅黑" panose="020B0503020204020204" pitchFamily="34" charset="-122"/>
              </a:rPr>
              <a:t> </a:t>
            </a:r>
            <a:r>
              <a:rPr lang="zh-CN" sz="1800" b="0">
                <a:latin typeface="微软雅黑" panose="020B0503020204020204" pitchFamily="34" charset="-122"/>
                <a:ea typeface="微软雅黑" panose="020B0503020204020204" pitchFamily="34" charset="-122"/>
                <a:cs typeface="微软雅黑" panose="020B0503020204020204" pitchFamily="34" charset="-122"/>
              </a:rPr>
              <a:t>对于人员较少的团队和部门（少于</a:t>
            </a:r>
            <a:r>
              <a:rPr lang="en-US" sz="1800" b="0">
                <a:latin typeface="微软雅黑" panose="020B0503020204020204" pitchFamily="34" charset="-122"/>
                <a:ea typeface="微软雅黑" panose="020B0503020204020204" pitchFamily="34" charset="-122"/>
                <a:cs typeface="微软雅黑" panose="020B0503020204020204" pitchFamily="34" charset="-122"/>
              </a:rPr>
              <a:t>5</a:t>
            </a:r>
            <a:r>
              <a:rPr lang="zh-CN" sz="1800" b="0">
                <a:latin typeface="微软雅黑" panose="020B0503020204020204" pitchFamily="34" charset="-122"/>
                <a:ea typeface="微软雅黑" panose="020B0503020204020204" pitchFamily="34" charset="-122"/>
                <a:cs typeface="微软雅黑" panose="020B0503020204020204" pitchFamily="34" charset="-122"/>
              </a:rPr>
              <a:t>人），年度个人绩效考核结果根据情况在上级组织中结合同类人员绩效情况进行年度绩效复议。</a:t>
            </a:r>
            <a:endParaRPr lang="zh-CN" sz="1800" b="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gn="l" fontAlgn="auto">
              <a:lnSpc>
                <a:spcPct val="150000"/>
              </a:lnSpc>
              <a:buClrTx/>
              <a:buSzTx/>
              <a:buFont typeface="Wingdings" panose="05000000000000000000" charset="0"/>
              <a:buChar char="Ø"/>
            </a:pPr>
            <a:r>
              <a:rPr lang="zh-CN" sz="1800" b="0">
                <a:latin typeface="微软雅黑" panose="020B0503020204020204" pitchFamily="34" charset="-122"/>
                <a:ea typeface="微软雅黑" panose="020B0503020204020204" pitchFamily="34" charset="-122"/>
                <a:cs typeface="微软雅黑" panose="020B0503020204020204" pitchFamily="34" charset="-122"/>
              </a:rPr>
              <a:t>由于不同的研发项目受技术难度、复杂度、重要性、风险等级、人员配置、评价标准等多方因素的影响，研发项目个人绩效等</a:t>
            </a:r>
            <a:r>
              <a:rPr lang="zh-CN" sz="1800" b="0">
                <a:latin typeface="微软雅黑" panose="020B0503020204020204" pitchFamily="34" charset="-122"/>
                <a:ea typeface="微软雅黑" panose="020B0503020204020204" pitchFamily="34" charset="-122"/>
                <a:cs typeface="微软雅黑" panose="020B0503020204020204" pitchFamily="34" charset="-122"/>
              </a:rPr>
              <a:t>级结果只限于此项目内团队成员间的比较。</a:t>
            </a:r>
            <a:endParaRPr lang="zh-CN" sz="1800" b="0">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6" name="表格 5"/>
          <p:cNvGraphicFramePr/>
          <p:nvPr>
            <p:custDataLst>
              <p:tags r:id="rId3"/>
            </p:custDataLst>
          </p:nvPr>
        </p:nvGraphicFramePr>
        <p:xfrm>
          <a:off x="1203325" y="2922270"/>
          <a:ext cx="9408160" cy="922655"/>
        </p:xfrm>
        <a:graphic>
          <a:graphicData uri="http://schemas.openxmlformats.org/drawingml/2006/table">
            <a:tbl>
              <a:tblPr/>
              <a:tblGrid>
                <a:gridCol w="987425"/>
                <a:gridCol w="1127125"/>
                <a:gridCol w="1086485"/>
                <a:gridCol w="1219835"/>
                <a:gridCol w="1260475"/>
                <a:gridCol w="1382395"/>
                <a:gridCol w="1287145"/>
                <a:gridCol w="1057275"/>
              </a:tblGrid>
              <a:tr h="368935">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等级</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A</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A-</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B-</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C</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D</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53720">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说明</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优秀</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优良</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良好</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达标</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宋体" panose="02010600030101010101" pitchFamily="2" charset="-122"/>
                        </a:rPr>
                        <a:t>基本达标</a:t>
                      </a:r>
                      <a:endParaRPr lang="en-US" altLang="en-US" sz="20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sym typeface="+mn-ea"/>
                        </a:rPr>
                        <a:t>不胜任</a:t>
                      </a:r>
                      <a:endParaRPr lang="en-US" altLang="en-US" sz="2000" b="0">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sym typeface="+mn-ea"/>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2000" b="0">
                          <a:latin typeface="微软雅黑" panose="020B0503020204020204" pitchFamily="34" charset="-122"/>
                          <a:ea typeface="微软雅黑" panose="020B0503020204020204" pitchFamily="34" charset="-122"/>
                          <a:cs typeface="Times New Roman" panose="02020603050405020304" pitchFamily="18" charset="0"/>
                        </a:rPr>
                        <a:t>不合格</a:t>
                      </a:r>
                      <a:endParaRPr lang="en-US" altLang="en-US" sz="2000" b="0">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olidFill>
                  <a:schemeClr val="tx1"/>
                </a:solidFill>
                <a:effectLst>
                  <a:outerShdw blurRad="38100" dist="38100" dir="2700000" algn="tl">
                    <a:srgbClr val="000000">
                      <a:alpha val="43137"/>
                    </a:srgbClr>
                  </a:outerShdw>
                </a:effectLst>
                <a:cs typeface="微软雅黑" panose="020B0503020204020204" pitchFamily="34" charset="-122"/>
                <a:sym typeface="+mn-ea"/>
              </a:rPr>
              <a:t>研发人员年度个人绩效考评结果应</a:t>
            </a:r>
            <a:r>
              <a:rPr>
                <a:solidFill>
                  <a:schemeClr val="tx1"/>
                </a:solidFill>
                <a:effectLst>
                  <a:outerShdw blurRad="38100" dist="38100" dir="2700000" algn="tl">
                    <a:srgbClr val="000000">
                      <a:alpha val="43137"/>
                    </a:srgbClr>
                  </a:outerShdw>
                </a:effectLst>
                <a:cs typeface="微软雅黑" panose="020B0503020204020204" pitchFamily="34" charset="-122"/>
                <a:sym typeface="+mn-ea"/>
              </a:rPr>
              <a:t>用</a:t>
            </a:r>
            <a:endParaRPr>
              <a:solidFill>
                <a:schemeClr val="tx1"/>
              </a:solidFill>
              <a:effectLst>
                <a:outerShdw blurRad="38100" dist="38100" dir="2700000" algn="tl">
                  <a:srgbClr val="000000">
                    <a:alpha val="43137"/>
                  </a:srgbClr>
                </a:outerShdw>
              </a:effectLst>
              <a:cs typeface="微软雅黑" panose="020B0503020204020204" pitchFamily="34" charset="-122"/>
              <a:sym typeface="+mn-ea"/>
            </a:endParaRPr>
          </a:p>
        </p:txBody>
      </p:sp>
      <p:sp>
        <p:nvSpPr>
          <p:cNvPr id="100" name="文本框 99"/>
          <p:cNvSpPr txBox="1"/>
          <p:nvPr/>
        </p:nvSpPr>
        <p:spPr>
          <a:xfrm>
            <a:off x="643255" y="2261870"/>
            <a:ext cx="11375390" cy="4269105"/>
          </a:xfrm>
          <a:prstGeom prst="rect">
            <a:avLst/>
          </a:prstGeom>
          <a:noFill/>
          <a:ln w="9525">
            <a:noFill/>
          </a:ln>
        </p:spPr>
        <p:txBody>
          <a:bodyPr>
            <a:noAutofit/>
          </a:bodyPr>
          <a:p>
            <a:pPr marL="457200" indent="-457200" fontAlgn="auto">
              <a:lnSpc>
                <a:spcPct val="150000"/>
              </a:lnSpc>
              <a:buFont typeface="+mj-lt"/>
              <a:buAutoNum type="arabicPeriod"/>
            </a:pPr>
            <a:r>
              <a:rPr lang="zh-CN" sz="1800">
                <a:latin typeface="微软雅黑" panose="020B0503020204020204" pitchFamily="34" charset="-122"/>
                <a:ea typeface="微软雅黑" panose="020B0503020204020204" pitchFamily="34" charset="-122"/>
                <a:cs typeface="微软雅黑" panose="020B0503020204020204" pitchFamily="34" charset="-122"/>
              </a:rPr>
              <a:t>考核结果</a:t>
            </a:r>
            <a:r>
              <a:rPr lang="en-US" sz="1800" b="1">
                <a:latin typeface="微软雅黑" panose="020B0503020204020204" pitchFamily="34" charset="-122"/>
                <a:ea typeface="微软雅黑" panose="020B0503020204020204" pitchFamily="34" charset="-122"/>
                <a:cs typeface="微软雅黑" panose="020B0503020204020204" pitchFamily="34" charset="-122"/>
              </a:rPr>
              <a:t>A</a:t>
            </a:r>
            <a:r>
              <a:rPr lang="zh-CN" sz="1800" b="1">
                <a:latin typeface="微软雅黑" panose="020B0503020204020204" pitchFamily="34" charset="-122"/>
                <a:ea typeface="微软雅黑" panose="020B0503020204020204" pitchFamily="34" charset="-122"/>
                <a:cs typeface="微软雅黑" panose="020B0503020204020204" pitchFamily="34" charset="-122"/>
              </a:rPr>
              <a:t>和</a:t>
            </a:r>
            <a:r>
              <a:rPr lang="en-US" sz="1800" b="1">
                <a:latin typeface="微软雅黑" panose="020B0503020204020204" pitchFamily="34" charset="-122"/>
                <a:ea typeface="微软雅黑" panose="020B0503020204020204" pitchFamily="34" charset="-122"/>
                <a:cs typeface="微软雅黑" panose="020B0503020204020204" pitchFamily="34" charset="-122"/>
              </a:rPr>
              <a:t>A-</a:t>
            </a:r>
            <a:r>
              <a:rPr lang="zh-CN" sz="1800">
                <a:latin typeface="微软雅黑" panose="020B0503020204020204" pitchFamily="34" charset="-122"/>
                <a:ea typeface="微软雅黑" panose="020B0503020204020204" pitchFamily="34" charset="-122"/>
                <a:cs typeface="微软雅黑" panose="020B0503020204020204" pitchFamily="34" charset="-122"/>
              </a:rPr>
              <a:t>，基本符合高一级任职资格认证条件的可破格推荐参加任职资格认证，认证通过职级提升。特别优秀者，部门可推荐进入公司级后备人才库；根据个人能力成长和岗位匹配度进行调薪；</a:t>
            </a:r>
            <a:endParaRPr lang="zh-CN" sz="180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fontAlgn="auto">
              <a:lnSpc>
                <a:spcPct val="150000"/>
              </a:lnSpc>
              <a:buFont typeface="+mj-lt"/>
              <a:buAutoNum type="arabicPeriod"/>
            </a:pPr>
            <a:r>
              <a:rPr lang="zh-CN" sz="1800">
                <a:latin typeface="微软雅黑" panose="020B0503020204020204" pitchFamily="34" charset="-122"/>
                <a:ea typeface="微软雅黑" panose="020B0503020204020204" pitchFamily="34" charset="-122"/>
                <a:cs typeface="微软雅黑" panose="020B0503020204020204" pitchFamily="34" charset="-122"/>
              </a:rPr>
              <a:t>考核结果为</a:t>
            </a:r>
            <a:r>
              <a:rPr lang="en-US" sz="1800" b="1">
                <a:latin typeface="微软雅黑" panose="020B0503020204020204" pitchFamily="34" charset="-122"/>
                <a:ea typeface="微软雅黑" panose="020B0503020204020204" pitchFamily="34" charset="-122"/>
                <a:cs typeface="微软雅黑" panose="020B0503020204020204" pitchFamily="34" charset="-122"/>
              </a:rPr>
              <a:t>B+</a:t>
            </a:r>
            <a:r>
              <a:rPr lang="zh-CN" sz="1800" b="1">
                <a:latin typeface="微软雅黑" panose="020B0503020204020204" pitchFamily="34" charset="-122"/>
                <a:ea typeface="微软雅黑" panose="020B0503020204020204" pitchFamily="34" charset="-122"/>
                <a:cs typeface="微软雅黑" panose="020B0503020204020204" pitchFamily="34" charset="-122"/>
              </a:rPr>
              <a:t>、</a:t>
            </a:r>
            <a:r>
              <a:rPr lang="en-US" sz="1800" b="1">
                <a:latin typeface="微软雅黑" panose="020B0503020204020204" pitchFamily="34" charset="-122"/>
                <a:ea typeface="微软雅黑" panose="020B0503020204020204" pitchFamily="34" charset="-122"/>
                <a:cs typeface="微软雅黑" panose="020B0503020204020204" pitchFamily="34" charset="-122"/>
              </a:rPr>
              <a:t>B</a:t>
            </a:r>
            <a:r>
              <a:rPr lang="zh-CN" sz="1800">
                <a:latin typeface="微软雅黑" panose="020B0503020204020204" pitchFamily="34" charset="-122"/>
                <a:ea typeface="微软雅黑" panose="020B0503020204020204" pitchFamily="34" charset="-122"/>
                <a:cs typeface="微软雅黑" panose="020B0503020204020204" pitchFamily="34" charset="-122"/>
              </a:rPr>
              <a:t>，符合高一级任职资格认证条件的可以推荐参加任职资格认证；根据个人能力成长和岗位匹配度可以进行调薪；</a:t>
            </a:r>
            <a:endParaRPr lang="zh-CN" sz="180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fontAlgn="auto">
              <a:lnSpc>
                <a:spcPct val="150000"/>
              </a:lnSpc>
              <a:buFont typeface="+mj-lt"/>
              <a:buAutoNum type="arabicPeriod"/>
            </a:pPr>
            <a:r>
              <a:rPr lang="zh-CN" sz="1800">
                <a:latin typeface="微软雅黑" panose="020B0503020204020204" pitchFamily="34" charset="-122"/>
                <a:ea typeface="微软雅黑" panose="020B0503020204020204" pitchFamily="34" charset="-122"/>
                <a:cs typeface="微软雅黑" panose="020B0503020204020204" pitchFamily="34" charset="-122"/>
              </a:rPr>
              <a:t>考核为</a:t>
            </a:r>
            <a:r>
              <a:rPr 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a:t>
            </a:r>
            <a:r>
              <a:rPr lang="zh-CN" sz="1800">
                <a:latin typeface="微软雅黑" panose="020B0503020204020204" pitchFamily="34" charset="-122"/>
                <a:ea typeface="微软雅黑" panose="020B0503020204020204" pitchFamily="34" charset="-122"/>
                <a:cs typeface="微软雅黑" panose="020B0503020204020204" pitchFamily="34" charset="-122"/>
              </a:rPr>
              <a:t>，</a:t>
            </a:r>
            <a:r>
              <a:rPr sz="1800">
                <a:latin typeface="微软雅黑" panose="020B0503020204020204" pitchFamily="34" charset="-122"/>
                <a:ea typeface="微软雅黑" panose="020B0503020204020204" pitchFamily="34" charset="-122"/>
                <a:cs typeface="微软雅黑" panose="020B0503020204020204" pitchFamily="34" charset="-122"/>
              </a:rPr>
              <a:t>工作表现不达预期，与往年相比没有改善或出现下滑。应制定并严格执行改进计划，并可视情况采取原岗位培训帮扶调岗、降级或降薪等措施。</a:t>
            </a:r>
            <a:r>
              <a:rPr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连续两次绩效为C，原则上员工应劝退</a:t>
            </a:r>
            <a:r>
              <a:rPr sz="1800">
                <a:latin typeface="微软雅黑" panose="020B0503020204020204" pitchFamily="34" charset="-122"/>
                <a:ea typeface="微软雅黑" panose="020B0503020204020204" pitchFamily="34" charset="-122"/>
                <a:cs typeface="微软雅黑" panose="020B0503020204020204" pitchFamily="34" charset="-122"/>
              </a:rPr>
              <a:t>，</a:t>
            </a:r>
            <a:r>
              <a:rPr sz="1800" b="1">
                <a:latin typeface="微软雅黑" panose="020B0503020204020204" pitchFamily="34" charset="-122"/>
                <a:ea typeface="微软雅黑" panose="020B0503020204020204" pitchFamily="34" charset="-122"/>
                <a:cs typeface="微软雅黑" panose="020B0503020204020204" pitchFamily="34" charset="-122"/>
              </a:rPr>
              <a:t>管理人员应予以降职或免职</a:t>
            </a:r>
            <a:r>
              <a:rPr lang="en-US" sz="1800" b="1">
                <a:latin typeface="微软雅黑" panose="020B0503020204020204" pitchFamily="34" charset="-122"/>
                <a:ea typeface="微软雅黑" panose="020B0503020204020204" pitchFamily="34" charset="-122"/>
                <a:cs typeface="微软雅黑" panose="020B0503020204020204" pitchFamily="34" charset="-122"/>
              </a:rPr>
              <a:t>;</a:t>
            </a:r>
            <a:endParaRPr sz="1800" b="1">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fontAlgn="auto">
              <a:lnSpc>
                <a:spcPct val="150000"/>
              </a:lnSpc>
              <a:buFont typeface="+mj-lt"/>
              <a:buAutoNum type="arabicPeriod"/>
            </a:pPr>
            <a:r>
              <a:rPr lang="zh-CN" sz="1800">
                <a:latin typeface="微软雅黑" panose="020B0503020204020204" pitchFamily="34" charset="-122"/>
                <a:ea typeface="微软雅黑" panose="020B0503020204020204" pitchFamily="34" charset="-122"/>
                <a:cs typeface="微软雅黑" panose="020B0503020204020204" pitchFamily="34" charset="-122"/>
              </a:rPr>
              <a:t>考评为</a:t>
            </a:r>
            <a:r>
              <a:rPr lang="en-US" sz="18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D</a:t>
            </a:r>
            <a:r>
              <a:rPr lang="zh-CN" sz="1800">
                <a:latin typeface="微软雅黑" panose="020B0503020204020204" pitchFamily="34" charset="-122"/>
                <a:ea typeface="微软雅黑" panose="020B0503020204020204" pitchFamily="34" charset="-122"/>
                <a:cs typeface="微软雅黑" panose="020B0503020204020204" pitchFamily="34" charset="-122"/>
              </a:rPr>
              <a:t>，已完全无法胜任。</a:t>
            </a:r>
            <a:r>
              <a:rPr lang="zh-CN" sz="18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试用期员工应终止试用，正式员工应子劝退</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t>
            </a:r>
            <a:r>
              <a:rPr sz="1800" b="1">
                <a:latin typeface="微软雅黑" panose="020B0503020204020204" pitchFamily="34" charset="-122"/>
                <a:ea typeface="微软雅黑" panose="020B0503020204020204" pitchFamily="34" charset="-122"/>
                <a:cs typeface="微软雅黑" panose="020B0503020204020204" pitchFamily="34" charset="-122"/>
                <a:sym typeface="+mn-ea"/>
              </a:rPr>
              <a:t>管理人员应予以降职或免职</a:t>
            </a:r>
            <a:r>
              <a:rPr lang="en-US" sz="1800" b="1">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indent="-457200" fontAlgn="auto">
              <a:lnSpc>
                <a:spcPct val="150000"/>
              </a:lnSpc>
              <a:buFont typeface="+mj-lt"/>
              <a:buAutoNum type="arabicPeriod"/>
            </a:pPr>
            <a:r>
              <a:rPr lang="zh-CN" sz="1800">
                <a:latin typeface="微软雅黑" panose="020B0503020204020204" pitchFamily="34" charset="-122"/>
                <a:ea typeface="微软雅黑" panose="020B0503020204020204" pitchFamily="34" charset="-122"/>
                <a:cs typeface="微软雅黑" panose="020B0503020204020204" pitchFamily="34" charset="-122"/>
              </a:rPr>
              <a:t>公司根据公司经营状况以及社会薪酬水平做出的统一人资调整，可以不受上述要求限制。</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510" y="899795"/>
            <a:ext cx="11375390" cy="1337945"/>
          </a:xfrm>
          <a:prstGeom prst="rect">
            <a:avLst/>
          </a:prstGeom>
          <a:noFill/>
        </p:spPr>
        <p:txBody>
          <a:bodyPr wrap="square" rtlCol="0" anchor="t">
            <a:spAutoFit/>
          </a:bodyPr>
          <a:p>
            <a:pPr marL="342900" indent="-342900" fontAlgn="auto">
              <a:lnSpc>
                <a:spcPct val="150000"/>
              </a:lnSpc>
              <a:buFont typeface="Wingdings" panose="05000000000000000000" charset="0"/>
              <a:buChar char="Ø"/>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年度考评结果应用于奖金分配、工资调整、任职资格评定、人才储备和选拔、评优等。</a:t>
            </a:r>
            <a:endParaRPr lang="zh-CN" sz="1800" b="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fontAlgn="auto">
              <a:lnSpc>
                <a:spcPct val="150000"/>
              </a:lnSpc>
              <a:buFont typeface="Wingdings" panose="05000000000000000000" charset="0"/>
              <a:buChar char="Ø"/>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研发人员年度个人绩效考核结果体现了研发人员当期工作对组织目标的贡献，是人员职级变更、岗位变更以及个人薪资待遇变更的参考因素，年度个人绩效考核结果对下年度该员工的主要影响：</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lang="zh-CN" altLang="en-US">
                <a:solidFill>
                  <a:schemeClr val="tx1"/>
                </a:solidFill>
              </a:rPr>
              <a:t>研发人员奖金构成</a:t>
            </a:r>
            <a:endParaRPr lang="zh-CN" altLang="en-US" dirty="0">
              <a:solidFill>
                <a:schemeClr val="tx1"/>
              </a:solidFill>
            </a:endParaRPr>
          </a:p>
        </p:txBody>
      </p:sp>
      <p:sp>
        <p:nvSpPr>
          <p:cNvPr id="83" name="Rectangle 28"/>
          <p:cNvSpPr/>
          <p:nvPr/>
        </p:nvSpPr>
        <p:spPr>
          <a:xfrm>
            <a:off x="733425" y="3893185"/>
            <a:ext cx="10725150" cy="1751965"/>
          </a:xfrm>
          <a:prstGeom prst="rect">
            <a:avLst/>
          </a:prstGeom>
        </p:spPr>
        <p:txBody>
          <a:bodyPr wrap="square" lIns="91428" tIns="45714" rIns="91428" bIns="45714">
            <a:spAutoFit/>
          </a:bodyPr>
          <a:lstStyle/>
          <a:p>
            <a:pPr>
              <a:lnSpc>
                <a:spcPct val="150000"/>
              </a:lnSpc>
            </a:pPr>
            <a:r>
              <a:rPr lang="zh-CN" altLang="en-US" sz="1800" b="1" smtClean="0">
                <a:solidFill>
                  <a:srgbClr val="FF0000"/>
                </a:solidFill>
                <a:latin typeface="+mn-ea"/>
                <a:cs typeface="+mn-ea"/>
                <a:sym typeface="+mn-lt"/>
              </a:rPr>
              <a:t>★</a:t>
            </a:r>
            <a:r>
              <a:rPr lang="zh-CN" altLang="en-US" sz="1800" b="1" smtClean="0">
                <a:latin typeface="+mn-ea"/>
                <a:cs typeface="+mn-ea"/>
                <a:sym typeface="+mn-lt"/>
              </a:rPr>
              <a:t>适用范围：</a:t>
            </a:r>
            <a:r>
              <a:rPr lang="zh-CN" altLang="en-US" sz="1800">
                <a:latin typeface="+mn-ea"/>
                <a:cs typeface="+mn-ea"/>
                <a:sym typeface="+mn-lt"/>
              </a:rPr>
              <a:t>公司所有研发部门</a:t>
            </a:r>
            <a:r>
              <a:rPr lang="zh-CN" altLang="en-US" sz="1800">
                <a:effectLst>
                  <a:outerShdw blurRad="38100" dist="38100" dir="2700000" algn="tl">
                    <a:srgbClr val="000000">
                      <a:alpha val="43137"/>
                    </a:srgbClr>
                  </a:outerShdw>
                </a:effectLst>
                <a:latin typeface="+mn-ea"/>
                <a:cs typeface="+mn-ea"/>
                <a:sym typeface="+mn-lt"/>
              </a:rPr>
              <a:t>主管级及以下</a:t>
            </a:r>
            <a:r>
              <a:rPr lang="zh-CN" altLang="en-US" sz="1800">
                <a:latin typeface="+mn-ea"/>
                <a:cs typeface="+mn-ea"/>
                <a:sym typeface="+mn-lt"/>
              </a:rPr>
              <a:t>（</a:t>
            </a:r>
            <a:r>
              <a:rPr lang="en-US" altLang="zh-CN" sz="1800">
                <a:latin typeface="+mn-ea"/>
                <a:cs typeface="+mn-ea"/>
                <a:sym typeface="+mn-lt"/>
              </a:rPr>
              <a:t>6X</a:t>
            </a:r>
            <a:r>
              <a:rPr lang="zh-CN" altLang="en-US" sz="1800">
                <a:latin typeface="+mn-ea"/>
                <a:cs typeface="+mn-ea"/>
                <a:sym typeface="+mn-lt"/>
              </a:rPr>
              <a:t>级及以下）人员。</a:t>
            </a:r>
            <a:endParaRPr lang="en-US" altLang="zh-CN" sz="1800" smtClean="0">
              <a:latin typeface="+mn-ea"/>
              <a:cs typeface="+mn-ea"/>
              <a:sym typeface="+mn-lt"/>
            </a:endParaRPr>
          </a:p>
          <a:p>
            <a:pPr marL="342900" indent="-342900">
              <a:lnSpc>
                <a:spcPct val="150000"/>
              </a:lnSpc>
              <a:buFont typeface="Wingdings" panose="05000000000000000000" pitchFamily="2" charset="2"/>
              <a:buChar char="p"/>
            </a:pPr>
            <a:r>
              <a:rPr sz="1800">
                <a:latin typeface="+mn-ea"/>
                <a:cs typeface="+mn-ea"/>
                <a:sym typeface="+mn-lt"/>
              </a:rPr>
              <a:t>偶发性奖金：指收入所得是偶然发生的，不是经常的、必然的结果。如知识产权奖励、关键事件奖励、一般事件奖励、封闭开发奖金等，具体额度一事一议，以公司审批为准，偶发性收入随工资发放。</a:t>
            </a:r>
            <a:r>
              <a:rPr lang="zh-CN" sz="1800">
                <a:latin typeface="+mn-ea"/>
                <a:cs typeface="+mn-ea"/>
                <a:sym typeface="+mn-lt"/>
              </a:rPr>
              <a:t>。</a:t>
            </a:r>
            <a:endParaRPr lang="zh-CN" altLang="en-US" sz="1800" smtClean="0">
              <a:latin typeface="+mn-ea"/>
              <a:cs typeface="+mn-ea"/>
              <a:sym typeface="+mn-lt"/>
            </a:endParaRPr>
          </a:p>
          <a:p>
            <a:pPr indent="0">
              <a:lnSpc>
                <a:spcPct val="150000"/>
              </a:lnSpc>
              <a:buFont typeface="Wingdings" panose="05000000000000000000" charset="0"/>
              <a:buNone/>
            </a:pPr>
            <a:r>
              <a:rPr lang="zh-CN" altLang="en-US" sz="1800" b="1" smtClean="0">
                <a:latin typeface="+mn-ea"/>
                <a:cs typeface="+mn-ea"/>
                <a:sym typeface="+mn-lt"/>
              </a:rPr>
              <a:t>注：</a:t>
            </a:r>
            <a:r>
              <a:rPr lang="zh-CN" altLang="en-US" sz="1800" smtClean="0">
                <a:latin typeface="+mn-ea"/>
                <a:cs typeface="+mn-ea"/>
                <a:sym typeface="+mn-lt"/>
              </a:rPr>
              <a:t>半</a:t>
            </a:r>
            <a:r>
              <a:rPr lang="en-US" altLang="zh-CN" sz="1800" smtClean="0">
                <a:latin typeface="+mn-ea"/>
                <a:cs typeface="+mn-ea"/>
                <a:sym typeface="+mn-lt"/>
              </a:rPr>
              <a:t>/</a:t>
            </a:r>
            <a:r>
              <a:rPr lang="zh-CN" altLang="en-US" sz="1800" smtClean="0">
                <a:latin typeface="+mn-ea"/>
                <a:cs typeface="+mn-ea"/>
                <a:sym typeface="+mn-lt"/>
              </a:rPr>
              <a:t>全封闭式开发，</a:t>
            </a:r>
            <a:r>
              <a:rPr sz="1800" smtClean="0">
                <a:solidFill>
                  <a:srgbClr val="FF0000"/>
                </a:solidFill>
                <a:latin typeface="+mn-ea"/>
                <a:cs typeface="+mn-ea"/>
                <a:sym typeface="+mn-lt"/>
              </a:rPr>
              <a:t>职级7X及8X人员参与封闭开发的，可以根据封闭开发成果发放封闭开发奖金</a:t>
            </a:r>
            <a:r>
              <a:rPr lang="zh-CN" altLang="en-US" sz="1800" smtClean="0">
                <a:solidFill>
                  <a:srgbClr val="FF0000"/>
                </a:solidFill>
                <a:latin typeface="+mn-ea"/>
                <a:cs typeface="+mn-ea"/>
                <a:sym typeface="+mn-lt"/>
              </a:rPr>
              <a:t>。</a:t>
            </a:r>
            <a:endParaRPr lang="zh-CN" altLang="en-US" sz="1800" smtClean="0">
              <a:solidFill>
                <a:srgbClr val="FF0000"/>
              </a:solidFill>
              <a:latin typeface="+mn-ea"/>
              <a:cs typeface="+mn-ea"/>
              <a:sym typeface="+mn-lt"/>
            </a:endParaRPr>
          </a:p>
        </p:txBody>
      </p:sp>
      <p:sp>
        <p:nvSpPr>
          <p:cNvPr id="2" name="灯片编号占位符 1"/>
          <p:cNvSpPr>
            <a:spLocks noGrp="1"/>
          </p:cNvSpPr>
          <p:nvPr>
            <p:ph type="sldNum" sz="quarter" idx="4"/>
          </p:nvPr>
        </p:nvSpPr>
        <p:spPr/>
        <p:txBody>
          <a:bodyPr/>
          <a:lstStyle/>
          <a:p>
            <a:pPr algn="ctr"/>
            <a:fld id="{3AD9866C-B8E1-4B55-A986-B90A7612EBA6}" type="slidenum">
              <a:rPr lang="en-US" altLang="zh-CN" smtClean="0"/>
            </a:fld>
            <a:endParaRPr lang="en-US" dirty="0"/>
          </a:p>
        </p:txBody>
      </p:sp>
      <p:graphicFrame>
        <p:nvGraphicFramePr>
          <p:cNvPr id="3" name="图示 2"/>
          <p:cNvGraphicFramePr/>
          <p:nvPr/>
        </p:nvGraphicFramePr>
        <p:xfrm>
          <a:off x="1020445" y="1068070"/>
          <a:ext cx="8128000" cy="226885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98" tIns="35999" rIns="71998" bIns="35999" numCol="1" anchor="ctr" anchorCtr="0" compatLnSpc="1">
            <a:normAutofit/>
          </a:bodyPr>
          <a:lstStyle/>
          <a:p>
            <a:r>
              <a:rPr>
                <a:solidFill>
                  <a:schemeClr val="tx1"/>
                </a:solidFill>
                <a:sym typeface="+mn-lt"/>
              </a:rPr>
              <a:t>研发人员绩效奖金</a:t>
            </a:r>
            <a:endParaRPr lang="en-US" altLang="zh-CN" dirty="0">
              <a:solidFill>
                <a:schemeClr val="tx1"/>
              </a:solidFill>
              <a:sym typeface="+mn-lt"/>
            </a:endParaRPr>
          </a:p>
        </p:txBody>
      </p:sp>
      <p:sp>
        <p:nvSpPr>
          <p:cNvPr id="21" name="Rectangle 28"/>
          <p:cNvSpPr/>
          <p:nvPr/>
        </p:nvSpPr>
        <p:spPr>
          <a:xfrm>
            <a:off x="556614" y="999959"/>
            <a:ext cx="10659911" cy="967105"/>
          </a:xfrm>
          <a:prstGeom prst="rect">
            <a:avLst/>
          </a:prstGeom>
        </p:spPr>
        <p:txBody>
          <a:bodyPr wrap="square" lIns="91428" tIns="45714" rIns="91428" bIns="45714">
            <a:spAutoFit/>
          </a:bodyPr>
          <a:lstStyle/>
          <a:p>
            <a:pPr marL="342900" indent="-342900">
              <a:lnSpc>
                <a:spcPct val="150000"/>
              </a:lnSpc>
              <a:buFont typeface="Wingdings" panose="05000000000000000000" pitchFamily="2" charset="2"/>
              <a:buChar char="n"/>
            </a:pPr>
            <a:r>
              <a:rPr lang="zh-CN" altLang="en-US" b="1" smtClean="0">
                <a:latin typeface="+mn-ea"/>
                <a:cs typeface="+mn-ea"/>
                <a:sym typeface="+mn-lt"/>
              </a:rPr>
              <a:t>研发人员绩效奖金</a:t>
            </a:r>
            <a:endParaRPr lang="en-US" altLang="zh-CN" b="1" smtClean="0">
              <a:latin typeface="+mn-ea"/>
              <a:cs typeface="+mn-ea"/>
              <a:sym typeface="+mn-lt"/>
            </a:endParaRPr>
          </a:p>
          <a:p>
            <a:pPr>
              <a:lnSpc>
                <a:spcPct val="150000"/>
              </a:lnSpc>
            </a:pPr>
            <a:endParaRPr lang="zh-CN" altLang="en-US" sz="1800" i="1" smtClean="0">
              <a:solidFill>
                <a:schemeClr val="bg1">
                  <a:lumMod val="65000"/>
                </a:schemeClr>
              </a:solidFill>
              <a:latin typeface="+mn-ea"/>
              <a:cs typeface="+mn-ea"/>
              <a:sym typeface="+mn-lt"/>
            </a:endParaRPr>
          </a:p>
        </p:txBody>
      </p:sp>
      <p:sp>
        <p:nvSpPr>
          <p:cNvPr id="3" name="灯片编号占位符 2"/>
          <p:cNvSpPr>
            <a:spLocks noGrp="1"/>
          </p:cNvSpPr>
          <p:nvPr>
            <p:ph type="sldNum" sz="quarter" idx="4"/>
          </p:nvPr>
        </p:nvSpPr>
        <p:spPr/>
        <p:txBody>
          <a:bodyPr/>
          <a:lstStyle/>
          <a:p>
            <a:pPr algn="ctr"/>
            <a:fld id="{3AD9866C-B8E1-4B55-A986-B90A7612EBA6}" type="slidenum">
              <a:rPr lang="en-US" altLang="zh-CN" smtClean="0"/>
            </a:fld>
            <a:endParaRPr lang="en-US" dirty="0"/>
          </a:p>
        </p:txBody>
      </p:sp>
      <p:sp>
        <p:nvSpPr>
          <p:cNvPr id="100" name="文本框 99"/>
          <p:cNvSpPr txBox="1"/>
          <p:nvPr/>
        </p:nvSpPr>
        <p:spPr>
          <a:xfrm>
            <a:off x="643255" y="1721485"/>
            <a:ext cx="10573385" cy="4200525"/>
          </a:xfrm>
          <a:prstGeom prst="rect">
            <a:avLst/>
          </a:prstGeom>
          <a:noFill/>
          <a:ln w="9525">
            <a:noFill/>
          </a:ln>
        </p:spPr>
        <p:txBody>
          <a:bodyPr wrap="square">
            <a:noAutofit/>
          </a:bodyPr>
          <a:p>
            <a:pPr marL="285750" indent="-285750">
              <a:buFont typeface="Wingdings" panose="05000000000000000000" charset="0"/>
              <a:buChar char="Ø"/>
            </a:pPr>
            <a:r>
              <a:rPr lang="zh-CN" altLang="en-US" b="0" smtClean="0">
                <a:latin typeface="+mn-ea"/>
                <a:cs typeface="+mn-ea"/>
              </a:rPr>
              <a:t>研发绩效奖金=（年度研发项目奖金+年度综合事务奖金）*年度个人绩效系数+年度研发红黑事件奖惩值；</a:t>
            </a:r>
            <a:endParaRPr lang="zh-CN" altLang="en-US" b="0" smtClean="0">
              <a:latin typeface="+mn-ea"/>
              <a:cs typeface="+mn-ea"/>
            </a:endParaRPr>
          </a:p>
          <a:p>
            <a:pPr marL="285750" indent="-285750">
              <a:buFont typeface="Wingdings" panose="05000000000000000000" charset="0"/>
              <a:buChar char="Ø"/>
            </a:pPr>
            <a:r>
              <a:rPr lang="zh-CN" altLang="en-US" b="1" smtClean="0">
                <a:latin typeface="+mn-ea"/>
                <a:cs typeface="+mn-ea"/>
              </a:rPr>
              <a:t>年度个人绩效系数</a:t>
            </a:r>
            <a:r>
              <a:rPr lang="zh-CN" altLang="en-US" b="0" smtClean="0">
                <a:latin typeface="+mn-ea"/>
                <a:cs typeface="+mn-ea"/>
              </a:rPr>
              <a:t>：年度个人绩效等级对应的绩效系数如下，具体的绩效评价标准说明参照《绩效管理制度》；</a:t>
            </a:r>
            <a:endParaRPr lang="zh-CN" altLang="en-US" b="0" smtClean="0">
              <a:latin typeface="+mn-ea"/>
              <a:cs typeface="+mn-ea"/>
            </a:endParaRPr>
          </a:p>
          <a:p>
            <a:pPr marL="285750" indent="-285750">
              <a:buFont typeface="Wingdings" panose="05000000000000000000" charset="0"/>
              <a:buChar char="Ø"/>
            </a:pPr>
            <a:endParaRPr lang="zh-CN" altLang="en-US" b="0" smtClean="0">
              <a:latin typeface="+mn-ea"/>
              <a:cs typeface="+mn-ea"/>
            </a:endParaRPr>
          </a:p>
          <a:p>
            <a:pPr marL="285750" indent="-285750">
              <a:buFont typeface="Wingdings" panose="05000000000000000000" charset="0"/>
              <a:buChar char="Ø"/>
            </a:pPr>
            <a:endParaRPr lang="zh-CN" altLang="en-US" b="0" smtClean="0">
              <a:latin typeface="+mn-ea"/>
              <a:cs typeface="+mn-ea"/>
            </a:endParaRPr>
          </a:p>
          <a:p>
            <a:pPr marL="285750" indent="-285750">
              <a:buFont typeface="Wingdings" panose="05000000000000000000" charset="0"/>
              <a:buChar char="Ø"/>
            </a:pPr>
            <a:endParaRPr lang="zh-CN" altLang="en-US" b="0" smtClean="0">
              <a:latin typeface="+mn-ea"/>
              <a:cs typeface="+mn-ea"/>
            </a:endParaRPr>
          </a:p>
          <a:p>
            <a:pPr marL="285750" indent="-285750">
              <a:buFont typeface="Wingdings" panose="05000000000000000000" charset="0"/>
              <a:buChar char="Ø"/>
            </a:pPr>
            <a:endParaRPr lang="zh-CN" altLang="en-US" b="0" smtClean="0">
              <a:latin typeface="+mn-ea"/>
              <a:cs typeface="+mn-ea"/>
            </a:endParaRPr>
          </a:p>
          <a:p>
            <a:pPr marL="285750" indent="-285750">
              <a:buFont typeface="Wingdings" panose="05000000000000000000" charset="0"/>
              <a:buChar char="Ø"/>
            </a:pPr>
            <a:endParaRPr lang="zh-CN" altLang="en-US" b="0" smtClean="0">
              <a:latin typeface="+mn-ea"/>
              <a:cs typeface="+mn-ea"/>
            </a:endParaRPr>
          </a:p>
          <a:p>
            <a:pPr marL="285750" indent="-285750">
              <a:buFont typeface="Wingdings" panose="05000000000000000000" charset="0"/>
              <a:buChar char="Ø"/>
            </a:pPr>
            <a:r>
              <a:rPr lang="zh-CN" altLang="en-US" b="1" smtClean="0">
                <a:latin typeface="+mn-ea"/>
                <a:cs typeface="+mn-ea"/>
                <a:sym typeface="+mn-ea"/>
              </a:rPr>
              <a:t>研发红黑事件奖惩原则</a:t>
            </a:r>
            <a:r>
              <a:rPr lang="zh-CN" altLang="en-US" smtClean="0">
                <a:latin typeface="+mn-ea"/>
                <a:cs typeface="+mn-ea"/>
                <a:sym typeface="+mn-ea"/>
              </a:rPr>
              <a:t>：对研发人员的行为或结果进行正向激励（红事件）和负向警告（黑事件）。由各研发部门根据需要制定红黑事件奖惩规则，根据需要进行评价，红黑事件评价结果在年度绩效评价中进行适当的奖惩；</a:t>
            </a:r>
            <a:endParaRPr lang="zh-CN" altLang="en-US" smtClean="0">
              <a:latin typeface="+mn-ea"/>
              <a:cs typeface="+mn-ea"/>
              <a:sym typeface="+mn-ea"/>
            </a:endParaRPr>
          </a:p>
          <a:p>
            <a:pPr marL="285750" indent="-285750">
              <a:buFont typeface="Wingdings" panose="05000000000000000000" charset="0"/>
              <a:buChar char="Ø"/>
            </a:pPr>
            <a:endParaRPr lang="zh-CN" altLang="en-US" smtClean="0">
              <a:latin typeface="+mn-ea"/>
              <a:cs typeface="+mn-ea"/>
              <a:sym typeface="+mn-ea"/>
            </a:endParaRPr>
          </a:p>
          <a:p>
            <a:pPr marL="285750" indent="-285750">
              <a:buFont typeface="Wingdings" panose="05000000000000000000" charset="0"/>
              <a:buChar char="Ø"/>
            </a:pPr>
            <a:r>
              <a:rPr lang="zh-CN" altLang="en-US" b="1" smtClean="0">
                <a:latin typeface="+mn-ea"/>
                <a:cs typeface="+mn-ea"/>
                <a:sym typeface="+mn-ea"/>
              </a:rPr>
              <a:t>部门基准奖金包</a:t>
            </a:r>
            <a:r>
              <a:rPr lang="zh-CN" altLang="en-US" smtClean="0">
                <a:latin typeface="+mn-ea"/>
                <a:cs typeface="+mn-ea"/>
                <a:sym typeface="+mn-ea"/>
              </a:rPr>
              <a:t>：根据年度中心组织绩效和部门组织绩效考核结果确定（原则上部门申报额度不应超过部门基准奖金包）。</a:t>
            </a:r>
            <a:endParaRPr lang="zh-CN" altLang="en-US" smtClean="0">
              <a:latin typeface="+mn-ea"/>
              <a:cs typeface="+mn-ea"/>
            </a:endParaRPr>
          </a:p>
          <a:p>
            <a:pPr indent="266700"/>
            <a:endParaRPr lang="zh-CN" altLang="en-US" b="0" smtClean="0">
              <a:latin typeface="+mn-ea"/>
              <a:cs typeface="+mn-ea"/>
            </a:endParaRPr>
          </a:p>
        </p:txBody>
      </p:sp>
      <p:graphicFrame>
        <p:nvGraphicFramePr>
          <p:cNvPr id="2" name="表格 1"/>
          <p:cNvGraphicFramePr/>
          <p:nvPr>
            <p:custDataLst>
              <p:tags r:id="rId1"/>
            </p:custDataLst>
          </p:nvPr>
        </p:nvGraphicFramePr>
        <p:xfrm>
          <a:off x="1085215" y="3013075"/>
          <a:ext cx="8772525" cy="1238250"/>
        </p:xfrm>
        <a:graphic>
          <a:graphicData uri="http://schemas.openxmlformats.org/drawingml/2006/table">
            <a:tbl>
              <a:tblPr/>
              <a:tblGrid>
                <a:gridCol w="2204085"/>
                <a:gridCol w="939800"/>
                <a:gridCol w="937260"/>
                <a:gridCol w="939800"/>
                <a:gridCol w="935990"/>
                <a:gridCol w="938530"/>
                <a:gridCol w="940435"/>
                <a:gridCol w="936625"/>
              </a:tblGrid>
              <a:tr h="488315">
                <a:tc>
                  <a:txBody>
                    <a:bodyPr/>
                    <a:p>
                      <a:pPr indent="0" algn="ctr">
                        <a:buNone/>
                      </a:pPr>
                      <a:r>
                        <a:rPr lang="en-US" sz="1600" b="0">
                          <a:latin typeface="微软雅黑" panose="020B0503020204020204" pitchFamily="34" charset="-122"/>
                          <a:ea typeface="微软雅黑" panose="020B0503020204020204" pitchFamily="34" charset="-122"/>
                          <a:cs typeface="宋体" panose="02010600030101010101" pitchFamily="2" charset="-122"/>
                        </a:rPr>
                        <a:t>考核等级</a:t>
                      </a:r>
                      <a:endParaRPr lang="en-US" altLang="en-US" sz="16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749935">
                <a:tc>
                  <a:txBody>
                    <a:bodyPr/>
                    <a:p>
                      <a:pPr indent="0" algn="ctr">
                        <a:buNone/>
                      </a:pPr>
                      <a:r>
                        <a:rPr lang="en-US" sz="1600" b="0">
                          <a:latin typeface="微软雅黑" panose="020B0503020204020204" pitchFamily="34" charset="-122"/>
                          <a:ea typeface="微软雅黑" panose="020B0503020204020204" pitchFamily="34" charset="-122"/>
                          <a:cs typeface="宋体" panose="02010600030101010101" pitchFamily="2" charset="-122"/>
                        </a:rPr>
                        <a:t>个人绩效系数</a:t>
                      </a:r>
                      <a:endParaRPr lang="en-US" altLang="en-US" sz="1600" b="0">
                        <a:latin typeface="微软雅黑" panose="020B0503020204020204" pitchFamily="34" charset="-122"/>
                        <a:ea typeface="微软雅黑" panose="020B0503020204020204" pitchFamily="34" charset="-122"/>
                        <a:cs typeface="宋体" panose="02010600030101010101" pitchFamily="2" charset="-122"/>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1.3</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1.2</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1.1</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0.9</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rPr>
                        <a:t>0.5-0.7</a:t>
                      </a:r>
                      <a:endParaRPr lang="en-US" altLang="en-US" sz="1800" b="0">
                        <a:solidFill>
                          <a:srgbClr val="000000"/>
                        </a:solidFill>
                        <a:highlight>
                          <a:srgbClr val="000000">
                            <a:alpha val="0"/>
                          </a:srgbClr>
                        </a:highligh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endParaRPr lang="en-US" altLang="en-US" sz="1800" b="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vert="horz" anchor="ctr" anchorCtr="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4"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5"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6"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7"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sp>
        <p:nvSpPr>
          <p:cNvPr id="8" name="Rectangle 6"/>
          <p:cNvSpPr>
            <a:spLocks noChangeArrowheads="1"/>
          </p:cNvSpPr>
          <p:nvPr/>
        </p:nvSpPr>
        <p:spPr bwMode="auto">
          <a:xfrm>
            <a:off x="1524001" y="-195438"/>
            <a:ext cx="184731" cy="390876"/>
          </a:xfrm>
          <a:prstGeom prst="rect">
            <a:avLst/>
          </a:prstGeom>
          <a:noFill/>
          <a:ln w="9525">
            <a:noFill/>
            <a:miter lim="800000"/>
          </a:ln>
        </p:spPr>
        <p:txBody>
          <a:bodyPr wrap="none" anchor="ctr">
            <a:spAutoFit/>
          </a:bodyPr>
          <a:lstStyle/>
          <a:p>
            <a:endParaRPr lang="zh-CN" altLang="en-US"/>
          </a:p>
        </p:txBody>
      </p:sp>
      <p:cxnSp>
        <p:nvCxnSpPr>
          <p:cNvPr id="9" name="直接连接符 8"/>
          <p:cNvCxnSpPr/>
          <p:nvPr/>
        </p:nvCxnSpPr>
        <p:spPr>
          <a:xfrm>
            <a:off x="3395668" y="2249488"/>
            <a:ext cx="545782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3395668" y="4179888"/>
            <a:ext cx="5457825"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文本框 7"/>
          <p:cNvSpPr txBox="1"/>
          <p:nvPr/>
        </p:nvSpPr>
        <p:spPr>
          <a:xfrm>
            <a:off x="3395663" y="2484447"/>
            <a:ext cx="1814512" cy="1462087"/>
          </a:xfrm>
          <a:prstGeom prst="rect">
            <a:avLst/>
          </a:prstGeom>
          <a:noFill/>
        </p:spPr>
        <p:txBody>
          <a:bodyPr lIns="0" tIns="0" rIns="0" bIns="0" anchor="ctr"/>
          <a:lstStyle/>
          <a:p>
            <a:pPr algn="ctr">
              <a:defRPr/>
            </a:pPr>
            <a:r>
              <a:rPr lang="en-US" altLang="zh-CN" sz="11500" spc="-500" dirty="0" smtClean="0">
                <a:solidFill>
                  <a:schemeClr val="accent1"/>
                </a:solidFill>
                <a:latin typeface="Arial" panose="020B0604020202020204" pitchFamily="34" charset="0"/>
                <a:ea typeface="微软雅黑" panose="020B0503020204020204" pitchFamily="34" charset="-122"/>
              </a:rPr>
              <a:t>05</a:t>
            </a:r>
            <a:endParaRPr lang="zh-CN" altLang="en-US" sz="11500" spc="-500" dirty="0">
              <a:solidFill>
                <a:schemeClr val="accent1"/>
              </a:solidFill>
              <a:latin typeface="Arial" panose="020B0604020202020204" pitchFamily="34" charset="0"/>
              <a:ea typeface="微软雅黑" panose="020B0503020204020204" pitchFamily="34" charset="-122"/>
            </a:endParaRPr>
          </a:p>
        </p:txBody>
      </p:sp>
      <p:sp>
        <p:nvSpPr>
          <p:cNvPr id="12" name="文本框 8"/>
          <p:cNvSpPr txBox="1">
            <a:spLocks noChangeArrowheads="1"/>
          </p:cNvSpPr>
          <p:nvPr/>
        </p:nvSpPr>
        <p:spPr bwMode="auto">
          <a:xfrm>
            <a:off x="5209215" y="2249488"/>
            <a:ext cx="3775731" cy="1930400"/>
          </a:xfrm>
          <a:prstGeom prst="rect">
            <a:avLst/>
          </a:prstGeom>
          <a:noFill/>
          <a:ln w="9525">
            <a:noFill/>
            <a:miter lim="800000"/>
          </a:ln>
        </p:spPr>
        <p:txBody>
          <a:bodyPr lIns="0" tIns="0" rIns="0" bIns="0" anchor="ctr"/>
          <a:lstStyle/>
          <a:p>
            <a:pPr lvl="0" algn="ctr">
              <a:lnSpc>
                <a:spcPct val="110000"/>
              </a:lnSpc>
            </a:pPr>
            <a:r>
              <a:rPr lang="zh-CN" altLang="en-US" sz="4000" b="1" smtClean="0">
                <a:latin typeface="Arial" panose="020B0604020202020204" pitchFamily="34" charset="0"/>
                <a:ea typeface="微软雅黑" panose="020B0503020204020204" pitchFamily="34" charset="-122"/>
              </a:rPr>
              <a:t>配置管理</a:t>
            </a:r>
            <a:endParaRPr lang="en-US" altLang="zh-CN" sz="4000" b="1" dirty="0">
              <a:latin typeface="Arial" panose="020B0604020202020204" pitchFamily="34" charset="0"/>
              <a:ea typeface="微软雅黑" panose="020B0503020204020204" pitchFamily="34" charset="-122"/>
            </a:endParaRPr>
          </a:p>
        </p:txBody>
      </p:sp>
      <p:sp>
        <p:nvSpPr>
          <p:cNvPr id="2" name="灯片编号占位符 1"/>
          <p:cNvSpPr>
            <a:spLocks noGrp="1"/>
          </p:cNvSpPr>
          <p:nvPr>
            <p:ph type="sldNum" sz="quarter" idx="10"/>
          </p:nvPr>
        </p:nvSpPr>
        <p:spPr/>
        <p:txBody>
          <a:bodyPr/>
          <a:lstStyle/>
          <a:p>
            <a:pPr algn="ctr"/>
            <a:fld id="{3AD9866C-B8E1-4B55-A986-B90A7612EBA6}" type="slidenum">
              <a:rPr lang="en-US" altLang="zh-CN" smtClean="0"/>
            </a:fld>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lang="zh-CN" altLang="en-US">
                <a:solidFill>
                  <a:schemeClr val="tx1"/>
                </a:solidFill>
              </a:rPr>
              <a:t>配置管理</a:t>
            </a:r>
            <a:r>
              <a:rPr lang="en-US" altLang="zh-CN">
                <a:solidFill>
                  <a:schemeClr val="tx1"/>
                </a:solidFill>
              </a:rPr>
              <a:t>-</a:t>
            </a:r>
            <a:r>
              <a:rPr>
                <a:solidFill>
                  <a:srgbClr val="FF0000"/>
                </a:solidFill>
              </a:rPr>
              <a:t>术语定义</a:t>
            </a:r>
            <a:endParaRPr>
              <a:solidFill>
                <a:srgbClr val="FF0000"/>
              </a:solidFill>
            </a:endParaRPr>
          </a:p>
        </p:txBody>
      </p:sp>
      <p:grpSp>
        <p:nvGrpSpPr>
          <p:cNvPr id="4" name="PA_chenying0907 3"/>
          <p:cNvGrpSpPr/>
          <p:nvPr>
            <p:custDataLst>
              <p:tags r:id="rId1"/>
            </p:custDataLst>
          </p:nvPr>
        </p:nvGrpSpPr>
        <p:grpSpPr>
          <a:xfrm rot="225463">
            <a:off x="646430" y="2460625"/>
            <a:ext cx="2980055" cy="1937385"/>
            <a:chOff x="3246438" y="1068388"/>
            <a:chExt cx="5711825" cy="4678363"/>
          </a:xfrm>
          <a:solidFill>
            <a:schemeClr val="tx1"/>
          </a:solidFill>
        </p:grpSpPr>
        <p:sp>
          <p:nvSpPr>
            <p:cNvPr id="5" name="chenying0907 5"/>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 name="chenying0907 6"/>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 name="chenying0907 7"/>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 name="chenying0907 8"/>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 name="chenying0907 9"/>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0" name="chenying0907 10"/>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1" name="chenying0907 11"/>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nvGrpSpPr>
            <p:cNvPr id="12" name="chenying0907 328"/>
            <p:cNvGrpSpPr/>
            <p:nvPr/>
          </p:nvGrpSpPr>
          <p:grpSpPr>
            <a:xfrm>
              <a:off x="3517901" y="1225551"/>
              <a:ext cx="5260975" cy="4090987"/>
              <a:chOff x="3517901" y="1225551"/>
              <a:chExt cx="5260975" cy="4090987"/>
            </a:xfrm>
            <a:grpFill/>
          </p:grpSpPr>
          <p:sp>
            <p:nvSpPr>
              <p:cNvPr id="17" name="chenying0907 12"/>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8" name="chenying0907 13"/>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 name="chenying0907 14"/>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 name="chenying0907 15"/>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 name="chenying0907 16"/>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 name="chenying0907 17"/>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 name="chenying0907 18"/>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 name="chenying0907 19"/>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 name="chenying0907 20"/>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 name="chenying0907 21"/>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 name="chenying0907 22"/>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 name="chenying0907 23"/>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 name="chenying0907 24"/>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 name="chenying0907 25"/>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 name="chenying0907 26"/>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 name="chenying0907 27"/>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 name="chenying0907 28"/>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 name="chenying0907 29"/>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 name="chenying0907 30"/>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7" name="chenying0907 31"/>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8" name="chenying0907 32"/>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9" name="chenying0907 33"/>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0" name="chenying0907 34"/>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1" name="chenying0907 35"/>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2" name="chenying0907 36"/>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3" name="chenying0907 37"/>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4" name="chenying0907 38"/>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5" name="chenying0907 39"/>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6" name="chenying0907 40"/>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7" name="chenying0907 41"/>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48" name="chenying0907 42"/>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3" name="chenying0907 43"/>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0" name="chenying0907 44"/>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1" name="chenying0907 45"/>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2" name="chenying0907 46"/>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3" name="chenying0907 47"/>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4" name="chenying0907 48"/>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5" name="chenying0907 49"/>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6" name="chenying0907 50"/>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7" name="chenying0907 51"/>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8" name="chenying0907 52"/>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59" name="chenying0907 53"/>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0" name="chenying0907 54"/>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1" name="chenying0907 55"/>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2" name="chenying0907 56"/>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3" name="chenying0907 57"/>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4" name="chenying0907 58"/>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5" name="chenying0907 59"/>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6" name="chenying0907 60"/>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7" name="chenying0907 61"/>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8" name="chenying0907 62"/>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69" name="chenying0907 63"/>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0" name="chenying0907 64"/>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1" name="chenying0907 65"/>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2" name="chenying0907 66"/>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3" name="chenying0907 67"/>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4" name="chenying0907 68"/>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5" name="chenying0907 69"/>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6" name="chenying0907 70"/>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7" name="chenying0907 71"/>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8" name="chenying0907 72"/>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79" name="chenying0907 73"/>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0" name="chenying0907 74"/>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1" name="chenying0907 75"/>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2" name="chenying0907 76"/>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3" name="chenying0907 77"/>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4" name="chenying0907 78"/>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5" name="chenying0907 79"/>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6" name="chenying0907 80"/>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7" name="chenying0907 81"/>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8" name="chenying0907 82"/>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89" name="chenying0907 83"/>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0" name="chenying0907 84"/>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1" name="chenying0907 85"/>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2" name="chenying0907 86"/>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3" name="chenying0907 87"/>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4" name="chenying0907 88"/>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5" name="chenying0907 89"/>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6" name="chenying0907 90"/>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7" name="chenying0907 91"/>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98" name="chenying0907 92"/>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grpSp>
      <p:sp>
        <p:nvSpPr>
          <p:cNvPr id="374" name="PA_矩形 471"/>
          <p:cNvSpPr/>
          <p:nvPr>
            <p:custDataLst>
              <p:tags r:id="rId2"/>
            </p:custDataLst>
          </p:nvPr>
        </p:nvSpPr>
        <p:spPr>
          <a:xfrm>
            <a:off x="1134110" y="3061335"/>
            <a:ext cx="2171065" cy="553085"/>
          </a:xfrm>
          <a:prstGeom prst="rect">
            <a:avLst/>
          </a:prstGeom>
        </p:spPr>
        <p:txBody>
          <a:bodyPr wrap="square">
            <a:spAutoFit/>
          </a:bodyPr>
          <a:lstStyle/>
          <a:p>
            <a:pPr algn="l">
              <a:lnSpc>
                <a:spcPct val="150000"/>
              </a:lnSpc>
              <a:buClrTx/>
              <a:buSzTx/>
              <a:buNone/>
            </a:pPr>
            <a:r>
              <a:rPr lang="zh-CN"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什么是配置管理？</a:t>
            </a:r>
            <a:endParaRPr lang="zh-CN"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Rectangle 28"/>
          <p:cNvSpPr/>
          <p:nvPr/>
        </p:nvSpPr>
        <p:spPr>
          <a:xfrm>
            <a:off x="4321175" y="1184910"/>
            <a:ext cx="6466205" cy="2998470"/>
          </a:xfrm>
          <a:prstGeom prst="rect">
            <a:avLst/>
          </a:prstGeom>
        </p:spPr>
        <p:txBody>
          <a:bodyPr wrap="square" lIns="91428" tIns="45714" rIns="91428" bIns="45714">
            <a:spAutoFit/>
          </a:bodyPr>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配置管理（Configuration Management，CM）</a:t>
            </a:r>
            <a:r>
              <a:rPr lang="zh-CN" sz="1800">
                <a:latin typeface="+mn-ea"/>
                <a:sym typeface="+mn-lt"/>
              </a:rPr>
              <a:t>：是对修改进行标识、管理和控制的技术，用来协调和控制整个过程。是通过技术或行政手段对产品及其开发过程和生命周期进行控制、规范的一系列措施。</a:t>
            </a:r>
            <a:endParaRPr lang="zh-CN" sz="1800">
              <a:latin typeface="+mn-ea"/>
              <a:sym typeface="+mn-lt"/>
            </a:endParaRPr>
          </a:p>
          <a:p>
            <a:pPr indent="0" fontAlgn="base">
              <a:lnSpc>
                <a:spcPct val="150000"/>
              </a:lnSpc>
              <a:spcBef>
                <a:spcPct val="0"/>
              </a:spcBef>
              <a:spcAft>
                <a:spcPct val="0"/>
              </a:spcAft>
              <a:buFont typeface="Wingdings" panose="05000000000000000000" pitchFamily="2" charset="2"/>
              <a:buNone/>
            </a:pPr>
            <a:endParaRPr lang="zh-CN" sz="1800">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lang="zh-CN" sz="1800">
                <a:latin typeface="+mn-ea"/>
                <a:sym typeface="+mn-lt"/>
              </a:rPr>
              <a:t>配置管理的</a:t>
            </a:r>
            <a:r>
              <a:rPr lang="zh-CN" sz="1800">
                <a:solidFill>
                  <a:srgbClr val="FF0000"/>
                </a:solidFill>
                <a:latin typeface="+mn-ea"/>
                <a:sym typeface="+mn-lt"/>
              </a:rPr>
              <a:t>目标</a:t>
            </a:r>
            <a:r>
              <a:rPr lang="zh-CN" sz="1800">
                <a:latin typeface="+mn-ea"/>
                <a:sym typeface="+mn-lt"/>
              </a:rPr>
              <a:t>：</a:t>
            </a:r>
            <a:r>
              <a:rPr lang="zh-CN" sz="1800">
                <a:latin typeface="+mn-ea"/>
                <a:sym typeface="+mn-lt"/>
              </a:rPr>
              <a:t>是记录产品的演化过程，确保开发者在生命周期中各个阶段都能得到精确的不同版本的产品配置。</a:t>
            </a:r>
            <a:endParaRPr lang="zh-CN" sz="1800">
              <a:latin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374"/>
                                        </p:tgtEl>
                                        <p:attrNameLst>
                                          <p:attrName>style.visibility</p:attrName>
                                        </p:attrNameLst>
                                      </p:cBhvr>
                                      <p:to>
                                        <p:strVal val="visible"/>
                                      </p:to>
                                    </p:set>
                                    <p:animEffect transition="in" filter="wipe(down)">
                                      <p:cBhvr>
                                        <p:cTn id="23" dur="580">
                                          <p:stCondLst>
                                            <p:cond delay="0"/>
                                          </p:stCondLst>
                                        </p:cTn>
                                        <p:tgtEl>
                                          <p:spTgt spid="374"/>
                                        </p:tgtEl>
                                      </p:cBhvr>
                                    </p:animEffect>
                                    <p:anim calcmode="lin" valueType="num">
                                      <p:cBhvr>
                                        <p:cTn id="24" dur="1822" tmFilter="0,0; 0.14,0.36; 0.43,0.73; 0.71,0.91; 1.0,1.0">
                                          <p:stCondLst>
                                            <p:cond delay="0"/>
                                          </p:stCondLst>
                                        </p:cTn>
                                        <p:tgtEl>
                                          <p:spTgt spid="374"/>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374"/>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374"/>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374"/>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374"/>
                                        </p:tgtEl>
                                        <p:attrNameLst>
                                          <p:attrName>ppt_y</p:attrName>
                                        </p:attrNameLst>
                                      </p:cBhvr>
                                      <p:tavLst>
                                        <p:tav tm="0" fmla="#ppt_y-sin(pi*$)/81">
                                          <p:val>
                                            <p:fltVal val="0"/>
                                          </p:val>
                                        </p:tav>
                                        <p:tav tm="100000">
                                          <p:val>
                                            <p:fltVal val="1"/>
                                          </p:val>
                                        </p:tav>
                                      </p:tavLst>
                                    </p:anim>
                                    <p:animScale>
                                      <p:cBhvr>
                                        <p:cTn id="29" dur="26">
                                          <p:stCondLst>
                                            <p:cond delay="650"/>
                                          </p:stCondLst>
                                        </p:cTn>
                                        <p:tgtEl>
                                          <p:spTgt spid="374"/>
                                        </p:tgtEl>
                                      </p:cBhvr>
                                      <p:to x="100000" y="60000"/>
                                    </p:animScale>
                                    <p:animScale>
                                      <p:cBhvr>
                                        <p:cTn id="30" dur="166" decel="50000">
                                          <p:stCondLst>
                                            <p:cond delay="676"/>
                                          </p:stCondLst>
                                        </p:cTn>
                                        <p:tgtEl>
                                          <p:spTgt spid="374"/>
                                        </p:tgtEl>
                                      </p:cBhvr>
                                      <p:to x="100000" y="100000"/>
                                    </p:animScale>
                                    <p:animScale>
                                      <p:cBhvr>
                                        <p:cTn id="31" dur="26">
                                          <p:stCondLst>
                                            <p:cond delay="1312"/>
                                          </p:stCondLst>
                                        </p:cTn>
                                        <p:tgtEl>
                                          <p:spTgt spid="374"/>
                                        </p:tgtEl>
                                      </p:cBhvr>
                                      <p:to x="100000" y="80000"/>
                                    </p:animScale>
                                    <p:animScale>
                                      <p:cBhvr>
                                        <p:cTn id="32" dur="166" decel="50000">
                                          <p:stCondLst>
                                            <p:cond delay="1338"/>
                                          </p:stCondLst>
                                        </p:cTn>
                                        <p:tgtEl>
                                          <p:spTgt spid="374"/>
                                        </p:tgtEl>
                                      </p:cBhvr>
                                      <p:to x="100000" y="100000"/>
                                    </p:animScale>
                                    <p:animScale>
                                      <p:cBhvr>
                                        <p:cTn id="33" dur="26">
                                          <p:stCondLst>
                                            <p:cond delay="1642"/>
                                          </p:stCondLst>
                                        </p:cTn>
                                        <p:tgtEl>
                                          <p:spTgt spid="374"/>
                                        </p:tgtEl>
                                      </p:cBhvr>
                                      <p:to x="100000" y="90000"/>
                                    </p:animScale>
                                    <p:animScale>
                                      <p:cBhvr>
                                        <p:cTn id="34" dur="166" decel="50000">
                                          <p:stCondLst>
                                            <p:cond delay="1668"/>
                                          </p:stCondLst>
                                        </p:cTn>
                                        <p:tgtEl>
                                          <p:spTgt spid="374"/>
                                        </p:tgtEl>
                                      </p:cBhvr>
                                      <p:to x="100000" y="100000"/>
                                    </p:animScale>
                                    <p:animScale>
                                      <p:cBhvr>
                                        <p:cTn id="35" dur="26">
                                          <p:stCondLst>
                                            <p:cond delay="1808"/>
                                          </p:stCondLst>
                                        </p:cTn>
                                        <p:tgtEl>
                                          <p:spTgt spid="374"/>
                                        </p:tgtEl>
                                      </p:cBhvr>
                                      <p:to x="100000" y="95000"/>
                                    </p:animScale>
                                    <p:animScale>
                                      <p:cBhvr>
                                        <p:cTn id="36" dur="166" decel="50000">
                                          <p:stCondLst>
                                            <p:cond delay="1834"/>
                                          </p:stCondLst>
                                        </p:cTn>
                                        <p:tgtEl>
                                          <p:spTgt spid="374"/>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blinds(horizontal)">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4" grpId="0"/>
      <p:bldP spid="374" grpId="1"/>
      <p:bldP spid="14" grpId="0"/>
      <p:bldP spid="14"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lang="zh-CN" altLang="en-US">
                <a:solidFill>
                  <a:schemeClr val="tx1"/>
                </a:solidFill>
              </a:rPr>
              <a:t>配置管理</a:t>
            </a:r>
            <a:r>
              <a:rPr lang="en-US" altLang="zh-CN">
                <a:solidFill>
                  <a:schemeClr val="tx1"/>
                </a:solidFill>
              </a:rPr>
              <a:t>-</a:t>
            </a:r>
            <a:r>
              <a:rPr>
                <a:solidFill>
                  <a:srgbClr val="FF0000"/>
                </a:solidFill>
              </a:rPr>
              <a:t>术语定义</a:t>
            </a:r>
            <a:endParaRPr>
              <a:solidFill>
                <a:srgbClr val="FF0000"/>
              </a:solidFill>
            </a:endParaRPr>
          </a:p>
        </p:txBody>
      </p:sp>
      <p:sp>
        <p:nvSpPr>
          <p:cNvPr id="14" name="Rectangle 28"/>
          <p:cNvSpPr/>
          <p:nvPr/>
        </p:nvSpPr>
        <p:spPr>
          <a:xfrm>
            <a:off x="562610" y="1257935"/>
            <a:ext cx="8040370" cy="4660265"/>
          </a:xfrm>
          <a:prstGeom prst="rect">
            <a:avLst/>
          </a:prstGeom>
        </p:spPr>
        <p:txBody>
          <a:bodyPr wrap="square" lIns="91428" tIns="45714" rIns="91428" bIns="45714">
            <a:spAutoFit/>
          </a:bodyPr>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配置项</a:t>
            </a:r>
            <a:r>
              <a:rPr lang="zh-CN" sz="1800">
                <a:latin typeface="+mn-ea"/>
                <a:sym typeface="+mn-lt"/>
              </a:rPr>
              <a:t>（</a:t>
            </a:r>
            <a:r>
              <a:rPr sz="1800">
                <a:latin typeface="+mn-ea"/>
                <a:sym typeface="+mn-lt"/>
              </a:rPr>
              <a:t>Configuration Item，CI</a:t>
            </a:r>
            <a:r>
              <a:rPr lang="zh-CN" sz="1800">
                <a:latin typeface="+mn-ea"/>
                <a:sym typeface="+mn-lt"/>
              </a:rPr>
              <a:t>）：置于配置管理之下并作为单个实体予以处理的工作产品。</a:t>
            </a:r>
            <a:endParaRPr lang="zh-CN" sz="1800">
              <a:latin typeface="+mn-ea"/>
              <a:sym typeface="+mn-lt"/>
            </a:endParaRPr>
          </a:p>
          <a:p>
            <a:pPr marL="285750" indent="-285750" fontAlgn="base">
              <a:lnSpc>
                <a:spcPct val="150000"/>
              </a:lnSpc>
              <a:spcBef>
                <a:spcPct val="0"/>
              </a:spcBef>
              <a:spcAft>
                <a:spcPct val="0"/>
              </a:spcAft>
              <a:buFont typeface="Arial" panose="020B0604020202020204" pitchFamily="34" charset="0"/>
              <a:buChar char="•"/>
            </a:pPr>
            <a:r>
              <a:rPr sz="1800">
                <a:latin typeface="+mn-ea"/>
                <a:sym typeface="+mn-lt"/>
              </a:rPr>
              <a:t>在极端情况下，一个配置项可被考虑为某个单独</a:t>
            </a:r>
            <a:r>
              <a:rPr lang="zh-CN" sz="1800">
                <a:latin typeface="+mn-ea"/>
                <a:sym typeface="+mn-lt"/>
              </a:rPr>
              <a:t>文档</a:t>
            </a:r>
            <a:r>
              <a:rPr sz="1800">
                <a:latin typeface="+mn-ea"/>
                <a:sym typeface="+mn-lt"/>
              </a:rPr>
              <a:t>段落，或某个测试用例</a:t>
            </a:r>
            <a:r>
              <a:rPr lang="zh-CN" sz="1800">
                <a:latin typeface="+mn-ea"/>
                <a:sym typeface="+mn-lt"/>
              </a:rPr>
              <a:t>。总而言之，</a:t>
            </a:r>
            <a:r>
              <a:rPr sz="1800">
                <a:latin typeface="+mn-ea"/>
                <a:sym typeface="+mn-lt"/>
              </a:rPr>
              <a:t>一个配置项</a:t>
            </a:r>
            <a:r>
              <a:rPr lang="zh-CN" sz="1800">
                <a:latin typeface="+mn-ea"/>
                <a:sym typeface="+mn-lt"/>
              </a:rPr>
              <a:t>可以</a:t>
            </a:r>
            <a:r>
              <a:rPr sz="1800">
                <a:latin typeface="+mn-ea"/>
                <a:sym typeface="+mn-lt"/>
              </a:rPr>
              <a:t>是一个文档、一个全套的测试用例或一个已命名的程序构件。</a:t>
            </a:r>
            <a:endParaRPr sz="1800">
              <a:latin typeface="+mn-ea"/>
              <a:sym typeface="+mn-lt"/>
            </a:endParaRPr>
          </a:p>
          <a:p>
            <a:pPr marL="285750" lvl="0" indent="-285750" fontAlgn="auto">
              <a:lnSpc>
                <a:spcPct val="150000"/>
              </a:lnSpc>
              <a:buFont typeface="Wingdings" panose="05000000000000000000" charset="0"/>
              <a:buChar char="ü"/>
            </a:pPr>
            <a:r>
              <a:rPr lang="zh-CN" altLang="en-US"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配置项举例：需求</a:t>
            </a:r>
            <a:r>
              <a:rPr lang="en-US" altLang="zh-CN"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a:t>
            </a:r>
            <a:r>
              <a:rPr lang="zh-CN" altLang="en-US"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设计说明书、源代码、烧录、</a:t>
            </a:r>
            <a:r>
              <a:rPr lang="en-US" altLang="zh-CN"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PCB</a:t>
            </a:r>
            <a:r>
              <a:rPr lang="zh-CN" altLang="en-US"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、原理图</a:t>
            </a:r>
            <a:r>
              <a:rPr lang="en-US" altLang="zh-CN"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a:t>
            </a:r>
            <a:endParaRPr lang="en-US" altLang="zh-CN" sz="1800"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endParaRPr>
          </a:p>
          <a:p>
            <a:pPr lvl="0" indent="0" fontAlgn="auto">
              <a:lnSpc>
                <a:spcPct val="150000"/>
              </a:lnSpc>
              <a:buFont typeface="Wingdings" panose="05000000000000000000" charset="0"/>
              <a:buNone/>
            </a:pPr>
            <a:endParaRPr sz="1800">
              <a:effectLst>
                <a:outerShdw blurRad="38100" dist="38100" dir="2700000" algn="tl">
                  <a:srgbClr val="000000">
                    <a:alpha val="43137"/>
                  </a:srgbClr>
                </a:outerShdw>
              </a:effectLst>
              <a:latin typeface="+mn-ea"/>
              <a:sym typeface="+mn-lt"/>
            </a:endParaRPr>
          </a:p>
          <a:p>
            <a:pPr marL="285750" indent="-285750" fontAlgn="base">
              <a:lnSpc>
                <a:spcPct val="150000"/>
              </a:lnSpc>
              <a:spcBef>
                <a:spcPct val="0"/>
              </a:spcBef>
              <a:spcAft>
                <a:spcPct val="0"/>
              </a:spcAft>
              <a:buFont typeface="Wingdings" panose="05000000000000000000" charset="0"/>
              <a:buChar char="n"/>
            </a:pPr>
            <a:r>
              <a:rPr sz="1800">
                <a:latin typeface="+mn-ea"/>
                <a:sym typeface="+mn-lt"/>
              </a:rPr>
              <a:t>基线</a:t>
            </a:r>
            <a:r>
              <a:rPr lang="zh-CN" sz="1800">
                <a:latin typeface="+mn-ea"/>
                <a:sym typeface="+mn-lt"/>
              </a:rPr>
              <a:t>：一个 C</a:t>
            </a:r>
            <a:r>
              <a:rPr lang="en-US" altLang="zh-CN" sz="1800">
                <a:latin typeface="+mn-ea"/>
                <a:sym typeface="+mn-lt"/>
              </a:rPr>
              <a:t>I</a:t>
            </a:r>
            <a:r>
              <a:rPr lang="zh-CN" sz="1800">
                <a:latin typeface="+mn-ea"/>
                <a:sym typeface="+mn-lt"/>
              </a:rPr>
              <a:t> 或一组 CIs 在其生命周期的不同时间点上</a:t>
            </a:r>
            <a:r>
              <a:rPr lang="zh-CN" sz="1800">
                <a:solidFill>
                  <a:srgbClr val="FF0000"/>
                </a:solidFill>
                <a:latin typeface="+mn-ea"/>
                <a:sym typeface="+mn-lt"/>
              </a:rPr>
              <a:t>通过正式评审</a:t>
            </a:r>
            <a:r>
              <a:rPr lang="zh-CN" sz="1800">
                <a:latin typeface="+mn-ea"/>
                <a:sym typeface="+mn-lt"/>
              </a:rPr>
              <a:t>而进入正式</a:t>
            </a:r>
            <a:r>
              <a:rPr lang="zh-CN" sz="1800">
                <a:solidFill>
                  <a:srgbClr val="FF0000"/>
                </a:solidFill>
                <a:latin typeface="+mn-ea"/>
                <a:sym typeface="+mn-lt"/>
              </a:rPr>
              <a:t>受控</a:t>
            </a:r>
            <a:r>
              <a:rPr lang="zh-CN" sz="1800">
                <a:latin typeface="+mn-ea"/>
                <a:sym typeface="+mn-lt"/>
              </a:rPr>
              <a:t>的一种状态，这些配置项构成了一个相对稳定的逻辑实体，而这个过程被称为“基线化”。每一个基线都是其下一步开发的出发点和参考点。</a:t>
            </a:r>
            <a:endParaRPr lang="zh-CN" sz="1800">
              <a:latin typeface="+mn-ea"/>
              <a:sym typeface="+mn-lt"/>
            </a:endParaRPr>
          </a:p>
          <a:p>
            <a:pPr marL="285750" indent="-285750" fontAlgn="base">
              <a:lnSpc>
                <a:spcPct val="150000"/>
              </a:lnSpc>
              <a:spcBef>
                <a:spcPct val="0"/>
              </a:spcBef>
              <a:spcAft>
                <a:spcPct val="0"/>
              </a:spcAft>
              <a:buFont typeface="Wingdings" panose="05000000000000000000" charset="0"/>
              <a:buChar char="ü"/>
            </a:pPr>
            <a:r>
              <a:rPr lang="zh-CN" sz="1800">
                <a:effectLst>
                  <a:outerShdw blurRad="38100" dist="38100" dir="2700000" algn="tl">
                    <a:srgbClr val="000000">
                      <a:alpha val="43137"/>
                    </a:srgbClr>
                  </a:outerShdw>
                </a:effectLst>
                <a:latin typeface="+mn-ea"/>
                <a:sym typeface="+mn-lt"/>
              </a:rPr>
              <a:t>在项目的开发过程中，最基本的基线有需求基线、开发基线、发布基线</a:t>
            </a:r>
            <a:r>
              <a:rPr lang="en-US" altLang="zh-CN" sz="1800">
                <a:effectLst>
                  <a:outerShdw blurRad="38100" dist="38100" dir="2700000" algn="tl">
                    <a:srgbClr val="000000">
                      <a:alpha val="43137"/>
                    </a:srgbClr>
                  </a:outerShdw>
                </a:effectLst>
                <a:latin typeface="+mn-ea"/>
                <a:sym typeface="+mn-lt"/>
              </a:rPr>
              <a:t>……</a:t>
            </a:r>
            <a:endParaRPr lang="zh-CN" sz="1800">
              <a:effectLst>
                <a:outerShdw blurRad="38100" dist="38100" dir="2700000" algn="tl">
                  <a:srgbClr val="000000">
                    <a:alpha val="43137"/>
                  </a:srgbClr>
                </a:outerShdw>
              </a:effectLst>
              <a:latin typeface="+mn-ea"/>
              <a:sym typeface="+mn-lt"/>
            </a:endParaRPr>
          </a:p>
        </p:txBody>
      </p:sp>
      <p:sp>
        <p:nvSpPr>
          <p:cNvPr id="184" name="PA_矩形 471"/>
          <p:cNvSpPr/>
          <p:nvPr>
            <p:custDataLst>
              <p:tags r:id="rId1"/>
            </p:custDataLst>
          </p:nvPr>
        </p:nvSpPr>
        <p:spPr>
          <a:xfrm>
            <a:off x="8979535" y="2680335"/>
            <a:ext cx="2643505" cy="922020"/>
          </a:xfrm>
          <a:prstGeom prst="rect">
            <a:avLst/>
          </a:prstGeom>
        </p:spPr>
        <p:txBody>
          <a:bodyPr wrap="square">
            <a:spAutoFit/>
          </a:bodyPr>
          <a:lstStyle/>
          <a:p>
            <a:pPr algn="ctr">
              <a:lnSpc>
                <a:spcPct val="150000"/>
              </a:lnSpc>
              <a:buClrTx/>
              <a:buSzTx/>
              <a:buNone/>
            </a:pPr>
            <a:r>
              <a:rPr lang="zh-CN"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项目过程中，</a:t>
            </a:r>
            <a:endParaRPr lang="zh-CN"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lnSpc>
                <a:spcPct val="150000"/>
              </a:lnSpc>
              <a:buClrTx/>
              <a:buSzTx/>
              <a:buNone/>
            </a:pPr>
            <a:r>
              <a:rPr lang="zh-CN"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有哪些的配置项、基线？</a:t>
            </a:r>
            <a:endParaRPr lang="zh-CN"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76" name="PA_chenying0907 5"/>
          <p:cNvGrpSpPr/>
          <p:nvPr>
            <p:custDataLst>
              <p:tags r:id="rId2"/>
            </p:custDataLst>
          </p:nvPr>
        </p:nvGrpSpPr>
        <p:grpSpPr>
          <a:xfrm flipH="1">
            <a:off x="8673465" y="2389505"/>
            <a:ext cx="2949575" cy="1792605"/>
            <a:chOff x="3246438" y="1068388"/>
            <a:chExt cx="5711825" cy="4678363"/>
          </a:xfrm>
          <a:solidFill>
            <a:schemeClr val="tx1"/>
          </a:solidFill>
        </p:grpSpPr>
        <p:sp>
          <p:nvSpPr>
            <p:cNvPr id="277" name="chenying0907 5"/>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8" name="chenying0907 6"/>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9" name="chenying0907 7"/>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0" name="chenying0907 8"/>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1" name="chenying0907 9"/>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2" name="chenying0907 10"/>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3" name="chenying0907 11"/>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nvGrpSpPr>
            <p:cNvPr id="284" name="chenying0907 150"/>
            <p:cNvGrpSpPr/>
            <p:nvPr/>
          </p:nvGrpSpPr>
          <p:grpSpPr>
            <a:xfrm>
              <a:off x="3517901" y="1225551"/>
              <a:ext cx="5260975" cy="4090987"/>
              <a:chOff x="3517901" y="1225551"/>
              <a:chExt cx="5260975" cy="4090987"/>
            </a:xfrm>
            <a:grpFill/>
          </p:grpSpPr>
          <p:sp>
            <p:nvSpPr>
              <p:cNvPr id="285" name="chenying0907 12"/>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6" name="chenying0907 13"/>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7" name="chenying0907 14"/>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8" name="chenying0907 15"/>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89" name="chenying0907 16"/>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0" name="chenying0907 17"/>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1" name="chenying0907 18"/>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2" name="chenying0907 19"/>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3" name="chenying0907 20"/>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4" name="chenying0907 21"/>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5" name="chenying0907 22"/>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6" name="chenying0907 23"/>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7" name="chenying0907 24"/>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8" name="chenying0907 25"/>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99" name="chenying0907 26"/>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0" name="chenying0907 27"/>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1" name="chenying0907 28"/>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2" name="chenying0907 29"/>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3" name="chenying0907 30"/>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4" name="chenying0907 31"/>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5" name="chenying0907 32"/>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6" name="chenying0907 33"/>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7" name="chenying0907 34"/>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8" name="chenying0907 35"/>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09" name="chenying0907 36"/>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0" name="chenying0907 37"/>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1" name="chenying0907 38"/>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2" name="chenying0907 39"/>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3" name="chenying0907 40"/>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4" name="chenying0907 41"/>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5" name="chenying0907 42"/>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6" name="chenying0907 43"/>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7" name="chenying0907 44"/>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8" name="chenying0907 45"/>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19" name="chenying0907 46"/>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0" name="chenying0907 47"/>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1" name="chenying0907 48"/>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2" name="chenying0907 49"/>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3" name="chenying0907 50"/>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4" name="chenying0907 51"/>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5" name="chenying0907 52"/>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6" name="chenying0907 53"/>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7" name="chenying0907 54"/>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8" name="chenying0907 55"/>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29" name="chenying0907 56"/>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0" name="chenying0907 57"/>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1" name="chenying0907 58"/>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2" name="chenying0907 59"/>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3" name="chenying0907 60"/>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4" name="chenying0907 61"/>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5" name="chenying0907 62"/>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6" name="chenying0907 63"/>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7" name="chenying0907 64"/>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8" name="chenying0907 65"/>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39" name="chenying0907 66"/>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0" name="chenying0907 67"/>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1" name="chenying0907 68"/>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2" name="chenying0907 69"/>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3" name="chenying0907 70"/>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4" name="chenying0907 71"/>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5" name="chenying0907 72"/>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6" name="chenying0907 73"/>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7" name="chenying0907 74"/>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8" name="chenying0907 75"/>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49" name="chenying0907 76"/>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0" name="chenying0907 77"/>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1" name="chenying0907 78"/>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2" name="chenying0907 79"/>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3" name="chenying0907 80"/>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4" name="chenying0907 81"/>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5" name="chenying0907 82"/>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6" name="chenying0907 83"/>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7" name="chenying0907 84"/>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8" name="chenying0907 85"/>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59" name="chenying0907 86"/>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0" name="chenying0907 87"/>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1" name="chenying0907 88"/>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2" name="chenying0907 89"/>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3" name="chenying0907 90"/>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4" name="chenying0907 91"/>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365" name="chenying0907 92"/>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animEffect transition="in" filter="blinds(horizontal)">
                                      <p:cBhvr>
                                        <p:cTn id="11" dur="500"/>
                                        <p:tgtEl>
                                          <p:spTgt spid="1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4">
                                            <p:txEl>
                                              <p:pRg st="1" end="1"/>
                                            </p:txEl>
                                          </p:spTgt>
                                        </p:tgtEl>
                                        <p:attrNameLst>
                                          <p:attrName>style.visibility</p:attrName>
                                        </p:attrNameLst>
                                      </p:cBhvr>
                                      <p:to>
                                        <p:strVal val="visible"/>
                                      </p:to>
                                    </p:set>
                                    <p:animEffect transition="in" filter="blinds(horizontal)">
                                      <p:cBhvr>
                                        <p:cTn id="16" dur="500"/>
                                        <p:tgtEl>
                                          <p:spTgt spid="1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xEl>
                                              <p:pRg st="4" end="4"/>
                                            </p:txEl>
                                          </p:spTgt>
                                        </p:tgtEl>
                                        <p:attrNameLst>
                                          <p:attrName>style.visibility</p:attrName>
                                        </p:attrNameLst>
                                      </p:cBhvr>
                                      <p:to>
                                        <p:strVal val="visible"/>
                                      </p:to>
                                    </p:set>
                                    <p:animEffect transition="in" filter="fade">
                                      <p:cBhvr>
                                        <p:cTn id="21" dur="1000"/>
                                        <p:tgtEl>
                                          <p:spTgt spid="14">
                                            <p:txEl>
                                              <p:pRg st="4" end="4"/>
                                            </p:txEl>
                                          </p:spTgt>
                                        </p:tgtEl>
                                      </p:cBhvr>
                                    </p:animEffect>
                                    <p:anim calcmode="lin" valueType="num">
                                      <p:cBhvr>
                                        <p:cTn id="22" dur="1000" fill="hold"/>
                                        <p:tgtEl>
                                          <p:spTgt spid="1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nodeType="clickEffect">
                                  <p:stCondLst>
                                    <p:cond delay="0"/>
                                  </p:stCondLst>
                                  <p:childTnLst>
                                    <p:set>
                                      <p:cBhvr>
                                        <p:cTn id="27" dur="1" fill="hold">
                                          <p:stCondLst>
                                            <p:cond delay="0"/>
                                          </p:stCondLst>
                                        </p:cTn>
                                        <p:tgtEl>
                                          <p:spTgt spid="276"/>
                                        </p:tgtEl>
                                        <p:attrNameLst>
                                          <p:attrName>style.visibility</p:attrName>
                                        </p:attrNameLst>
                                      </p:cBhvr>
                                      <p:to>
                                        <p:strVal val="visible"/>
                                      </p:to>
                                    </p:set>
                                    <p:animEffect transition="in" filter="wipe(down)">
                                      <p:cBhvr>
                                        <p:cTn id="28" dur="580">
                                          <p:stCondLst>
                                            <p:cond delay="0"/>
                                          </p:stCondLst>
                                        </p:cTn>
                                        <p:tgtEl>
                                          <p:spTgt spid="276"/>
                                        </p:tgtEl>
                                      </p:cBhvr>
                                    </p:animEffect>
                                    <p:anim calcmode="lin" valueType="num">
                                      <p:cBhvr>
                                        <p:cTn id="29" dur="1822" tmFilter="0,0; 0.14,0.36; 0.43,0.73; 0.71,0.91; 1.0,1.0">
                                          <p:stCondLst>
                                            <p:cond delay="0"/>
                                          </p:stCondLst>
                                        </p:cTn>
                                        <p:tgtEl>
                                          <p:spTgt spid="276"/>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276"/>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276"/>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276"/>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276"/>
                                        </p:tgtEl>
                                        <p:attrNameLst>
                                          <p:attrName>ppt_y</p:attrName>
                                        </p:attrNameLst>
                                      </p:cBhvr>
                                      <p:tavLst>
                                        <p:tav tm="0" fmla="#ppt_y-sin(pi*$)/81">
                                          <p:val>
                                            <p:fltVal val="0"/>
                                          </p:val>
                                        </p:tav>
                                        <p:tav tm="100000">
                                          <p:val>
                                            <p:fltVal val="1"/>
                                          </p:val>
                                        </p:tav>
                                      </p:tavLst>
                                    </p:anim>
                                    <p:animScale>
                                      <p:cBhvr>
                                        <p:cTn id="34" dur="26">
                                          <p:stCondLst>
                                            <p:cond delay="650"/>
                                          </p:stCondLst>
                                        </p:cTn>
                                        <p:tgtEl>
                                          <p:spTgt spid="276"/>
                                        </p:tgtEl>
                                      </p:cBhvr>
                                      <p:to x="100000" y="60000"/>
                                    </p:animScale>
                                    <p:animScale>
                                      <p:cBhvr>
                                        <p:cTn id="35" dur="166" decel="50000">
                                          <p:stCondLst>
                                            <p:cond delay="676"/>
                                          </p:stCondLst>
                                        </p:cTn>
                                        <p:tgtEl>
                                          <p:spTgt spid="276"/>
                                        </p:tgtEl>
                                      </p:cBhvr>
                                      <p:to x="100000" y="100000"/>
                                    </p:animScale>
                                    <p:animScale>
                                      <p:cBhvr>
                                        <p:cTn id="36" dur="26">
                                          <p:stCondLst>
                                            <p:cond delay="1312"/>
                                          </p:stCondLst>
                                        </p:cTn>
                                        <p:tgtEl>
                                          <p:spTgt spid="276"/>
                                        </p:tgtEl>
                                      </p:cBhvr>
                                      <p:to x="100000" y="80000"/>
                                    </p:animScale>
                                    <p:animScale>
                                      <p:cBhvr>
                                        <p:cTn id="37" dur="166" decel="50000">
                                          <p:stCondLst>
                                            <p:cond delay="1338"/>
                                          </p:stCondLst>
                                        </p:cTn>
                                        <p:tgtEl>
                                          <p:spTgt spid="276"/>
                                        </p:tgtEl>
                                      </p:cBhvr>
                                      <p:to x="100000" y="100000"/>
                                    </p:animScale>
                                    <p:animScale>
                                      <p:cBhvr>
                                        <p:cTn id="38" dur="26">
                                          <p:stCondLst>
                                            <p:cond delay="1642"/>
                                          </p:stCondLst>
                                        </p:cTn>
                                        <p:tgtEl>
                                          <p:spTgt spid="276"/>
                                        </p:tgtEl>
                                      </p:cBhvr>
                                      <p:to x="100000" y="90000"/>
                                    </p:animScale>
                                    <p:animScale>
                                      <p:cBhvr>
                                        <p:cTn id="39" dur="166" decel="50000">
                                          <p:stCondLst>
                                            <p:cond delay="1668"/>
                                          </p:stCondLst>
                                        </p:cTn>
                                        <p:tgtEl>
                                          <p:spTgt spid="276"/>
                                        </p:tgtEl>
                                      </p:cBhvr>
                                      <p:to x="100000" y="100000"/>
                                    </p:animScale>
                                    <p:animScale>
                                      <p:cBhvr>
                                        <p:cTn id="40" dur="26">
                                          <p:stCondLst>
                                            <p:cond delay="1808"/>
                                          </p:stCondLst>
                                        </p:cTn>
                                        <p:tgtEl>
                                          <p:spTgt spid="276"/>
                                        </p:tgtEl>
                                      </p:cBhvr>
                                      <p:to x="100000" y="95000"/>
                                    </p:animScale>
                                    <p:animScale>
                                      <p:cBhvr>
                                        <p:cTn id="41" dur="166" decel="50000">
                                          <p:stCondLst>
                                            <p:cond delay="1834"/>
                                          </p:stCondLst>
                                        </p:cTn>
                                        <p:tgtEl>
                                          <p:spTgt spid="276"/>
                                        </p:tgtEl>
                                      </p:cBhvr>
                                      <p:to x="100000" y="100000"/>
                                    </p:animScale>
                                  </p:childTnLst>
                                </p:cTn>
                              </p:par>
                              <p:par>
                                <p:cTn id="42" presetID="26" presetClass="entr" presetSubtype="0" fill="hold" grpId="0" nodeType="withEffect">
                                  <p:stCondLst>
                                    <p:cond delay="0"/>
                                  </p:stCondLst>
                                  <p:childTnLst>
                                    <p:set>
                                      <p:cBhvr>
                                        <p:cTn id="43" dur="1" fill="hold">
                                          <p:stCondLst>
                                            <p:cond delay="0"/>
                                          </p:stCondLst>
                                        </p:cTn>
                                        <p:tgtEl>
                                          <p:spTgt spid="184"/>
                                        </p:tgtEl>
                                        <p:attrNameLst>
                                          <p:attrName>style.visibility</p:attrName>
                                        </p:attrNameLst>
                                      </p:cBhvr>
                                      <p:to>
                                        <p:strVal val="visible"/>
                                      </p:to>
                                    </p:set>
                                    <p:animEffect transition="in" filter="wipe(down)">
                                      <p:cBhvr>
                                        <p:cTn id="44" dur="580">
                                          <p:stCondLst>
                                            <p:cond delay="0"/>
                                          </p:stCondLst>
                                        </p:cTn>
                                        <p:tgtEl>
                                          <p:spTgt spid="184"/>
                                        </p:tgtEl>
                                      </p:cBhvr>
                                    </p:animEffect>
                                    <p:anim calcmode="lin" valueType="num">
                                      <p:cBhvr>
                                        <p:cTn id="45" dur="1822" tmFilter="0,0; 0.14,0.36; 0.43,0.73; 0.71,0.91; 1.0,1.0">
                                          <p:stCondLst>
                                            <p:cond delay="0"/>
                                          </p:stCondLst>
                                        </p:cTn>
                                        <p:tgtEl>
                                          <p:spTgt spid="184"/>
                                        </p:tgtEl>
                                        <p:attrNameLst>
                                          <p:attrName>ppt_x</p:attrName>
                                        </p:attrNameLst>
                                      </p:cBhvr>
                                      <p:tavLst>
                                        <p:tav tm="0">
                                          <p:val>
                                            <p:strVal val="#ppt_x-0.25"/>
                                          </p:val>
                                        </p:tav>
                                        <p:tav tm="100000">
                                          <p:val>
                                            <p:strVal val="#ppt_x"/>
                                          </p:val>
                                        </p:tav>
                                      </p:tavLst>
                                    </p:anim>
                                    <p:anim calcmode="lin" valueType="num">
                                      <p:cBhvr>
                                        <p:cTn id="46" dur="664" tmFilter="0.0,0.0; 0.25,0.07; 0.50,0.2; 0.75,0.467; 1.0,1.0">
                                          <p:stCondLst>
                                            <p:cond delay="0"/>
                                          </p:stCondLst>
                                        </p:cTn>
                                        <p:tgtEl>
                                          <p:spTgt spid="184"/>
                                        </p:tgtEl>
                                        <p:attrNameLst>
                                          <p:attrName>ppt_y</p:attrName>
                                        </p:attrNameLst>
                                      </p:cBhvr>
                                      <p:tavLst>
                                        <p:tav tm="0" fmla="#ppt_y-sin(pi*$)/3">
                                          <p:val>
                                            <p:fltVal val="0.5"/>
                                          </p:val>
                                        </p:tav>
                                        <p:tav tm="100000">
                                          <p:val>
                                            <p:fltVal val="1"/>
                                          </p:val>
                                        </p:tav>
                                      </p:tavLst>
                                    </p:anim>
                                    <p:anim calcmode="lin" valueType="num">
                                      <p:cBhvr>
                                        <p:cTn id="47" dur="664" tmFilter="0, 0; 0.125,0.2665; 0.25,0.4; 0.375,0.465; 0.5,0.5;  0.625,0.535; 0.75,0.6; 0.875,0.7335; 1,1">
                                          <p:stCondLst>
                                            <p:cond delay="664"/>
                                          </p:stCondLst>
                                        </p:cTn>
                                        <p:tgtEl>
                                          <p:spTgt spid="184"/>
                                        </p:tgtEl>
                                        <p:attrNameLst>
                                          <p:attrName>ppt_y</p:attrName>
                                        </p:attrNameLst>
                                      </p:cBhvr>
                                      <p:tavLst>
                                        <p:tav tm="0" fmla="#ppt_y-sin(pi*$)/9">
                                          <p:val>
                                            <p:fltVal val="0"/>
                                          </p:val>
                                        </p:tav>
                                        <p:tav tm="100000">
                                          <p:val>
                                            <p:fltVal val="1"/>
                                          </p:val>
                                        </p:tav>
                                      </p:tavLst>
                                    </p:anim>
                                    <p:anim calcmode="lin" valueType="num">
                                      <p:cBhvr>
                                        <p:cTn id="48" dur="332" tmFilter="0, 0; 0.125,0.2665; 0.25,0.4; 0.375,0.465; 0.5,0.5;  0.625,0.535; 0.75,0.6; 0.875,0.7335; 1,1">
                                          <p:stCondLst>
                                            <p:cond delay="1324"/>
                                          </p:stCondLst>
                                        </p:cTn>
                                        <p:tgtEl>
                                          <p:spTgt spid="184"/>
                                        </p:tgtEl>
                                        <p:attrNameLst>
                                          <p:attrName>ppt_y</p:attrName>
                                        </p:attrNameLst>
                                      </p:cBhvr>
                                      <p:tavLst>
                                        <p:tav tm="0" fmla="#ppt_y-sin(pi*$)/27">
                                          <p:val>
                                            <p:fltVal val="0"/>
                                          </p:val>
                                        </p:tav>
                                        <p:tav tm="100000">
                                          <p:val>
                                            <p:fltVal val="1"/>
                                          </p:val>
                                        </p:tav>
                                      </p:tavLst>
                                    </p:anim>
                                    <p:anim calcmode="lin" valueType="num">
                                      <p:cBhvr>
                                        <p:cTn id="49" dur="164" tmFilter="0, 0; 0.125,0.2665; 0.25,0.4; 0.375,0.465; 0.5,0.5;  0.625,0.535; 0.75,0.6; 0.875,0.7335; 1,1">
                                          <p:stCondLst>
                                            <p:cond delay="1656"/>
                                          </p:stCondLst>
                                        </p:cTn>
                                        <p:tgtEl>
                                          <p:spTgt spid="184"/>
                                        </p:tgtEl>
                                        <p:attrNameLst>
                                          <p:attrName>ppt_y</p:attrName>
                                        </p:attrNameLst>
                                      </p:cBhvr>
                                      <p:tavLst>
                                        <p:tav tm="0" fmla="#ppt_y-sin(pi*$)/81">
                                          <p:val>
                                            <p:fltVal val="0"/>
                                          </p:val>
                                        </p:tav>
                                        <p:tav tm="100000">
                                          <p:val>
                                            <p:fltVal val="1"/>
                                          </p:val>
                                        </p:tav>
                                      </p:tavLst>
                                    </p:anim>
                                    <p:animScale>
                                      <p:cBhvr>
                                        <p:cTn id="50" dur="26">
                                          <p:stCondLst>
                                            <p:cond delay="650"/>
                                          </p:stCondLst>
                                        </p:cTn>
                                        <p:tgtEl>
                                          <p:spTgt spid="184"/>
                                        </p:tgtEl>
                                      </p:cBhvr>
                                      <p:to x="100000" y="60000"/>
                                    </p:animScale>
                                    <p:animScale>
                                      <p:cBhvr>
                                        <p:cTn id="51" dur="166" decel="50000">
                                          <p:stCondLst>
                                            <p:cond delay="676"/>
                                          </p:stCondLst>
                                        </p:cTn>
                                        <p:tgtEl>
                                          <p:spTgt spid="184"/>
                                        </p:tgtEl>
                                      </p:cBhvr>
                                      <p:to x="100000" y="100000"/>
                                    </p:animScale>
                                    <p:animScale>
                                      <p:cBhvr>
                                        <p:cTn id="52" dur="26">
                                          <p:stCondLst>
                                            <p:cond delay="1312"/>
                                          </p:stCondLst>
                                        </p:cTn>
                                        <p:tgtEl>
                                          <p:spTgt spid="184"/>
                                        </p:tgtEl>
                                      </p:cBhvr>
                                      <p:to x="100000" y="80000"/>
                                    </p:animScale>
                                    <p:animScale>
                                      <p:cBhvr>
                                        <p:cTn id="53" dur="166" decel="50000">
                                          <p:stCondLst>
                                            <p:cond delay="1338"/>
                                          </p:stCondLst>
                                        </p:cTn>
                                        <p:tgtEl>
                                          <p:spTgt spid="184"/>
                                        </p:tgtEl>
                                      </p:cBhvr>
                                      <p:to x="100000" y="100000"/>
                                    </p:animScale>
                                    <p:animScale>
                                      <p:cBhvr>
                                        <p:cTn id="54" dur="26">
                                          <p:stCondLst>
                                            <p:cond delay="1642"/>
                                          </p:stCondLst>
                                        </p:cTn>
                                        <p:tgtEl>
                                          <p:spTgt spid="184"/>
                                        </p:tgtEl>
                                      </p:cBhvr>
                                      <p:to x="100000" y="90000"/>
                                    </p:animScale>
                                    <p:animScale>
                                      <p:cBhvr>
                                        <p:cTn id="55" dur="166" decel="50000">
                                          <p:stCondLst>
                                            <p:cond delay="1668"/>
                                          </p:stCondLst>
                                        </p:cTn>
                                        <p:tgtEl>
                                          <p:spTgt spid="184"/>
                                        </p:tgtEl>
                                      </p:cBhvr>
                                      <p:to x="100000" y="100000"/>
                                    </p:animScale>
                                    <p:animScale>
                                      <p:cBhvr>
                                        <p:cTn id="56" dur="26">
                                          <p:stCondLst>
                                            <p:cond delay="1808"/>
                                          </p:stCondLst>
                                        </p:cTn>
                                        <p:tgtEl>
                                          <p:spTgt spid="184"/>
                                        </p:tgtEl>
                                      </p:cBhvr>
                                      <p:to x="100000" y="95000"/>
                                    </p:animScale>
                                    <p:animScale>
                                      <p:cBhvr>
                                        <p:cTn id="57" dur="166" decel="50000">
                                          <p:stCondLst>
                                            <p:cond delay="1834"/>
                                          </p:stCondLst>
                                        </p:cTn>
                                        <p:tgtEl>
                                          <p:spTgt spid="184"/>
                                        </p:tgtEl>
                                      </p:cBhvr>
                                      <p:to x="100000" y="100000"/>
                                    </p:animScale>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14">
                                            <p:txEl>
                                              <p:pRg st="2" end="2"/>
                                            </p:txEl>
                                          </p:spTgt>
                                        </p:tgtEl>
                                        <p:attrNameLst>
                                          <p:attrName>style.visibility</p:attrName>
                                        </p:attrNameLst>
                                      </p:cBhvr>
                                      <p:to>
                                        <p:strVal val="visible"/>
                                      </p:to>
                                    </p:set>
                                    <p:animEffect transition="in" filter="blinds(horizontal)">
                                      <p:cBhvr>
                                        <p:cTn id="62" dur="500"/>
                                        <p:tgtEl>
                                          <p:spTgt spid="14">
                                            <p:txEl>
                                              <p:pRg st="2" end="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3" presetClass="entr" presetSubtype="10" fill="hold" nodeType="clickEffect">
                                  <p:stCondLst>
                                    <p:cond delay="0"/>
                                  </p:stCondLst>
                                  <p:childTnLst>
                                    <p:set>
                                      <p:cBhvr>
                                        <p:cTn id="66" dur="1" fill="hold">
                                          <p:stCondLst>
                                            <p:cond delay="0"/>
                                          </p:stCondLst>
                                        </p:cTn>
                                        <p:tgtEl>
                                          <p:spTgt spid="14">
                                            <p:txEl>
                                              <p:pRg st="5" end="5"/>
                                            </p:txEl>
                                          </p:spTgt>
                                        </p:tgtEl>
                                        <p:attrNameLst>
                                          <p:attrName>style.visibility</p:attrName>
                                        </p:attrNameLst>
                                      </p:cBhvr>
                                      <p:to>
                                        <p:strVal val="visible"/>
                                      </p:to>
                                    </p:set>
                                    <p:animEffect transition="in" filter="blinds(horizontal)">
                                      <p:cBhvr>
                                        <p:cTn id="67" dur="500"/>
                                        <p:tgtEl>
                                          <p:spTgt spid="1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4" grpId="0"/>
      <p:bldP spid="184"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lang="zh-CN" altLang="en-US">
                <a:solidFill>
                  <a:schemeClr val="tx1"/>
                </a:solidFill>
              </a:rPr>
              <a:t>配置管理</a:t>
            </a:r>
            <a:r>
              <a:rPr lang="en-US" altLang="zh-CN">
                <a:solidFill>
                  <a:schemeClr val="tx1"/>
                </a:solidFill>
              </a:rPr>
              <a:t>-</a:t>
            </a:r>
            <a:r>
              <a:rPr lang="zh-CN" altLang="en-US">
                <a:solidFill>
                  <a:srgbClr val="FF0000"/>
                </a:solidFill>
              </a:rPr>
              <a:t>流程图</a:t>
            </a:r>
            <a:endParaRPr lang="zh-CN" altLang="en-US">
              <a:solidFill>
                <a:srgbClr val="FF0000"/>
              </a:solidFill>
            </a:endParaRPr>
          </a:p>
        </p:txBody>
      </p:sp>
      <p:pic>
        <p:nvPicPr>
          <p:cNvPr id="3" name="图片 2"/>
          <p:cNvPicPr>
            <a:picLocks noChangeAspect="1"/>
          </p:cNvPicPr>
          <p:nvPr/>
        </p:nvPicPr>
        <p:blipFill>
          <a:blip r:embed="rId1"/>
          <a:stretch>
            <a:fillRect/>
          </a:stretch>
        </p:blipFill>
        <p:spPr>
          <a:xfrm>
            <a:off x="627380" y="791210"/>
            <a:ext cx="7257415" cy="5593715"/>
          </a:xfrm>
          <a:prstGeom prst="rect">
            <a:avLst/>
          </a:prstGeom>
        </p:spPr>
      </p:pic>
      <p:sp>
        <p:nvSpPr>
          <p:cNvPr id="14" name="Rectangle 28"/>
          <p:cNvSpPr/>
          <p:nvPr/>
        </p:nvSpPr>
        <p:spPr>
          <a:xfrm>
            <a:off x="7981315" y="1632585"/>
            <a:ext cx="4142740" cy="2583180"/>
          </a:xfrm>
          <a:prstGeom prst="rect">
            <a:avLst/>
          </a:prstGeom>
        </p:spPr>
        <p:txBody>
          <a:bodyPr wrap="square" lIns="91428" tIns="45714" rIns="91428" bIns="45714">
            <a:spAutoFit/>
          </a:bodyPr>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 配置管理员根据立项</a:t>
            </a:r>
            <a:r>
              <a:rPr lang="zh-CN" sz="1800">
                <a:latin typeface="+mn-ea"/>
                <a:sym typeface="+mn-lt"/>
              </a:rPr>
              <a:t>信息</a:t>
            </a:r>
            <a:r>
              <a:rPr sz="1800">
                <a:latin typeface="+mn-ea"/>
                <a:sym typeface="+mn-lt"/>
              </a:rPr>
              <a:t>，与项目经理沟通，在指定的服务器上创建该项目的物理配置库，提供对应的目录结构(需提交的产品列表)，并为该项目的相关人员分配合适的权限，形成《权限分配表》。</a:t>
            </a:r>
            <a:endParaRPr sz="1800">
              <a:latin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ym typeface="+mn-ea"/>
              </a:rPr>
              <a:t>配置管理</a:t>
            </a:r>
            <a:r>
              <a:rPr lang="en-US" altLang="zh-CN">
                <a:sym typeface="+mn-ea"/>
              </a:rPr>
              <a:t>-</a:t>
            </a:r>
            <a:r>
              <a:rPr lang="zh-CN" altLang="en-US">
                <a:solidFill>
                  <a:srgbClr val="FF0000"/>
                </a:solidFill>
              </a:rPr>
              <a:t>创建配置管理环</a:t>
            </a:r>
            <a:r>
              <a:rPr lang="zh-CN" altLang="en-US">
                <a:solidFill>
                  <a:srgbClr val="FF0000"/>
                </a:solidFill>
              </a:rPr>
              <a:t>境</a:t>
            </a:r>
            <a:endParaRPr lang="zh-CN" altLang="en-US">
              <a:solidFill>
                <a:srgbClr val="FF0000"/>
              </a:solidFill>
            </a:endParaRPr>
          </a:p>
        </p:txBody>
      </p:sp>
      <p:sp>
        <p:nvSpPr>
          <p:cNvPr id="49" name="Rectangle 28"/>
          <p:cNvSpPr/>
          <p:nvPr/>
        </p:nvSpPr>
        <p:spPr>
          <a:xfrm>
            <a:off x="771881" y="917175"/>
            <a:ext cx="10648254" cy="2583180"/>
          </a:xfrm>
          <a:prstGeom prst="rect">
            <a:avLst/>
          </a:prstGeom>
        </p:spPr>
        <p:txBody>
          <a:bodyPr wrap="square" lIns="91428" tIns="45714" rIns="91428" bIns="45714">
            <a:spAutoFit/>
          </a:bodyPr>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开发库：用于存放项目期间处于</a:t>
            </a:r>
            <a:r>
              <a:rPr sz="1800">
                <a:solidFill>
                  <a:srgbClr val="FF0000"/>
                </a:solidFill>
                <a:latin typeface="+mn-ea"/>
                <a:sym typeface="+mn-lt"/>
              </a:rPr>
              <a:t>开发状态</a:t>
            </a:r>
            <a:r>
              <a:rPr sz="1800">
                <a:latin typeface="+mn-ea"/>
                <a:sym typeface="+mn-lt"/>
              </a:rPr>
              <a:t>的相关文档、代码、图纸，以及存放项目组工作期间的相关沟通记录等，并为变更实施提供工作空间。配置管理员不对其中的内容进行控制，其中存放的内容由</a:t>
            </a:r>
            <a:r>
              <a:rPr sz="1800">
                <a:effectLst>
                  <a:outerShdw blurRad="38100" dist="38100" dir="2700000" algn="tl">
                    <a:srgbClr val="000000">
                      <a:alpha val="43137"/>
                    </a:srgbClr>
                  </a:outerShdw>
                </a:effectLst>
                <a:latin typeface="+mn-ea"/>
                <a:sym typeface="+mn-lt"/>
              </a:rPr>
              <a:t>项目经理</a:t>
            </a:r>
            <a:r>
              <a:rPr sz="1800">
                <a:latin typeface="+mn-ea"/>
                <a:sym typeface="+mn-lt"/>
              </a:rPr>
              <a:t>负责</a:t>
            </a:r>
            <a:r>
              <a:rPr lang="zh-CN" sz="1800">
                <a:latin typeface="+mn-ea"/>
                <a:sym typeface="+mn-lt"/>
              </a:rPr>
              <a:t>；</a:t>
            </a:r>
            <a:endParaRPr lang="zh-CN" sz="1800">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基线库：建立以用来存放项目中</a:t>
            </a:r>
            <a:r>
              <a:rPr sz="1800">
                <a:solidFill>
                  <a:srgbClr val="FF0000"/>
                </a:solidFill>
                <a:latin typeface="+mn-ea"/>
                <a:sym typeface="+mn-lt"/>
              </a:rPr>
              <a:t>通过评审</a:t>
            </a:r>
            <a:r>
              <a:rPr sz="1800">
                <a:latin typeface="+mn-ea"/>
                <a:sym typeface="+mn-lt"/>
              </a:rPr>
              <a:t>形成基线的配置项的库。配置管理员对其中的内容负责；</a:t>
            </a:r>
            <a:endParaRPr sz="1800">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sz="1800">
                <a:latin typeface="+mn-ea"/>
                <a:sym typeface="+mn-lt"/>
              </a:rPr>
              <a:t>产品库：建立以用来存放</a:t>
            </a:r>
            <a:r>
              <a:rPr sz="1800">
                <a:solidFill>
                  <a:srgbClr val="FF0000"/>
                </a:solidFill>
                <a:latin typeface="+mn-ea"/>
                <a:sym typeface="+mn-lt"/>
              </a:rPr>
              <a:t>发布后</a:t>
            </a:r>
            <a:r>
              <a:rPr sz="1800">
                <a:latin typeface="+mn-ea"/>
                <a:sym typeface="+mn-lt"/>
              </a:rPr>
              <a:t>的配置项的库，包含基线发布和最终产品发布。配置管理员对其中的内容负责。</a:t>
            </a:r>
            <a:endParaRPr sz="1800">
              <a:latin typeface="+mn-ea"/>
              <a:sym typeface="+mn-lt"/>
            </a:endParaRPr>
          </a:p>
        </p:txBody>
      </p:sp>
      <p:graphicFrame>
        <p:nvGraphicFramePr>
          <p:cNvPr id="10241" name="Object 1"/>
          <p:cNvGraphicFramePr>
            <a:graphicFrameLocks noChangeAspect="1"/>
          </p:cNvGraphicFramePr>
          <p:nvPr/>
        </p:nvGraphicFramePr>
        <p:xfrm>
          <a:off x="2009775" y="3500120"/>
          <a:ext cx="6924040" cy="2930525"/>
        </p:xfrm>
        <a:graphic>
          <a:graphicData uri="http://schemas.openxmlformats.org/presentationml/2006/ole">
            <mc:AlternateContent xmlns:mc="http://schemas.openxmlformats.org/markup-compatibility/2006">
              <mc:Choice xmlns:v="urn:schemas-microsoft-com:vml" Requires="v">
                <p:oleObj spid="_x0000_s1025" name="Visio" r:id="rId1" imgW="9335770" imgH="3837940" progId="Visio.Drawing.11">
                  <p:embed/>
                </p:oleObj>
              </mc:Choice>
              <mc:Fallback>
                <p:oleObj name="Visio" r:id="rId1" imgW="9335770" imgH="3837940" progId="Visio.Drawing.11">
                  <p:embed/>
                  <p:pic>
                    <p:nvPicPr>
                      <p:cNvPr id="0" name="图片 1024" descr="image4"/>
                      <p:cNvPicPr>
                        <a:picLocks noChangeAspect="1"/>
                      </p:cNvPicPr>
                      <p:nvPr/>
                    </p:nvPicPr>
                    <p:blipFill>
                      <a:blip r:embed="rId2"/>
                      <a:stretch>
                        <a:fillRect/>
                      </a:stretch>
                    </p:blipFill>
                    <p:spPr>
                      <a:xfrm>
                        <a:off x="2009775" y="3500120"/>
                        <a:ext cx="6924040" cy="2930525"/>
                      </a:xfrm>
                      <a:prstGeom prst="rect">
                        <a:avLst/>
                      </a:prstGeom>
                      <a:solidFill>
                        <a:schemeClr val="accent4">
                          <a:lumMod val="20000"/>
                          <a:lumOff val="80000"/>
                        </a:schemeClr>
                      </a:solid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ym typeface="+mn-ea"/>
              </a:rPr>
              <a:t>配置管理</a:t>
            </a:r>
            <a:r>
              <a:rPr lang="en-US" altLang="zh-CN">
                <a:sym typeface="+mn-ea"/>
              </a:rPr>
              <a:t>-</a:t>
            </a:r>
            <a:r>
              <a:rPr lang="zh-CN" altLang="en-US">
                <a:solidFill>
                  <a:srgbClr val="FF0000"/>
                </a:solidFill>
              </a:rPr>
              <a:t>标识配置项</a:t>
            </a:r>
            <a:endParaRPr>
              <a:solidFill>
                <a:srgbClr val="FF0000"/>
              </a:solidFill>
            </a:endParaRPr>
          </a:p>
        </p:txBody>
      </p:sp>
      <p:sp>
        <p:nvSpPr>
          <p:cNvPr id="49" name="Rectangle 28"/>
          <p:cNvSpPr/>
          <p:nvPr/>
        </p:nvSpPr>
        <p:spPr>
          <a:xfrm>
            <a:off x="771881" y="917175"/>
            <a:ext cx="10648254" cy="5491480"/>
          </a:xfrm>
          <a:prstGeom prst="rect">
            <a:avLst/>
          </a:prstGeom>
        </p:spPr>
        <p:txBody>
          <a:bodyPr wrap="square" lIns="91428" tIns="45714" rIns="91428" bIns="45714">
            <a:spAutoFit/>
          </a:bodyPr>
          <a:p>
            <a:pPr indent="0" fontAlgn="base">
              <a:lnSpc>
                <a:spcPct val="150000"/>
              </a:lnSpc>
              <a:spcBef>
                <a:spcPct val="0"/>
              </a:spcBef>
              <a:spcAft>
                <a:spcPct val="0"/>
              </a:spcAft>
              <a:buFont typeface="Wingdings" panose="05000000000000000000" pitchFamily="2" charset="2"/>
              <a:buNone/>
            </a:pPr>
            <a:r>
              <a:rPr lang="zh-CN" sz="1800" b="1">
                <a:latin typeface="+mn-ea"/>
                <a:sym typeface="+mn-lt"/>
              </a:rPr>
              <a:t>标识配置项的意义：</a:t>
            </a:r>
            <a:r>
              <a:rPr lang="zh-CN" sz="1800">
                <a:latin typeface="+mn-ea"/>
                <a:sym typeface="+mn-lt"/>
              </a:rPr>
              <a:t>保存配置项的所有版本，避免发生版本丢失或混淆等现象，并且可以快速准确地查找到配置项的任何版本。这些标识包括：配置项的标识、版本的标识等，详见《配置管理制度》。</a:t>
            </a:r>
            <a:endParaRPr lang="zh-CN" sz="1800" b="1">
              <a:effectLst/>
              <a:latin typeface="+mn-ea"/>
              <a:cs typeface="+mn-ea"/>
              <a:sym typeface="+mn-lt"/>
            </a:endParaRPr>
          </a:p>
          <a:p>
            <a:pPr marL="285750" indent="-285750" fontAlgn="base">
              <a:lnSpc>
                <a:spcPct val="150000"/>
              </a:lnSpc>
              <a:spcBef>
                <a:spcPct val="0"/>
              </a:spcBef>
              <a:spcAft>
                <a:spcPct val="0"/>
              </a:spcAft>
              <a:buFont typeface="Wingdings" panose="05000000000000000000" charset="0"/>
              <a:buChar char="n"/>
            </a:pPr>
            <a:r>
              <a:rPr lang="zh-CN" sz="1800" b="1">
                <a:effectLst/>
                <a:latin typeface="+mn-ea"/>
                <a:cs typeface="+mn-ea"/>
                <a:sym typeface="+mn-lt"/>
              </a:rPr>
              <a:t>版本号命名的基本规则：</a:t>
            </a:r>
            <a:endParaRPr sz="1800">
              <a:effectLst/>
              <a:latin typeface="+mn-ea"/>
              <a:cs typeface="+mn-ea"/>
              <a:sym typeface="+mn-lt"/>
            </a:endParaRPr>
          </a:p>
          <a:p>
            <a:pPr indent="0" fontAlgn="base">
              <a:lnSpc>
                <a:spcPct val="150000"/>
              </a:lnSpc>
              <a:spcBef>
                <a:spcPct val="0"/>
              </a:spcBef>
              <a:spcAft>
                <a:spcPct val="0"/>
              </a:spcAft>
              <a:buFont typeface="Arial" panose="020B0604020202020204" pitchFamily="34" charset="0"/>
              <a:buNone/>
            </a:pPr>
            <a:r>
              <a:rPr sz="1800">
                <a:effectLst/>
                <a:latin typeface="+mn-ea"/>
                <a:cs typeface="+mn-ea"/>
                <a:sym typeface="+mn-lt"/>
              </a:rPr>
              <a:t>版本号使用时，直接在文档名称后面括号标识，如：</a:t>
            </a:r>
            <a:r>
              <a:rPr lang="en-US" sz="1800">
                <a:effectLst/>
                <a:latin typeface="+mn-ea"/>
                <a:cs typeface="+mn-ea"/>
                <a:sym typeface="+mn-lt"/>
              </a:rPr>
              <a:t>XXXX-</a:t>
            </a:r>
            <a:r>
              <a:rPr sz="1800">
                <a:effectLst/>
                <a:latin typeface="+mn-ea"/>
                <a:cs typeface="+mn-ea"/>
                <a:sym typeface="+mn-lt"/>
              </a:rPr>
              <a:t>项目可行性分析报告（V1.00）</a:t>
            </a:r>
            <a:r>
              <a:rPr lang="zh-CN" sz="1800">
                <a:effectLst/>
                <a:latin typeface="+mn-ea"/>
                <a:cs typeface="+mn-ea"/>
                <a:sym typeface="+mn-lt"/>
              </a:rPr>
              <a:t>。</a:t>
            </a:r>
            <a:endParaRPr sz="1800">
              <a:effectLst/>
              <a:latin typeface="+mn-ea"/>
              <a:cs typeface="+mn-ea"/>
              <a:sym typeface="+mn-lt"/>
            </a:endParaRPr>
          </a:p>
          <a:p>
            <a:pPr marL="285750" indent="-285750" fontAlgn="base">
              <a:lnSpc>
                <a:spcPct val="150000"/>
              </a:lnSpc>
              <a:spcBef>
                <a:spcPct val="0"/>
              </a:spcBef>
              <a:spcAft>
                <a:spcPct val="0"/>
              </a:spcAft>
              <a:buFont typeface="Arial" panose="020B0604020202020204" pitchFamily="34" charset="0"/>
              <a:buChar char="•"/>
            </a:pPr>
            <a:r>
              <a:rPr sz="1800">
                <a:effectLst/>
                <a:latin typeface="+mn-ea"/>
                <a:cs typeface="+mn-ea"/>
                <a:sym typeface="+mn-lt"/>
              </a:rPr>
              <a:t>文档只有小的修改，不影响到整个文档和段落的意思，升级文档版本号中第三位的数字，如版本</a:t>
            </a:r>
            <a:r>
              <a:rPr lang="zh-CN" sz="1800">
                <a:effectLst/>
                <a:latin typeface="+mn-ea"/>
                <a:cs typeface="+mn-ea"/>
                <a:sym typeface="+mn-lt"/>
              </a:rPr>
              <a:t>从</a:t>
            </a:r>
            <a:r>
              <a:rPr sz="1800">
                <a:effectLst/>
                <a:latin typeface="+mn-ea"/>
                <a:cs typeface="+mn-ea"/>
                <a:sym typeface="+mn-lt"/>
              </a:rPr>
              <a:t>V1.00变为V1.01</a:t>
            </a:r>
            <a:r>
              <a:rPr lang="zh-CN" sz="1800">
                <a:effectLst/>
                <a:latin typeface="+mn-ea"/>
                <a:cs typeface="+mn-ea"/>
                <a:sym typeface="+mn-lt"/>
              </a:rPr>
              <a:t>；</a:t>
            </a:r>
            <a:endParaRPr sz="1800">
              <a:effectLst/>
              <a:latin typeface="+mn-ea"/>
              <a:cs typeface="+mn-ea"/>
              <a:sym typeface="+mn-lt"/>
            </a:endParaRPr>
          </a:p>
          <a:p>
            <a:pPr marL="285750" indent="-285750" fontAlgn="base">
              <a:lnSpc>
                <a:spcPct val="150000"/>
              </a:lnSpc>
              <a:spcBef>
                <a:spcPct val="0"/>
              </a:spcBef>
              <a:spcAft>
                <a:spcPct val="0"/>
              </a:spcAft>
              <a:buFont typeface="Arial" panose="020B0604020202020204" pitchFamily="34" charset="0"/>
              <a:buChar char="•"/>
            </a:pPr>
            <a:r>
              <a:rPr sz="1800">
                <a:effectLst/>
                <a:latin typeface="+mn-ea"/>
                <a:cs typeface="+mn-ea"/>
                <a:sym typeface="+mn-lt"/>
              </a:rPr>
              <a:t>文档只有小的修改，不影响到整个文档和段落的意思，且修改涉及位置超过3处时，进行文档版本号中第二位的数字升级，如文档版本从V1.00变更为V1.10</a:t>
            </a:r>
            <a:r>
              <a:rPr lang="zh-CN" sz="1800">
                <a:effectLst/>
                <a:latin typeface="+mn-ea"/>
                <a:cs typeface="+mn-ea"/>
                <a:sym typeface="+mn-lt"/>
              </a:rPr>
              <a:t>；</a:t>
            </a:r>
            <a:endParaRPr sz="1800">
              <a:effectLst/>
              <a:latin typeface="+mn-ea"/>
              <a:cs typeface="+mn-ea"/>
              <a:sym typeface="+mn-lt"/>
            </a:endParaRPr>
          </a:p>
          <a:p>
            <a:pPr marL="285750" indent="-285750" fontAlgn="base">
              <a:lnSpc>
                <a:spcPct val="150000"/>
              </a:lnSpc>
              <a:spcBef>
                <a:spcPct val="0"/>
              </a:spcBef>
              <a:spcAft>
                <a:spcPct val="0"/>
              </a:spcAft>
              <a:buFont typeface="Arial" panose="020B0604020202020204" pitchFamily="34" charset="0"/>
              <a:buChar char="•"/>
            </a:pPr>
            <a:r>
              <a:rPr sz="1800">
                <a:effectLst/>
                <a:latin typeface="+mn-ea"/>
                <a:cs typeface="+mn-ea"/>
                <a:sym typeface="+mn-lt"/>
              </a:rPr>
              <a:t>文档有较大的变动，已经改变了整篇文档的意思，则需要进行文档版本号第一位的数字升级，如V1.00升级为V2.00；</a:t>
            </a:r>
            <a:endParaRPr sz="1800">
              <a:effectLst/>
              <a:latin typeface="+mn-ea"/>
              <a:cs typeface="+mn-ea"/>
              <a:sym typeface="+mn-lt"/>
            </a:endParaRPr>
          </a:p>
          <a:p>
            <a:pPr marL="285750" indent="-285750" fontAlgn="base">
              <a:lnSpc>
                <a:spcPct val="150000"/>
              </a:lnSpc>
              <a:spcBef>
                <a:spcPct val="0"/>
              </a:spcBef>
              <a:spcAft>
                <a:spcPct val="0"/>
              </a:spcAft>
              <a:buFont typeface="Arial" panose="020B0604020202020204" pitchFamily="34" charset="0"/>
              <a:buChar char="•"/>
            </a:pPr>
            <a:r>
              <a:rPr sz="1800">
                <a:effectLst/>
                <a:latin typeface="+mn-ea"/>
                <a:cs typeface="+mn-ea"/>
                <a:sym typeface="+mn-lt"/>
              </a:rPr>
              <a:t>评审通过的版本，第三位统一归零</a:t>
            </a:r>
            <a:r>
              <a:rPr lang="zh-CN" sz="1800">
                <a:effectLst/>
                <a:latin typeface="+mn-ea"/>
                <a:cs typeface="+mn-ea"/>
                <a:sym typeface="+mn-lt"/>
              </a:rPr>
              <a:t>。</a:t>
            </a:r>
            <a:r>
              <a:rPr sz="1800">
                <a:effectLst/>
                <a:latin typeface="+mn-ea"/>
                <a:cs typeface="+mn-ea"/>
                <a:sym typeface="+mn-lt"/>
              </a:rPr>
              <a:t>任意一位上数字为"9"升级时，则此位归"0"，且前面一位版本号升级一位，如V1.09升级后为V1.10。</a:t>
            </a:r>
            <a:endParaRPr sz="1800">
              <a:effectLst/>
              <a:latin typeface="+mn-ea"/>
              <a:cs typeface="+mn-ea"/>
              <a:sym typeface="+mn-lt"/>
            </a:endParaRPr>
          </a:p>
          <a:p>
            <a:pPr indent="0" fontAlgn="base">
              <a:lnSpc>
                <a:spcPct val="150000"/>
              </a:lnSpc>
              <a:spcBef>
                <a:spcPct val="0"/>
              </a:spcBef>
              <a:spcAft>
                <a:spcPct val="0"/>
              </a:spcAft>
              <a:buFont typeface="Wingdings" panose="05000000000000000000" pitchFamily="2" charset="2"/>
              <a:buNone/>
            </a:pPr>
            <a:r>
              <a:rPr sz="1800">
                <a:effectLst>
                  <a:outerShdw blurRad="38100" dist="38100" dir="2700000" algn="tl">
                    <a:srgbClr val="000000">
                      <a:alpha val="43137"/>
                    </a:srgbClr>
                  </a:outerShdw>
                </a:effectLst>
                <a:latin typeface="+mn-ea"/>
                <a:cs typeface="+mn-ea"/>
                <a:sym typeface="+mn-lt"/>
              </a:rPr>
              <a:t>不管文档版本号是否升级，每次修改都要在首页的</a:t>
            </a:r>
            <a:r>
              <a:rPr lang="zh-CN" sz="1800">
                <a:effectLst>
                  <a:outerShdw blurRad="38100" dist="38100" dir="2700000" algn="tl">
                    <a:srgbClr val="000000">
                      <a:alpha val="43137"/>
                    </a:srgbClr>
                  </a:outerShdw>
                </a:effectLst>
                <a:latin typeface="+mn-ea"/>
                <a:cs typeface="+mn-ea"/>
                <a:sym typeface="+mn-lt"/>
              </a:rPr>
              <a:t>修订</a:t>
            </a:r>
            <a:r>
              <a:rPr sz="1800">
                <a:effectLst>
                  <a:outerShdw blurRad="38100" dist="38100" dir="2700000" algn="tl">
                    <a:srgbClr val="000000">
                      <a:alpha val="43137"/>
                    </a:srgbClr>
                  </a:outerShdw>
                </a:effectLst>
                <a:latin typeface="+mn-ea"/>
                <a:cs typeface="+mn-ea"/>
                <a:sym typeface="+mn-lt"/>
              </a:rPr>
              <a:t>履历中记录。</a:t>
            </a:r>
            <a:endParaRPr sz="1800">
              <a:effectLst>
                <a:outerShdw blurRad="38100" dist="38100" dir="2700000" algn="tl">
                  <a:srgbClr val="000000">
                    <a:alpha val="43137"/>
                  </a:srgbClr>
                </a:outerShdw>
              </a:effectLst>
              <a:latin typeface="+mn-ea"/>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49">
                                            <p:txEl>
                                              <p:pRg st="1" end="1"/>
                                            </p:txEl>
                                          </p:spTgt>
                                        </p:tgtEl>
                                        <p:attrNameLst>
                                          <p:attrName>style.visibility</p:attrName>
                                        </p:attrNameLst>
                                      </p:cBhvr>
                                      <p:to>
                                        <p:strVal val="visible"/>
                                      </p:to>
                                    </p:set>
                                    <p:animEffect transition="in" filter="randombar(horizontal)">
                                      <p:cBhvr>
                                        <p:cTn id="11" dur="500"/>
                                        <p:tgtEl>
                                          <p:spTgt spid="49">
                                            <p:txEl>
                                              <p:pRg st="1" end="1"/>
                                            </p:txEl>
                                          </p:spTgt>
                                        </p:tgtEl>
                                      </p:cBhvr>
                                    </p:animEffect>
                                  </p:childTnLst>
                                </p:cTn>
                              </p:par>
                              <p:par>
                                <p:cTn id="12" presetID="14" presetClass="entr" presetSubtype="10" fill="hold" nodeType="withEffect">
                                  <p:stCondLst>
                                    <p:cond delay="0"/>
                                  </p:stCondLst>
                                  <p:childTnLst>
                                    <p:set>
                                      <p:cBhvr>
                                        <p:cTn id="13" dur="1" fill="hold">
                                          <p:stCondLst>
                                            <p:cond delay="0"/>
                                          </p:stCondLst>
                                        </p:cTn>
                                        <p:tgtEl>
                                          <p:spTgt spid="49">
                                            <p:txEl>
                                              <p:pRg st="2" end="2"/>
                                            </p:txEl>
                                          </p:spTgt>
                                        </p:tgtEl>
                                        <p:attrNameLst>
                                          <p:attrName>style.visibility</p:attrName>
                                        </p:attrNameLst>
                                      </p:cBhvr>
                                      <p:to>
                                        <p:strVal val="visible"/>
                                      </p:to>
                                    </p:set>
                                    <p:animEffect transition="in" filter="randombar(horizontal)">
                                      <p:cBhvr>
                                        <p:cTn id="14" dur="500"/>
                                        <p:tgtEl>
                                          <p:spTgt spid="49">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49">
                                            <p:txEl>
                                              <p:pRg st="3" end="3"/>
                                            </p:txEl>
                                          </p:spTgt>
                                        </p:tgtEl>
                                        <p:attrNameLst>
                                          <p:attrName>style.visibility</p:attrName>
                                        </p:attrNameLst>
                                      </p:cBhvr>
                                      <p:to>
                                        <p:strVal val="visible"/>
                                      </p:to>
                                    </p:set>
                                    <p:animEffect transition="in" filter="randombar(horizontal)">
                                      <p:cBhvr>
                                        <p:cTn id="19" dur="500"/>
                                        <p:tgtEl>
                                          <p:spTgt spid="49">
                                            <p:txEl>
                                              <p:pRg st="3" end="3"/>
                                            </p:txEl>
                                          </p:spTgt>
                                        </p:tgtEl>
                                      </p:cBhvr>
                                    </p:animEffect>
                                  </p:childTnLst>
                                </p:cTn>
                              </p:par>
                              <p:par>
                                <p:cTn id="20" presetID="14" presetClass="entr" presetSubtype="10" fill="hold" nodeType="withEffect">
                                  <p:stCondLst>
                                    <p:cond delay="0"/>
                                  </p:stCondLst>
                                  <p:childTnLst>
                                    <p:set>
                                      <p:cBhvr>
                                        <p:cTn id="21" dur="1" fill="hold">
                                          <p:stCondLst>
                                            <p:cond delay="0"/>
                                          </p:stCondLst>
                                        </p:cTn>
                                        <p:tgtEl>
                                          <p:spTgt spid="49">
                                            <p:txEl>
                                              <p:pRg st="4" end="4"/>
                                            </p:txEl>
                                          </p:spTgt>
                                        </p:tgtEl>
                                        <p:attrNameLst>
                                          <p:attrName>style.visibility</p:attrName>
                                        </p:attrNameLst>
                                      </p:cBhvr>
                                      <p:to>
                                        <p:strVal val="visible"/>
                                      </p:to>
                                    </p:set>
                                    <p:animEffect transition="in" filter="randombar(horizontal)">
                                      <p:cBhvr>
                                        <p:cTn id="22" dur="500"/>
                                        <p:tgtEl>
                                          <p:spTgt spid="49">
                                            <p:txEl>
                                              <p:pRg st="4" end="4"/>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9">
                                            <p:txEl>
                                              <p:pRg st="5" end="5"/>
                                            </p:txEl>
                                          </p:spTgt>
                                        </p:tgtEl>
                                        <p:attrNameLst>
                                          <p:attrName>style.visibility</p:attrName>
                                        </p:attrNameLst>
                                      </p:cBhvr>
                                      <p:to>
                                        <p:strVal val="visible"/>
                                      </p:to>
                                    </p:set>
                                    <p:animEffect transition="in" filter="randombar(horizontal)">
                                      <p:cBhvr>
                                        <p:cTn id="25" dur="500"/>
                                        <p:tgtEl>
                                          <p:spTgt spid="49">
                                            <p:txEl>
                                              <p:pRg st="5" end="5"/>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49">
                                            <p:txEl>
                                              <p:pRg st="6" end="6"/>
                                            </p:txEl>
                                          </p:spTgt>
                                        </p:tgtEl>
                                        <p:attrNameLst>
                                          <p:attrName>style.visibility</p:attrName>
                                        </p:attrNameLst>
                                      </p:cBhvr>
                                      <p:to>
                                        <p:strVal val="visible"/>
                                      </p:to>
                                    </p:set>
                                    <p:animEffect transition="in" filter="randombar(horizontal)">
                                      <p:cBhvr>
                                        <p:cTn id="28" dur="500"/>
                                        <p:tgtEl>
                                          <p:spTgt spid="49">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49">
                                            <p:txEl>
                                              <p:pRg st="7" end="7"/>
                                            </p:txEl>
                                          </p:spTgt>
                                        </p:tgtEl>
                                        <p:attrNameLst>
                                          <p:attrName>style.visibility</p:attrName>
                                        </p:attrNameLst>
                                      </p:cBhvr>
                                      <p:to>
                                        <p:strVal val="visible"/>
                                      </p:to>
                                    </p:set>
                                    <p:animEffect transition="in" filter="wipe(down)">
                                      <p:cBhvr>
                                        <p:cTn id="33" dur="580">
                                          <p:stCondLst>
                                            <p:cond delay="0"/>
                                          </p:stCondLst>
                                        </p:cTn>
                                        <p:tgtEl>
                                          <p:spTgt spid="49">
                                            <p:txEl>
                                              <p:pRg st="7" end="7"/>
                                            </p:txEl>
                                          </p:spTgt>
                                        </p:tgtEl>
                                      </p:cBhvr>
                                    </p:animEffect>
                                    <p:anim calcmode="lin" valueType="num">
                                      <p:cBhvr>
                                        <p:cTn id="34" dur="1822" tmFilter="0,0; 0.14,0.36; 0.43,0.73; 0.71,0.91; 1.0,1.0">
                                          <p:stCondLst>
                                            <p:cond delay="0"/>
                                          </p:stCondLst>
                                        </p:cTn>
                                        <p:tgtEl>
                                          <p:spTgt spid="49">
                                            <p:txEl>
                                              <p:pRg st="7" end="7"/>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49">
                                            <p:txEl>
                                              <p:pRg st="7" end="7"/>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49">
                                            <p:txEl>
                                              <p:pRg st="7" end="7"/>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49">
                                            <p:txEl>
                                              <p:pRg st="7" end="7"/>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49">
                                            <p:txEl>
                                              <p:pRg st="7" end="7"/>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49">
                                            <p:txEl>
                                              <p:pRg st="7" end="7"/>
                                            </p:txEl>
                                          </p:spTgt>
                                        </p:tgtEl>
                                      </p:cBhvr>
                                      <p:to x="100000" y="60000"/>
                                    </p:animScale>
                                    <p:animScale>
                                      <p:cBhvr>
                                        <p:cTn id="40" dur="166" decel="50000">
                                          <p:stCondLst>
                                            <p:cond delay="676"/>
                                          </p:stCondLst>
                                        </p:cTn>
                                        <p:tgtEl>
                                          <p:spTgt spid="49">
                                            <p:txEl>
                                              <p:pRg st="7" end="7"/>
                                            </p:txEl>
                                          </p:spTgt>
                                        </p:tgtEl>
                                      </p:cBhvr>
                                      <p:to x="100000" y="100000"/>
                                    </p:animScale>
                                    <p:animScale>
                                      <p:cBhvr>
                                        <p:cTn id="41" dur="26">
                                          <p:stCondLst>
                                            <p:cond delay="1312"/>
                                          </p:stCondLst>
                                        </p:cTn>
                                        <p:tgtEl>
                                          <p:spTgt spid="49">
                                            <p:txEl>
                                              <p:pRg st="7" end="7"/>
                                            </p:txEl>
                                          </p:spTgt>
                                        </p:tgtEl>
                                      </p:cBhvr>
                                      <p:to x="100000" y="80000"/>
                                    </p:animScale>
                                    <p:animScale>
                                      <p:cBhvr>
                                        <p:cTn id="42" dur="166" decel="50000">
                                          <p:stCondLst>
                                            <p:cond delay="1338"/>
                                          </p:stCondLst>
                                        </p:cTn>
                                        <p:tgtEl>
                                          <p:spTgt spid="49">
                                            <p:txEl>
                                              <p:pRg st="7" end="7"/>
                                            </p:txEl>
                                          </p:spTgt>
                                        </p:tgtEl>
                                      </p:cBhvr>
                                      <p:to x="100000" y="100000"/>
                                    </p:animScale>
                                    <p:animScale>
                                      <p:cBhvr>
                                        <p:cTn id="43" dur="26">
                                          <p:stCondLst>
                                            <p:cond delay="1642"/>
                                          </p:stCondLst>
                                        </p:cTn>
                                        <p:tgtEl>
                                          <p:spTgt spid="49">
                                            <p:txEl>
                                              <p:pRg st="7" end="7"/>
                                            </p:txEl>
                                          </p:spTgt>
                                        </p:tgtEl>
                                      </p:cBhvr>
                                      <p:to x="100000" y="90000"/>
                                    </p:animScale>
                                    <p:animScale>
                                      <p:cBhvr>
                                        <p:cTn id="44" dur="166" decel="50000">
                                          <p:stCondLst>
                                            <p:cond delay="1668"/>
                                          </p:stCondLst>
                                        </p:cTn>
                                        <p:tgtEl>
                                          <p:spTgt spid="49">
                                            <p:txEl>
                                              <p:pRg st="7" end="7"/>
                                            </p:txEl>
                                          </p:spTgt>
                                        </p:tgtEl>
                                      </p:cBhvr>
                                      <p:to x="100000" y="100000"/>
                                    </p:animScale>
                                    <p:animScale>
                                      <p:cBhvr>
                                        <p:cTn id="45" dur="26">
                                          <p:stCondLst>
                                            <p:cond delay="1808"/>
                                          </p:stCondLst>
                                        </p:cTn>
                                        <p:tgtEl>
                                          <p:spTgt spid="49">
                                            <p:txEl>
                                              <p:pRg st="7" end="7"/>
                                            </p:txEl>
                                          </p:spTgt>
                                        </p:tgtEl>
                                      </p:cBhvr>
                                      <p:to x="100000" y="95000"/>
                                    </p:animScale>
                                    <p:animScale>
                                      <p:cBhvr>
                                        <p:cTn id="46" dur="166" decel="50000">
                                          <p:stCondLst>
                                            <p:cond delay="1834"/>
                                          </p:stCondLst>
                                        </p:cTn>
                                        <p:tgtEl>
                                          <p:spTgt spid="49">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normAutofit/>
          </a:bodyPr>
          <a:p>
            <a:pPr algn="just">
              <a:buClrTx/>
              <a:buSzTx/>
              <a:buFontTx/>
            </a:pPr>
            <a:r>
              <a:rPr>
                <a:sym typeface="+mn-ea"/>
              </a:rPr>
              <a:t>配置管理</a:t>
            </a:r>
            <a:r>
              <a:rPr lang="en-US" altLang="zh-CN">
                <a:sym typeface="+mn-ea"/>
              </a:rPr>
              <a:t>-</a:t>
            </a:r>
            <a:r>
              <a:rPr lang="zh-CN" altLang="en-US">
                <a:solidFill>
                  <a:srgbClr val="FF0000"/>
                </a:solidFill>
              </a:rPr>
              <a:t>配置审核</a:t>
            </a:r>
            <a:r>
              <a:rPr>
                <a:solidFill>
                  <a:srgbClr val="FF0000"/>
                </a:solidFill>
              </a:rPr>
              <a:t>/配置审计</a:t>
            </a:r>
            <a:endParaRPr>
              <a:solidFill>
                <a:srgbClr val="FF0000"/>
              </a:solidFill>
            </a:endParaRPr>
          </a:p>
        </p:txBody>
      </p:sp>
      <p:sp>
        <p:nvSpPr>
          <p:cNvPr id="49" name="Rectangle 28"/>
          <p:cNvSpPr/>
          <p:nvPr/>
        </p:nvSpPr>
        <p:spPr>
          <a:xfrm>
            <a:off x="771246" y="915905"/>
            <a:ext cx="10648254" cy="5491480"/>
          </a:xfrm>
          <a:prstGeom prst="rect">
            <a:avLst/>
          </a:prstGeom>
        </p:spPr>
        <p:txBody>
          <a:bodyPr wrap="square" lIns="91428" tIns="45714" rIns="91428" bIns="45714">
            <a:spAutoFit/>
          </a:bodyPr>
          <a:p>
            <a:pPr indent="0" fontAlgn="base">
              <a:lnSpc>
                <a:spcPct val="150000"/>
              </a:lnSpc>
              <a:spcBef>
                <a:spcPct val="0"/>
              </a:spcBef>
              <a:spcAft>
                <a:spcPct val="0"/>
              </a:spcAft>
              <a:buFont typeface="Wingdings" panose="05000000000000000000" pitchFamily="2" charset="2"/>
              <a:buNone/>
            </a:pPr>
            <a:r>
              <a:rPr lang="zh-CN" sz="1800" b="1">
                <a:latin typeface="+mn-ea"/>
                <a:sym typeface="+mn-lt"/>
              </a:rPr>
              <a:t>主要目的：</a:t>
            </a:r>
            <a:endParaRPr lang="zh-CN" sz="1800" b="1">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lang="zh-CN" sz="1800">
                <a:latin typeface="+mn-ea"/>
                <a:sym typeface="+mn-lt"/>
              </a:rPr>
              <a:t>验证配置项对配置标识的一致性。配置审核的实施是为了确保项目配置管理的有效性，体现配置管理的最根本要求，不允许出现任何混乱现象，如：</a:t>
            </a:r>
            <a:endParaRPr lang="zh-CN" sz="1800">
              <a:latin typeface="+mn-ea"/>
              <a:sym typeface="+mn-lt"/>
            </a:endParaRPr>
          </a:p>
          <a:p>
            <a:pPr marL="742950" lvl="1" indent="-285750" fontAlgn="base">
              <a:lnSpc>
                <a:spcPct val="150000"/>
              </a:lnSpc>
              <a:spcBef>
                <a:spcPct val="0"/>
              </a:spcBef>
              <a:spcAft>
                <a:spcPct val="0"/>
              </a:spcAft>
              <a:buFont typeface="Arial" panose="020B0604020202020204" pitchFamily="34" charset="0"/>
              <a:buChar char="•"/>
            </a:pPr>
            <a:r>
              <a:rPr lang="zh-CN" sz="1800">
                <a:latin typeface="+mn-ea"/>
                <a:sym typeface="+mn-lt"/>
              </a:rPr>
              <a:t>防止出现向用户提交不适合的产品，如交付了用户手册的不正确版本；</a:t>
            </a:r>
            <a:endParaRPr lang="zh-CN" sz="1800">
              <a:latin typeface="+mn-ea"/>
              <a:sym typeface="+mn-lt"/>
            </a:endParaRPr>
          </a:p>
          <a:p>
            <a:pPr marL="742950" lvl="1" indent="-285750" fontAlgn="base">
              <a:lnSpc>
                <a:spcPct val="150000"/>
              </a:lnSpc>
              <a:spcBef>
                <a:spcPct val="0"/>
              </a:spcBef>
              <a:spcAft>
                <a:spcPct val="0"/>
              </a:spcAft>
              <a:buFont typeface="Arial" panose="020B0604020202020204" pitchFamily="34" charset="0"/>
              <a:buChar char="•"/>
            </a:pPr>
            <a:r>
              <a:rPr lang="zh-CN" sz="1800">
                <a:latin typeface="+mn-ea"/>
                <a:sym typeface="+mn-lt"/>
              </a:rPr>
              <a:t>发现不完善的实现，如实现不符合初始规格说明书或未按变更请求实施变更；</a:t>
            </a:r>
            <a:endParaRPr lang="zh-CN" sz="1800">
              <a:latin typeface="+mn-ea"/>
              <a:sym typeface="+mn-lt"/>
            </a:endParaRPr>
          </a:p>
          <a:p>
            <a:pPr marL="742950" lvl="1" indent="-285750" fontAlgn="base">
              <a:lnSpc>
                <a:spcPct val="150000"/>
              </a:lnSpc>
              <a:spcBef>
                <a:spcPct val="0"/>
              </a:spcBef>
              <a:spcAft>
                <a:spcPct val="0"/>
              </a:spcAft>
              <a:buFont typeface="Arial" panose="020B0604020202020204" pitchFamily="34" charset="0"/>
              <a:buChar char="•"/>
            </a:pPr>
            <a:r>
              <a:rPr lang="zh-CN" sz="1800">
                <a:latin typeface="+mn-ea"/>
                <a:sym typeface="+mn-lt"/>
              </a:rPr>
              <a:t>确认配置项已在所要求的质量控制审查之后作为基线入库保存；</a:t>
            </a:r>
            <a:endParaRPr lang="zh-CN" sz="1800">
              <a:latin typeface="+mn-ea"/>
              <a:sym typeface="+mn-lt"/>
            </a:endParaRPr>
          </a:p>
          <a:p>
            <a:pPr marL="742950" lvl="1" indent="-285750" fontAlgn="base">
              <a:lnSpc>
                <a:spcPct val="150000"/>
              </a:lnSpc>
              <a:spcBef>
                <a:spcPct val="0"/>
              </a:spcBef>
              <a:spcAft>
                <a:spcPct val="0"/>
              </a:spcAft>
              <a:buFont typeface="Arial" panose="020B0604020202020204" pitchFamily="34" charset="0"/>
              <a:buChar char="•"/>
            </a:pPr>
            <a:r>
              <a:rPr lang="zh-CN" sz="1800">
                <a:latin typeface="+mn-ea"/>
                <a:sym typeface="+mn-lt"/>
              </a:rPr>
              <a:t>确认记录和文档保持着可追溯性。</a:t>
            </a:r>
            <a:endParaRPr lang="zh-CN" sz="1800">
              <a:latin typeface="+mn-ea"/>
              <a:sym typeface="+mn-lt"/>
            </a:endParaRPr>
          </a:p>
          <a:p>
            <a:pPr indent="0" fontAlgn="base">
              <a:lnSpc>
                <a:spcPct val="150000"/>
              </a:lnSpc>
              <a:spcBef>
                <a:spcPct val="0"/>
              </a:spcBef>
              <a:spcAft>
                <a:spcPct val="0"/>
              </a:spcAft>
              <a:buFont typeface="Wingdings" panose="05000000000000000000" pitchFamily="2" charset="2"/>
              <a:buNone/>
            </a:pPr>
            <a:r>
              <a:rPr lang="zh-CN" sz="1800" b="1">
                <a:latin typeface="+mn-ea"/>
                <a:sym typeface="+mn-lt"/>
              </a:rPr>
              <a:t>主要工作：</a:t>
            </a:r>
            <a:endParaRPr lang="zh-CN" sz="1800" b="1">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lang="zh-CN" sz="1800">
                <a:latin typeface="+mn-ea"/>
                <a:sym typeface="+mn-lt"/>
              </a:rPr>
              <a:t>功能审计：验证配置项的实际功能是否与其需求相一致；</a:t>
            </a:r>
            <a:endParaRPr lang="zh-CN" sz="1800">
              <a:latin typeface="+mn-ea"/>
              <a:sym typeface="+mn-lt"/>
            </a:endParaRPr>
          </a:p>
          <a:p>
            <a:pPr marL="285750" indent="-285750" fontAlgn="base">
              <a:lnSpc>
                <a:spcPct val="150000"/>
              </a:lnSpc>
              <a:spcBef>
                <a:spcPct val="0"/>
              </a:spcBef>
              <a:spcAft>
                <a:spcPct val="0"/>
              </a:spcAft>
              <a:buFont typeface="Wingdings" panose="05000000000000000000" pitchFamily="2" charset="2"/>
              <a:buChar char="n"/>
            </a:pPr>
            <a:r>
              <a:rPr lang="zh-CN" sz="1800">
                <a:latin typeface="+mn-ea"/>
                <a:sym typeface="+mn-lt"/>
              </a:rPr>
              <a:t>物理审计：确定配置项是否符合与其的物理特征（指特定的媒体形式）。</a:t>
            </a:r>
            <a:endParaRPr lang="zh-CN" sz="1800">
              <a:effectLst>
                <a:outerShdw blurRad="38100" dist="38100" dir="2700000" algn="tl">
                  <a:srgbClr val="000000">
                    <a:alpha val="43137"/>
                  </a:srgbClr>
                </a:outerShdw>
              </a:effectLst>
              <a:latin typeface="+mn-ea"/>
              <a:sym typeface="+mn-lt"/>
            </a:endParaRPr>
          </a:p>
          <a:p>
            <a:pPr indent="0" fontAlgn="base">
              <a:lnSpc>
                <a:spcPct val="150000"/>
              </a:lnSpc>
              <a:spcBef>
                <a:spcPct val="0"/>
              </a:spcBef>
              <a:spcAft>
                <a:spcPct val="0"/>
              </a:spcAft>
              <a:buFont typeface="Wingdings" panose="05000000000000000000" pitchFamily="2" charset="2"/>
              <a:buNone/>
            </a:pPr>
            <a:r>
              <a:rPr lang="zh-CN" sz="1800">
                <a:effectLst>
                  <a:outerShdw blurRad="38100" dist="38100" dir="2700000" algn="tl">
                    <a:srgbClr val="000000">
                      <a:alpha val="43137"/>
                    </a:srgbClr>
                  </a:outerShdw>
                </a:effectLst>
                <a:latin typeface="+mn-ea"/>
                <a:sym typeface="+mn-lt"/>
              </a:rPr>
              <a:t>物理审计：变更是否有记录；基线所包含的工作产品是否是完整的；是否都是最新版本</a:t>
            </a:r>
            <a:r>
              <a:rPr lang="en-US" altLang="zh-CN" sz="1800">
                <a:effectLst>
                  <a:outerShdw blurRad="38100" dist="38100" dir="2700000" algn="tl">
                    <a:srgbClr val="000000">
                      <a:alpha val="43137"/>
                    </a:srgbClr>
                  </a:outerShdw>
                </a:effectLst>
                <a:latin typeface="+mn-ea"/>
                <a:sym typeface="+mn-lt"/>
              </a:rPr>
              <a:t>……</a:t>
            </a:r>
            <a:endParaRPr lang="zh-CN" sz="1800">
              <a:effectLst>
                <a:outerShdw blurRad="38100" dist="38100" dir="2700000" algn="tl">
                  <a:srgbClr val="000000">
                    <a:alpha val="43137"/>
                  </a:srgbClr>
                </a:outerShdw>
              </a:effectLst>
              <a:latin typeface="+mn-ea"/>
              <a:sym typeface="+mn-lt"/>
            </a:endParaRPr>
          </a:p>
          <a:p>
            <a:pPr indent="0" fontAlgn="base">
              <a:lnSpc>
                <a:spcPct val="150000"/>
              </a:lnSpc>
              <a:spcBef>
                <a:spcPct val="0"/>
              </a:spcBef>
              <a:spcAft>
                <a:spcPct val="0"/>
              </a:spcAft>
              <a:buFont typeface="Wingdings" panose="05000000000000000000" pitchFamily="2" charset="2"/>
              <a:buNone/>
            </a:pPr>
            <a:r>
              <a:rPr lang="zh-CN" sz="1800">
                <a:effectLst>
                  <a:outerShdw blurRad="38100" dist="38100" dir="2700000" algn="tl">
                    <a:srgbClr val="000000">
                      <a:alpha val="43137"/>
                    </a:srgbClr>
                  </a:outerShdw>
                </a:effectLst>
                <a:latin typeface="+mn-ea"/>
                <a:sym typeface="+mn-lt"/>
              </a:rPr>
              <a:t>功能审计：配置项内容是否与需求一致；若有变更，变更是否通过验证；产品的各个部分是否都经过了评审或检查</a:t>
            </a:r>
            <a:r>
              <a:rPr lang="en-US" altLang="zh-CN" sz="1800">
                <a:effectLst>
                  <a:outerShdw blurRad="38100" dist="38100" dir="2700000" algn="tl">
                    <a:srgbClr val="000000">
                      <a:alpha val="43137"/>
                    </a:srgbClr>
                  </a:outerShdw>
                </a:effectLst>
                <a:latin typeface="+mn-ea"/>
                <a:sym typeface="+mn-lt"/>
              </a:rPr>
              <a:t>……</a:t>
            </a:r>
            <a:endParaRPr lang="en-US" altLang="zh-CN" sz="1800">
              <a:effectLst>
                <a:outerShdw blurRad="38100" dist="38100" dir="2700000" algn="tl">
                  <a:srgbClr val="000000">
                    <a:alpha val="43137"/>
                  </a:srgbClr>
                </a:outerShdw>
              </a:effectLst>
              <a:latin typeface="+mn-ea"/>
              <a:sym typeface="+mn-lt"/>
            </a:endParaRPr>
          </a:p>
        </p:txBody>
      </p:sp>
      <p:grpSp>
        <p:nvGrpSpPr>
          <p:cNvPr id="189" name="PA_chenying0907 5"/>
          <p:cNvGrpSpPr/>
          <p:nvPr>
            <p:custDataLst>
              <p:tags r:id="rId1"/>
            </p:custDataLst>
          </p:nvPr>
        </p:nvGrpSpPr>
        <p:grpSpPr>
          <a:xfrm flipH="1">
            <a:off x="8305165" y="3369945"/>
            <a:ext cx="3241675" cy="1678940"/>
            <a:chOff x="3246438" y="1068388"/>
            <a:chExt cx="5711825" cy="4678363"/>
          </a:xfrm>
          <a:solidFill>
            <a:schemeClr val="tx1"/>
          </a:solidFill>
        </p:grpSpPr>
        <p:sp>
          <p:nvSpPr>
            <p:cNvPr id="190" name="chenying0907 5"/>
            <p:cNvSpPr/>
            <p:nvPr/>
          </p:nvSpPr>
          <p:spPr bwMode="auto">
            <a:xfrm>
              <a:off x="3251201" y="3335338"/>
              <a:ext cx="1773238" cy="1609725"/>
            </a:xfrm>
            <a:custGeom>
              <a:avLst/>
              <a:gdLst>
                <a:gd name="T0" fmla="*/ 1697 w 1708"/>
                <a:gd name="T1" fmla="*/ 1365 h 1551"/>
                <a:gd name="T2" fmla="*/ 1422 w 1708"/>
                <a:gd name="T3" fmla="*/ 1470 h 1551"/>
                <a:gd name="T4" fmla="*/ 1072 w 1708"/>
                <a:gd name="T5" fmla="*/ 1471 h 1551"/>
                <a:gd name="T6" fmla="*/ 478 w 1708"/>
                <a:gd name="T7" fmla="*/ 1262 h 1551"/>
                <a:gd name="T8" fmla="*/ 166 w 1708"/>
                <a:gd name="T9" fmla="*/ 672 h 1551"/>
                <a:gd name="T10" fmla="*/ 422 w 1708"/>
                <a:gd name="T11" fmla="*/ 54 h 1551"/>
                <a:gd name="T12" fmla="*/ 393 w 1708"/>
                <a:gd name="T13" fmla="*/ 16 h 1551"/>
                <a:gd name="T14" fmla="*/ 349 w 1708"/>
                <a:gd name="T15" fmla="*/ 1214 h 1551"/>
                <a:gd name="T16" fmla="*/ 906 w 1708"/>
                <a:gd name="T17" fmla="*/ 1500 h 1551"/>
                <a:gd name="T18" fmla="*/ 1579 w 1708"/>
                <a:gd name="T19" fmla="*/ 1467 h 1551"/>
                <a:gd name="T20" fmla="*/ 1704 w 1708"/>
                <a:gd name="T21" fmla="*/ 1373 h 1551"/>
                <a:gd name="T22" fmla="*/ 1697 w 1708"/>
                <a:gd name="T23" fmla="*/ 1365 h 1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08" h="1551">
                  <a:moveTo>
                    <a:pt x="1697" y="1365"/>
                  </a:moveTo>
                  <a:cubicBezTo>
                    <a:pt x="1630" y="1437"/>
                    <a:pt x="1515" y="1458"/>
                    <a:pt x="1422" y="1470"/>
                  </a:cubicBezTo>
                  <a:cubicBezTo>
                    <a:pt x="1307" y="1486"/>
                    <a:pt x="1188" y="1481"/>
                    <a:pt x="1072" y="1471"/>
                  </a:cubicBezTo>
                  <a:cubicBezTo>
                    <a:pt x="854" y="1452"/>
                    <a:pt x="649" y="1407"/>
                    <a:pt x="478" y="1262"/>
                  </a:cubicBezTo>
                  <a:cubicBezTo>
                    <a:pt x="305" y="1115"/>
                    <a:pt x="190" y="898"/>
                    <a:pt x="166" y="672"/>
                  </a:cubicBezTo>
                  <a:cubicBezTo>
                    <a:pt x="142" y="434"/>
                    <a:pt x="242" y="210"/>
                    <a:pt x="422" y="54"/>
                  </a:cubicBezTo>
                  <a:cubicBezTo>
                    <a:pt x="442" y="36"/>
                    <a:pt x="414" y="0"/>
                    <a:pt x="393" y="16"/>
                  </a:cubicBezTo>
                  <a:cubicBezTo>
                    <a:pt x="0" y="317"/>
                    <a:pt x="41" y="866"/>
                    <a:pt x="349" y="1214"/>
                  </a:cubicBezTo>
                  <a:cubicBezTo>
                    <a:pt x="495" y="1380"/>
                    <a:pt x="690" y="1468"/>
                    <a:pt x="906" y="1500"/>
                  </a:cubicBezTo>
                  <a:cubicBezTo>
                    <a:pt x="1121" y="1532"/>
                    <a:pt x="1372" y="1551"/>
                    <a:pt x="1579" y="1467"/>
                  </a:cubicBezTo>
                  <a:cubicBezTo>
                    <a:pt x="1629" y="1447"/>
                    <a:pt x="1671" y="1415"/>
                    <a:pt x="1704" y="1373"/>
                  </a:cubicBezTo>
                  <a:cubicBezTo>
                    <a:pt x="1708" y="1368"/>
                    <a:pt x="1702" y="1361"/>
                    <a:pt x="1697" y="136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1" name="chenying0907 6"/>
            <p:cNvSpPr/>
            <p:nvPr/>
          </p:nvSpPr>
          <p:spPr bwMode="auto">
            <a:xfrm>
              <a:off x="3246438" y="1457326"/>
              <a:ext cx="2112963" cy="1933575"/>
            </a:xfrm>
            <a:custGeom>
              <a:avLst/>
              <a:gdLst>
                <a:gd name="T0" fmla="*/ 394 w 2035"/>
                <a:gd name="T1" fmla="*/ 1839 h 1862"/>
                <a:gd name="T2" fmla="*/ 299 w 2035"/>
                <a:gd name="T3" fmla="*/ 1656 h 1862"/>
                <a:gd name="T4" fmla="*/ 221 w 2035"/>
                <a:gd name="T5" fmla="*/ 1452 h 1862"/>
                <a:gd name="T6" fmla="*/ 241 w 2035"/>
                <a:gd name="T7" fmla="*/ 997 h 1862"/>
                <a:gd name="T8" fmla="*/ 650 w 2035"/>
                <a:gd name="T9" fmla="*/ 365 h 1862"/>
                <a:gd name="T10" fmla="*/ 1301 w 2035"/>
                <a:gd name="T11" fmla="*/ 65 h 1862"/>
                <a:gd name="T12" fmla="*/ 1991 w 2035"/>
                <a:gd name="T13" fmla="*/ 323 h 1862"/>
                <a:gd name="T14" fmla="*/ 2019 w 2035"/>
                <a:gd name="T15" fmla="*/ 295 h 1862"/>
                <a:gd name="T16" fmla="*/ 1371 w 2035"/>
                <a:gd name="T17" fmla="*/ 0 h 1862"/>
                <a:gd name="T18" fmla="*/ 709 w 2035"/>
                <a:gd name="T19" fmla="*/ 241 h 1862"/>
                <a:gd name="T20" fmla="*/ 226 w 2035"/>
                <a:gd name="T21" fmla="*/ 1619 h 1862"/>
                <a:gd name="T22" fmla="*/ 375 w 2035"/>
                <a:gd name="T23" fmla="*/ 1851 h 1862"/>
                <a:gd name="T24" fmla="*/ 394 w 2035"/>
                <a:gd name="T25" fmla="*/ 1839 h 18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35" h="1862">
                  <a:moveTo>
                    <a:pt x="394" y="1839"/>
                  </a:moveTo>
                  <a:cubicBezTo>
                    <a:pt x="360" y="1781"/>
                    <a:pt x="330" y="1716"/>
                    <a:pt x="299" y="1656"/>
                  </a:cubicBezTo>
                  <a:cubicBezTo>
                    <a:pt x="266" y="1591"/>
                    <a:pt x="240" y="1523"/>
                    <a:pt x="221" y="1452"/>
                  </a:cubicBezTo>
                  <a:cubicBezTo>
                    <a:pt x="181" y="1301"/>
                    <a:pt x="199" y="1146"/>
                    <a:pt x="241" y="997"/>
                  </a:cubicBezTo>
                  <a:cubicBezTo>
                    <a:pt x="310" y="752"/>
                    <a:pt x="461" y="533"/>
                    <a:pt x="650" y="365"/>
                  </a:cubicBezTo>
                  <a:cubicBezTo>
                    <a:pt x="830" y="204"/>
                    <a:pt x="1059" y="88"/>
                    <a:pt x="1301" y="65"/>
                  </a:cubicBezTo>
                  <a:cubicBezTo>
                    <a:pt x="1565" y="40"/>
                    <a:pt x="1795" y="154"/>
                    <a:pt x="1991" y="323"/>
                  </a:cubicBezTo>
                  <a:cubicBezTo>
                    <a:pt x="2010" y="340"/>
                    <a:pt x="2035" y="315"/>
                    <a:pt x="2019" y="295"/>
                  </a:cubicBezTo>
                  <a:cubicBezTo>
                    <a:pt x="1859" y="102"/>
                    <a:pt x="1621" y="0"/>
                    <a:pt x="1371" y="0"/>
                  </a:cubicBezTo>
                  <a:cubicBezTo>
                    <a:pt x="1131" y="0"/>
                    <a:pt x="899" y="101"/>
                    <a:pt x="709" y="241"/>
                  </a:cubicBezTo>
                  <a:cubicBezTo>
                    <a:pt x="298" y="545"/>
                    <a:pt x="0" y="1121"/>
                    <a:pt x="226" y="1619"/>
                  </a:cubicBezTo>
                  <a:cubicBezTo>
                    <a:pt x="266" y="1706"/>
                    <a:pt x="320" y="1775"/>
                    <a:pt x="375" y="1851"/>
                  </a:cubicBezTo>
                  <a:cubicBezTo>
                    <a:pt x="384" y="1862"/>
                    <a:pt x="402" y="1852"/>
                    <a:pt x="394" y="183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2" name="chenying0907 7"/>
            <p:cNvSpPr/>
            <p:nvPr/>
          </p:nvSpPr>
          <p:spPr bwMode="auto">
            <a:xfrm>
              <a:off x="5292726" y="1068388"/>
              <a:ext cx="2541588" cy="1016000"/>
            </a:xfrm>
            <a:custGeom>
              <a:avLst/>
              <a:gdLst>
                <a:gd name="T0" fmla="*/ 38 w 2447"/>
                <a:gd name="T1" fmla="*/ 664 h 979"/>
                <a:gd name="T2" fmla="*/ 1375 w 2447"/>
                <a:gd name="T3" fmla="*/ 104 h 979"/>
                <a:gd name="T4" fmla="*/ 2005 w 2447"/>
                <a:gd name="T5" fmla="*/ 373 h 979"/>
                <a:gd name="T6" fmla="*/ 2402 w 2447"/>
                <a:gd name="T7" fmla="*/ 953 h 979"/>
                <a:gd name="T8" fmla="*/ 2442 w 2447"/>
                <a:gd name="T9" fmla="*/ 943 h 979"/>
                <a:gd name="T10" fmla="*/ 1377 w 2447"/>
                <a:gd name="T11" fmla="*/ 41 h 979"/>
                <a:gd name="T12" fmla="*/ 622 w 2447"/>
                <a:gd name="T13" fmla="*/ 99 h 979"/>
                <a:gd name="T14" fmla="*/ 15 w 2447"/>
                <a:gd name="T15" fmla="*/ 622 h 979"/>
                <a:gd name="T16" fmla="*/ 6 w 2447"/>
                <a:gd name="T17" fmla="*/ 656 h 979"/>
                <a:gd name="T18" fmla="*/ 38 w 2447"/>
                <a:gd name="T19" fmla="*/ 664 h 9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7" h="979">
                  <a:moveTo>
                    <a:pt x="38" y="664"/>
                  </a:moveTo>
                  <a:cubicBezTo>
                    <a:pt x="235" y="159"/>
                    <a:pt x="897" y="25"/>
                    <a:pt x="1375" y="104"/>
                  </a:cubicBezTo>
                  <a:cubicBezTo>
                    <a:pt x="1602" y="141"/>
                    <a:pt x="1823" y="231"/>
                    <a:pt x="2005" y="373"/>
                  </a:cubicBezTo>
                  <a:cubicBezTo>
                    <a:pt x="2195" y="521"/>
                    <a:pt x="2325" y="727"/>
                    <a:pt x="2402" y="953"/>
                  </a:cubicBezTo>
                  <a:cubicBezTo>
                    <a:pt x="2411" y="979"/>
                    <a:pt x="2447" y="968"/>
                    <a:pt x="2442" y="943"/>
                  </a:cubicBezTo>
                  <a:cubicBezTo>
                    <a:pt x="2340" y="436"/>
                    <a:pt x="1862" y="118"/>
                    <a:pt x="1377" y="41"/>
                  </a:cubicBezTo>
                  <a:cubicBezTo>
                    <a:pt x="1125" y="0"/>
                    <a:pt x="864" y="21"/>
                    <a:pt x="622" y="99"/>
                  </a:cubicBezTo>
                  <a:cubicBezTo>
                    <a:pt x="370" y="180"/>
                    <a:pt x="103" y="360"/>
                    <a:pt x="15" y="622"/>
                  </a:cubicBezTo>
                  <a:cubicBezTo>
                    <a:pt x="13" y="633"/>
                    <a:pt x="10" y="645"/>
                    <a:pt x="6" y="656"/>
                  </a:cubicBezTo>
                  <a:cubicBezTo>
                    <a:pt x="0" y="676"/>
                    <a:pt x="30" y="683"/>
                    <a:pt x="38" y="66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3" name="chenying0907 8"/>
            <p:cNvSpPr/>
            <p:nvPr/>
          </p:nvSpPr>
          <p:spPr bwMode="auto">
            <a:xfrm>
              <a:off x="7777163" y="1998663"/>
              <a:ext cx="1181100" cy="2060575"/>
            </a:xfrm>
            <a:custGeom>
              <a:avLst/>
              <a:gdLst>
                <a:gd name="T0" fmla="*/ 20 w 1137"/>
                <a:gd name="T1" fmla="*/ 63 h 1984"/>
                <a:gd name="T2" fmla="*/ 215 w 1137"/>
                <a:gd name="T3" fmla="*/ 53 h 1984"/>
                <a:gd name="T4" fmla="*/ 400 w 1137"/>
                <a:gd name="T5" fmla="*/ 98 h 1984"/>
                <a:gd name="T6" fmla="*/ 735 w 1137"/>
                <a:gd name="T7" fmla="*/ 336 h 1984"/>
                <a:gd name="T8" fmla="*/ 1044 w 1137"/>
                <a:gd name="T9" fmla="*/ 988 h 1984"/>
                <a:gd name="T10" fmla="*/ 897 w 1137"/>
                <a:gd name="T11" fmla="*/ 1554 h 1984"/>
                <a:gd name="T12" fmla="*/ 343 w 1137"/>
                <a:gd name="T13" fmla="*/ 1942 h 1984"/>
                <a:gd name="T14" fmla="*/ 358 w 1137"/>
                <a:gd name="T15" fmla="*/ 1980 h 1984"/>
                <a:gd name="T16" fmla="*/ 953 w 1137"/>
                <a:gd name="T17" fmla="*/ 1587 h 1984"/>
                <a:gd name="T18" fmla="*/ 1107 w 1137"/>
                <a:gd name="T19" fmla="*/ 964 h 1984"/>
                <a:gd name="T20" fmla="*/ 752 w 1137"/>
                <a:gd name="T21" fmla="*/ 266 h 1984"/>
                <a:gd name="T22" fmla="*/ 415 w 1137"/>
                <a:gd name="T23" fmla="*/ 44 h 1984"/>
                <a:gd name="T24" fmla="*/ 215 w 1137"/>
                <a:gd name="T25" fmla="*/ 2 h 1984"/>
                <a:gd name="T26" fmla="*/ 119 w 1137"/>
                <a:gd name="T27" fmla="*/ 7 h 1984"/>
                <a:gd name="T28" fmla="*/ 14 w 1137"/>
                <a:gd name="T29" fmla="*/ 41 h 1984"/>
                <a:gd name="T30" fmla="*/ 20 w 1137"/>
                <a:gd name="T31" fmla="*/ 63 h 1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37" h="1984">
                  <a:moveTo>
                    <a:pt x="20" y="63"/>
                  </a:moveTo>
                  <a:cubicBezTo>
                    <a:pt x="80" y="48"/>
                    <a:pt x="154" y="49"/>
                    <a:pt x="215" y="53"/>
                  </a:cubicBezTo>
                  <a:cubicBezTo>
                    <a:pt x="278" y="57"/>
                    <a:pt x="341" y="76"/>
                    <a:pt x="400" y="98"/>
                  </a:cubicBezTo>
                  <a:cubicBezTo>
                    <a:pt x="528" y="148"/>
                    <a:pt x="641" y="238"/>
                    <a:pt x="735" y="336"/>
                  </a:cubicBezTo>
                  <a:cubicBezTo>
                    <a:pt x="900" y="510"/>
                    <a:pt x="1016" y="750"/>
                    <a:pt x="1044" y="988"/>
                  </a:cubicBezTo>
                  <a:cubicBezTo>
                    <a:pt x="1069" y="1190"/>
                    <a:pt x="1016" y="1389"/>
                    <a:pt x="897" y="1554"/>
                  </a:cubicBezTo>
                  <a:cubicBezTo>
                    <a:pt x="757" y="1747"/>
                    <a:pt x="548" y="1839"/>
                    <a:pt x="343" y="1942"/>
                  </a:cubicBezTo>
                  <a:cubicBezTo>
                    <a:pt x="321" y="1953"/>
                    <a:pt x="337" y="1984"/>
                    <a:pt x="358" y="1980"/>
                  </a:cubicBezTo>
                  <a:cubicBezTo>
                    <a:pt x="592" y="1933"/>
                    <a:pt x="812" y="1776"/>
                    <a:pt x="953" y="1587"/>
                  </a:cubicBezTo>
                  <a:cubicBezTo>
                    <a:pt x="1086" y="1410"/>
                    <a:pt x="1137" y="1182"/>
                    <a:pt x="1107" y="964"/>
                  </a:cubicBezTo>
                  <a:cubicBezTo>
                    <a:pt x="1071" y="703"/>
                    <a:pt x="938" y="452"/>
                    <a:pt x="752" y="266"/>
                  </a:cubicBezTo>
                  <a:cubicBezTo>
                    <a:pt x="656" y="170"/>
                    <a:pt x="542" y="93"/>
                    <a:pt x="415" y="44"/>
                  </a:cubicBezTo>
                  <a:cubicBezTo>
                    <a:pt x="351" y="19"/>
                    <a:pt x="283" y="6"/>
                    <a:pt x="215" y="2"/>
                  </a:cubicBezTo>
                  <a:cubicBezTo>
                    <a:pt x="183" y="0"/>
                    <a:pt x="150" y="2"/>
                    <a:pt x="119" y="7"/>
                  </a:cubicBezTo>
                  <a:cubicBezTo>
                    <a:pt x="78" y="13"/>
                    <a:pt x="52" y="27"/>
                    <a:pt x="14" y="41"/>
                  </a:cubicBezTo>
                  <a:cubicBezTo>
                    <a:pt x="0" y="46"/>
                    <a:pt x="6" y="66"/>
                    <a:pt x="20" y="6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4" name="chenying0907 9"/>
            <p:cNvSpPr/>
            <p:nvPr/>
          </p:nvSpPr>
          <p:spPr bwMode="auto">
            <a:xfrm>
              <a:off x="7016751" y="4010026"/>
              <a:ext cx="1208088" cy="1095375"/>
            </a:xfrm>
            <a:custGeom>
              <a:avLst/>
              <a:gdLst>
                <a:gd name="T0" fmla="*/ 1056 w 1164"/>
                <a:gd name="T1" fmla="*/ 16 h 1055"/>
                <a:gd name="T2" fmla="*/ 1085 w 1164"/>
                <a:gd name="T3" fmla="*/ 64 h 1055"/>
                <a:gd name="T4" fmla="*/ 1110 w 1164"/>
                <a:gd name="T5" fmla="*/ 176 h 1055"/>
                <a:gd name="T6" fmla="*/ 1081 w 1164"/>
                <a:gd name="T7" fmla="*/ 362 h 1055"/>
                <a:gd name="T8" fmla="*/ 828 w 1164"/>
                <a:gd name="T9" fmla="*/ 714 h 1055"/>
                <a:gd name="T10" fmla="*/ 30 w 1164"/>
                <a:gd name="T11" fmla="*/ 996 h 1055"/>
                <a:gd name="T12" fmla="*/ 30 w 1164"/>
                <a:gd name="T13" fmla="*/ 1042 h 1055"/>
                <a:gd name="T14" fmla="*/ 893 w 1164"/>
                <a:gd name="T15" fmla="*/ 736 h 1055"/>
                <a:gd name="T16" fmla="*/ 1143 w 1164"/>
                <a:gd name="T17" fmla="*/ 346 h 1055"/>
                <a:gd name="T18" fmla="*/ 1154 w 1164"/>
                <a:gd name="T19" fmla="*/ 140 h 1055"/>
                <a:gd name="T20" fmla="*/ 1121 w 1164"/>
                <a:gd name="T21" fmla="*/ 43 h 1055"/>
                <a:gd name="T22" fmla="*/ 1066 w 1164"/>
                <a:gd name="T23" fmla="*/ 4 h 1055"/>
                <a:gd name="T24" fmla="*/ 1056 w 1164"/>
                <a:gd name="T25" fmla="*/ 16 h 10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64" h="1055">
                  <a:moveTo>
                    <a:pt x="1056" y="16"/>
                  </a:moveTo>
                  <a:cubicBezTo>
                    <a:pt x="1068" y="25"/>
                    <a:pt x="1078" y="52"/>
                    <a:pt x="1085" y="64"/>
                  </a:cubicBezTo>
                  <a:cubicBezTo>
                    <a:pt x="1104" y="97"/>
                    <a:pt x="1108" y="139"/>
                    <a:pt x="1110" y="176"/>
                  </a:cubicBezTo>
                  <a:cubicBezTo>
                    <a:pt x="1115" y="240"/>
                    <a:pt x="1103" y="302"/>
                    <a:pt x="1081" y="362"/>
                  </a:cubicBezTo>
                  <a:cubicBezTo>
                    <a:pt x="1032" y="501"/>
                    <a:pt x="939" y="620"/>
                    <a:pt x="828" y="714"/>
                  </a:cubicBezTo>
                  <a:cubicBezTo>
                    <a:pt x="609" y="901"/>
                    <a:pt x="312" y="981"/>
                    <a:pt x="30" y="996"/>
                  </a:cubicBezTo>
                  <a:cubicBezTo>
                    <a:pt x="0" y="998"/>
                    <a:pt x="0" y="1041"/>
                    <a:pt x="30" y="1042"/>
                  </a:cubicBezTo>
                  <a:cubicBezTo>
                    <a:pt x="339" y="1055"/>
                    <a:pt x="661" y="941"/>
                    <a:pt x="893" y="736"/>
                  </a:cubicBezTo>
                  <a:cubicBezTo>
                    <a:pt x="1011" y="632"/>
                    <a:pt x="1097" y="496"/>
                    <a:pt x="1143" y="346"/>
                  </a:cubicBezTo>
                  <a:cubicBezTo>
                    <a:pt x="1163" y="279"/>
                    <a:pt x="1164" y="208"/>
                    <a:pt x="1154" y="140"/>
                  </a:cubicBezTo>
                  <a:cubicBezTo>
                    <a:pt x="1150" y="106"/>
                    <a:pt x="1138" y="73"/>
                    <a:pt x="1121" y="43"/>
                  </a:cubicBezTo>
                  <a:cubicBezTo>
                    <a:pt x="1105" y="16"/>
                    <a:pt x="1089" y="17"/>
                    <a:pt x="1066" y="4"/>
                  </a:cubicBezTo>
                  <a:cubicBezTo>
                    <a:pt x="1058" y="0"/>
                    <a:pt x="1049" y="11"/>
                    <a:pt x="1056"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5" name="chenying0907 10"/>
            <p:cNvSpPr/>
            <p:nvPr/>
          </p:nvSpPr>
          <p:spPr bwMode="auto">
            <a:xfrm>
              <a:off x="4975226" y="4775201"/>
              <a:ext cx="1274763" cy="733425"/>
            </a:xfrm>
            <a:custGeom>
              <a:avLst/>
              <a:gdLst>
                <a:gd name="T0" fmla="*/ 28 w 1229"/>
                <a:gd name="T1" fmla="*/ 8 h 706"/>
                <a:gd name="T2" fmla="*/ 139 w 1229"/>
                <a:gd name="T3" fmla="*/ 371 h 706"/>
                <a:gd name="T4" fmla="*/ 420 w 1229"/>
                <a:gd name="T5" fmla="*/ 595 h 706"/>
                <a:gd name="T6" fmla="*/ 1199 w 1229"/>
                <a:gd name="T7" fmla="*/ 617 h 706"/>
                <a:gd name="T8" fmla="*/ 1186 w 1229"/>
                <a:gd name="T9" fmla="*/ 571 h 706"/>
                <a:gd name="T10" fmla="*/ 469 w 1229"/>
                <a:gd name="T11" fmla="*/ 549 h 706"/>
                <a:gd name="T12" fmla="*/ 191 w 1229"/>
                <a:gd name="T13" fmla="*/ 341 h 706"/>
                <a:gd name="T14" fmla="*/ 105 w 1229"/>
                <a:gd name="T15" fmla="*/ 187 h 706"/>
                <a:gd name="T16" fmla="*/ 43 w 1229"/>
                <a:gd name="T17" fmla="*/ 7 h 706"/>
                <a:gd name="T18" fmla="*/ 28 w 1229"/>
                <a:gd name="T19" fmla="*/ 8 h 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29" h="706">
                  <a:moveTo>
                    <a:pt x="28" y="8"/>
                  </a:moveTo>
                  <a:cubicBezTo>
                    <a:pt x="0" y="129"/>
                    <a:pt x="72" y="275"/>
                    <a:pt x="139" y="371"/>
                  </a:cubicBezTo>
                  <a:cubicBezTo>
                    <a:pt x="210" y="470"/>
                    <a:pt x="310" y="545"/>
                    <a:pt x="420" y="595"/>
                  </a:cubicBezTo>
                  <a:cubicBezTo>
                    <a:pt x="664" y="706"/>
                    <a:pt x="948" y="698"/>
                    <a:pt x="1199" y="617"/>
                  </a:cubicBezTo>
                  <a:cubicBezTo>
                    <a:pt x="1229" y="608"/>
                    <a:pt x="1217" y="563"/>
                    <a:pt x="1186" y="571"/>
                  </a:cubicBezTo>
                  <a:cubicBezTo>
                    <a:pt x="954" y="630"/>
                    <a:pt x="695" y="637"/>
                    <a:pt x="469" y="549"/>
                  </a:cubicBezTo>
                  <a:cubicBezTo>
                    <a:pt x="360" y="506"/>
                    <a:pt x="262" y="433"/>
                    <a:pt x="191" y="341"/>
                  </a:cubicBezTo>
                  <a:cubicBezTo>
                    <a:pt x="155" y="294"/>
                    <a:pt x="127" y="241"/>
                    <a:pt x="105" y="187"/>
                  </a:cubicBezTo>
                  <a:cubicBezTo>
                    <a:pt x="81" y="128"/>
                    <a:pt x="72" y="63"/>
                    <a:pt x="43" y="7"/>
                  </a:cubicBezTo>
                  <a:cubicBezTo>
                    <a:pt x="40" y="0"/>
                    <a:pt x="30" y="2"/>
                    <a:pt x="28"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6" name="chenying0907 11"/>
            <p:cNvSpPr/>
            <p:nvPr/>
          </p:nvSpPr>
          <p:spPr bwMode="auto">
            <a:xfrm>
              <a:off x="6203951" y="5040313"/>
              <a:ext cx="1285875" cy="706438"/>
            </a:xfrm>
            <a:custGeom>
              <a:avLst/>
              <a:gdLst>
                <a:gd name="T0" fmla="*/ 9 w 1238"/>
                <a:gd name="T1" fmla="*/ 343 h 681"/>
                <a:gd name="T2" fmla="*/ 575 w 1238"/>
                <a:gd name="T3" fmla="*/ 605 h 681"/>
                <a:gd name="T4" fmla="*/ 1222 w 1238"/>
                <a:gd name="T5" fmla="*/ 529 h 681"/>
                <a:gd name="T6" fmla="*/ 1222 w 1238"/>
                <a:gd name="T7" fmla="*/ 485 h 681"/>
                <a:gd name="T8" fmla="*/ 968 w 1238"/>
                <a:gd name="T9" fmla="*/ 314 h 681"/>
                <a:gd name="T10" fmla="*/ 825 w 1238"/>
                <a:gd name="T11" fmla="*/ 32 h 681"/>
                <a:gd name="T12" fmla="*/ 776 w 1238"/>
                <a:gd name="T13" fmla="*/ 46 h 681"/>
                <a:gd name="T14" fmla="*/ 921 w 1238"/>
                <a:gd name="T15" fmla="*/ 340 h 681"/>
                <a:gd name="T16" fmla="*/ 1196 w 1238"/>
                <a:gd name="T17" fmla="*/ 529 h 681"/>
                <a:gd name="T18" fmla="*/ 1196 w 1238"/>
                <a:gd name="T19" fmla="*/ 485 h 681"/>
                <a:gd name="T20" fmla="*/ 23 w 1238"/>
                <a:gd name="T21" fmla="*/ 324 h 681"/>
                <a:gd name="T22" fmla="*/ 9 w 1238"/>
                <a:gd name="T23" fmla="*/ 34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38" h="681">
                  <a:moveTo>
                    <a:pt x="9" y="343"/>
                  </a:moveTo>
                  <a:cubicBezTo>
                    <a:pt x="152" y="493"/>
                    <a:pt x="376" y="569"/>
                    <a:pt x="575" y="605"/>
                  </a:cubicBezTo>
                  <a:cubicBezTo>
                    <a:pt x="792" y="644"/>
                    <a:pt x="1024" y="631"/>
                    <a:pt x="1222" y="529"/>
                  </a:cubicBezTo>
                  <a:cubicBezTo>
                    <a:pt x="1238" y="520"/>
                    <a:pt x="1238" y="494"/>
                    <a:pt x="1222" y="485"/>
                  </a:cubicBezTo>
                  <a:cubicBezTo>
                    <a:pt x="1131" y="437"/>
                    <a:pt x="1041" y="387"/>
                    <a:pt x="968" y="314"/>
                  </a:cubicBezTo>
                  <a:cubicBezTo>
                    <a:pt x="889" y="238"/>
                    <a:pt x="847" y="138"/>
                    <a:pt x="825" y="32"/>
                  </a:cubicBezTo>
                  <a:cubicBezTo>
                    <a:pt x="819" y="0"/>
                    <a:pt x="770" y="14"/>
                    <a:pt x="776" y="46"/>
                  </a:cubicBezTo>
                  <a:cubicBezTo>
                    <a:pt x="799" y="157"/>
                    <a:pt x="844" y="256"/>
                    <a:pt x="921" y="340"/>
                  </a:cubicBezTo>
                  <a:cubicBezTo>
                    <a:pt x="997" y="422"/>
                    <a:pt x="1098" y="479"/>
                    <a:pt x="1196" y="529"/>
                  </a:cubicBezTo>
                  <a:cubicBezTo>
                    <a:pt x="1196" y="514"/>
                    <a:pt x="1196" y="500"/>
                    <a:pt x="1196" y="485"/>
                  </a:cubicBezTo>
                  <a:cubicBezTo>
                    <a:pt x="821" y="681"/>
                    <a:pt x="352" y="551"/>
                    <a:pt x="23" y="324"/>
                  </a:cubicBezTo>
                  <a:cubicBezTo>
                    <a:pt x="12" y="316"/>
                    <a:pt x="0" y="333"/>
                    <a:pt x="9" y="34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nvGrpSpPr>
            <p:cNvPr id="197" name="chenying0907 150"/>
            <p:cNvGrpSpPr/>
            <p:nvPr/>
          </p:nvGrpSpPr>
          <p:grpSpPr>
            <a:xfrm>
              <a:off x="3517901" y="1225551"/>
              <a:ext cx="5260975" cy="4090987"/>
              <a:chOff x="3517901" y="1225551"/>
              <a:chExt cx="5260975" cy="4090987"/>
            </a:xfrm>
            <a:grpFill/>
          </p:grpSpPr>
          <p:sp>
            <p:nvSpPr>
              <p:cNvPr id="198" name="chenying0907 12"/>
              <p:cNvSpPr/>
              <p:nvPr/>
            </p:nvSpPr>
            <p:spPr bwMode="auto">
              <a:xfrm>
                <a:off x="7805738" y="2135188"/>
                <a:ext cx="109538" cy="38100"/>
              </a:xfrm>
              <a:custGeom>
                <a:avLst/>
                <a:gdLst>
                  <a:gd name="T0" fmla="*/ 6 w 106"/>
                  <a:gd name="T1" fmla="*/ 35 h 37"/>
                  <a:gd name="T2" fmla="*/ 45 w 106"/>
                  <a:gd name="T3" fmla="*/ 33 h 37"/>
                  <a:gd name="T4" fmla="*/ 97 w 106"/>
                  <a:gd name="T5" fmla="*/ 22 h 37"/>
                  <a:gd name="T6" fmla="*/ 97 w 106"/>
                  <a:gd name="T7" fmla="*/ 6 h 37"/>
                  <a:gd name="T8" fmla="*/ 52 w 106"/>
                  <a:gd name="T9" fmla="*/ 6 h 37"/>
                  <a:gd name="T10" fmla="*/ 4 w 106"/>
                  <a:gd name="T11" fmla="*/ 24 h 37"/>
                  <a:gd name="T12" fmla="*/ 6 w 106"/>
                  <a:gd name="T13" fmla="*/ 35 h 37"/>
                </a:gdLst>
                <a:ahLst/>
                <a:cxnLst>
                  <a:cxn ang="0">
                    <a:pos x="T0" y="T1"/>
                  </a:cxn>
                  <a:cxn ang="0">
                    <a:pos x="T2" y="T3"/>
                  </a:cxn>
                  <a:cxn ang="0">
                    <a:pos x="T4" y="T5"/>
                  </a:cxn>
                  <a:cxn ang="0">
                    <a:pos x="T6" y="T7"/>
                  </a:cxn>
                  <a:cxn ang="0">
                    <a:pos x="T8" y="T9"/>
                  </a:cxn>
                  <a:cxn ang="0">
                    <a:pos x="T10" y="T11"/>
                  </a:cxn>
                  <a:cxn ang="0">
                    <a:pos x="T12" y="T13"/>
                  </a:cxn>
                </a:cxnLst>
                <a:rect l="0" t="0" r="r" b="b"/>
                <a:pathLst>
                  <a:path w="106" h="37">
                    <a:moveTo>
                      <a:pt x="6" y="35"/>
                    </a:moveTo>
                    <a:cubicBezTo>
                      <a:pt x="20" y="37"/>
                      <a:pt x="32" y="35"/>
                      <a:pt x="45" y="33"/>
                    </a:cubicBezTo>
                    <a:cubicBezTo>
                      <a:pt x="63" y="30"/>
                      <a:pt x="80" y="29"/>
                      <a:pt x="97" y="22"/>
                    </a:cubicBezTo>
                    <a:cubicBezTo>
                      <a:pt x="105" y="19"/>
                      <a:pt x="106" y="9"/>
                      <a:pt x="97" y="6"/>
                    </a:cubicBezTo>
                    <a:cubicBezTo>
                      <a:pt x="81" y="0"/>
                      <a:pt x="68" y="2"/>
                      <a:pt x="52" y="6"/>
                    </a:cubicBezTo>
                    <a:cubicBezTo>
                      <a:pt x="34" y="9"/>
                      <a:pt x="17" y="13"/>
                      <a:pt x="4" y="24"/>
                    </a:cubicBezTo>
                    <a:cubicBezTo>
                      <a:pt x="0" y="27"/>
                      <a:pt x="2" y="34"/>
                      <a:pt x="6" y="3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199" name="chenying0907 13"/>
              <p:cNvSpPr/>
              <p:nvPr/>
            </p:nvSpPr>
            <p:spPr bwMode="auto">
              <a:xfrm>
                <a:off x="8018463" y="2144713"/>
                <a:ext cx="92075" cy="34925"/>
              </a:xfrm>
              <a:custGeom>
                <a:avLst/>
                <a:gdLst>
                  <a:gd name="T0" fmla="*/ 4 w 89"/>
                  <a:gd name="T1" fmla="*/ 9 h 35"/>
                  <a:gd name="T2" fmla="*/ 79 w 89"/>
                  <a:gd name="T3" fmla="*/ 34 h 35"/>
                  <a:gd name="T4" fmla="*/ 83 w 89"/>
                  <a:gd name="T5" fmla="*/ 20 h 35"/>
                  <a:gd name="T6" fmla="*/ 7 w 89"/>
                  <a:gd name="T7" fmla="*/ 0 h 35"/>
                  <a:gd name="T8" fmla="*/ 4 w 89"/>
                  <a:gd name="T9" fmla="*/ 9 h 35"/>
                </a:gdLst>
                <a:ahLst/>
                <a:cxnLst>
                  <a:cxn ang="0">
                    <a:pos x="T0" y="T1"/>
                  </a:cxn>
                  <a:cxn ang="0">
                    <a:pos x="T2" y="T3"/>
                  </a:cxn>
                  <a:cxn ang="0">
                    <a:pos x="T4" y="T5"/>
                  </a:cxn>
                  <a:cxn ang="0">
                    <a:pos x="T6" y="T7"/>
                  </a:cxn>
                  <a:cxn ang="0">
                    <a:pos x="T8" y="T9"/>
                  </a:cxn>
                </a:cxnLst>
                <a:rect l="0" t="0" r="r" b="b"/>
                <a:pathLst>
                  <a:path w="89" h="35">
                    <a:moveTo>
                      <a:pt x="4" y="9"/>
                    </a:moveTo>
                    <a:cubicBezTo>
                      <a:pt x="28" y="23"/>
                      <a:pt x="52" y="31"/>
                      <a:pt x="79" y="34"/>
                    </a:cubicBezTo>
                    <a:cubicBezTo>
                      <a:pt x="87" y="35"/>
                      <a:pt x="89" y="24"/>
                      <a:pt x="83" y="20"/>
                    </a:cubicBezTo>
                    <a:cubicBezTo>
                      <a:pt x="59" y="6"/>
                      <a:pt x="34" y="3"/>
                      <a:pt x="7" y="0"/>
                    </a:cubicBezTo>
                    <a:cubicBezTo>
                      <a:pt x="2" y="0"/>
                      <a:pt x="0" y="7"/>
                      <a:pt x="4"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0" name="chenying0907 14"/>
              <p:cNvSpPr/>
              <p:nvPr/>
            </p:nvSpPr>
            <p:spPr bwMode="auto">
              <a:xfrm>
                <a:off x="8228013" y="2225676"/>
                <a:ext cx="107950" cy="61913"/>
              </a:xfrm>
              <a:custGeom>
                <a:avLst/>
                <a:gdLst>
                  <a:gd name="T0" fmla="*/ 6 w 105"/>
                  <a:gd name="T1" fmla="*/ 10 h 59"/>
                  <a:gd name="T2" fmla="*/ 91 w 105"/>
                  <a:gd name="T3" fmla="*/ 55 h 59"/>
                  <a:gd name="T4" fmla="*/ 99 w 105"/>
                  <a:gd name="T5" fmla="*/ 44 h 59"/>
                  <a:gd name="T6" fmla="*/ 9 w 105"/>
                  <a:gd name="T7" fmla="*/ 1 h 59"/>
                  <a:gd name="T8" fmla="*/ 6 w 105"/>
                  <a:gd name="T9" fmla="*/ 10 h 59"/>
                </a:gdLst>
                <a:ahLst/>
                <a:cxnLst>
                  <a:cxn ang="0">
                    <a:pos x="T0" y="T1"/>
                  </a:cxn>
                  <a:cxn ang="0">
                    <a:pos x="T2" y="T3"/>
                  </a:cxn>
                  <a:cxn ang="0">
                    <a:pos x="T4" y="T5"/>
                  </a:cxn>
                  <a:cxn ang="0">
                    <a:pos x="T6" y="T7"/>
                  </a:cxn>
                  <a:cxn ang="0">
                    <a:pos x="T8" y="T9"/>
                  </a:cxn>
                </a:cxnLst>
                <a:rect l="0" t="0" r="r" b="b"/>
                <a:pathLst>
                  <a:path w="105" h="59">
                    <a:moveTo>
                      <a:pt x="6" y="10"/>
                    </a:moveTo>
                    <a:cubicBezTo>
                      <a:pt x="35" y="21"/>
                      <a:pt x="64" y="39"/>
                      <a:pt x="91" y="55"/>
                    </a:cubicBezTo>
                    <a:cubicBezTo>
                      <a:pt x="97" y="59"/>
                      <a:pt x="105" y="49"/>
                      <a:pt x="99" y="44"/>
                    </a:cubicBezTo>
                    <a:cubicBezTo>
                      <a:pt x="72" y="20"/>
                      <a:pt x="44" y="7"/>
                      <a:pt x="9" y="1"/>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1" name="chenying0907 15"/>
              <p:cNvSpPr/>
              <p:nvPr/>
            </p:nvSpPr>
            <p:spPr bwMode="auto">
              <a:xfrm>
                <a:off x="8421688" y="2389188"/>
                <a:ext cx="77788" cy="84138"/>
              </a:xfrm>
              <a:custGeom>
                <a:avLst/>
                <a:gdLst>
                  <a:gd name="T0" fmla="*/ 1 w 75"/>
                  <a:gd name="T1" fmla="*/ 1 h 81"/>
                  <a:gd name="T2" fmla="*/ 14 w 75"/>
                  <a:gd name="T3" fmla="*/ 20 h 81"/>
                  <a:gd name="T4" fmla="*/ 31 w 75"/>
                  <a:gd name="T5" fmla="*/ 42 h 81"/>
                  <a:gd name="T6" fmla="*/ 62 w 75"/>
                  <a:gd name="T7" fmla="*/ 77 h 81"/>
                  <a:gd name="T8" fmla="*/ 72 w 75"/>
                  <a:gd name="T9" fmla="*/ 71 h 81"/>
                  <a:gd name="T10" fmla="*/ 45 w 75"/>
                  <a:gd name="T11" fmla="*/ 35 h 81"/>
                  <a:gd name="T12" fmla="*/ 24 w 75"/>
                  <a:gd name="T13" fmla="*/ 16 h 81"/>
                  <a:gd name="T14" fmla="*/ 2 w 75"/>
                  <a:gd name="T15" fmla="*/ 0 h 81"/>
                  <a:gd name="T16" fmla="*/ 1 w 75"/>
                  <a:gd name="T17" fmla="*/ 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81">
                    <a:moveTo>
                      <a:pt x="1" y="1"/>
                    </a:moveTo>
                    <a:cubicBezTo>
                      <a:pt x="6" y="6"/>
                      <a:pt x="9" y="14"/>
                      <a:pt x="14" y="20"/>
                    </a:cubicBezTo>
                    <a:cubicBezTo>
                      <a:pt x="19" y="27"/>
                      <a:pt x="25" y="35"/>
                      <a:pt x="31" y="42"/>
                    </a:cubicBezTo>
                    <a:cubicBezTo>
                      <a:pt x="41" y="54"/>
                      <a:pt x="51" y="66"/>
                      <a:pt x="62" y="77"/>
                    </a:cubicBezTo>
                    <a:cubicBezTo>
                      <a:pt x="66" y="81"/>
                      <a:pt x="75" y="77"/>
                      <a:pt x="72" y="71"/>
                    </a:cubicBezTo>
                    <a:cubicBezTo>
                      <a:pt x="66" y="57"/>
                      <a:pt x="57" y="46"/>
                      <a:pt x="45" y="35"/>
                    </a:cubicBezTo>
                    <a:cubicBezTo>
                      <a:pt x="38" y="28"/>
                      <a:pt x="31" y="22"/>
                      <a:pt x="24" y="16"/>
                    </a:cubicBezTo>
                    <a:cubicBezTo>
                      <a:pt x="17" y="10"/>
                      <a:pt x="8" y="6"/>
                      <a:pt x="2" y="0"/>
                    </a:cubicBezTo>
                    <a:cubicBezTo>
                      <a:pt x="1"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2" name="chenying0907 16"/>
              <p:cNvSpPr/>
              <p:nvPr/>
            </p:nvSpPr>
            <p:spPr bwMode="auto">
              <a:xfrm>
                <a:off x="8572501" y="2570163"/>
                <a:ext cx="60325" cy="90488"/>
              </a:xfrm>
              <a:custGeom>
                <a:avLst/>
                <a:gdLst>
                  <a:gd name="T0" fmla="*/ 3 w 57"/>
                  <a:gd name="T1" fmla="*/ 10 h 88"/>
                  <a:gd name="T2" fmla="*/ 47 w 57"/>
                  <a:gd name="T3" fmla="*/ 83 h 88"/>
                  <a:gd name="T4" fmla="*/ 55 w 57"/>
                  <a:gd name="T5" fmla="*/ 77 h 88"/>
                  <a:gd name="T6" fmla="*/ 11 w 57"/>
                  <a:gd name="T7" fmla="*/ 5 h 88"/>
                  <a:gd name="T8" fmla="*/ 3 w 57"/>
                  <a:gd name="T9" fmla="*/ 10 h 88"/>
                </a:gdLst>
                <a:ahLst/>
                <a:cxnLst>
                  <a:cxn ang="0">
                    <a:pos x="T0" y="T1"/>
                  </a:cxn>
                  <a:cxn ang="0">
                    <a:pos x="T2" y="T3"/>
                  </a:cxn>
                  <a:cxn ang="0">
                    <a:pos x="T4" y="T5"/>
                  </a:cxn>
                  <a:cxn ang="0">
                    <a:pos x="T6" y="T7"/>
                  </a:cxn>
                  <a:cxn ang="0">
                    <a:pos x="T8" y="T9"/>
                  </a:cxn>
                </a:cxnLst>
                <a:rect l="0" t="0" r="r" b="b"/>
                <a:pathLst>
                  <a:path w="57" h="88">
                    <a:moveTo>
                      <a:pt x="3" y="10"/>
                    </a:moveTo>
                    <a:cubicBezTo>
                      <a:pt x="17" y="35"/>
                      <a:pt x="27" y="63"/>
                      <a:pt x="47" y="83"/>
                    </a:cubicBezTo>
                    <a:cubicBezTo>
                      <a:pt x="51" y="88"/>
                      <a:pt x="57" y="82"/>
                      <a:pt x="55" y="77"/>
                    </a:cubicBezTo>
                    <a:cubicBezTo>
                      <a:pt x="44" y="51"/>
                      <a:pt x="28" y="27"/>
                      <a:pt x="11" y="5"/>
                    </a:cubicBezTo>
                    <a:cubicBezTo>
                      <a:pt x="8" y="0"/>
                      <a:pt x="0" y="4"/>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3" name="chenying0907 17"/>
              <p:cNvSpPr/>
              <p:nvPr/>
            </p:nvSpPr>
            <p:spPr bwMode="auto">
              <a:xfrm>
                <a:off x="8664576" y="2767013"/>
                <a:ext cx="42863" cy="88900"/>
              </a:xfrm>
              <a:custGeom>
                <a:avLst/>
                <a:gdLst>
                  <a:gd name="T0" fmla="*/ 3 w 41"/>
                  <a:gd name="T1" fmla="*/ 7 h 86"/>
                  <a:gd name="T2" fmla="*/ 30 w 41"/>
                  <a:gd name="T3" fmla="*/ 79 h 86"/>
                  <a:gd name="T4" fmla="*/ 40 w 41"/>
                  <a:gd name="T5" fmla="*/ 76 h 86"/>
                  <a:gd name="T6" fmla="*/ 9 w 41"/>
                  <a:gd name="T7" fmla="*/ 4 h 86"/>
                  <a:gd name="T8" fmla="*/ 3 w 41"/>
                  <a:gd name="T9" fmla="*/ 7 h 86"/>
                </a:gdLst>
                <a:ahLst/>
                <a:cxnLst>
                  <a:cxn ang="0">
                    <a:pos x="T0" y="T1"/>
                  </a:cxn>
                  <a:cxn ang="0">
                    <a:pos x="T2" y="T3"/>
                  </a:cxn>
                  <a:cxn ang="0">
                    <a:pos x="T4" y="T5"/>
                  </a:cxn>
                  <a:cxn ang="0">
                    <a:pos x="T6" y="T7"/>
                  </a:cxn>
                  <a:cxn ang="0">
                    <a:pos x="T8" y="T9"/>
                  </a:cxn>
                </a:cxnLst>
                <a:rect l="0" t="0" r="r" b="b"/>
                <a:pathLst>
                  <a:path w="41" h="86">
                    <a:moveTo>
                      <a:pt x="3" y="7"/>
                    </a:moveTo>
                    <a:cubicBezTo>
                      <a:pt x="16" y="29"/>
                      <a:pt x="21" y="56"/>
                      <a:pt x="30" y="79"/>
                    </a:cubicBezTo>
                    <a:cubicBezTo>
                      <a:pt x="32" y="86"/>
                      <a:pt x="41" y="83"/>
                      <a:pt x="40" y="76"/>
                    </a:cubicBezTo>
                    <a:cubicBezTo>
                      <a:pt x="36" y="48"/>
                      <a:pt x="25" y="27"/>
                      <a:pt x="9" y="4"/>
                    </a:cubicBezTo>
                    <a:cubicBezTo>
                      <a:pt x="7" y="0"/>
                      <a:pt x="0" y="3"/>
                      <a:pt x="3"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4" name="chenying0907 18"/>
              <p:cNvSpPr/>
              <p:nvPr/>
            </p:nvSpPr>
            <p:spPr bwMode="auto">
              <a:xfrm>
                <a:off x="8740776" y="2992438"/>
                <a:ext cx="26988" cy="107950"/>
              </a:xfrm>
              <a:custGeom>
                <a:avLst/>
                <a:gdLst>
                  <a:gd name="T0" fmla="*/ 2 w 27"/>
                  <a:gd name="T1" fmla="*/ 7 h 104"/>
                  <a:gd name="T2" fmla="*/ 17 w 27"/>
                  <a:gd name="T3" fmla="*/ 100 h 104"/>
                  <a:gd name="T4" fmla="*/ 23 w 27"/>
                  <a:gd name="T5" fmla="*/ 100 h 104"/>
                  <a:gd name="T6" fmla="*/ 9 w 27"/>
                  <a:gd name="T7" fmla="*/ 4 h 104"/>
                  <a:gd name="T8" fmla="*/ 2 w 27"/>
                  <a:gd name="T9" fmla="*/ 7 h 104"/>
                </a:gdLst>
                <a:ahLst/>
                <a:cxnLst>
                  <a:cxn ang="0">
                    <a:pos x="T0" y="T1"/>
                  </a:cxn>
                  <a:cxn ang="0">
                    <a:pos x="T2" y="T3"/>
                  </a:cxn>
                  <a:cxn ang="0">
                    <a:pos x="T4" y="T5"/>
                  </a:cxn>
                  <a:cxn ang="0">
                    <a:pos x="T6" y="T7"/>
                  </a:cxn>
                  <a:cxn ang="0">
                    <a:pos x="T8" y="T9"/>
                  </a:cxn>
                </a:cxnLst>
                <a:rect l="0" t="0" r="r" b="b"/>
                <a:pathLst>
                  <a:path w="27" h="104">
                    <a:moveTo>
                      <a:pt x="2" y="7"/>
                    </a:moveTo>
                    <a:cubicBezTo>
                      <a:pt x="14" y="36"/>
                      <a:pt x="13" y="68"/>
                      <a:pt x="17" y="100"/>
                    </a:cubicBezTo>
                    <a:cubicBezTo>
                      <a:pt x="17" y="104"/>
                      <a:pt x="23" y="104"/>
                      <a:pt x="23" y="100"/>
                    </a:cubicBezTo>
                    <a:cubicBezTo>
                      <a:pt x="27" y="67"/>
                      <a:pt x="24" y="33"/>
                      <a:pt x="9" y="4"/>
                    </a:cubicBezTo>
                    <a:cubicBezTo>
                      <a:pt x="7" y="0"/>
                      <a:pt x="0" y="3"/>
                      <a:pt x="2"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5" name="chenying0907 19"/>
              <p:cNvSpPr/>
              <p:nvPr/>
            </p:nvSpPr>
            <p:spPr bwMode="auto">
              <a:xfrm>
                <a:off x="8753476" y="3206751"/>
                <a:ext cx="25400" cy="80963"/>
              </a:xfrm>
              <a:custGeom>
                <a:avLst/>
                <a:gdLst>
                  <a:gd name="T0" fmla="*/ 13 w 24"/>
                  <a:gd name="T1" fmla="*/ 2 h 78"/>
                  <a:gd name="T2" fmla="*/ 4 w 24"/>
                  <a:gd name="T3" fmla="*/ 32 h 78"/>
                  <a:gd name="T4" fmla="*/ 2 w 24"/>
                  <a:gd name="T5" fmla="*/ 46 h 78"/>
                  <a:gd name="T6" fmla="*/ 0 w 24"/>
                  <a:gd name="T7" fmla="*/ 66 h 78"/>
                  <a:gd name="T8" fmla="*/ 13 w 24"/>
                  <a:gd name="T9" fmla="*/ 71 h 78"/>
                  <a:gd name="T10" fmla="*/ 23 w 24"/>
                  <a:gd name="T11" fmla="*/ 39 h 78"/>
                  <a:gd name="T12" fmla="*/ 15 w 24"/>
                  <a:gd name="T13" fmla="*/ 2 h 78"/>
                  <a:gd name="T14" fmla="*/ 13 w 24"/>
                  <a:gd name="T15" fmla="*/ 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78">
                    <a:moveTo>
                      <a:pt x="13" y="2"/>
                    </a:moveTo>
                    <a:cubicBezTo>
                      <a:pt x="9" y="12"/>
                      <a:pt x="6" y="21"/>
                      <a:pt x="4" y="32"/>
                    </a:cubicBezTo>
                    <a:cubicBezTo>
                      <a:pt x="3" y="37"/>
                      <a:pt x="2" y="41"/>
                      <a:pt x="2" y="46"/>
                    </a:cubicBezTo>
                    <a:cubicBezTo>
                      <a:pt x="1" y="53"/>
                      <a:pt x="1" y="59"/>
                      <a:pt x="0" y="66"/>
                    </a:cubicBezTo>
                    <a:cubicBezTo>
                      <a:pt x="0" y="72"/>
                      <a:pt x="9" y="78"/>
                      <a:pt x="13" y="71"/>
                    </a:cubicBezTo>
                    <a:cubicBezTo>
                      <a:pt x="18" y="60"/>
                      <a:pt x="21" y="52"/>
                      <a:pt x="23" y="39"/>
                    </a:cubicBezTo>
                    <a:cubicBezTo>
                      <a:pt x="24" y="25"/>
                      <a:pt x="20" y="15"/>
                      <a:pt x="15" y="2"/>
                    </a:cubicBezTo>
                    <a:cubicBezTo>
                      <a:pt x="15" y="0"/>
                      <a:pt x="13" y="1"/>
                      <a:pt x="13"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6" name="chenying0907 20"/>
              <p:cNvSpPr/>
              <p:nvPr/>
            </p:nvSpPr>
            <p:spPr bwMode="auto">
              <a:xfrm>
                <a:off x="8672513" y="3368676"/>
                <a:ext cx="61913" cy="100013"/>
              </a:xfrm>
              <a:custGeom>
                <a:avLst/>
                <a:gdLst>
                  <a:gd name="T0" fmla="*/ 46 w 61"/>
                  <a:gd name="T1" fmla="*/ 3 h 97"/>
                  <a:gd name="T2" fmla="*/ 6 w 61"/>
                  <a:gd name="T3" fmla="*/ 81 h 97"/>
                  <a:gd name="T4" fmla="*/ 20 w 61"/>
                  <a:gd name="T5" fmla="*/ 91 h 97"/>
                  <a:gd name="T6" fmla="*/ 52 w 61"/>
                  <a:gd name="T7" fmla="*/ 51 h 97"/>
                  <a:gd name="T8" fmla="*/ 53 w 61"/>
                  <a:gd name="T9" fmla="*/ 3 h 97"/>
                  <a:gd name="T10" fmla="*/ 46 w 61"/>
                  <a:gd name="T11" fmla="*/ 3 h 97"/>
                </a:gdLst>
                <a:ahLst/>
                <a:cxnLst>
                  <a:cxn ang="0">
                    <a:pos x="T0" y="T1"/>
                  </a:cxn>
                  <a:cxn ang="0">
                    <a:pos x="T2" y="T3"/>
                  </a:cxn>
                  <a:cxn ang="0">
                    <a:pos x="T4" y="T5"/>
                  </a:cxn>
                  <a:cxn ang="0">
                    <a:pos x="T6" y="T7"/>
                  </a:cxn>
                  <a:cxn ang="0">
                    <a:pos x="T8" y="T9"/>
                  </a:cxn>
                  <a:cxn ang="0">
                    <a:pos x="T10" y="T11"/>
                  </a:cxn>
                </a:cxnLst>
                <a:rect l="0" t="0" r="r" b="b"/>
                <a:pathLst>
                  <a:path w="61" h="97">
                    <a:moveTo>
                      <a:pt x="46" y="3"/>
                    </a:moveTo>
                    <a:cubicBezTo>
                      <a:pt x="33" y="29"/>
                      <a:pt x="23" y="57"/>
                      <a:pt x="6" y="81"/>
                    </a:cubicBezTo>
                    <a:cubicBezTo>
                      <a:pt x="0" y="89"/>
                      <a:pt x="13" y="97"/>
                      <a:pt x="20" y="91"/>
                    </a:cubicBezTo>
                    <a:cubicBezTo>
                      <a:pt x="34" y="80"/>
                      <a:pt x="45" y="69"/>
                      <a:pt x="52" y="51"/>
                    </a:cubicBezTo>
                    <a:cubicBezTo>
                      <a:pt x="58" y="35"/>
                      <a:pt x="61" y="20"/>
                      <a:pt x="53" y="3"/>
                    </a:cubicBezTo>
                    <a:cubicBezTo>
                      <a:pt x="52" y="0"/>
                      <a:pt x="47" y="1"/>
                      <a:pt x="4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7" name="chenying0907 21"/>
              <p:cNvSpPr/>
              <p:nvPr/>
            </p:nvSpPr>
            <p:spPr bwMode="auto">
              <a:xfrm>
                <a:off x="8559801" y="3544888"/>
                <a:ext cx="68263" cy="84138"/>
              </a:xfrm>
              <a:custGeom>
                <a:avLst/>
                <a:gdLst>
                  <a:gd name="T0" fmla="*/ 51 w 66"/>
                  <a:gd name="T1" fmla="*/ 4 h 81"/>
                  <a:gd name="T2" fmla="*/ 24 w 66"/>
                  <a:gd name="T3" fmla="*/ 33 h 81"/>
                  <a:gd name="T4" fmla="*/ 14 w 66"/>
                  <a:gd name="T5" fmla="*/ 46 h 81"/>
                  <a:gd name="T6" fmla="*/ 5 w 66"/>
                  <a:gd name="T7" fmla="*/ 62 h 81"/>
                  <a:gd name="T8" fmla="*/ 18 w 66"/>
                  <a:gd name="T9" fmla="*/ 75 h 81"/>
                  <a:gd name="T10" fmla="*/ 32 w 66"/>
                  <a:gd name="T11" fmla="*/ 65 h 81"/>
                  <a:gd name="T12" fmla="*/ 45 w 66"/>
                  <a:gd name="T13" fmla="*/ 49 h 81"/>
                  <a:gd name="T14" fmla="*/ 63 w 66"/>
                  <a:gd name="T15" fmla="*/ 11 h 81"/>
                  <a:gd name="T16" fmla="*/ 51 w 66"/>
                  <a:gd name="T17" fmla="*/ 4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6" h="81">
                    <a:moveTo>
                      <a:pt x="51" y="4"/>
                    </a:moveTo>
                    <a:cubicBezTo>
                      <a:pt x="41" y="13"/>
                      <a:pt x="32" y="22"/>
                      <a:pt x="24" y="33"/>
                    </a:cubicBezTo>
                    <a:cubicBezTo>
                      <a:pt x="21" y="37"/>
                      <a:pt x="17" y="41"/>
                      <a:pt x="14" y="46"/>
                    </a:cubicBezTo>
                    <a:cubicBezTo>
                      <a:pt x="10" y="51"/>
                      <a:pt x="9" y="57"/>
                      <a:pt x="5" y="62"/>
                    </a:cubicBezTo>
                    <a:cubicBezTo>
                      <a:pt x="0" y="70"/>
                      <a:pt x="10" y="81"/>
                      <a:pt x="18" y="75"/>
                    </a:cubicBezTo>
                    <a:cubicBezTo>
                      <a:pt x="22" y="72"/>
                      <a:pt x="29" y="69"/>
                      <a:pt x="32" y="65"/>
                    </a:cubicBezTo>
                    <a:cubicBezTo>
                      <a:pt x="37" y="60"/>
                      <a:pt x="41" y="55"/>
                      <a:pt x="45" y="49"/>
                    </a:cubicBezTo>
                    <a:cubicBezTo>
                      <a:pt x="53" y="37"/>
                      <a:pt x="59" y="25"/>
                      <a:pt x="63" y="11"/>
                    </a:cubicBezTo>
                    <a:cubicBezTo>
                      <a:pt x="66" y="4"/>
                      <a:pt x="56" y="0"/>
                      <a:pt x="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8" name="chenying0907 22"/>
              <p:cNvSpPr/>
              <p:nvPr/>
            </p:nvSpPr>
            <p:spPr bwMode="auto">
              <a:xfrm>
                <a:off x="8374063" y="3732213"/>
                <a:ext cx="80963" cy="65088"/>
              </a:xfrm>
              <a:custGeom>
                <a:avLst/>
                <a:gdLst>
                  <a:gd name="T0" fmla="*/ 66 w 79"/>
                  <a:gd name="T1" fmla="*/ 3 h 62"/>
                  <a:gd name="T2" fmla="*/ 35 w 79"/>
                  <a:gd name="T3" fmla="*/ 23 h 62"/>
                  <a:gd name="T4" fmla="*/ 6 w 79"/>
                  <a:gd name="T5" fmla="*/ 48 h 62"/>
                  <a:gd name="T6" fmla="*/ 14 w 79"/>
                  <a:gd name="T7" fmla="*/ 58 h 62"/>
                  <a:gd name="T8" fmla="*/ 45 w 79"/>
                  <a:gd name="T9" fmla="*/ 38 h 62"/>
                  <a:gd name="T10" fmla="*/ 73 w 79"/>
                  <a:gd name="T11" fmla="*/ 13 h 62"/>
                  <a:gd name="T12" fmla="*/ 66 w 79"/>
                  <a:gd name="T13" fmla="*/ 3 h 62"/>
                </a:gdLst>
                <a:ahLst/>
                <a:cxnLst>
                  <a:cxn ang="0">
                    <a:pos x="T0" y="T1"/>
                  </a:cxn>
                  <a:cxn ang="0">
                    <a:pos x="T2" y="T3"/>
                  </a:cxn>
                  <a:cxn ang="0">
                    <a:pos x="T4" y="T5"/>
                  </a:cxn>
                  <a:cxn ang="0">
                    <a:pos x="T6" y="T7"/>
                  </a:cxn>
                  <a:cxn ang="0">
                    <a:pos x="T8" y="T9"/>
                  </a:cxn>
                  <a:cxn ang="0">
                    <a:pos x="T10" y="T11"/>
                  </a:cxn>
                  <a:cxn ang="0">
                    <a:pos x="T12" y="T13"/>
                  </a:cxn>
                </a:cxnLst>
                <a:rect l="0" t="0" r="r" b="b"/>
                <a:pathLst>
                  <a:path w="79" h="62">
                    <a:moveTo>
                      <a:pt x="66" y="3"/>
                    </a:moveTo>
                    <a:cubicBezTo>
                      <a:pt x="55" y="9"/>
                      <a:pt x="45" y="15"/>
                      <a:pt x="35" y="23"/>
                    </a:cubicBezTo>
                    <a:cubicBezTo>
                      <a:pt x="25" y="31"/>
                      <a:pt x="16" y="39"/>
                      <a:pt x="6" y="48"/>
                    </a:cubicBezTo>
                    <a:cubicBezTo>
                      <a:pt x="0" y="53"/>
                      <a:pt x="8" y="62"/>
                      <a:pt x="14" y="58"/>
                    </a:cubicBezTo>
                    <a:cubicBezTo>
                      <a:pt x="25" y="52"/>
                      <a:pt x="35" y="46"/>
                      <a:pt x="45" y="38"/>
                    </a:cubicBezTo>
                    <a:cubicBezTo>
                      <a:pt x="55" y="30"/>
                      <a:pt x="64" y="21"/>
                      <a:pt x="73" y="13"/>
                    </a:cubicBezTo>
                    <a:cubicBezTo>
                      <a:pt x="79" y="9"/>
                      <a:pt x="72" y="0"/>
                      <a:pt x="66"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09" name="chenying0907 23"/>
              <p:cNvSpPr/>
              <p:nvPr/>
            </p:nvSpPr>
            <p:spPr bwMode="auto">
              <a:xfrm>
                <a:off x="7953376" y="3932238"/>
                <a:ext cx="93663" cy="30163"/>
              </a:xfrm>
              <a:custGeom>
                <a:avLst/>
                <a:gdLst>
                  <a:gd name="T0" fmla="*/ 82 w 91"/>
                  <a:gd name="T1" fmla="*/ 1 h 30"/>
                  <a:gd name="T2" fmla="*/ 42 w 91"/>
                  <a:gd name="T3" fmla="*/ 5 h 30"/>
                  <a:gd name="T4" fmla="*/ 9 w 91"/>
                  <a:gd name="T5" fmla="*/ 11 h 30"/>
                  <a:gd name="T6" fmla="*/ 9 w 91"/>
                  <a:gd name="T7" fmla="*/ 28 h 30"/>
                  <a:gd name="T8" fmla="*/ 45 w 91"/>
                  <a:gd name="T9" fmla="*/ 27 h 30"/>
                  <a:gd name="T10" fmla="*/ 86 w 91"/>
                  <a:gd name="T11" fmla="*/ 9 h 30"/>
                  <a:gd name="T12" fmla="*/ 82 w 91"/>
                  <a:gd name="T13" fmla="*/ 1 h 30"/>
                </a:gdLst>
                <a:ahLst/>
                <a:cxnLst>
                  <a:cxn ang="0">
                    <a:pos x="T0" y="T1"/>
                  </a:cxn>
                  <a:cxn ang="0">
                    <a:pos x="T2" y="T3"/>
                  </a:cxn>
                  <a:cxn ang="0">
                    <a:pos x="T4" y="T5"/>
                  </a:cxn>
                  <a:cxn ang="0">
                    <a:pos x="T6" y="T7"/>
                  </a:cxn>
                  <a:cxn ang="0">
                    <a:pos x="T8" y="T9"/>
                  </a:cxn>
                  <a:cxn ang="0">
                    <a:pos x="T10" y="T11"/>
                  </a:cxn>
                  <a:cxn ang="0">
                    <a:pos x="T12" y="T13"/>
                  </a:cxn>
                </a:cxnLst>
                <a:rect l="0" t="0" r="r" b="b"/>
                <a:pathLst>
                  <a:path w="91" h="30">
                    <a:moveTo>
                      <a:pt x="82" y="1"/>
                    </a:moveTo>
                    <a:cubicBezTo>
                      <a:pt x="69" y="3"/>
                      <a:pt x="55" y="3"/>
                      <a:pt x="42" y="5"/>
                    </a:cubicBezTo>
                    <a:cubicBezTo>
                      <a:pt x="31" y="6"/>
                      <a:pt x="20" y="9"/>
                      <a:pt x="9" y="11"/>
                    </a:cubicBezTo>
                    <a:cubicBezTo>
                      <a:pt x="0" y="13"/>
                      <a:pt x="0" y="27"/>
                      <a:pt x="9" y="28"/>
                    </a:cubicBezTo>
                    <a:cubicBezTo>
                      <a:pt x="22" y="30"/>
                      <a:pt x="32" y="30"/>
                      <a:pt x="45" y="27"/>
                    </a:cubicBezTo>
                    <a:cubicBezTo>
                      <a:pt x="60" y="23"/>
                      <a:pt x="72" y="15"/>
                      <a:pt x="86" y="9"/>
                    </a:cubicBezTo>
                    <a:cubicBezTo>
                      <a:pt x="91" y="7"/>
                      <a:pt x="87" y="0"/>
                      <a:pt x="8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0" name="chenying0907 24"/>
              <p:cNvSpPr/>
              <p:nvPr/>
            </p:nvSpPr>
            <p:spPr bwMode="auto">
              <a:xfrm>
                <a:off x="7991476" y="3992563"/>
                <a:ext cx="65088" cy="77788"/>
              </a:xfrm>
              <a:custGeom>
                <a:avLst/>
                <a:gdLst>
                  <a:gd name="T0" fmla="*/ 2 w 63"/>
                  <a:gd name="T1" fmla="*/ 6 h 74"/>
                  <a:gd name="T2" fmla="*/ 12 w 63"/>
                  <a:gd name="T3" fmla="*/ 18 h 74"/>
                  <a:gd name="T4" fmla="*/ 24 w 63"/>
                  <a:gd name="T5" fmla="*/ 34 h 74"/>
                  <a:gd name="T6" fmla="*/ 36 w 63"/>
                  <a:gd name="T7" fmla="*/ 51 h 74"/>
                  <a:gd name="T8" fmla="*/ 47 w 63"/>
                  <a:gd name="T9" fmla="*/ 66 h 74"/>
                  <a:gd name="T10" fmla="*/ 61 w 63"/>
                  <a:gd name="T11" fmla="*/ 60 h 74"/>
                  <a:gd name="T12" fmla="*/ 37 w 63"/>
                  <a:gd name="T13" fmla="*/ 16 h 74"/>
                  <a:gd name="T14" fmla="*/ 18 w 63"/>
                  <a:gd name="T15" fmla="*/ 3 h 74"/>
                  <a:gd name="T16" fmla="*/ 3 w 63"/>
                  <a:gd name="T17" fmla="*/ 2 h 74"/>
                  <a:gd name="T18" fmla="*/ 2 w 63"/>
                  <a:gd name="T19" fmla="*/ 6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74">
                    <a:moveTo>
                      <a:pt x="2" y="6"/>
                    </a:moveTo>
                    <a:cubicBezTo>
                      <a:pt x="6" y="7"/>
                      <a:pt x="10" y="15"/>
                      <a:pt x="12" y="18"/>
                    </a:cubicBezTo>
                    <a:cubicBezTo>
                      <a:pt x="15" y="24"/>
                      <a:pt x="20" y="29"/>
                      <a:pt x="24" y="34"/>
                    </a:cubicBezTo>
                    <a:cubicBezTo>
                      <a:pt x="29" y="39"/>
                      <a:pt x="32" y="45"/>
                      <a:pt x="36" y="51"/>
                    </a:cubicBezTo>
                    <a:cubicBezTo>
                      <a:pt x="39" y="56"/>
                      <a:pt x="44" y="60"/>
                      <a:pt x="47" y="66"/>
                    </a:cubicBezTo>
                    <a:cubicBezTo>
                      <a:pt x="51" y="74"/>
                      <a:pt x="63" y="68"/>
                      <a:pt x="61" y="60"/>
                    </a:cubicBezTo>
                    <a:cubicBezTo>
                      <a:pt x="57" y="43"/>
                      <a:pt x="50" y="29"/>
                      <a:pt x="37" y="16"/>
                    </a:cubicBezTo>
                    <a:cubicBezTo>
                      <a:pt x="32" y="10"/>
                      <a:pt x="26" y="6"/>
                      <a:pt x="18" y="3"/>
                    </a:cubicBezTo>
                    <a:cubicBezTo>
                      <a:pt x="13" y="0"/>
                      <a:pt x="8" y="1"/>
                      <a:pt x="3" y="2"/>
                    </a:cubicBezTo>
                    <a:cubicBezTo>
                      <a:pt x="0" y="2"/>
                      <a:pt x="0" y="6"/>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1" name="chenying0907 25"/>
              <p:cNvSpPr/>
              <p:nvPr/>
            </p:nvSpPr>
            <p:spPr bwMode="auto">
              <a:xfrm>
                <a:off x="8085138" y="4160838"/>
                <a:ext cx="26988" cy="95250"/>
              </a:xfrm>
              <a:custGeom>
                <a:avLst/>
                <a:gdLst>
                  <a:gd name="T0" fmla="*/ 0 w 26"/>
                  <a:gd name="T1" fmla="*/ 8 h 91"/>
                  <a:gd name="T2" fmla="*/ 6 w 26"/>
                  <a:gd name="T3" fmla="*/ 83 h 91"/>
                  <a:gd name="T4" fmla="*/ 22 w 26"/>
                  <a:gd name="T5" fmla="*/ 83 h 91"/>
                  <a:gd name="T6" fmla="*/ 13 w 26"/>
                  <a:gd name="T7" fmla="*/ 5 h 91"/>
                  <a:gd name="T8" fmla="*/ 0 w 26"/>
                  <a:gd name="T9" fmla="*/ 8 h 91"/>
                </a:gdLst>
                <a:ahLst/>
                <a:cxnLst>
                  <a:cxn ang="0">
                    <a:pos x="T0" y="T1"/>
                  </a:cxn>
                  <a:cxn ang="0">
                    <a:pos x="T2" y="T3"/>
                  </a:cxn>
                  <a:cxn ang="0">
                    <a:pos x="T4" y="T5"/>
                  </a:cxn>
                  <a:cxn ang="0">
                    <a:pos x="T6" y="T7"/>
                  </a:cxn>
                  <a:cxn ang="0">
                    <a:pos x="T8" y="T9"/>
                  </a:cxn>
                </a:cxnLst>
                <a:rect l="0" t="0" r="r" b="b"/>
                <a:pathLst>
                  <a:path w="26" h="91">
                    <a:moveTo>
                      <a:pt x="0" y="8"/>
                    </a:moveTo>
                    <a:cubicBezTo>
                      <a:pt x="1" y="33"/>
                      <a:pt x="2" y="59"/>
                      <a:pt x="6" y="83"/>
                    </a:cubicBezTo>
                    <a:cubicBezTo>
                      <a:pt x="8" y="91"/>
                      <a:pt x="20" y="91"/>
                      <a:pt x="22" y="83"/>
                    </a:cubicBezTo>
                    <a:cubicBezTo>
                      <a:pt x="26" y="58"/>
                      <a:pt x="26" y="27"/>
                      <a:pt x="13" y="5"/>
                    </a:cubicBezTo>
                    <a:cubicBezTo>
                      <a:pt x="9" y="0"/>
                      <a:pt x="0" y="2"/>
                      <a:pt x="0"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2" name="chenying0907 26"/>
              <p:cNvSpPr/>
              <p:nvPr/>
            </p:nvSpPr>
            <p:spPr bwMode="auto">
              <a:xfrm>
                <a:off x="8034338" y="4348163"/>
                <a:ext cx="44450" cy="106363"/>
              </a:xfrm>
              <a:custGeom>
                <a:avLst/>
                <a:gdLst>
                  <a:gd name="T0" fmla="*/ 8 w 43"/>
                  <a:gd name="T1" fmla="*/ 99 h 102"/>
                  <a:gd name="T2" fmla="*/ 32 w 43"/>
                  <a:gd name="T3" fmla="*/ 61 h 102"/>
                  <a:gd name="T4" fmla="*/ 42 w 43"/>
                  <a:gd name="T5" fmla="*/ 9 h 102"/>
                  <a:gd name="T6" fmla="*/ 27 w 43"/>
                  <a:gd name="T7" fmla="*/ 7 h 102"/>
                  <a:gd name="T8" fmla="*/ 13 w 43"/>
                  <a:gd name="T9" fmla="*/ 50 h 102"/>
                  <a:gd name="T10" fmla="*/ 1 w 43"/>
                  <a:gd name="T11" fmla="*/ 95 h 102"/>
                  <a:gd name="T12" fmla="*/ 8 w 43"/>
                  <a:gd name="T13" fmla="*/ 99 h 102"/>
                </a:gdLst>
                <a:ahLst/>
                <a:cxnLst>
                  <a:cxn ang="0">
                    <a:pos x="T0" y="T1"/>
                  </a:cxn>
                  <a:cxn ang="0">
                    <a:pos x="T2" y="T3"/>
                  </a:cxn>
                  <a:cxn ang="0">
                    <a:pos x="T4" y="T5"/>
                  </a:cxn>
                  <a:cxn ang="0">
                    <a:pos x="T6" y="T7"/>
                  </a:cxn>
                  <a:cxn ang="0">
                    <a:pos x="T8" y="T9"/>
                  </a:cxn>
                  <a:cxn ang="0">
                    <a:pos x="T10" y="T11"/>
                  </a:cxn>
                  <a:cxn ang="0">
                    <a:pos x="T12" y="T13"/>
                  </a:cxn>
                </a:cxnLst>
                <a:rect l="0" t="0" r="r" b="b"/>
                <a:pathLst>
                  <a:path w="43" h="102">
                    <a:moveTo>
                      <a:pt x="8" y="99"/>
                    </a:moveTo>
                    <a:cubicBezTo>
                      <a:pt x="19" y="87"/>
                      <a:pt x="26" y="76"/>
                      <a:pt x="32" y="61"/>
                    </a:cubicBezTo>
                    <a:cubicBezTo>
                      <a:pt x="38" y="44"/>
                      <a:pt x="40" y="27"/>
                      <a:pt x="42" y="9"/>
                    </a:cubicBezTo>
                    <a:cubicBezTo>
                      <a:pt x="43" y="0"/>
                      <a:pt x="30" y="0"/>
                      <a:pt x="27" y="7"/>
                    </a:cubicBezTo>
                    <a:cubicBezTo>
                      <a:pt x="21" y="22"/>
                      <a:pt x="16" y="35"/>
                      <a:pt x="13" y="50"/>
                    </a:cubicBezTo>
                    <a:cubicBezTo>
                      <a:pt x="9" y="64"/>
                      <a:pt x="7" y="81"/>
                      <a:pt x="1" y="95"/>
                    </a:cubicBezTo>
                    <a:cubicBezTo>
                      <a:pt x="0" y="99"/>
                      <a:pt x="6" y="102"/>
                      <a:pt x="8"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3" name="chenying0907 27"/>
              <p:cNvSpPr/>
              <p:nvPr/>
            </p:nvSpPr>
            <p:spPr bwMode="auto">
              <a:xfrm>
                <a:off x="7883526" y="4581526"/>
                <a:ext cx="80963" cy="74613"/>
              </a:xfrm>
              <a:custGeom>
                <a:avLst/>
                <a:gdLst>
                  <a:gd name="T0" fmla="*/ 7 w 78"/>
                  <a:gd name="T1" fmla="*/ 69 h 72"/>
                  <a:gd name="T2" fmla="*/ 45 w 78"/>
                  <a:gd name="T3" fmla="*/ 47 h 72"/>
                  <a:gd name="T4" fmla="*/ 75 w 78"/>
                  <a:gd name="T5" fmla="*/ 11 h 72"/>
                  <a:gd name="T6" fmla="*/ 67 w 78"/>
                  <a:gd name="T7" fmla="*/ 5 h 72"/>
                  <a:gd name="T8" fmla="*/ 37 w 78"/>
                  <a:gd name="T9" fmla="*/ 33 h 72"/>
                  <a:gd name="T10" fmla="*/ 4 w 78"/>
                  <a:gd name="T11" fmla="*/ 63 h 72"/>
                  <a:gd name="T12" fmla="*/ 7 w 78"/>
                  <a:gd name="T13" fmla="*/ 69 h 72"/>
                </a:gdLst>
                <a:ahLst/>
                <a:cxnLst>
                  <a:cxn ang="0">
                    <a:pos x="T0" y="T1"/>
                  </a:cxn>
                  <a:cxn ang="0">
                    <a:pos x="T2" y="T3"/>
                  </a:cxn>
                  <a:cxn ang="0">
                    <a:pos x="T4" y="T5"/>
                  </a:cxn>
                  <a:cxn ang="0">
                    <a:pos x="T6" y="T7"/>
                  </a:cxn>
                  <a:cxn ang="0">
                    <a:pos x="T8" y="T9"/>
                  </a:cxn>
                  <a:cxn ang="0">
                    <a:pos x="T10" y="T11"/>
                  </a:cxn>
                  <a:cxn ang="0">
                    <a:pos x="T12" y="T13"/>
                  </a:cxn>
                </a:cxnLst>
                <a:rect l="0" t="0" r="r" b="b"/>
                <a:pathLst>
                  <a:path w="78" h="72">
                    <a:moveTo>
                      <a:pt x="7" y="69"/>
                    </a:moveTo>
                    <a:cubicBezTo>
                      <a:pt x="20" y="62"/>
                      <a:pt x="33" y="56"/>
                      <a:pt x="45" y="47"/>
                    </a:cubicBezTo>
                    <a:cubicBezTo>
                      <a:pt x="57" y="37"/>
                      <a:pt x="68" y="26"/>
                      <a:pt x="75" y="11"/>
                    </a:cubicBezTo>
                    <a:cubicBezTo>
                      <a:pt x="78" y="6"/>
                      <a:pt x="71" y="0"/>
                      <a:pt x="67" y="5"/>
                    </a:cubicBezTo>
                    <a:cubicBezTo>
                      <a:pt x="57" y="15"/>
                      <a:pt x="47" y="24"/>
                      <a:pt x="37" y="33"/>
                    </a:cubicBezTo>
                    <a:cubicBezTo>
                      <a:pt x="26" y="43"/>
                      <a:pt x="15" y="55"/>
                      <a:pt x="4" y="63"/>
                    </a:cubicBezTo>
                    <a:cubicBezTo>
                      <a:pt x="0" y="66"/>
                      <a:pt x="3" y="72"/>
                      <a:pt x="7" y="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4" name="chenying0907 28"/>
              <p:cNvSpPr/>
              <p:nvPr/>
            </p:nvSpPr>
            <p:spPr bwMode="auto">
              <a:xfrm>
                <a:off x="7666038" y="4762501"/>
                <a:ext cx="120650" cy="58738"/>
              </a:xfrm>
              <a:custGeom>
                <a:avLst/>
                <a:gdLst>
                  <a:gd name="T0" fmla="*/ 6 w 117"/>
                  <a:gd name="T1" fmla="*/ 56 h 56"/>
                  <a:gd name="T2" fmla="*/ 111 w 117"/>
                  <a:gd name="T3" fmla="*/ 13 h 56"/>
                  <a:gd name="T4" fmla="*/ 105 w 117"/>
                  <a:gd name="T5" fmla="*/ 2 h 56"/>
                  <a:gd name="T6" fmla="*/ 5 w 117"/>
                  <a:gd name="T7" fmla="*/ 48 h 56"/>
                  <a:gd name="T8" fmla="*/ 6 w 117"/>
                  <a:gd name="T9" fmla="*/ 56 h 56"/>
                </a:gdLst>
                <a:ahLst/>
                <a:cxnLst>
                  <a:cxn ang="0">
                    <a:pos x="T0" y="T1"/>
                  </a:cxn>
                  <a:cxn ang="0">
                    <a:pos x="T2" y="T3"/>
                  </a:cxn>
                  <a:cxn ang="0">
                    <a:pos x="T4" y="T5"/>
                  </a:cxn>
                  <a:cxn ang="0">
                    <a:pos x="T6" y="T7"/>
                  </a:cxn>
                  <a:cxn ang="0">
                    <a:pos x="T8" y="T9"/>
                  </a:cxn>
                </a:cxnLst>
                <a:rect l="0" t="0" r="r" b="b"/>
                <a:pathLst>
                  <a:path w="117" h="56">
                    <a:moveTo>
                      <a:pt x="6" y="56"/>
                    </a:moveTo>
                    <a:cubicBezTo>
                      <a:pt x="44" y="51"/>
                      <a:pt x="81" y="37"/>
                      <a:pt x="111" y="13"/>
                    </a:cubicBezTo>
                    <a:cubicBezTo>
                      <a:pt x="117" y="9"/>
                      <a:pt x="111" y="0"/>
                      <a:pt x="105" y="2"/>
                    </a:cubicBezTo>
                    <a:cubicBezTo>
                      <a:pt x="70" y="12"/>
                      <a:pt x="40" y="36"/>
                      <a:pt x="5" y="48"/>
                    </a:cubicBezTo>
                    <a:cubicBezTo>
                      <a:pt x="0" y="49"/>
                      <a:pt x="1" y="56"/>
                      <a:pt x="6"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5" name="chenying0907 29"/>
              <p:cNvSpPr/>
              <p:nvPr/>
            </p:nvSpPr>
            <p:spPr bwMode="auto">
              <a:xfrm>
                <a:off x="7434263" y="4868863"/>
                <a:ext cx="123825" cy="47625"/>
              </a:xfrm>
              <a:custGeom>
                <a:avLst/>
                <a:gdLst>
                  <a:gd name="T0" fmla="*/ 4 w 120"/>
                  <a:gd name="T1" fmla="*/ 46 h 46"/>
                  <a:gd name="T2" fmla="*/ 117 w 120"/>
                  <a:gd name="T3" fmla="*/ 10 h 46"/>
                  <a:gd name="T4" fmla="*/ 112 w 120"/>
                  <a:gd name="T5" fmla="*/ 2 h 46"/>
                  <a:gd name="T6" fmla="*/ 3 w 120"/>
                  <a:gd name="T7" fmla="*/ 39 h 46"/>
                  <a:gd name="T8" fmla="*/ 4 w 120"/>
                  <a:gd name="T9" fmla="*/ 46 h 46"/>
                </a:gdLst>
                <a:ahLst/>
                <a:cxnLst>
                  <a:cxn ang="0">
                    <a:pos x="T0" y="T1"/>
                  </a:cxn>
                  <a:cxn ang="0">
                    <a:pos x="T2" y="T3"/>
                  </a:cxn>
                  <a:cxn ang="0">
                    <a:pos x="T4" y="T5"/>
                  </a:cxn>
                  <a:cxn ang="0">
                    <a:pos x="T6" y="T7"/>
                  </a:cxn>
                  <a:cxn ang="0">
                    <a:pos x="T8" y="T9"/>
                  </a:cxn>
                </a:cxnLst>
                <a:rect l="0" t="0" r="r" b="b"/>
                <a:pathLst>
                  <a:path w="120" h="46">
                    <a:moveTo>
                      <a:pt x="4" y="46"/>
                    </a:moveTo>
                    <a:cubicBezTo>
                      <a:pt x="43" y="44"/>
                      <a:pt x="86" y="36"/>
                      <a:pt x="117" y="10"/>
                    </a:cubicBezTo>
                    <a:cubicBezTo>
                      <a:pt x="120" y="7"/>
                      <a:pt x="116" y="0"/>
                      <a:pt x="112" y="2"/>
                    </a:cubicBezTo>
                    <a:cubicBezTo>
                      <a:pt x="75" y="14"/>
                      <a:pt x="40" y="27"/>
                      <a:pt x="3" y="39"/>
                    </a:cubicBezTo>
                    <a:cubicBezTo>
                      <a:pt x="0" y="40"/>
                      <a:pt x="0" y="46"/>
                      <a:pt x="4"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6" name="chenying0907 30"/>
              <p:cNvSpPr/>
              <p:nvPr/>
            </p:nvSpPr>
            <p:spPr bwMode="auto">
              <a:xfrm>
                <a:off x="7192963" y="4932363"/>
                <a:ext cx="153988" cy="38100"/>
              </a:xfrm>
              <a:custGeom>
                <a:avLst/>
                <a:gdLst>
                  <a:gd name="T0" fmla="*/ 6 w 148"/>
                  <a:gd name="T1" fmla="*/ 36 h 37"/>
                  <a:gd name="T2" fmla="*/ 137 w 148"/>
                  <a:gd name="T3" fmla="*/ 20 h 37"/>
                  <a:gd name="T4" fmla="*/ 133 w 148"/>
                  <a:gd name="T5" fmla="*/ 3 h 37"/>
                  <a:gd name="T6" fmla="*/ 3 w 148"/>
                  <a:gd name="T7" fmla="*/ 31 h 37"/>
                  <a:gd name="T8" fmla="*/ 6 w 148"/>
                  <a:gd name="T9" fmla="*/ 36 h 37"/>
                </a:gdLst>
                <a:ahLst/>
                <a:cxnLst>
                  <a:cxn ang="0">
                    <a:pos x="T0" y="T1"/>
                  </a:cxn>
                  <a:cxn ang="0">
                    <a:pos x="T2" y="T3"/>
                  </a:cxn>
                  <a:cxn ang="0">
                    <a:pos x="T4" y="T5"/>
                  </a:cxn>
                  <a:cxn ang="0">
                    <a:pos x="T6" y="T7"/>
                  </a:cxn>
                  <a:cxn ang="0">
                    <a:pos x="T8" y="T9"/>
                  </a:cxn>
                </a:cxnLst>
                <a:rect l="0" t="0" r="r" b="b"/>
                <a:pathLst>
                  <a:path w="148" h="37">
                    <a:moveTo>
                      <a:pt x="6" y="36"/>
                    </a:moveTo>
                    <a:cubicBezTo>
                      <a:pt x="51" y="28"/>
                      <a:pt x="94" y="36"/>
                      <a:pt x="137" y="20"/>
                    </a:cubicBezTo>
                    <a:cubicBezTo>
                      <a:pt x="148" y="16"/>
                      <a:pt x="144" y="0"/>
                      <a:pt x="133" y="3"/>
                    </a:cubicBezTo>
                    <a:cubicBezTo>
                      <a:pt x="88" y="13"/>
                      <a:pt x="46" y="13"/>
                      <a:pt x="3" y="31"/>
                    </a:cubicBezTo>
                    <a:cubicBezTo>
                      <a:pt x="0" y="32"/>
                      <a:pt x="2" y="37"/>
                      <a:pt x="6"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7" name="chenying0907 31"/>
              <p:cNvSpPr/>
              <p:nvPr/>
            </p:nvSpPr>
            <p:spPr bwMode="auto">
              <a:xfrm>
                <a:off x="6989763" y="4945063"/>
                <a:ext cx="88900" cy="22225"/>
              </a:xfrm>
              <a:custGeom>
                <a:avLst/>
                <a:gdLst>
                  <a:gd name="T0" fmla="*/ 4 w 86"/>
                  <a:gd name="T1" fmla="*/ 18 h 22"/>
                  <a:gd name="T2" fmla="*/ 80 w 86"/>
                  <a:gd name="T3" fmla="*/ 10 h 22"/>
                  <a:gd name="T4" fmla="*/ 77 w 86"/>
                  <a:gd name="T5" fmla="*/ 1 h 22"/>
                  <a:gd name="T6" fmla="*/ 4 w 86"/>
                  <a:gd name="T7" fmla="*/ 8 h 22"/>
                  <a:gd name="T8" fmla="*/ 4 w 86"/>
                  <a:gd name="T9" fmla="*/ 18 h 22"/>
                </a:gdLst>
                <a:ahLst/>
                <a:cxnLst>
                  <a:cxn ang="0">
                    <a:pos x="T0" y="T1"/>
                  </a:cxn>
                  <a:cxn ang="0">
                    <a:pos x="T2" y="T3"/>
                  </a:cxn>
                  <a:cxn ang="0">
                    <a:pos x="T4" y="T5"/>
                  </a:cxn>
                  <a:cxn ang="0">
                    <a:pos x="T6" y="T7"/>
                  </a:cxn>
                  <a:cxn ang="0">
                    <a:pos x="T8" y="T9"/>
                  </a:cxn>
                </a:cxnLst>
                <a:rect l="0" t="0" r="r" b="b"/>
                <a:pathLst>
                  <a:path w="86" h="22">
                    <a:moveTo>
                      <a:pt x="4" y="18"/>
                    </a:moveTo>
                    <a:cubicBezTo>
                      <a:pt x="30" y="22"/>
                      <a:pt x="56" y="21"/>
                      <a:pt x="80" y="10"/>
                    </a:cubicBezTo>
                    <a:cubicBezTo>
                      <a:pt x="86" y="8"/>
                      <a:pt x="82" y="0"/>
                      <a:pt x="77" y="1"/>
                    </a:cubicBezTo>
                    <a:cubicBezTo>
                      <a:pt x="53" y="5"/>
                      <a:pt x="28" y="5"/>
                      <a:pt x="4" y="8"/>
                    </a:cubicBezTo>
                    <a:cubicBezTo>
                      <a:pt x="0" y="9"/>
                      <a:pt x="0" y="17"/>
                      <a:pt x="4"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8" name="chenying0907 32"/>
              <p:cNvSpPr/>
              <p:nvPr/>
            </p:nvSpPr>
            <p:spPr bwMode="auto">
              <a:xfrm>
                <a:off x="6748463" y="4924426"/>
                <a:ext cx="80963" cy="31750"/>
              </a:xfrm>
              <a:custGeom>
                <a:avLst/>
                <a:gdLst>
                  <a:gd name="T0" fmla="*/ 6 w 79"/>
                  <a:gd name="T1" fmla="*/ 17 h 31"/>
                  <a:gd name="T2" fmla="*/ 37 w 79"/>
                  <a:gd name="T3" fmla="*/ 24 h 31"/>
                  <a:gd name="T4" fmla="*/ 72 w 79"/>
                  <a:gd name="T5" fmla="*/ 31 h 31"/>
                  <a:gd name="T6" fmla="*/ 75 w 79"/>
                  <a:gd name="T7" fmla="*/ 21 h 31"/>
                  <a:gd name="T8" fmla="*/ 6 w 79"/>
                  <a:gd name="T9" fmla="*/ 6 h 31"/>
                  <a:gd name="T10" fmla="*/ 6 w 79"/>
                  <a:gd name="T11" fmla="*/ 17 h 31"/>
                </a:gdLst>
                <a:ahLst/>
                <a:cxnLst>
                  <a:cxn ang="0">
                    <a:pos x="T0" y="T1"/>
                  </a:cxn>
                  <a:cxn ang="0">
                    <a:pos x="T2" y="T3"/>
                  </a:cxn>
                  <a:cxn ang="0">
                    <a:pos x="T4" y="T5"/>
                  </a:cxn>
                  <a:cxn ang="0">
                    <a:pos x="T6" y="T7"/>
                  </a:cxn>
                  <a:cxn ang="0">
                    <a:pos x="T8" y="T9"/>
                  </a:cxn>
                  <a:cxn ang="0">
                    <a:pos x="T10" y="T11"/>
                  </a:cxn>
                </a:cxnLst>
                <a:rect l="0" t="0" r="r" b="b"/>
                <a:pathLst>
                  <a:path w="79" h="31">
                    <a:moveTo>
                      <a:pt x="6" y="17"/>
                    </a:moveTo>
                    <a:cubicBezTo>
                      <a:pt x="16" y="20"/>
                      <a:pt x="27" y="22"/>
                      <a:pt x="37" y="24"/>
                    </a:cubicBezTo>
                    <a:cubicBezTo>
                      <a:pt x="49" y="27"/>
                      <a:pt x="60" y="31"/>
                      <a:pt x="72" y="31"/>
                    </a:cubicBezTo>
                    <a:cubicBezTo>
                      <a:pt x="78" y="31"/>
                      <a:pt x="79" y="24"/>
                      <a:pt x="75" y="21"/>
                    </a:cubicBezTo>
                    <a:cubicBezTo>
                      <a:pt x="56" y="8"/>
                      <a:pt x="28" y="0"/>
                      <a:pt x="6" y="6"/>
                    </a:cubicBezTo>
                    <a:cubicBezTo>
                      <a:pt x="0" y="8"/>
                      <a:pt x="1" y="15"/>
                      <a:pt x="6"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19" name="chenying0907 33"/>
              <p:cNvSpPr/>
              <p:nvPr/>
            </p:nvSpPr>
            <p:spPr bwMode="auto">
              <a:xfrm>
                <a:off x="6559551" y="4949826"/>
                <a:ext cx="68263" cy="61913"/>
              </a:xfrm>
              <a:custGeom>
                <a:avLst/>
                <a:gdLst>
                  <a:gd name="T0" fmla="*/ 11 w 67"/>
                  <a:gd name="T1" fmla="*/ 56 h 59"/>
                  <a:gd name="T2" fmla="*/ 39 w 67"/>
                  <a:gd name="T3" fmla="*/ 37 h 59"/>
                  <a:gd name="T4" fmla="*/ 63 w 67"/>
                  <a:gd name="T5" fmla="*/ 12 h 59"/>
                  <a:gd name="T6" fmla="*/ 55 w 67"/>
                  <a:gd name="T7" fmla="*/ 4 h 59"/>
                  <a:gd name="T8" fmla="*/ 31 w 67"/>
                  <a:gd name="T9" fmla="*/ 25 h 59"/>
                  <a:gd name="T10" fmla="*/ 4 w 67"/>
                  <a:gd name="T11" fmla="*/ 48 h 59"/>
                  <a:gd name="T12" fmla="*/ 11 w 67"/>
                  <a:gd name="T13" fmla="*/ 56 h 59"/>
                </a:gdLst>
                <a:ahLst/>
                <a:cxnLst>
                  <a:cxn ang="0">
                    <a:pos x="T0" y="T1"/>
                  </a:cxn>
                  <a:cxn ang="0">
                    <a:pos x="T2" y="T3"/>
                  </a:cxn>
                  <a:cxn ang="0">
                    <a:pos x="T4" y="T5"/>
                  </a:cxn>
                  <a:cxn ang="0">
                    <a:pos x="T6" y="T7"/>
                  </a:cxn>
                  <a:cxn ang="0">
                    <a:pos x="T8" y="T9"/>
                  </a:cxn>
                  <a:cxn ang="0">
                    <a:pos x="T10" y="T11"/>
                  </a:cxn>
                  <a:cxn ang="0">
                    <a:pos x="T12" y="T13"/>
                  </a:cxn>
                </a:cxnLst>
                <a:rect l="0" t="0" r="r" b="b"/>
                <a:pathLst>
                  <a:path w="67" h="59">
                    <a:moveTo>
                      <a:pt x="11" y="56"/>
                    </a:moveTo>
                    <a:cubicBezTo>
                      <a:pt x="21" y="50"/>
                      <a:pt x="30" y="44"/>
                      <a:pt x="39" y="37"/>
                    </a:cubicBezTo>
                    <a:cubicBezTo>
                      <a:pt x="48" y="29"/>
                      <a:pt x="55" y="21"/>
                      <a:pt x="63" y="12"/>
                    </a:cubicBezTo>
                    <a:cubicBezTo>
                      <a:pt x="67" y="7"/>
                      <a:pt x="60" y="0"/>
                      <a:pt x="55" y="4"/>
                    </a:cubicBezTo>
                    <a:cubicBezTo>
                      <a:pt x="47" y="11"/>
                      <a:pt x="39" y="17"/>
                      <a:pt x="31" y="25"/>
                    </a:cubicBezTo>
                    <a:cubicBezTo>
                      <a:pt x="22" y="33"/>
                      <a:pt x="14" y="41"/>
                      <a:pt x="4" y="48"/>
                    </a:cubicBezTo>
                    <a:cubicBezTo>
                      <a:pt x="0" y="52"/>
                      <a:pt x="6" y="59"/>
                      <a:pt x="11" y="5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0" name="chenying0907 34"/>
              <p:cNvSpPr/>
              <p:nvPr/>
            </p:nvSpPr>
            <p:spPr bwMode="auto">
              <a:xfrm>
                <a:off x="6375401" y="5078413"/>
                <a:ext cx="80963" cy="49213"/>
              </a:xfrm>
              <a:custGeom>
                <a:avLst/>
                <a:gdLst>
                  <a:gd name="T0" fmla="*/ 5 w 78"/>
                  <a:gd name="T1" fmla="*/ 46 h 46"/>
                  <a:gd name="T2" fmla="*/ 41 w 78"/>
                  <a:gd name="T3" fmla="*/ 34 h 46"/>
                  <a:gd name="T4" fmla="*/ 73 w 78"/>
                  <a:gd name="T5" fmla="*/ 11 h 46"/>
                  <a:gd name="T6" fmla="*/ 67 w 78"/>
                  <a:gd name="T7" fmla="*/ 2 h 46"/>
                  <a:gd name="T8" fmla="*/ 33 w 78"/>
                  <a:gd name="T9" fmla="*/ 21 h 46"/>
                  <a:gd name="T10" fmla="*/ 3 w 78"/>
                  <a:gd name="T11" fmla="*/ 41 h 46"/>
                  <a:gd name="T12" fmla="*/ 5 w 78"/>
                  <a:gd name="T13" fmla="*/ 46 h 46"/>
                </a:gdLst>
                <a:ahLst/>
                <a:cxnLst>
                  <a:cxn ang="0">
                    <a:pos x="T0" y="T1"/>
                  </a:cxn>
                  <a:cxn ang="0">
                    <a:pos x="T2" y="T3"/>
                  </a:cxn>
                  <a:cxn ang="0">
                    <a:pos x="T4" y="T5"/>
                  </a:cxn>
                  <a:cxn ang="0">
                    <a:pos x="T6" y="T7"/>
                  </a:cxn>
                  <a:cxn ang="0">
                    <a:pos x="T8" y="T9"/>
                  </a:cxn>
                  <a:cxn ang="0">
                    <a:pos x="T10" y="T11"/>
                  </a:cxn>
                  <a:cxn ang="0">
                    <a:pos x="T12" y="T13"/>
                  </a:cxn>
                </a:cxnLst>
                <a:rect l="0" t="0" r="r" b="b"/>
                <a:pathLst>
                  <a:path w="78" h="46">
                    <a:moveTo>
                      <a:pt x="5" y="46"/>
                    </a:moveTo>
                    <a:cubicBezTo>
                      <a:pt x="17" y="42"/>
                      <a:pt x="29" y="41"/>
                      <a:pt x="41" y="34"/>
                    </a:cubicBezTo>
                    <a:cubicBezTo>
                      <a:pt x="53" y="28"/>
                      <a:pt x="63" y="20"/>
                      <a:pt x="73" y="11"/>
                    </a:cubicBezTo>
                    <a:cubicBezTo>
                      <a:pt x="78" y="6"/>
                      <a:pt x="72" y="0"/>
                      <a:pt x="67" y="2"/>
                    </a:cubicBezTo>
                    <a:cubicBezTo>
                      <a:pt x="55" y="8"/>
                      <a:pt x="44" y="14"/>
                      <a:pt x="33" y="21"/>
                    </a:cubicBezTo>
                    <a:cubicBezTo>
                      <a:pt x="23" y="28"/>
                      <a:pt x="14" y="37"/>
                      <a:pt x="3" y="41"/>
                    </a:cubicBezTo>
                    <a:cubicBezTo>
                      <a:pt x="0" y="42"/>
                      <a:pt x="2" y="46"/>
                      <a:pt x="5"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1" name="chenying0907 35"/>
              <p:cNvSpPr/>
              <p:nvPr/>
            </p:nvSpPr>
            <p:spPr bwMode="auto">
              <a:xfrm>
                <a:off x="6167438" y="5192713"/>
                <a:ext cx="114300" cy="50800"/>
              </a:xfrm>
              <a:custGeom>
                <a:avLst/>
                <a:gdLst>
                  <a:gd name="T0" fmla="*/ 10 w 110"/>
                  <a:gd name="T1" fmla="*/ 48 h 50"/>
                  <a:gd name="T2" fmla="*/ 105 w 110"/>
                  <a:gd name="T3" fmla="*/ 11 h 50"/>
                  <a:gd name="T4" fmla="*/ 102 w 110"/>
                  <a:gd name="T5" fmla="*/ 2 h 50"/>
                  <a:gd name="T6" fmla="*/ 7 w 110"/>
                  <a:gd name="T7" fmla="*/ 37 h 50"/>
                  <a:gd name="T8" fmla="*/ 10 w 110"/>
                  <a:gd name="T9" fmla="*/ 48 h 50"/>
                </a:gdLst>
                <a:ahLst/>
                <a:cxnLst>
                  <a:cxn ang="0">
                    <a:pos x="T0" y="T1"/>
                  </a:cxn>
                  <a:cxn ang="0">
                    <a:pos x="T2" y="T3"/>
                  </a:cxn>
                  <a:cxn ang="0">
                    <a:pos x="T4" y="T5"/>
                  </a:cxn>
                  <a:cxn ang="0">
                    <a:pos x="T6" y="T7"/>
                  </a:cxn>
                  <a:cxn ang="0">
                    <a:pos x="T8" y="T9"/>
                  </a:cxn>
                </a:cxnLst>
                <a:rect l="0" t="0" r="r" b="b"/>
                <a:pathLst>
                  <a:path w="110" h="50">
                    <a:moveTo>
                      <a:pt x="10" y="48"/>
                    </a:moveTo>
                    <a:cubicBezTo>
                      <a:pt x="45" y="42"/>
                      <a:pt x="75" y="29"/>
                      <a:pt x="105" y="11"/>
                    </a:cubicBezTo>
                    <a:cubicBezTo>
                      <a:pt x="110" y="8"/>
                      <a:pt x="107" y="0"/>
                      <a:pt x="102" y="2"/>
                    </a:cubicBezTo>
                    <a:cubicBezTo>
                      <a:pt x="71" y="15"/>
                      <a:pt x="40" y="30"/>
                      <a:pt x="7" y="37"/>
                    </a:cubicBezTo>
                    <a:cubicBezTo>
                      <a:pt x="0" y="39"/>
                      <a:pt x="3" y="50"/>
                      <a:pt x="10"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2" name="chenying0907 36"/>
              <p:cNvSpPr/>
              <p:nvPr/>
            </p:nvSpPr>
            <p:spPr bwMode="auto">
              <a:xfrm>
                <a:off x="5929313" y="5272088"/>
                <a:ext cx="131763" cy="36513"/>
              </a:xfrm>
              <a:custGeom>
                <a:avLst/>
                <a:gdLst>
                  <a:gd name="T0" fmla="*/ 7 w 128"/>
                  <a:gd name="T1" fmla="*/ 30 h 35"/>
                  <a:gd name="T2" fmla="*/ 120 w 128"/>
                  <a:gd name="T3" fmla="*/ 16 h 35"/>
                  <a:gd name="T4" fmla="*/ 114 w 128"/>
                  <a:gd name="T5" fmla="*/ 2 h 35"/>
                  <a:gd name="T6" fmla="*/ 7 w 128"/>
                  <a:gd name="T7" fmla="*/ 18 h 35"/>
                  <a:gd name="T8" fmla="*/ 7 w 128"/>
                  <a:gd name="T9" fmla="*/ 30 h 35"/>
                </a:gdLst>
                <a:ahLst/>
                <a:cxnLst>
                  <a:cxn ang="0">
                    <a:pos x="T0" y="T1"/>
                  </a:cxn>
                  <a:cxn ang="0">
                    <a:pos x="T2" y="T3"/>
                  </a:cxn>
                  <a:cxn ang="0">
                    <a:pos x="T4" y="T5"/>
                  </a:cxn>
                  <a:cxn ang="0">
                    <a:pos x="T6" y="T7"/>
                  </a:cxn>
                  <a:cxn ang="0">
                    <a:pos x="T8" y="T9"/>
                  </a:cxn>
                </a:cxnLst>
                <a:rect l="0" t="0" r="r" b="b"/>
                <a:pathLst>
                  <a:path w="128" h="35">
                    <a:moveTo>
                      <a:pt x="7" y="30"/>
                    </a:moveTo>
                    <a:cubicBezTo>
                      <a:pt x="47" y="33"/>
                      <a:pt x="84" y="35"/>
                      <a:pt x="120" y="16"/>
                    </a:cubicBezTo>
                    <a:cubicBezTo>
                      <a:pt x="128" y="11"/>
                      <a:pt x="122" y="0"/>
                      <a:pt x="114" y="2"/>
                    </a:cubicBezTo>
                    <a:cubicBezTo>
                      <a:pt x="79" y="10"/>
                      <a:pt x="43" y="15"/>
                      <a:pt x="7" y="18"/>
                    </a:cubicBezTo>
                    <a:cubicBezTo>
                      <a:pt x="0" y="18"/>
                      <a:pt x="0" y="29"/>
                      <a:pt x="7" y="3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3" name="chenying0907 37"/>
              <p:cNvSpPr/>
              <p:nvPr/>
            </p:nvSpPr>
            <p:spPr bwMode="auto">
              <a:xfrm>
                <a:off x="5719763" y="5281613"/>
                <a:ext cx="104775" cy="34925"/>
              </a:xfrm>
              <a:custGeom>
                <a:avLst/>
                <a:gdLst>
                  <a:gd name="T0" fmla="*/ 3 w 101"/>
                  <a:gd name="T1" fmla="*/ 11 h 33"/>
                  <a:gd name="T2" fmla="*/ 94 w 101"/>
                  <a:gd name="T3" fmla="*/ 29 h 33"/>
                  <a:gd name="T4" fmla="*/ 94 w 101"/>
                  <a:gd name="T5" fmla="*/ 15 h 33"/>
                  <a:gd name="T6" fmla="*/ 6 w 101"/>
                  <a:gd name="T7" fmla="*/ 3 h 33"/>
                  <a:gd name="T8" fmla="*/ 3 w 101"/>
                  <a:gd name="T9" fmla="*/ 11 h 33"/>
                </a:gdLst>
                <a:ahLst/>
                <a:cxnLst>
                  <a:cxn ang="0">
                    <a:pos x="T0" y="T1"/>
                  </a:cxn>
                  <a:cxn ang="0">
                    <a:pos x="T2" y="T3"/>
                  </a:cxn>
                  <a:cxn ang="0">
                    <a:pos x="T4" y="T5"/>
                  </a:cxn>
                  <a:cxn ang="0">
                    <a:pos x="T6" y="T7"/>
                  </a:cxn>
                  <a:cxn ang="0">
                    <a:pos x="T8" y="T9"/>
                  </a:cxn>
                </a:cxnLst>
                <a:rect l="0" t="0" r="r" b="b"/>
                <a:pathLst>
                  <a:path w="101" h="33">
                    <a:moveTo>
                      <a:pt x="3" y="11"/>
                    </a:moveTo>
                    <a:cubicBezTo>
                      <a:pt x="29" y="28"/>
                      <a:pt x="65" y="33"/>
                      <a:pt x="94" y="29"/>
                    </a:cubicBezTo>
                    <a:cubicBezTo>
                      <a:pt x="101" y="28"/>
                      <a:pt x="101" y="16"/>
                      <a:pt x="94" y="15"/>
                    </a:cubicBezTo>
                    <a:cubicBezTo>
                      <a:pt x="66" y="10"/>
                      <a:pt x="34" y="0"/>
                      <a:pt x="6" y="3"/>
                    </a:cubicBezTo>
                    <a:cubicBezTo>
                      <a:pt x="1" y="3"/>
                      <a:pt x="0" y="9"/>
                      <a:pt x="3"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4" name="chenying0907 38"/>
              <p:cNvSpPr/>
              <p:nvPr/>
            </p:nvSpPr>
            <p:spPr bwMode="auto">
              <a:xfrm>
                <a:off x="5516563" y="5238751"/>
                <a:ext cx="103188" cy="33338"/>
              </a:xfrm>
              <a:custGeom>
                <a:avLst/>
                <a:gdLst>
                  <a:gd name="T0" fmla="*/ 5 w 100"/>
                  <a:gd name="T1" fmla="*/ 9 h 32"/>
                  <a:gd name="T2" fmla="*/ 92 w 100"/>
                  <a:gd name="T3" fmla="*/ 31 h 32"/>
                  <a:gd name="T4" fmla="*/ 94 w 100"/>
                  <a:gd name="T5" fmla="*/ 22 h 32"/>
                  <a:gd name="T6" fmla="*/ 7 w 100"/>
                  <a:gd name="T7" fmla="*/ 1 h 32"/>
                  <a:gd name="T8" fmla="*/ 5 w 100"/>
                  <a:gd name="T9" fmla="*/ 9 h 32"/>
                </a:gdLst>
                <a:ahLst/>
                <a:cxnLst>
                  <a:cxn ang="0">
                    <a:pos x="T0" y="T1"/>
                  </a:cxn>
                  <a:cxn ang="0">
                    <a:pos x="T2" y="T3"/>
                  </a:cxn>
                  <a:cxn ang="0">
                    <a:pos x="T4" y="T5"/>
                  </a:cxn>
                  <a:cxn ang="0">
                    <a:pos x="T6" y="T7"/>
                  </a:cxn>
                  <a:cxn ang="0">
                    <a:pos x="T8" y="T9"/>
                  </a:cxn>
                </a:cxnLst>
                <a:rect l="0" t="0" r="r" b="b"/>
                <a:pathLst>
                  <a:path w="100" h="32">
                    <a:moveTo>
                      <a:pt x="5" y="9"/>
                    </a:moveTo>
                    <a:cubicBezTo>
                      <a:pt x="34" y="18"/>
                      <a:pt x="62" y="26"/>
                      <a:pt x="92" y="31"/>
                    </a:cubicBezTo>
                    <a:cubicBezTo>
                      <a:pt x="98" y="32"/>
                      <a:pt x="100" y="24"/>
                      <a:pt x="94" y="22"/>
                    </a:cubicBezTo>
                    <a:cubicBezTo>
                      <a:pt x="66" y="13"/>
                      <a:pt x="37" y="6"/>
                      <a:pt x="7" y="1"/>
                    </a:cubicBezTo>
                    <a:cubicBezTo>
                      <a:pt x="2" y="0"/>
                      <a:pt x="0" y="7"/>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5" name="chenying0907 39"/>
              <p:cNvSpPr/>
              <p:nvPr/>
            </p:nvSpPr>
            <p:spPr bwMode="auto">
              <a:xfrm>
                <a:off x="5327651" y="5132388"/>
                <a:ext cx="85725" cy="60325"/>
              </a:xfrm>
              <a:custGeom>
                <a:avLst/>
                <a:gdLst>
                  <a:gd name="T0" fmla="*/ 2 w 82"/>
                  <a:gd name="T1" fmla="*/ 8 h 58"/>
                  <a:gd name="T2" fmla="*/ 71 w 82"/>
                  <a:gd name="T3" fmla="*/ 57 h 58"/>
                  <a:gd name="T4" fmla="*/ 74 w 82"/>
                  <a:gd name="T5" fmla="*/ 44 h 58"/>
                  <a:gd name="T6" fmla="*/ 11 w 82"/>
                  <a:gd name="T7" fmla="*/ 3 h 58"/>
                  <a:gd name="T8" fmla="*/ 2 w 82"/>
                  <a:gd name="T9" fmla="*/ 8 h 58"/>
                </a:gdLst>
                <a:ahLst/>
                <a:cxnLst>
                  <a:cxn ang="0">
                    <a:pos x="T0" y="T1"/>
                  </a:cxn>
                  <a:cxn ang="0">
                    <a:pos x="T2" y="T3"/>
                  </a:cxn>
                  <a:cxn ang="0">
                    <a:pos x="T4" y="T5"/>
                  </a:cxn>
                  <a:cxn ang="0">
                    <a:pos x="T6" y="T7"/>
                  </a:cxn>
                  <a:cxn ang="0">
                    <a:pos x="T8" y="T9"/>
                  </a:cxn>
                </a:cxnLst>
                <a:rect l="0" t="0" r="r" b="b"/>
                <a:pathLst>
                  <a:path w="82" h="58">
                    <a:moveTo>
                      <a:pt x="2" y="8"/>
                    </a:moveTo>
                    <a:cubicBezTo>
                      <a:pt x="14" y="38"/>
                      <a:pt x="41" y="52"/>
                      <a:pt x="71" y="57"/>
                    </a:cubicBezTo>
                    <a:cubicBezTo>
                      <a:pt x="79" y="58"/>
                      <a:pt x="82" y="47"/>
                      <a:pt x="74" y="44"/>
                    </a:cubicBezTo>
                    <a:cubicBezTo>
                      <a:pt x="51" y="35"/>
                      <a:pt x="30" y="19"/>
                      <a:pt x="11" y="3"/>
                    </a:cubicBezTo>
                    <a:cubicBezTo>
                      <a:pt x="8" y="0"/>
                      <a:pt x="0" y="3"/>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6" name="chenying0907 40"/>
              <p:cNvSpPr/>
              <p:nvPr/>
            </p:nvSpPr>
            <p:spPr bwMode="auto">
              <a:xfrm>
                <a:off x="5167313" y="4940301"/>
                <a:ext cx="87313" cy="103188"/>
              </a:xfrm>
              <a:custGeom>
                <a:avLst/>
                <a:gdLst>
                  <a:gd name="T0" fmla="*/ 4 w 83"/>
                  <a:gd name="T1" fmla="*/ 13 h 98"/>
                  <a:gd name="T2" fmla="*/ 72 w 83"/>
                  <a:gd name="T3" fmla="*/ 94 h 98"/>
                  <a:gd name="T4" fmla="*/ 80 w 83"/>
                  <a:gd name="T5" fmla="*/ 87 h 98"/>
                  <a:gd name="T6" fmla="*/ 13 w 83"/>
                  <a:gd name="T7" fmla="*/ 4 h 98"/>
                  <a:gd name="T8" fmla="*/ 4 w 83"/>
                  <a:gd name="T9" fmla="*/ 13 h 98"/>
                </a:gdLst>
                <a:ahLst/>
                <a:cxnLst>
                  <a:cxn ang="0">
                    <a:pos x="T0" y="T1"/>
                  </a:cxn>
                  <a:cxn ang="0">
                    <a:pos x="T2" y="T3"/>
                  </a:cxn>
                  <a:cxn ang="0">
                    <a:pos x="T4" y="T5"/>
                  </a:cxn>
                  <a:cxn ang="0">
                    <a:pos x="T6" y="T7"/>
                  </a:cxn>
                  <a:cxn ang="0">
                    <a:pos x="T8" y="T9"/>
                  </a:cxn>
                </a:cxnLst>
                <a:rect l="0" t="0" r="r" b="b"/>
                <a:pathLst>
                  <a:path w="83" h="98">
                    <a:moveTo>
                      <a:pt x="4" y="13"/>
                    </a:moveTo>
                    <a:cubicBezTo>
                      <a:pt x="23" y="41"/>
                      <a:pt x="44" y="74"/>
                      <a:pt x="72" y="94"/>
                    </a:cubicBezTo>
                    <a:cubicBezTo>
                      <a:pt x="76" y="98"/>
                      <a:pt x="83" y="91"/>
                      <a:pt x="80" y="87"/>
                    </a:cubicBezTo>
                    <a:cubicBezTo>
                      <a:pt x="61" y="58"/>
                      <a:pt x="41" y="25"/>
                      <a:pt x="13" y="4"/>
                    </a:cubicBezTo>
                    <a:cubicBezTo>
                      <a:pt x="8" y="0"/>
                      <a:pt x="0" y="8"/>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7" name="chenying0907 41"/>
              <p:cNvSpPr/>
              <p:nvPr/>
            </p:nvSpPr>
            <p:spPr bwMode="auto">
              <a:xfrm>
                <a:off x="5113338" y="4803776"/>
                <a:ext cx="50800" cy="74613"/>
              </a:xfrm>
              <a:custGeom>
                <a:avLst/>
                <a:gdLst>
                  <a:gd name="T0" fmla="*/ 2 w 49"/>
                  <a:gd name="T1" fmla="*/ 6 h 71"/>
                  <a:gd name="T2" fmla="*/ 15 w 49"/>
                  <a:gd name="T3" fmla="*/ 35 h 71"/>
                  <a:gd name="T4" fmla="*/ 35 w 49"/>
                  <a:gd name="T5" fmla="*/ 65 h 71"/>
                  <a:gd name="T6" fmla="*/ 45 w 49"/>
                  <a:gd name="T7" fmla="*/ 59 h 71"/>
                  <a:gd name="T8" fmla="*/ 26 w 49"/>
                  <a:gd name="T9" fmla="*/ 28 h 71"/>
                  <a:gd name="T10" fmla="*/ 5 w 49"/>
                  <a:gd name="T11" fmla="*/ 3 h 71"/>
                  <a:gd name="T12" fmla="*/ 2 w 49"/>
                  <a:gd name="T13" fmla="*/ 6 h 71"/>
                </a:gdLst>
                <a:ahLst/>
                <a:cxnLst>
                  <a:cxn ang="0">
                    <a:pos x="T0" y="T1"/>
                  </a:cxn>
                  <a:cxn ang="0">
                    <a:pos x="T2" y="T3"/>
                  </a:cxn>
                  <a:cxn ang="0">
                    <a:pos x="T4" y="T5"/>
                  </a:cxn>
                  <a:cxn ang="0">
                    <a:pos x="T6" y="T7"/>
                  </a:cxn>
                  <a:cxn ang="0">
                    <a:pos x="T8" y="T9"/>
                  </a:cxn>
                  <a:cxn ang="0">
                    <a:pos x="T10" y="T11"/>
                  </a:cxn>
                  <a:cxn ang="0">
                    <a:pos x="T12" y="T13"/>
                  </a:cxn>
                </a:cxnLst>
                <a:rect l="0" t="0" r="r" b="b"/>
                <a:pathLst>
                  <a:path w="49" h="71">
                    <a:moveTo>
                      <a:pt x="2" y="6"/>
                    </a:moveTo>
                    <a:cubicBezTo>
                      <a:pt x="6" y="15"/>
                      <a:pt x="10" y="25"/>
                      <a:pt x="15" y="35"/>
                    </a:cubicBezTo>
                    <a:cubicBezTo>
                      <a:pt x="21" y="46"/>
                      <a:pt x="27" y="55"/>
                      <a:pt x="35" y="65"/>
                    </a:cubicBezTo>
                    <a:cubicBezTo>
                      <a:pt x="39" y="71"/>
                      <a:pt x="49" y="66"/>
                      <a:pt x="45" y="59"/>
                    </a:cubicBezTo>
                    <a:cubicBezTo>
                      <a:pt x="39" y="49"/>
                      <a:pt x="33" y="38"/>
                      <a:pt x="26" y="28"/>
                    </a:cubicBezTo>
                    <a:cubicBezTo>
                      <a:pt x="20" y="19"/>
                      <a:pt x="13" y="11"/>
                      <a:pt x="5" y="3"/>
                    </a:cubicBezTo>
                    <a:cubicBezTo>
                      <a:pt x="4" y="0"/>
                      <a:pt x="0" y="3"/>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8" name="chenying0907 42"/>
              <p:cNvSpPr/>
              <p:nvPr/>
            </p:nvSpPr>
            <p:spPr bwMode="auto">
              <a:xfrm>
                <a:off x="5035551" y="4613276"/>
                <a:ext cx="60325" cy="101600"/>
              </a:xfrm>
              <a:custGeom>
                <a:avLst/>
                <a:gdLst>
                  <a:gd name="T0" fmla="*/ 2 w 58"/>
                  <a:gd name="T1" fmla="*/ 8 h 97"/>
                  <a:gd name="T2" fmla="*/ 45 w 58"/>
                  <a:gd name="T3" fmla="*/ 91 h 97"/>
                  <a:gd name="T4" fmla="*/ 56 w 58"/>
                  <a:gd name="T5" fmla="*/ 84 h 97"/>
                  <a:gd name="T6" fmla="*/ 11 w 58"/>
                  <a:gd name="T7" fmla="*/ 4 h 97"/>
                  <a:gd name="T8" fmla="*/ 2 w 58"/>
                  <a:gd name="T9" fmla="*/ 8 h 97"/>
                </a:gdLst>
                <a:ahLst/>
                <a:cxnLst>
                  <a:cxn ang="0">
                    <a:pos x="T0" y="T1"/>
                  </a:cxn>
                  <a:cxn ang="0">
                    <a:pos x="T2" y="T3"/>
                  </a:cxn>
                  <a:cxn ang="0">
                    <a:pos x="T4" y="T5"/>
                  </a:cxn>
                  <a:cxn ang="0">
                    <a:pos x="T6" y="T7"/>
                  </a:cxn>
                  <a:cxn ang="0">
                    <a:pos x="T8" y="T9"/>
                  </a:cxn>
                </a:cxnLst>
                <a:rect l="0" t="0" r="r" b="b"/>
                <a:pathLst>
                  <a:path w="58" h="97">
                    <a:moveTo>
                      <a:pt x="2" y="8"/>
                    </a:moveTo>
                    <a:cubicBezTo>
                      <a:pt x="10" y="37"/>
                      <a:pt x="25" y="67"/>
                      <a:pt x="45" y="91"/>
                    </a:cubicBezTo>
                    <a:cubicBezTo>
                      <a:pt x="50" y="97"/>
                      <a:pt x="58" y="91"/>
                      <a:pt x="56" y="84"/>
                    </a:cubicBezTo>
                    <a:cubicBezTo>
                      <a:pt x="49" y="54"/>
                      <a:pt x="29" y="28"/>
                      <a:pt x="11" y="4"/>
                    </a:cubicBezTo>
                    <a:cubicBezTo>
                      <a:pt x="7" y="0"/>
                      <a:pt x="0" y="2"/>
                      <a:pt x="2"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29" name="chenying0907 43"/>
              <p:cNvSpPr/>
              <p:nvPr/>
            </p:nvSpPr>
            <p:spPr bwMode="auto">
              <a:xfrm>
                <a:off x="4221163" y="4760913"/>
                <a:ext cx="82550" cy="20638"/>
              </a:xfrm>
              <a:custGeom>
                <a:avLst/>
                <a:gdLst>
                  <a:gd name="T0" fmla="*/ 2 w 79"/>
                  <a:gd name="T1" fmla="*/ 4 h 19"/>
                  <a:gd name="T2" fmla="*/ 74 w 79"/>
                  <a:gd name="T3" fmla="*/ 19 h 19"/>
                  <a:gd name="T4" fmla="*/ 76 w 79"/>
                  <a:gd name="T5" fmla="*/ 14 h 19"/>
                  <a:gd name="T6" fmla="*/ 3 w 79"/>
                  <a:gd name="T7" fmla="*/ 0 h 19"/>
                  <a:gd name="T8" fmla="*/ 2 w 79"/>
                  <a:gd name="T9" fmla="*/ 4 h 19"/>
                </a:gdLst>
                <a:ahLst/>
                <a:cxnLst>
                  <a:cxn ang="0">
                    <a:pos x="T0" y="T1"/>
                  </a:cxn>
                  <a:cxn ang="0">
                    <a:pos x="T2" y="T3"/>
                  </a:cxn>
                  <a:cxn ang="0">
                    <a:pos x="T4" y="T5"/>
                  </a:cxn>
                  <a:cxn ang="0">
                    <a:pos x="T6" y="T7"/>
                  </a:cxn>
                  <a:cxn ang="0">
                    <a:pos x="T8" y="T9"/>
                  </a:cxn>
                </a:cxnLst>
                <a:rect l="0" t="0" r="r" b="b"/>
                <a:pathLst>
                  <a:path w="79" h="19">
                    <a:moveTo>
                      <a:pt x="2" y="4"/>
                    </a:moveTo>
                    <a:cubicBezTo>
                      <a:pt x="26" y="11"/>
                      <a:pt x="50" y="14"/>
                      <a:pt x="74" y="19"/>
                    </a:cubicBezTo>
                    <a:cubicBezTo>
                      <a:pt x="77" y="19"/>
                      <a:pt x="79" y="15"/>
                      <a:pt x="76" y="14"/>
                    </a:cubicBezTo>
                    <a:cubicBezTo>
                      <a:pt x="52" y="8"/>
                      <a:pt x="27" y="7"/>
                      <a:pt x="3" y="0"/>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0" name="chenying0907 44"/>
              <p:cNvSpPr/>
              <p:nvPr/>
            </p:nvSpPr>
            <p:spPr bwMode="auto">
              <a:xfrm>
                <a:off x="4384676" y="4772026"/>
                <a:ext cx="106363" cy="17463"/>
              </a:xfrm>
              <a:custGeom>
                <a:avLst/>
                <a:gdLst>
                  <a:gd name="T0" fmla="*/ 5 w 102"/>
                  <a:gd name="T1" fmla="*/ 16 h 17"/>
                  <a:gd name="T2" fmla="*/ 98 w 102"/>
                  <a:gd name="T3" fmla="*/ 10 h 17"/>
                  <a:gd name="T4" fmla="*/ 98 w 102"/>
                  <a:gd name="T5" fmla="*/ 3 h 17"/>
                  <a:gd name="T6" fmla="*/ 3 w 102"/>
                  <a:gd name="T7" fmla="*/ 11 h 17"/>
                  <a:gd name="T8" fmla="*/ 5 w 102"/>
                  <a:gd name="T9" fmla="*/ 16 h 17"/>
                </a:gdLst>
                <a:ahLst/>
                <a:cxnLst>
                  <a:cxn ang="0">
                    <a:pos x="T0" y="T1"/>
                  </a:cxn>
                  <a:cxn ang="0">
                    <a:pos x="T2" y="T3"/>
                  </a:cxn>
                  <a:cxn ang="0">
                    <a:pos x="T4" y="T5"/>
                  </a:cxn>
                  <a:cxn ang="0">
                    <a:pos x="T6" y="T7"/>
                  </a:cxn>
                  <a:cxn ang="0">
                    <a:pos x="T8" y="T9"/>
                  </a:cxn>
                </a:cxnLst>
                <a:rect l="0" t="0" r="r" b="b"/>
                <a:pathLst>
                  <a:path w="102" h="17">
                    <a:moveTo>
                      <a:pt x="5" y="16"/>
                    </a:moveTo>
                    <a:cubicBezTo>
                      <a:pt x="35" y="11"/>
                      <a:pt x="67" y="13"/>
                      <a:pt x="98" y="10"/>
                    </a:cubicBezTo>
                    <a:cubicBezTo>
                      <a:pt x="102" y="10"/>
                      <a:pt x="102" y="3"/>
                      <a:pt x="98" y="3"/>
                    </a:cubicBezTo>
                    <a:cubicBezTo>
                      <a:pt x="66" y="0"/>
                      <a:pt x="34" y="2"/>
                      <a:pt x="3" y="11"/>
                    </a:cubicBezTo>
                    <a:cubicBezTo>
                      <a:pt x="0" y="12"/>
                      <a:pt x="1" y="17"/>
                      <a:pt x="5"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1" name="chenying0907 45"/>
              <p:cNvSpPr/>
              <p:nvPr/>
            </p:nvSpPr>
            <p:spPr bwMode="auto">
              <a:xfrm>
                <a:off x="4584701" y="4762501"/>
                <a:ext cx="90488" cy="34925"/>
              </a:xfrm>
              <a:custGeom>
                <a:avLst/>
                <a:gdLst>
                  <a:gd name="T0" fmla="*/ 4 w 87"/>
                  <a:gd name="T1" fmla="*/ 20 h 33"/>
                  <a:gd name="T2" fmla="*/ 83 w 87"/>
                  <a:gd name="T3" fmla="*/ 12 h 33"/>
                  <a:gd name="T4" fmla="*/ 77 w 87"/>
                  <a:gd name="T5" fmla="*/ 2 h 33"/>
                  <a:gd name="T6" fmla="*/ 6 w 87"/>
                  <a:gd name="T7" fmla="*/ 10 h 33"/>
                  <a:gd name="T8" fmla="*/ 4 w 87"/>
                  <a:gd name="T9" fmla="*/ 20 h 33"/>
                </a:gdLst>
                <a:ahLst/>
                <a:cxnLst>
                  <a:cxn ang="0">
                    <a:pos x="T0" y="T1"/>
                  </a:cxn>
                  <a:cxn ang="0">
                    <a:pos x="T2" y="T3"/>
                  </a:cxn>
                  <a:cxn ang="0">
                    <a:pos x="T4" y="T5"/>
                  </a:cxn>
                  <a:cxn ang="0">
                    <a:pos x="T6" y="T7"/>
                  </a:cxn>
                  <a:cxn ang="0">
                    <a:pos x="T8" y="T9"/>
                  </a:cxn>
                </a:cxnLst>
                <a:rect l="0" t="0" r="r" b="b"/>
                <a:pathLst>
                  <a:path w="87" h="33">
                    <a:moveTo>
                      <a:pt x="4" y="20"/>
                    </a:moveTo>
                    <a:cubicBezTo>
                      <a:pt x="29" y="33"/>
                      <a:pt x="61" y="33"/>
                      <a:pt x="83" y="12"/>
                    </a:cubicBezTo>
                    <a:cubicBezTo>
                      <a:pt x="87" y="9"/>
                      <a:pt x="83" y="0"/>
                      <a:pt x="77" y="2"/>
                    </a:cubicBezTo>
                    <a:cubicBezTo>
                      <a:pt x="55" y="11"/>
                      <a:pt x="30" y="13"/>
                      <a:pt x="6" y="10"/>
                    </a:cubicBezTo>
                    <a:cubicBezTo>
                      <a:pt x="1" y="10"/>
                      <a:pt x="0" y="17"/>
                      <a:pt x="4" y="2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2" name="chenying0907 46"/>
              <p:cNvSpPr/>
              <p:nvPr/>
            </p:nvSpPr>
            <p:spPr bwMode="auto">
              <a:xfrm>
                <a:off x="4751388" y="4727576"/>
                <a:ext cx="88900" cy="25400"/>
              </a:xfrm>
              <a:custGeom>
                <a:avLst/>
                <a:gdLst>
                  <a:gd name="T0" fmla="*/ 5 w 86"/>
                  <a:gd name="T1" fmla="*/ 24 h 25"/>
                  <a:gd name="T2" fmla="*/ 79 w 86"/>
                  <a:gd name="T3" fmla="*/ 11 h 25"/>
                  <a:gd name="T4" fmla="*/ 76 w 86"/>
                  <a:gd name="T5" fmla="*/ 1 h 25"/>
                  <a:gd name="T6" fmla="*/ 41 w 86"/>
                  <a:gd name="T7" fmla="*/ 8 h 25"/>
                  <a:gd name="T8" fmla="*/ 5 w 86"/>
                  <a:gd name="T9" fmla="*/ 17 h 25"/>
                  <a:gd name="T10" fmla="*/ 5 w 86"/>
                  <a:gd name="T11" fmla="*/ 24 h 25"/>
                </a:gdLst>
                <a:ahLst/>
                <a:cxnLst>
                  <a:cxn ang="0">
                    <a:pos x="T0" y="T1"/>
                  </a:cxn>
                  <a:cxn ang="0">
                    <a:pos x="T2" y="T3"/>
                  </a:cxn>
                  <a:cxn ang="0">
                    <a:pos x="T4" y="T5"/>
                  </a:cxn>
                  <a:cxn ang="0">
                    <a:pos x="T6" y="T7"/>
                  </a:cxn>
                  <a:cxn ang="0">
                    <a:pos x="T8" y="T9"/>
                  </a:cxn>
                  <a:cxn ang="0">
                    <a:pos x="T10" y="T11"/>
                  </a:cxn>
                </a:cxnLst>
                <a:rect l="0" t="0" r="r" b="b"/>
                <a:pathLst>
                  <a:path w="86" h="25">
                    <a:moveTo>
                      <a:pt x="5" y="24"/>
                    </a:moveTo>
                    <a:cubicBezTo>
                      <a:pt x="32" y="25"/>
                      <a:pt x="54" y="20"/>
                      <a:pt x="79" y="11"/>
                    </a:cubicBezTo>
                    <a:cubicBezTo>
                      <a:pt x="86" y="9"/>
                      <a:pt x="83" y="0"/>
                      <a:pt x="76" y="1"/>
                    </a:cubicBezTo>
                    <a:cubicBezTo>
                      <a:pt x="64" y="3"/>
                      <a:pt x="53" y="5"/>
                      <a:pt x="41" y="8"/>
                    </a:cubicBezTo>
                    <a:cubicBezTo>
                      <a:pt x="30" y="11"/>
                      <a:pt x="17" y="16"/>
                      <a:pt x="5" y="17"/>
                    </a:cubicBezTo>
                    <a:cubicBezTo>
                      <a:pt x="0" y="17"/>
                      <a:pt x="0" y="24"/>
                      <a:pt x="5" y="2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3" name="chenying0907 47"/>
              <p:cNvSpPr/>
              <p:nvPr/>
            </p:nvSpPr>
            <p:spPr bwMode="auto">
              <a:xfrm>
                <a:off x="4892676" y="4657726"/>
                <a:ext cx="92075" cy="52388"/>
              </a:xfrm>
              <a:custGeom>
                <a:avLst/>
                <a:gdLst>
                  <a:gd name="T0" fmla="*/ 9 w 89"/>
                  <a:gd name="T1" fmla="*/ 48 h 50"/>
                  <a:gd name="T2" fmla="*/ 43 w 89"/>
                  <a:gd name="T3" fmla="*/ 32 h 50"/>
                  <a:gd name="T4" fmla="*/ 81 w 89"/>
                  <a:gd name="T5" fmla="*/ 15 h 50"/>
                  <a:gd name="T6" fmla="*/ 77 w 89"/>
                  <a:gd name="T7" fmla="*/ 1 h 50"/>
                  <a:gd name="T8" fmla="*/ 38 w 89"/>
                  <a:gd name="T9" fmla="*/ 14 h 50"/>
                  <a:gd name="T10" fmla="*/ 4 w 89"/>
                  <a:gd name="T11" fmla="*/ 41 h 50"/>
                  <a:gd name="T12" fmla="*/ 9 w 89"/>
                  <a:gd name="T13" fmla="*/ 48 h 50"/>
                </a:gdLst>
                <a:ahLst/>
                <a:cxnLst>
                  <a:cxn ang="0">
                    <a:pos x="T0" y="T1"/>
                  </a:cxn>
                  <a:cxn ang="0">
                    <a:pos x="T2" y="T3"/>
                  </a:cxn>
                  <a:cxn ang="0">
                    <a:pos x="T4" y="T5"/>
                  </a:cxn>
                  <a:cxn ang="0">
                    <a:pos x="T6" y="T7"/>
                  </a:cxn>
                  <a:cxn ang="0">
                    <a:pos x="T8" y="T9"/>
                  </a:cxn>
                  <a:cxn ang="0">
                    <a:pos x="T10" y="T11"/>
                  </a:cxn>
                  <a:cxn ang="0">
                    <a:pos x="T12" y="T13"/>
                  </a:cxn>
                </a:cxnLst>
                <a:rect l="0" t="0" r="r" b="b"/>
                <a:pathLst>
                  <a:path w="89" h="50">
                    <a:moveTo>
                      <a:pt x="9" y="48"/>
                    </a:moveTo>
                    <a:cubicBezTo>
                      <a:pt x="20" y="42"/>
                      <a:pt x="32" y="37"/>
                      <a:pt x="43" y="32"/>
                    </a:cubicBezTo>
                    <a:cubicBezTo>
                      <a:pt x="55" y="26"/>
                      <a:pt x="68" y="20"/>
                      <a:pt x="81" y="15"/>
                    </a:cubicBezTo>
                    <a:cubicBezTo>
                      <a:pt x="89" y="11"/>
                      <a:pt x="86" y="0"/>
                      <a:pt x="77" y="1"/>
                    </a:cubicBezTo>
                    <a:cubicBezTo>
                      <a:pt x="62" y="4"/>
                      <a:pt x="51" y="7"/>
                      <a:pt x="38" y="14"/>
                    </a:cubicBezTo>
                    <a:cubicBezTo>
                      <a:pt x="25" y="22"/>
                      <a:pt x="15" y="32"/>
                      <a:pt x="4" y="41"/>
                    </a:cubicBezTo>
                    <a:cubicBezTo>
                      <a:pt x="0" y="44"/>
                      <a:pt x="5" y="50"/>
                      <a:pt x="9" y="4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4" name="chenying0907 48"/>
              <p:cNvSpPr/>
              <p:nvPr/>
            </p:nvSpPr>
            <p:spPr bwMode="auto">
              <a:xfrm>
                <a:off x="4024313" y="4714876"/>
                <a:ext cx="93663" cy="31750"/>
              </a:xfrm>
              <a:custGeom>
                <a:avLst/>
                <a:gdLst>
                  <a:gd name="T0" fmla="*/ 3 w 91"/>
                  <a:gd name="T1" fmla="*/ 6 h 31"/>
                  <a:gd name="T2" fmla="*/ 83 w 91"/>
                  <a:gd name="T3" fmla="*/ 30 h 31"/>
                  <a:gd name="T4" fmla="*/ 85 w 91"/>
                  <a:gd name="T5" fmla="*/ 21 h 31"/>
                  <a:gd name="T6" fmla="*/ 5 w 91"/>
                  <a:gd name="T7" fmla="*/ 1 h 31"/>
                  <a:gd name="T8" fmla="*/ 3 w 91"/>
                  <a:gd name="T9" fmla="*/ 6 h 31"/>
                </a:gdLst>
                <a:ahLst/>
                <a:cxnLst>
                  <a:cxn ang="0">
                    <a:pos x="T0" y="T1"/>
                  </a:cxn>
                  <a:cxn ang="0">
                    <a:pos x="T2" y="T3"/>
                  </a:cxn>
                  <a:cxn ang="0">
                    <a:pos x="T4" y="T5"/>
                  </a:cxn>
                  <a:cxn ang="0">
                    <a:pos x="T6" y="T7"/>
                  </a:cxn>
                  <a:cxn ang="0">
                    <a:pos x="T8" y="T9"/>
                  </a:cxn>
                </a:cxnLst>
                <a:rect l="0" t="0" r="r" b="b"/>
                <a:pathLst>
                  <a:path w="91" h="31">
                    <a:moveTo>
                      <a:pt x="3" y="6"/>
                    </a:moveTo>
                    <a:cubicBezTo>
                      <a:pt x="29" y="18"/>
                      <a:pt x="55" y="25"/>
                      <a:pt x="83" y="30"/>
                    </a:cubicBezTo>
                    <a:cubicBezTo>
                      <a:pt x="89" y="31"/>
                      <a:pt x="91" y="23"/>
                      <a:pt x="85" y="21"/>
                    </a:cubicBezTo>
                    <a:cubicBezTo>
                      <a:pt x="59" y="12"/>
                      <a:pt x="33" y="6"/>
                      <a:pt x="5"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5" name="chenying0907 49"/>
              <p:cNvSpPr/>
              <p:nvPr/>
            </p:nvSpPr>
            <p:spPr bwMode="auto">
              <a:xfrm>
                <a:off x="3851276" y="4625976"/>
                <a:ext cx="98425" cy="63500"/>
              </a:xfrm>
              <a:custGeom>
                <a:avLst/>
                <a:gdLst>
                  <a:gd name="T0" fmla="*/ 2 w 94"/>
                  <a:gd name="T1" fmla="*/ 4 h 61"/>
                  <a:gd name="T2" fmla="*/ 82 w 94"/>
                  <a:gd name="T3" fmla="*/ 60 h 61"/>
                  <a:gd name="T4" fmla="*/ 88 w 94"/>
                  <a:gd name="T5" fmla="*/ 49 h 61"/>
                  <a:gd name="T6" fmla="*/ 5 w 94"/>
                  <a:gd name="T7" fmla="*/ 1 h 61"/>
                  <a:gd name="T8" fmla="*/ 2 w 94"/>
                  <a:gd name="T9" fmla="*/ 4 h 61"/>
                </a:gdLst>
                <a:ahLst/>
                <a:cxnLst>
                  <a:cxn ang="0">
                    <a:pos x="T0" y="T1"/>
                  </a:cxn>
                  <a:cxn ang="0">
                    <a:pos x="T2" y="T3"/>
                  </a:cxn>
                  <a:cxn ang="0">
                    <a:pos x="T4" y="T5"/>
                  </a:cxn>
                  <a:cxn ang="0">
                    <a:pos x="T6" y="T7"/>
                  </a:cxn>
                  <a:cxn ang="0">
                    <a:pos x="T8" y="T9"/>
                  </a:cxn>
                </a:cxnLst>
                <a:rect l="0" t="0" r="r" b="b"/>
                <a:pathLst>
                  <a:path w="94" h="61">
                    <a:moveTo>
                      <a:pt x="2" y="4"/>
                    </a:moveTo>
                    <a:cubicBezTo>
                      <a:pt x="26" y="27"/>
                      <a:pt x="50" y="51"/>
                      <a:pt x="82" y="60"/>
                    </a:cubicBezTo>
                    <a:cubicBezTo>
                      <a:pt x="88" y="61"/>
                      <a:pt x="94" y="53"/>
                      <a:pt x="88" y="49"/>
                    </a:cubicBezTo>
                    <a:cubicBezTo>
                      <a:pt x="64" y="28"/>
                      <a:pt x="35" y="13"/>
                      <a:pt x="5" y="1"/>
                    </a:cubicBezTo>
                    <a:cubicBezTo>
                      <a:pt x="3"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6" name="chenying0907 50"/>
              <p:cNvSpPr/>
              <p:nvPr/>
            </p:nvSpPr>
            <p:spPr bwMode="auto">
              <a:xfrm>
                <a:off x="3706813" y="4486276"/>
                <a:ext cx="82550" cy="73025"/>
              </a:xfrm>
              <a:custGeom>
                <a:avLst/>
                <a:gdLst>
                  <a:gd name="T0" fmla="*/ 2 w 79"/>
                  <a:gd name="T1" fmla="*/ 9 h 71"/>
                  <a:gd name="T2" fmla="*/ 68 w 79"/>
                  <a:gd name="T3" fmla="*/ 69 h 71"/>
                  <a:gd name="T4" fmla="*/ 75 w 79"/>
                  <a:gd name="T5" fmla="*/ 61 h 71"/>
                  <a:gd name="T6" fmla="*/ 9 w 79"/>
                  <a:gd name="T7" fmla="*/ 4 h 71"/>
                  <a:gd name="T8" fmla="*/ 2 w 79"/>
                  <a:gd name="T9" fmla="*/ 9 h 71"/>
                </a:gdLst>
                <a:ahLst/>
                <a:cxnLst>
                  <a:cxn ang="0">
                    <a:pos x="T0" y="T1"/>
                  </a:cxn>
                  <a:cxn ang="0">
                    <a:pos x="T2" y="T3"/>
                  </a:cxn>
                  <a:cxn ang="0">
                    <a:pos x="T4" y="T5"/>
                  </a:cxn>
                  <a:cxn ang="0">
                    <a:pos x="T6" y="T7"/>
                  </a:cxn>
                  <a:cxn ang="0">
                    <a:pos x="T8" y="T9"/>
                  </a:cxn>
                </a:cxnLst>
                <a:rect l="0" t="0" r="r" b="b"/>
                <a:pathLst>
                  <a:path w="79" h="71">
                    <a:moveTo>
                      <a:pt x="2" y="9"/>
                    </a:moveTo>
                    <a:cubicBezTo>
                      <a:pt x="15" y="34"/>
                      <a:pt x="42" y="57"/>
                      <a:pt x="68" y="69"/>
                    </a:cubicBezTo>
                    <a:cubicBezTo>
                      <a:pt x="73" y="71"/>
                      <a:pt x="79" y="65"/>
                      <a:pt x="75" y="61"/>
                    </a:cubicBezTo>
                    <a:cubicBezTo>
                      <a:pt x="53" y="40"/>
                      <a:pt x="28" y="25"/>
                      <a:pt x="9" y="4"/>
                    </a:cubicBezTo>
                    <a:cubicBezTo>
                      <a:pt x="5" y="0"/>
                      <a:pt x="0" y="5"/>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7" name="chenying0907 51"/>
              <p:cNvSpPr/>
              <p:nvPr/>
            </p:nvSpPr>
            <p:spPr bwMode="auto">
              <a:xfrm>
                <a:off x="3595688" y="4313238"/>
                <a:ext cx="57150" cy="82550"/>
              </a:xfrm>
              <a:custGeom>
                <a:avLst/>
                <a:gdLst>
                  <a:gd name="T0" fmla="*/ 1 w 56"/>
                  <a:gd name="T1" fmla="*/ 6 h 79"/>
                  <a:gd name="T2" fmla="*/ 45 w 56"/>
                  <a:gd name="T3" fmla="*/ 75 h 79"/>
                  <a:gd name="T4" fmla="*/ 52 w 56"/>
                  <a:gd name="T5" fmla="*/ 68 h 79"/>
                  <a:gd name="T6" fmla="*/ 9 w 56"/>
                  <a:gd name="T7" fmla="*/ 4 h 79"/>
                  <a:gd name="T8" fmla="*/ 1 w 56"/>
                  <a:gd name="T9" fmla="*/ 6 h 79"/>
                </a:gdLst>
                <a:ahLst/>
                <a:cxnLst>
                  <a:cxn ang="0">
                    <a:pos x="T0" y="T1"/>
                  </a:cxn>
                  <a:cxn ang="0">
                    <a:pos x="T2" y="T3"/>
                  </a:cxn>
                  <a:cxn ang="0">
                    <a:pos x="T4" y="T5"/>
                  </a:cxn>
                  <a:cxn ang="0">
                    <a:pos x="T6" y="T7"/>
                  </a:cxn>
                  <a:cxn ang="0">
                    <a:pos x="T8" y="T9"/>
                  </a:cxn>
                </a:cxnLst>
                <a:rect l="0" t="0" r="r" b="b"/>
                <a:pathLst>
                  <a:path w="56" h="79">
                    <a:moveTo>
                      <a:pt x="1" y="6"/>
                    </a:moveTo>
                    <a:cubicBezTo>
                      <a:pt x="5" y="35"/>
                      <a:pt x="24" y="56"/>
                      <a:pt x="45" y="75"/>
                    </a:cubicBezTo>
                    <a:cubicBezTo>
                      <a:pt x="50" y="79"/>
                      <a:pt x="56" y="73"/>
                      <a:pt x="52" y="68"/>
                    </a:cubicBezTo>
                    <a:cubicBezTo>
                      <a:pt x="35" y="48"/>
                      <a:pt x="22" y="26"/>
                      <a:pt x="9" y="4"/>
                    </a:cubicBezTo>
                    <a:cubicBezTo>
                      <a:pt x="7" y="0"/>
                      <a:pt x="0" y="2"/>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8" name="chenying0907 52"/>
              <p:cNvSpPr/>
              <p:nvPr/>
            </p:nvSpPr>
            <p:spPr bwMode="auto">
              <a:xfrm>
                <a:off x="3533776" y="4113213"/>
                <a:ext cx="42863" cy="101600"/>
              </a:xfrm>
              <a:custGeom>
                <a:avLst/>
                <a:gdLst>
                  <a:gd name="T0" fmla="*/ 2 w 42"/>
                  <a:gd name="T1" fmla="*/ 5 h 99"/>
                  <a:gd name="T2" fmla="*/ 31 w 42"/>
                  <a:gd name="T3" fmla="*/ 94 h 99"/>
                  <a:gd name="T4" fmla="*/ 39 w 42"/>
                  <a:gd name="T5" fmla="*/ 89 h 99"/>
                  <a:gd name="T6" fmla="*/ 10 w 42"/>
                  <a:gd name="T7" fmla="*/ 5 h 99"/>
                  <a:gd name="T8" fmla="*/ 2 w 42"/>
                  <a:gd name="T9" fmla="*/ 5 h 99"/>
                </a:gdLst>
                <a:ahLst/>
                <a:cxnLst>
                  <a:cxn ang="0">
                    <a:pos x="T0" y="T1"/>
                  </a:cxn>
                  <a:cxn ang="0">
                    <a:pos x="T2" y="T3"/>
                  </a:cxn>
                  <a:cxn ang="0">
                    <a:pos x="T4" y="T5"/>
                  </a:cxn>
                  <a:cxn ang="0">
                    <a:pos x="T6" y="T7"/>
                  </a:cxn>
                  <a:cxn ang="0">
                    <a:pos x="T8" y="T9"/>
                  </a:cxn>
                </a:cxnLst>
                <a:rect l="0" t="0" r="r" b="b"/>
                <a:pathLst>
                  <a:path w="42" h="99">
                    <a:moveTo>
                      <a:pt x="2" y="5"/>
                    </a:moveTo>
                    <a:cubicBezTo>
                      <a:pt x="0" y="37"/>
                      <a:pt x="13" y="68"/>
                      <a:pt x="31" y="94"/>
                    </a:cubicBezTo>
                    <a:cubicBezTo>
                      <a:pt x="35" y="99"/>
                      <a:pt x="42" y="94"/>
                      <a:pt x="39" y="89"/>
                    </a:cubicBezTo>
                    <a:cubicBezTo>
                      <a:pt x="24" y="64"/>
                      <a:pt x="14" y="34"/>
                      <a:pt x="10" y="5"/>
                    </a:cubicBezTo>
                    <a:cubicBezTo>
                      <a:pt x="9" y="0"/>
                      <a:pt x="3" y="0"/>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39" name="chenying0907 53"/>
              <p:cNvSpPr/>
              <p:nvPr/>
            </p:nvSpPr>
            <p:spPr bwMode="auto">
              <a:xfrm>
                <a:off x="3517901" y="3932238"/>
                <a:ext cx="20638" cy="79375"/>
              </a:xfrm>
              <a:custGeom>
                <a:avLst/>
                <a:gdLst>
                  <a:gd name="T0" fmla="*/ 4 w 19"/>
                  <a:gd name="T1" fmla="*/ 4 h 76"/>
                  <a:gd name="T2" fmla="*/ 10 w 19"/>
                  <a:gd name="T3" fmla="*/ 71 h 76"/>
                  <a:gd name="T4" fmla="*/ 18 w 19"/>
                  <a:gd name="T5" fmla="*/ 68 h 76"/>
                  <a:gd name="T6" fmla="*/ 10 w 19"/>
                  <a:gd name="T7" fmla="*/ 4 h 76"/>
                  <a:gd name="T8" fmla="*/ 4 w 19"/>
                  <a:gd name="T9" fmla="*/ 4 h 76"/>
                </a:gdLst>
                <a:ahLst/>
                <a:cxnLst>
                  <a:cxn ang="0">
                    <a:pos x="T0" y="T1"/>
                  </a:cxn>
                  <a:cxn ang="0">
                    <a:pos x="T2" y="T3"/>
                  </a:cxn>
                  <a:cxn ang="0">
                    <a:pos x="T4" y="T5"/>
                  </a:cxn>
                  <a:cxn ang="0">
                    <a:pos x="T6" y="T7"/>
                  </a:cxn>
                  <a:cxn ang="0">
                    <a:pos x="T8" y="T9"/>
                  </a:cxn>
                </a:cxnLst>
                <a:rect l="0" t="0" r="r" b="b"/>
                <a:pathLst>
                  <a:path w="19" h="76">
                    <a:moveTo>
                      <a:pt x="4" y="4"/>
                    </a:moveTo>
                    <a:cubicBezTo>
                      <a:pt x="2" y="27"/>
                      <a:pt x="0" y="50"/>
                      <a:pt x="10" y="71"/>
                    </a:cubicBezTo>
                    <a:cubicBezTo>
                      <a:pt x="13" y="76"/>
                      <a:pt x="19" y="72"/>
                      <a:pt x="18" y="68"/>
                    </a:cubicBezTo>
                    <a:cubicBezTo>
                      <a:pt x="15" y="47"/>
                      <a:pt x="12" y="25"/>
                      <a:pt x="10" y="4"/>
                    </a:cubicBezTo>
                    <a:cubicBezTo>
                      <a:pt x="10" y="0"/>
                      <a:pt x="4" y="0"/>
                      <a:pt x="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0" name="chenying0907 54"/>
              <p:cNvSpPr/>
              <p:nvPr/>
            </p:nvSpPr>
            <p:spPr bwMode="auto">
              <a:xfrm>
                <a:off x="3522663" y="3695701"/>
                <a:ext cx="47625" cy="131763"/>
              </a:xfrm>
              <a:custGeom>
                <a:avLst/>
                <a:gdLst>
                  <a:gd name="T0" fmla="*/ 4 w 46"/>
                  <a:gd name="T1" fmla="*/ 125 h 127"/>
                  <a:gd name="T2" fmla="*/ 43 w 46"/>
                  <a:gd name="T3" fmla="*/ 12 h 127"/>
                  <a:gd name="T4" fmla="*/ 33 w 46"/>
                  <a:gd name="T5" fmla="*/ 6 h 127"/>
                  <a:gd name="T6" fmla="*/ 0 w 46"/>
                  <a:gd name="T7" fmla="*/ 124 h 127"/>
                  <a:gd name="T8" fmla="*/ 4 w 46"/>
                  <a:gd name="T9" fmla="*/ 125 h 127"/>
                </a:gdLst>
                <a:ahLst/>
                <a:cxnLst>
                  <a:cxn ang="0">
                    <a:pos x="T0" y="T1"/>
                  </a:cxn>
                  <a:cxn ang="0">
                    <a:pos x="T2" y="T3"/>
                  </a:cxn>
                  <a:cxn ang="0">
                    <a:pos x="T4" y="T5"/>
                  </a:cxn>
                  <a:cxn ang="0">
                    <a:pos x="T6" y="T7"/>
                  </a:cxn>
                  <a:cxn ang="0">
                    <a:pos x="T8" y="T9"/>
                  </a:cxn>
                </a:cxnLst>
                <a:rect l="0" t="0" r="r" b="b"/>
                <a:pathLst>
                  <a:path w="46" h="127">
                    <a:moveTo>
                      <a:pt x="4" y="125"/>
                    </a:moveTo>
                    <a:cubicBezTo>
                      <a:pt x="17" y="88"/>
                      <a:pt x="25" y="47"/>
                      <a:pt x="43" y="12"/>
                    </a:cubicBezTo>
                    <a:cubicBezTo>
                      <a:pt x="46" y="5"/>
                      <a:pt x="37" y="0"/>
                      <a:pt x="33" y="6"/>
                    </a:cubicBezTo>
                    <a:cubicBezTo>
                      <a:pt x="10" y="43"/>
                      <a:pt x="6" y="82"/>
                      <a:pt x="0" y="124"/>
                    </a:cubicBezTo>
                    <a:cubicBezTo>
                      <a:pt x="0" y="126"/>
                      <a:pt x="3" y="127"/>
                      <a:pt x="4" y="1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1" name="chenying0907 55"/>
              <p:cNvSpPr/>
              <p:nvPr/>
            </p:nvSpPr>
            <p:spPr bwMode="auto">
              <a:xfrm>
                <a:off x="3586163" y="3575051"/>
                <a:ext cx="50800" cy="66675"/>
              </a:xfrm>
              <a:custGeom>
                <a:avLst/>
                <a:gdLst>
                  <a:gd name="T0" fmla="*/ 9 w 48"/>
                  <a:gd name="T1" fmla="*/ 61 h 64"/>
                  <a:gd name="T2" fmla="*/ 21 w 48"/>
                  <a:gd name="T3" fmla="*/ 53 h 64"/>
                  <a:gd name="T4" fmla="*/ 31 w 48"/>
                  <a:gd name="T5" fmla="*/ 40 h 64"/>
                  <a:gd name="T6" fmla="*/ 47 w 48"/>
                  <a:gd name="T7" fmla="*/ 9 h 64"/>
                  <a:gd name="T8" fmla="*/ 39 w 48"/>
                  <a:gd name="T9" fmla="*/ 3 h 64"/>
                  <a:gd name="T10" fmla="*/ 18 w 48"/>
                  <a:gd name="T11" fmla="*/ 29 h 64"/>
                  <a:gd name="T12" fmla="*/ 11 w 48"/>
                  <a:gd name="T13" fmla="*/ 41 h 64"/>
                  <a:gd name="T14" fmla="*/ 3 w 48"/>
                  <a:gd name="T15" fmla="*/ 57 h 64"/>
                  <a:gd name="T16" fmla="*/ 9 w 48"/>
                  <a:gd name="T17" fmla="*/ 61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64">
                    <a:moveTo>
                      <a:pt x="9" y="61"/>
                    </a:moveTo>
                    <a:cubicBezTo>
                      <a:pt x="13" y="58"/>
                      <a:pt x="17" y="56"/>
                      <a:pt x="21" y="53"/>
                    </a:cubicBezTo>
                    <a:cubicBezTo>
                      <a:pt x="25" y="49"/>
                      <a:pt x="28" y="45"/>
                      <a:pt x="31" y="40"/>
                    </a:cubicBezTo>
                    <a:cubicBezTo>
                      <a:pt x="39" y="31"/>
                      <a:pt x="44" y="21"/>
                      <a:pt x="47" y="9"/>
                    </a:cubicBezTo>
                    <a:cubicBezTo>
                      <a:pt x="48" y="5"/>
                      <a:pt x="43" y="0"/>
                      <a:pt x="39" y="3"/>
                    </a:cubicBezTo>
                    <a:cubicBezTo>
                      <a:pt x="30" y="11"/>
                      <a:pt x="24" y="19"/>
                      <a:pt x="18" y="29"/>
                    </a:cubicBezTo>
                    <a:cubicBezTo>
                      <a:pt x="15" y="33"/>
                      <a:pt x="13" y="37"/>
                      <a:pt x="11" y="41"/>
                    </a:cubicBezTo>
                    <a:cubicBezTo>
                      <a:pt x="8" y="46"/>
                      <a:pt x="6" y="52"/>
                      <a:pt x="3" y="57"/>
                    </a:cubicBezTo>
                    <a:cubicBezTo>
                      <a:pt x="0" y="60"/>
                      <a:pt x="5" y="64"/>
                      <a:pt x="9"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2" name="chenying0907 56"/>
              <p:cNvSpPr/>
              <p:nvPr/>
            </p:nvSpPr>
            <p:spPr bwMode="auto">
              <a:xfrm>
                <a:off x="3698876" y="3435351"/>
                <a:ext cx="66675" cy="74613"/>
              </a:xfrm>
              <a:custGeom>
                <a:avLst/>
                <a:gdLst>
                  <a:gd name="T0" fmla="*/ 11 w 64"/>
                  <a:gd name="T1" fmla="*/ 66 h 71"/>
                  <a:gd name="T2" fmla="*/ 60 w 64"/>
                  <a:gd name="T3" fmla="*/ 9 h 71"/>
                  <a:gd name="T4" fmla="*/ 56 w 64"/>
                  <a:gd name="T5" fmla="*/ 1 h 71"/>
                  <a:gd name="T6" fmla="*/ 2 w 64"/>
                  <a:gd name="T7" fmla="*/ 62 h 71"/>
                  <a:gd name="T8" fmla="*/ 11 w 64"/>
                  <a:gd name="T9" fmla="*/ 66 h 71"/>
                </a:gdLst>
                <a:ahLst/>
                <a:cxnLst>
                  <a:cxn ang="0">
                    <a:pos x="T0" y="T1"/>
                  </a:cxn>
                  <a:cxn ang="0">
                    <a:pos x="T2" y="T3"/>
                  </a:cxn>
                  <a:cxn ang="0">
                    <a:pos x="T4" y="T5"/>
                  </a:cxn>
                  <a:cxn ang="0">
                    <a:pos x="T6" y="T7"/>
                  </a:cxn>
                  <a:cxn ang="0">
                    <a:pos x="T8" y="T9"/>
                  </a:cxn>
                </a:cxnLst>
                <a:rect l="0" t="0" r="r" b="b"/>
                <a:pathLst>
                  <a:path w="64" h="71">
                    <a:moveTo>
                      <a:pt x="11" y="66"/>
                    </a:moveTo>
                    <a:cubicBezTo>
                      <a:pt x="22" y="42"/>
                      <a:pt x="41" y="26"/>
                      <a:pt x="60" y="9"/>
                    </a:cubicBezTo>
                    <a:cubicBezTo>
                      <a:pt x="64" y="6"/>
                      <a:pt x="60" y="0"/>
                      <a:pt x="56" y="1"/>
                    </a:cubicBezTo>
                    <a:cubicBezTo>
                      <a:pt x="26" y="8"/>
                      <a:pt x="8" y="34"/>
                      <a:pt x="2" y="62"/>
                    </a:cubicBezTo>
                    <a:cubicBezTo>
                      <a:pt x="0" y="67"/>
                      <a:pt x="8" y="71"/>
                      <a:pt x="11"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3" name="chenying0907 57"/>
              <p:cNvSpPr/>
              <p:nvPr/>
            </p:nvSpPr>
            <p:spPr bwMode="auto">
              <a:xfrm>
                <a:off x="3798888" y="3357563"/>
                <a:ext cx="57150" cy="34925"/>
              </a:xfrm>
              <a:custGeom>
                <a:avLst/>
                <a:gdLst>
                  <a:gd name="T0" fmla="*/ 5 w 56"/>
                  <a:gd name="T1" fmla="*/ 33 h 34"/>
                  <a:gd name="T2" fmla="*/ 16 w 56"/>
                  <a:gd name="T3" fmla="*/ 32 h 34"/>
                  <a:gd name="T4" fmla="*/ 29 w 56"/>
                  <a:gd name="T5" fmla="*/ 28 h 34"/>
                  <a:gd name="T6" fmla="*/ 51 w 56"/>
                  <a:gd name="T7" fmla="*/ 13 h 34"/>
                  <a:gd name="T8" fmla="*/ 46 w 56"/>
                  <a:gd name="T9" fmla="*/ 2 h 34"/>
                  <a:gd name="T10" fmla="*/ 22 w 56"/>
                  <a:gd name="T11" fmla="*/ 11 h 34"/>
                  <a:gd name="T12" fmla="*/ 10 w 56"/>
                  <a:gd name="T13" fmla="*/ 19 h 34"/>
                  <a:gd name="T14" fmla="*/ 3 w 56"/>
                  <a:gd name="T15" fmla="*/ 27 h 34"/>
                  <a:gd name="T16" fmla="*/ 5 w 56"/>
                  <a:gd name="T17" fmla="*/ 3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34">
                    <a:moveTo>
                      <a:pt x="5" y="33"/>
                    </a:moveTo>
                    <a:cubicBezTo>
                      <a:pt x="9" y="32"/>
                      <a:pt x="12" y="33"/>
                      <a:pt x="16" y="32"/>
                    </a:cubicBezTo>
                    <a:cubicBezTo>
                      <a:pt x="20" y="31"/>
                      <a:pt x="24" y="29"/>
                      <a:pt x="29" y="28"/>
                    </a:cubicBezTo>
                    <a:cubicBezTo>
                      <a:pt x="38" y="24"/>
                      <a:pt x="43" y="19"/>
                      <a:pt x="51" y="13"/>
                    </a:cubicBezTo>
                    <a:cubicBezTo>
                      <a:pt x="56" y="10"/>
                      <a:pt x="53" y="0"/>
                      <a:pt x="46" y="2"/>
                    </a:cubicBezTo>
                    <a:cubicBezTo>
                      <a:pt x="37" y="5"/>
                      <a:pt x="30" y="7"/>
                      <a:pt x="22" y="11"/>
                    </a:cubicBezTo>
                    <a:cubicBezTo>
                      <a:pt x="18" y="14"/>
                      <a:pt x="14" y="16"/>
                      <a:pt x="10" y="19"/>
                    </a:cubicBezTo>
                    <a:cubicBezTo>
                      <a:pt x="7" y="21"/>
                      <a:pt x="5" y="25"/>
                      <a:pt x="3" y="27"/>
                    </a:cubicBezTo>
                    <a:cubicBezTo>
                      <a:pt x="0" y="29"/>
                      <a:pt x="1" y="34"/>
                      <a:pt x="5" y="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4" name="chenying0907 58"/>
              <p:cNvSpPr/>
              <p:nvPr/>
            </p:nvSpPr>
            <p:spPr bwMode="auto">
              <a:xfrm>
                <a:off x="3725863" y="3227388"/>
                <a:ext cx="76200" cy="69850"/>
              </a:xfrm>
              <a:custGeom>
                <a:avLst/>
                <a:gdLst>
                  <a:gd name="T0" fmla="*/ 69 w 74"/>
                  <a:gd name="T1" fmla="*/ 58 h 68"/>
                  <a:gd name="T2" fmla="*/ 42 w 74"/>
                  <a:gd name="T3" fmla="*/ 36 h 68"/>
                  <a:gd name="T4" fmla="*/ 14 w 74"/>
                  <a:gd name="T5" fmla="*/ 6 h 68"/>
                  <a:gd name="T6" fmla="*/ 3 w 74"/>
                  <a:gd name="T7" fmla="*/ 15 h 68"/>
                  <a:gd name="T8" fmla="*/ 66 w 74"/>
                  <a:gd name="T9" fmla="*/ 66 h 68"/>
                  <a:gd name="T10" fmla="*/ 69 w 74"/>
                  <a:gd name="T11" fmla="*/ 58 h 68"/>
                </a:gdLst>
                <a:ahLst/>
                <a:cxnLst>
                  <a:cxn ang="0">
                    <a:pos x="T0" y="T1"/>
                  </a:cxn>
                  <a:cxn ang="0">
                    <a:pos x="T2" y="T3"/>
                  </a:cxn>
                  <a:cxn ang="0">
                    <a:pos x="T4" y="T5"/>
                  </a:cxn>
                  <a:cxn ang="0">
                    <a:pos x="T6" y="T7"/>
                  </a:cxn>
                  <a:cxn ang="0">
                    <a:pos x="T8" y="T9"/>
                  </a:cxn>
                  <a:cxn ang="0">
                    <a:pos x="T10" y="T11"/>
                  </a:cxn>
                </a:cxnLst>
                <a:rect l="0" t="0" r="r" b="b"/>
                <a:pathLst>
                  <a:path w="74" h="68">
                    <a:moveTo>
                      <a:pt x="69" y="58"/>
                    </a:moveTo>
                    <a:cubicBezTo>
                      <a:pt x="59" y="53"/>
                      <a:pt x="50" y="44"/>
                      <a:pt x="42" y="36"/>
                    </a:cubicBezTo>
                    <a:cubicBezTo>
                      <a:pt x="32" y="26"/>
                      <a:pt x="23" y="16"/>
                      <a:pt x="14" y="6"/>
                    </a:cubicBezTo>
                    <a:cubicBezTo>
                      <a:pt x="9" y="0"/>
                      <a:pt x="0" y="8"/>
                      <a:pt x="3" y="15"/>
                    </a:cubicBezTo>
                    <a:cubicBezTo>
                      <a:pt x="17" y="41"/>
                      <a:pt x="38" y="58"/>
                      <a:pt x="66" y="66"/>
                    </a:cubicBezTo>
                    <a:cubicBezTo>
                      <a:pt x="71" y="68"/>
                      <a:pt x="74" y="60"/>
                      <a:pt x="69"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5" name="chenying0907 59"/>
              <p:cNvSpPr/>
              <p:nvPr/>
            </p:nvSpPr>
            <p:spPr bwMode="auto">
              <a:xfrm>
                <a:off x="3622676" y="3065463"/>
                <a:ext cx="60325" cy="96838"/>
              </a:xfrm>
              <a:custGeom>
                <a:avLst/>
                <a:gdLst>
                  <a:gd name="T0" fmla="*/ 54 w 58"/>
                  <a:gd name="T1" fmla="*/ 85 h 94"/>
                  <a:gd name="T2" fmla="*/ 12 w 58"/>
                  <a:gd name="T3" fmla="*/ 6 h 94"/>
                  <a:gd name="T4" fmla="*/ 2 w 58"/>
                  <a:gd name="T5" fmla="*/ 9 h 94"/>
                  <a:gd name="T6" fmla="*/ 47 w 58"/>
                  <a:gd name="T7" fmla="*/ 91 h 94"/>
                  <a:gd name="T8" fmla="*/ 54 w 58"/>
                  <a:gd name="T9" fmla="*/ 85 h 94"/>
                </a:gdLst>
                <a:ahLst/>
                <a:cxnLst>
                  <a:cxn ang="0">
                    <a:pos x="T0" y="T1"/>
                  </a:cxn>
                  <a:cxn ang="0">
                    <a:pos x="T2" y="T3"/>
                  </a:cxn>
                  <a:cxn ang="0">
                    <a:pos x="T4" y="T5"/>
                  </a:cxn>
                  <a:cxn ang="0">
                    <a:pos x="T6" y="T7"/>
                  </a:cxn>
                  <a:cxn ang="0">
                    <a:pos x="T8" y="T9"/>
                  </a:cxn>
                </a:cxnLst>
                <a:rect l="0" t="0" r="r" b="b"/>
                <a:pathLst>
                  <a:path w="58" h="94">
                    <a:moveTo>
                      <a:pt x="54" y="85"/>
                    </a:moveTo>
                    <a:cubicBezTo>
                      <a:pt x="37" y="61"/>
                      <a:pt x="23" y="35"/>
                      <a:pt x="12" y="6"/>
                    </a:cubicBezTo>
                    <a:cubicBezTo>
                      <a:pt x="10" y="0"/>
                      <a:pt x="0" y="2"/>
                      <a:pt x="2" y="9"/>
                    </a:cubicBezTo>
                    <a:cubicBezTo>
                      <a:pt x="7" y="41"/>
                      <a:pt x="22" y="71"/>
                      <a:pt x="47" y="91"/>
                    </a:cubicBezTo>
                    <a:cubicBezTo>
                      <a:pt x="51" y="94"/>
                      <a:pt x="58" y="90"/>
                      <a:pt x="54" y="8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6" name="chenying0907 60"/>
              <p:cNvSpPr/>
              <p:nvPr/>
            </p:nvSpPr>
            <p:spPr bwMode="auto">
              <a:xfrm>
                <a:off x="3565526" y="2909888"/>
                <a:ext cx="22225" cy="68263"/>
              </a:xfrm>
              <a:custGeom>
                <a:avLst/>
                <a:gdLst>
                  <a:gd name="T0" fmla="*/ 22 w 22"/>
                  <a:gd name="T1" fmla="*/ 62 h 66"/>
                  <a:gd name="T2" fmla="*/ 9 w 22"/>
                  <a:gd name="T3" fmla="*/ 4 h 66"/>
                  <a:gd name="T4" fmla="*/ 1 w 22"/>
                  <a:gd name="T5" fmla="*/ 6 h 66"/>
                  <a:gd name="T6" fmla="*/ 18 w 22"/>
                  <a:gd name="T7" fmla="*/ 64 h 66"/>
                  <a:gd name="T8" fmla="*/ 22 w 22"/>
                  <a:gd name="T9" fmla="*/ 62 h 66"/>
                </a:gdLst>
                <a:ahLst/>
                <a:cxnLst>
                  <a:cxn ang="0">
                    <a:pos x="T0" y="T1"/>
                  </a:cxn>
                  <a:cxn ang="0">
                    <a:pos x="T2" y="T3"/>
                  </a:cxn>
                  <a:cxn ang="0">
                    <a:pos x="T4" y="T5"/>
                  </a:cxn>
                  <a:cxn ang="0">
                    <a:pos x="T6" y="T7"/>
                  </a:cxn>
                  <a:cxn ang="0">
                    <a:pos x="T8" y="T9"/>
                  </a:cxn>
                </a:cxnLst>
                <a:rect l="0" t="0" r="r" b="b"/>
                <a:pathLst>
                  <a:path w="22" h="66">
                    <a:moveTo>
                      <a:pt x="22" y="62"/>
                    </a:moveTo>
                    <a:cubicBezTo>
                      <a:pt x="17" y="43"/>
                      <a:pt x="16" y="23"/>
                      <a:pt x="9" y="4"/>
                    </a:cubicBezTo>
                    <a:cubicBezTo>
                      <a:pt x="7" y="0"/>
                      <a:pt x="0" y="1"/>
                      <a:pt x="1" y="6"/>
                    </a:cubicBezTo>
                    <a:cubicBezTo>
                      <a:pt x="6" y="25"/>
                      <a:pt x="6" y="47"/>
                      <a:pt x="18" y="64"/>
                    </a:cubicBezTo>
                    <a:cubicBezTo>
                      <a:pt x="19" y="66"/>
                      <a:pt x="22" y="65"/>
                      <a:pt x="22" y="6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7" name="chenying0907 61"/>
              <p:cNvSpPr/>
              <p:nvPr/>
            </p:nvSpPr>
            <p:spPr bwMode="auto">
              <a:xfrm>
                <a:off x="3538538" y="2741613"/>
                <a:ext cx="28575" cy="100013"/>
              </a:xfrm>
              <a:custGeom>
                <a:avLst/>
                <a:gdLst>
                  <a:gd name="T0" fmla="*/ 22 w 27"/>
                  <a:gd name="T1" fmla="*/ 89 h 96"/>
                  <a:gd name="T2" fmla="*/ 15 w 27"/>
                  <a:gd name="T3" fmla="*/ 8 h 96"/>
                  <a:gd name="T4" fmla="*/ 2 w 27"/>
                  <a:gd name="T5" fmla="*/ 8 h 96"/>
                  <a:gd name="T6" fmla="*/ 9 w 27"/>
                  <a:gd name="T7" fmla="*/ 89 h 96"/>
                  <a:gd name="T8" fmla="*/ 22 w 27"/>
                  <a:gd name="T9" fmla="*/ 89 h 96"/>
                </a:gdLst>
                <a:ahLst/>
                <a:cxnLst>
                  <a:cxn ang="0">
                    <a:pos x="T0" y="T1"/>
                  </a:cxn>
                  <a:cxn ang="0">
                    <a:pos x="T2" y="T3"/>
                  </a:cxn>
                  <a:cxn ang="0">
                    <a:pos x="T4" y="T5"/>
                  </a:cxn>
                  <a:cxn ang="0">
                    <a:pos x="T6" y="T7"/>
                  </a:cxn>
                  <a:cxn ang="0">
                    <a:pos x="T8" y="T9"/>
                  </a:cxn>
                </a:cxnLst>
                <a:rect l="0" t="0" r="r" b="b"/>
                <a:pathLst>
                  <a:path w="27" h="96">
                    <a:moveTo>
                      <a:pt x="22" y="89"/>
                    </a:moveTo>
                    <a:cubicBezTo>
                      <a:pt x="27" y="62"/>
                      <a:pt x="18" y="35"/>
                      <a:pt x="15" y="8"/>
                    </a:cubicBezTo>
                    <a:cubicBezTo>
                      <a:pt x="14" y="0"/>
                      <a:pt x="3" y="0"/>
                      <a:pt x="2" y="8"/>
                    </a:cubicBezTo>
                    <a:cubicBezTo>
                      <a:pt x="0" y="35"/>
                      <a:pt x="4" y="62"/>
                      <a:pt x="9" y="89"/>
                    </a:cubicBezTo>
                    <a:cubicBezTo>
                      <a:pt x="10" y="96"/>
                      <a:pt x="21" y="96"/>
                      <a:pt x="22" y="8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8" name="chenying0907 62"/>
              <p:cNvSpPr/>
              <p:nvPr/>
            </p:nvSpPr>
            <p:spPr bwMode="auto">
              <a:xfrm>
                <a:off x="3546476" y="2592388"/>
                <a:ext cx="22225" cy="73025"/>
              </a:xfrm>
              <a:custGeom>
                <a:avLst/>
                <a:gdLst>
                  <a:gd name="T0" fmla="*/ 13 w 22"/>
                  <a:gd name="T1" fmla="*/ 66 h 70"/>
                  <a:gd name="T2" fmla="*/ 21 w 22"/>
                  <a:gd name="T3" fmla="*/ 8 h 70"/>
                  <a:gd name="T4" fmla="*/ 11 w 22"/>
                  <a:gd name="T5" fmla="*/ 6 h 70"/>
                  <a:gd name="T6" fmla="*/ 5 w 22"/>
                  <a:gd name="T7" fmla="*/ 66 h 70"/>
                  <a:gd name="T8" fmla="*/ 13 w 22"/>
                  <a:gd name="T9" fmla="*/ 66 h 70"/>
                </a:gdLst>
                <a:ahLst/>
                <a:cxnLst>
                  <a:cxn ang="0">
                    <a:pos x="T0" y="T1"/>
                  </a:cxn>
                  <a:cxn ang="0">
                    <a:pos x="T2" y="T3"/>
                  </a:cxn>
                  <a:cxn ang="0">
                    <a:pos x="T4" y="T5"/>
                  </a:cxn>
                  <a:cxn ang="0">
                    <a:pos x="T6" y="T7"/>
                  </a:cxn>
                  <a:cxn ang="0">
                    <a:pos x="T8" y="T9"/>
                  </a:cxn>
                </a:cxnLst>
                <a:rect l="0" t="0" r="r" b="b"/>
                <a:pathLst>
                  <a:path w="22" h="70">
                    <a:moveTo>
                      <a:pt x="13" y="66"/>
                    </a:moveTo>
                    <a:cubicBezTo>
                      <a:pt x="17" y="47"/>
                      <a:pt x="16" y="27"/>
                      <a:pt x="21" y="8"/>
                    </a:cubicBezTo>
                    <a:cubicBezTo>
                      <a:pt x="22" y="2"/>
                      <a:pt x="13" y="0"/>
                      <a:pt x="11" y="6"/>
                    </a:cubicBezTo>
                    <a:cubicBezTo>
                      <a:pt x="4" y="26"/>
                      <a:pt x="0" y="45"/>
                      <a:pt x="5" y="66"/>
                    </a:cubicBezTo>
                    <a:cubicBezTo>
                      <a:pt x="6" y="70"/>
                      <a:pt x="12" y="70"/>
                      <a:pt x="13" y="6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49" name="chenying0907 63"/>
              <p:cNvSpPr/>
              <p:nvPr/>
            </p:nvSpPr>
            <p:spPr bwMode="auto">
              <a:xfrm>
                <a:off x="3595688" y="2397126"/>
                <a:ext cx="49213" cy="103188"/>
              </a:xfrm>
              <a:custGeom>
                <a:avLst/>
                <a:gdLst>
                  <a:gd name="T0" fmla="*/ 7 w 47"/>
                  <a:gd name="T1" fmla="*/ 96 h 99"/>
                  <a:gd name="T2" fmla="*/ 45 w 47"/>
                  <a:gd name="T3" fmla="*/ 8 h 99"/>
                  <a:gd name="T4" fmla="*/ 36 w 47"/>
                  <a:gd name="T5" fmla="*/ 5 h 99"/>
                  <a:gd name="T6" fmla="*/ 0 w 47"/>
                  <a:gd name="T7" fmla="*/ 94 h 99"/>
                  <a:gd name="T8" fmla="*/ 7 w 47"/>
                  <a:gd name="T9" fmla="*/ 96 h 99"/>
                </a:gdLst>
                <a:ahLst/>
                <a:cxnLst>
                  <a:cxn ang="0">
                    <a:pos x="T0" y="T1"/>
                  </a:cxn>
                  <a:cxn ang="0">
                    <a:pos x="T2" y="T3"/>
                  </a:cxn>
                  <a:cxn ang="0">
                    <a:pos x="T4" y="T5"/>
                  </a:cxn>
                  <a:cxn ang="0">
                    <a:pos x="T6" y="T7"/>
                  </a:cxn>
                  <a:cxn ang="0">
                    <a:pos x="T8" y="T9"/>
                  </a:cxn>
                </a:cxnLst>
                <a:rect l="0" t="0" r="r" b="b"/>
                <a:pathLst>
                  <a:path w="47" h="99">
                    <a:moveTo>
                      <a:pt x="7" y="96"/>
                    </a:moveTo>
                    <a:cubicBezTo>
                      <a:pt x="20" y="67"/>
                      <a:pt x="33" y="38"/>
                      <a:pt x="45" y="8"/>
                    </a:cubicBezTo>
                    <a:cubicBezTo>
                      <a:pt x="47" y="3"/>
                      <a:pt x="39" y="0"/>
                      <a:pt x="36" y="5"/>
                    </a:cubicBezTo>
                    <a:cubicBezTo>
                      <a:pt x="19" y="33"/>
                      <a:pt x="4" y="61"/>
                      <a:pt x="0" y="94"/>
                    </a:cubicBezTo>
                    <a:cubicBezTo>
                      <a:pt x="0" y="97"/>
                      <a:pt x="6" y="99"/>
                      <a:pt x="7" y="9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0" name="chenying0907 64"/>
              <p:cNvSpPr/>
              <p:nvPr/>
            </p:nvSpPr>
            <p:spPr bwMode="auto">
              <a:xfrm>
                <a:off x="3670301" y="2254251"/>
                <a:ext cx="57150" cy="80963"/>
              </a:xfrm>
              <a:custGeom>
                <a:avLst/>
                <a:gdLst>
                  <a:gd name="T0" fmla="*/ 8 w 55"/>
                  <a:gd name="T1" fmla="*/ 74 h 78"/>
                  <a:gd name="T2" fmla="*/ 27 w 55"/>
                  <a:gd name="T3" fmla="*/ 44 h 78"/>
                  <a:gd name="T4" fmla="*/ 52 w 55"/>
                  <a:gd name="T5" fmla="*/ 10 h 78"/>
                  <a:gd name="T6" fmla="*/ 45 w 55"/>
                  <a:gd name="T7" fmla="*/ 3 h 78"/>
                  <a:gd name="T8" fmla="*/ 16 w 55"/>
                  <a:gd name="T9" fmla="*/ 33 h 78"/>
                  <a:gd name="T10" fmla="*/ 1 w 55"/>
                  <a:gd name="T11" fmla="*/ 72 h 78"/>
                  <a:gd name="T12" fmla="*/ 8 w 55"/>
                  <a:gd name="T13" fmla="*/ 74 h 78"/>
                </a:gdLst>
                <a:ahLst/>
                <a:cxnLst>
                  <a:cxn ang="0">
                    <a:pos x="T0" y="T1"/>
                  </a:cxn>
                  <a:cxn ang="0">
                    <a:pos x="T2" y="T3"/>
                  </a:cxn>
                  <a:cxn ang="0">
                    <a:pos x="T4" y="T5"/>
                  </a:cxn>
                  <a:cxn ang="0">
                    <a:pos x="T6" y="T7"/>
                  </a:cxn>
                  <a:cxn ang="0">
                    <a:pos x="T8" y="T9"/>
                  </a:cxn>
                  <a:cxn ang="0">
                    <a:pos x="T10" y="T11"/>
                  </a:cxn>
                  <a:cxn ang="0">
                    <a:pos x="T12" y="T13"/>
                  </a:cxn>
                </a:cxnLst>
                <a:rect l="0" t="0" r="r" b="b"/>
                <a:pathLst>
                  <a:path w="55" h="78">
                    <a:moveTo>
                      <a:pt x="8" y="74"/>
                    </a:moveTo>
                    <a:cubicBezTo>
                      <a:pt x="12" y="63"/>
                      <a:pt x="21" y="53"/>
                      <a:pt x="27" y="44"/>
                    </a:cubicBezTo>
                    <a:cubicBezTo>
                      <a:pt x="35" y="32"/>
                      <a:pt x="45" y="22"/>
                      <a:pt x="52" y="10"/>
                    </a:cubicBezTo>
                    <a:cubicBezTo>
                      <a:pt x="55" y="6"/>
                      <a:pt x="50" y="0"/>
                      <a:pt x="45" y="3"/>
                    </a:cubicBezTo>
                    <a:cubicBezTo>
                      <a:pt x="34" y="11"/>
                      <a:pt x="25" y="21"/>
                      <a:pt x="16" y="33"/>
                    </a:cubicBezTo>
                    <a:cubicBezTo>
                      <a:pt x="7" y="45"/>
                      <a:pt x="5" y="57"/>
                      <a:pt x="1" y="72"/>
                    </a:cubicBezTo>
                    <a:cubicBezTo>
                      <a:pt x="0" y="76"/>
                      <a:pt x="6" y="78"/>
                      <a:pt x="8" y="7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1" name="chenying0907 65"/>
              <p:cNvSpPr/>
              <p:nvPr/>
            </p:nvSpPr>
            <p:spPr bwMode="auto">
              <a:xfrm>
                <a:off x="3754438" y="2087563"/>
                <a:ext cx="73025" cy="87313"/>
              </a:xfrm>
              <a:custGeom>
                <a:avLst/>
                <a:gdLst>
                  <a:gd name="T0" fmla="*/ 6 w 71"/>
                  <a:gd name="T1" fmla="*/ 84 h 85"/>
                  <a:gd name="T2" fmla="*/ 66 w 71"/>
                  <a:gd name="T3" fmla="*/ 14 h 85"/>
                  <a:gd name="T4" fmla="*/ 58 w 71"/>
                  <a:gd name="T5" fmla="*/ 5 h 85"/>
                  <a:gd name="T6" fmla="*/ 1 w 71"/>
                  <a:gd name="T7" fmla="*/ 81 h 85"/>
                  <a:gd name="T8" fmla="*/ 6 w 71"/>
                  <a:gd name="T9" fmla="*/ 84 h 85"/>
                </a:gdLst>
                <a:ahLst/>
                <a:cxnLst>
                  <a:cxn ang="0">
                    <a:pos x="T0" y="T1"/>
                  </a:cxn>
                  <a:cxn ang="0">
                    <a:pos x="T2" y="T3"/>
                  </a:cxn>
                  <a:cxn ang="0">
                    <a:pos x="T4" y="T5"/>
                  </a:cxn>
                  <a:cxn ang="0">
                    <a:pos x="T6" y="T7"/>
                  </a:cxn>
                  <a:cxn ang="0">
                    <a:pos x="T8" y="T9"/>
                  </a:cxn>
                </a:cxnLst>
                <a:rect l="0" t="0" r="r" b="b"/>
                <a:pathLst>
                  <a:path w="71" h="85">
                    <a:moveTo>
                      <a:pt x="6" y="84"/>
                    </a:moveTo>
                    <a:cubicBezTo>
                      <a:pt x="31" y="64"/>
                      <a:pt x="46" y="37"/>
                      <a:pt x="66" y="14"/>
                    </a:cubicBezTo>
                    <a:cubicBezTo>
                      <a:pt x="71" y="8"/>
                      <a:pt x="64" y="0"/>
                      <a:pt x="58" y="5"/>
                    </a:cubicBezTo>
                    <a:cubicBezTo>
                      <a:pt x="33" y="26"/>
                      <a:pt x="11" y="49"/>
                      <a:pt x="1" y="81"/>
                    </a:cubicBezTo>
                    <a:cubicBezTo>
                      <a:pt x="0" y="84"/>
                      <a:pt x="4" y="85"/>
                      <a:pt x="6" y="8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2" name="chenying0907 66"/>
              <p:cNvSpPr/>
              <p:nvPr/>
            </p:nvSpPr>
            <p:spPr bwMode="auto">
              <a:xfrm>
                <a:off x="3865563" y="1936751"/>
                <a:ext cx="80963" cy="104775"/>
              </a:xfrm>
              <a:custGeom>
                <a:avLst/>
                <a:gdLst>
                  <a:gd name="T0" fmla="*/ 8 w 79"/>
                  <a:gd name="T1" fmla="*/ 98 h 101"/>
                  <a:gd name="T2" fmla="*/ 74 w 79"/>
                  <a:gd name="T3" fmla="*/ 12 h 101"/>
                  <a:gd name="T4" fmla="*/ 67 w 79"/>
                  <a:gd name="T5" fmla="*/ 5 h 101"/>
                  <a:gd name="T6" fmla="*/ 31 w 79"/>
                  <a:gd name="T7" fmla="*/ 43 h 101"/>
                  <a:gd name="T8" fmla="*/ 2 w 79"/>
                  <a:gd name="T9" fmla="*/ 94 h 101"/>
                  <a:gd name="T10" fmla="*/ 8 w 79"/>
                  <a:gd name="T11" fmla="*/ 98 h 101"/>
                </a:gdLst>
                <a:ahLst/>
                <a:cxnLst>
                  <a:cxn ang="0">
                    <a:pos x="T0" y="T1"/>
                  </a:cxn>
                  <a:cxn ang="0">
                    <a:pos x="T2" y="T3"/>
                  </a:cxn>
                  <a:cxn ang="0">
                    <a:pos x="T4" y="T5"/>
                  </a:cxn>
                  <a:cxn ang="0">
                    <a:pos x="T6" y="T7"/>
                  </a:cxn>
                  <a:cxn ang="0">
                    <a:pos x="T8" y="T9"/>
                  </a:cxn>
                  <a:cxn ang="0">
                    <a:pos x="T10" y="T11"/>
                  </a:cxn>
                </a:cxnLst>
                <a:rect l="0" t="0" r="r" b="b"/>
                <a:pathLst>
                  <a:path w="79" h="101">
                    <a:moveTo>
                      <a:pt x="8" y="98"/>
                    </a:moveTo>
                    <a:cubicBezTo>
                      <a:pt x="34" y="72"/>
                      <a:pt x="51" y="41"/>
                      <a:pt x="74" y="12"/>
                    </a:cubicBezTo>
                    <a:cubicBezTo>
                      <a:pt x="79" y="7"/>
                      <a:pt x="72" y="0"/>
                      <a:pt x="67" y="5"/>
                    </a:cubicBezTo>
                    <a:cubicBezTo>
                      <a:pt x="53" y="17"/>
                      <a:pt x="41" y="28"/>
                      <a:pt x="31" y="43"/>
                    </a:cubicBezTo>
                    <a:cubicBezTo>
                      <a:pt x="20" y="59"/>
                      <a:pt x="12" y="76"/>
                      <a:pt x="2" y="94"/>
                    </a:cubicBezTo>
                    <a:cubicBezTo>
                      <a:pt x="0" y="97"/>
                      <a:pt x="5" y="101"/>
                      <a:pt x="8" y="9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3" name="chenying0907 67"/>
              <p:cNvSpPr/>
              <p:nvPr/>
            </p:nvSpPr>
            <p:spPr bwMode="auto">
              <a:xfrm>
                <a:off x="3984626" y="1827213"/>
                <a:ext cx="87313" cy="65088"/>
              </a:xfrm>
              <a:custGeom>
                <a:avLst/>
                <a:gdLst>
                  <a:gd name="T0" fmla="*/ 8 w 85"/>
                  <a:gd name="T1" fmla="*/ 61 h 63"/>
                  <a:gd name="T2" fmla="*/ 23 w 85"/>
                  <a:gd name="T3" fmla="*/ 57 h 63"/>
                  <a:gd name="T4" fmla="*/ 40 w 85"/>
                  <a:gd name="T5" fmla="*/ 47 h 63"/>
                  <a:gd name="T6" fmla="*/ 76 w 85"/>
                  <a:gd name="T7" fmla="*/ 21 h 63"/>
                  <a:gd name="T8" fmla="*/ 67 w 85"/>
                  <a:gd name="T9" fmla="*/ 6 h 63"/>
                  <a:gd name="T10" fmla="*/ 34 w 85"/>
                  <a:gd name="T11" fmla="*/ 26 h 63"/>
                  <a:gd name="T12" fmla="*/ 18 w 85"/>
                  <a:gd name="T13" fmla="*/ 38 h 63"/>
                  <a:gd name="T14" fmla="*/ 3 w 85"/>
                  <a:gd name="T15" fmla="*/ 53 h 63"/>
                  <a:gd name="T16" fmla="*/ 8 w 85"/>
                  <a:gd name="T17" fmla="*/ 6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5" h="63">
                    <a:moveTo>
                      <a:pt x="8" y="61"/>
                    </a:moveTo>
                    <a:cubicBezTo>
                      <a:pt x="13" y="59"/>
                      <a:pt x="18" y="59"/>
                      <a:pt x="23" y="57"/>
                    </a:cubicBezTo>
                    <a:cubicBezTo>
                      <a:pt x="29" y="54"/>
                      <a:pt x="35" y="50"/>
                      <a:pt x="40" y="47"/>
                    </a:cubicBezTo>
                    <a:cubicBezTo>
                      <a:pt x="53" y="39"/>
                      <a:pt x="64" y="30"/>
                      <a:pt x="76" y="21"/>
                    </a:cubicBezTo>
                    <a:cubicBezTo>
                      <a:pt x="85" y="14"/>
                      <a:pt x="77" y="0"/>
                      <a:pt x="67" y="6"/>
                    </a:cubicBezTo>
                    <a:cubicBezTo>
                      <a:pt x="56" y="12"/>
                      <a:pt x="44" y="18"/>
                      <a:pt x="34" y="26"/>
                    </a:cubicBezTo>
                    <a:cubicBezTo>
                      <a:pt x="28" y="30"/>
                      <a:pt x="23" y="34"/>
                      <a:pt x="18" y="38"/>
                    </a:cubicBezTo>
                    <a:cubicBezTo>
                      <a:pt x="11" y="42"/>
                      <a:pt x="8" y="48"/>
                      <a:pt x="3" y="53"/>
                    </a:cubicBezTo>
                    <a:cubicBezTo>
                      <a:pt x="0" y="57"/>
                      <a:pt x="3" y="63"/>
                      <a:pt x="8" y="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4" name="chenying0907 68"/>
              <p:cNvSpPr/>
              <p:nvPr/>
            </p:nvSpPr>
            <p:spPr bwMode="auto">
              <a:xfrm>
                <a:off x="4127501" y="1725613"/>
                <a:ext cx="109538" cy="76200"/>
              </a:xfrm>
              <a:custGeom>
                <a:avLst/>
                <a:gdLst>
                  <a:gd name="T0" fmla="*/ 9 w 105"/>
                  <a:gd name="T1" fmla="*/ 71 h 74"/>
                  <a:gd name="T2" fmla="*/ 96 w 105"/>
                  <a:gd name="T3" fmla="*/ 16 h 74"/>
                  <a:gd name="T4" fmla="*/ 89 w 105"/>
                  <a:gd name="T5" fmla="*/ 4 h 74"/>
                  <a:gd name="T6" fmla="*/ 2 w 105"/>
                  <a:gd name="T7" fmla="*/ 66 h 74"/>
                  <a:gd name="T8" fmla="*/ 9 w 105"/>
                  <a:gd name="T9" fmla="*/ 71 h 74"/>
                </a:gdLst>
                <a:ahLst/>
                <a:cxnLst>
                  <a:cxn ang="0">
                    <a:pos x="T0" y="T1"/>
                  </a:cxn>
                  <a:cxn ang="0">
                    <a:pos x="T2" y="T3"/>
                  </a:cxn>
                  <a:cxn ang="0">
                    <a:pos x="T4" y="T5"/>
                  </a:cxn>
                  <a:cxn ang="0">
                    <a:pos x="T6" y="T7"/>
                  </a:cxn>
                  <a:cxn ang="0">
                    <a:pos x="T8" y="T9"/>
                  </a:cxn>
                </a:cxnLst>
                <a:rect l="0" t="0" r="r" b="b"/>
                <a:pathLst>
                  <a:path w="105" h="74">
                    <a:moveTo>
                      <a:pt x="9" y="71"/>
                    </a:moveTo>
                    <a:cubicBezTo>
                      <a:pt x="33" y="47"/>
                      <a:pt x="67" y="33"/>
                      <a:pt x="96" y="16"/>
                    </a:cubicBezTo>
                    <a:cubicBezTo>
                      <a:pt x="105" y="12"/>
                      <a:pt x="97" y="0"/>
                      <a:pt x="89" y="4"/>
                    </a:cubicBezTo>
                    <a:cubicBezTo>
                      <a:pt x="55" y="19"/>
                      <a:pt x="22" y="32"/>
                      <a:pt x="2" y="66"/>
                    </a:cubicBezTo>
                    <a:cubicBezTo>
                      <a:pt x="0" y="70"/>
                      <a:pt x="5" y="74"/>
                      <a:pt x="9"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5" name="chenying0907 69"/>
              <p:cNvSpPr/>
              <p:nvPr/>
            </p:nvSpPr>
            <p:spPr bwMode="auto">
              <a:xfrm>
                <a:off x="4300538" y="1655763"/>
                <a:ext cx="87313" cy="47625"/>
              </a:xfrm>
              <a:custGeom>
                <a:avLst/>
                <a:gdLst>
                  <a:gd name="T0" fmla="*/ 7 w 84"/>
                  <a:gd name="T1" fmla="*/ 46 h 47"/>
                  <a:gd name="T2" fmla="*/ 80 w 84"/>
                  <a:gd name="T3" fmla="*/ 9 h 47"/>
                  <a:gd name="T4" fmla="*/ 77 w 84"/>
                  <a:gd name="T5" fmla="*/ 3 h 47"/>
                  <a:gd name="T6" fmla="*/ 5 w 84"/>
                  <a:gd name="T7" fmla="*/ 38 h 47"/>
                  <a:gd name="T8" fmla="*/ 7 w 84"/>
                  <a:gd name="T9" fmla="*/ 46 h 47"/>
                </a:gdLst>
                <a:ahLst/>
                <a:cxnLst>
                  <a:cxn ang="0">
                    <a:pos x="T0" y="T1"/>
                  </a:cxn>
                  <a:cxn ang="0">
                    <a:pos x="T2" y="T3"/>
                  </a:cxn>
                  <a:cxn ang="0">
                    <a:pos x="T4" y="T5"/>
                  </a:cxn>
                  <a:cxn ang="0">
                    <a:pos x="T6" y="T7"/>
                  </a:cxn>
                  <a:cxn ang="0">
                    <a:pos x="T8" y="T9"/>
                  </a:cxn>
                </a:cxnLst>
                <a:rect l="0" t="0" r="r" b="b"/>
                <a:pathLst>
                  <a:path w="84" h="47">
                    <a:moveTo>
                      <a:pt x="7" y="46"/>
                    </a:moveTo>
                    <a:cubicBezTo>
                      <a:pt x="36" y="41"/>
                      <a:pt x="58" y="26"/>
                      <a:pt x="80" y="9"/>
                    </a:cubicBezTo>
                    <a:cubicBezTo>
                      <a:pt x="84" y="6"/>
                      <a:pt x="81" y="0"/>
                      <a:pt x="77" y="3"/>
                    </a:cubicBezTo>
                    <a:cubicBezTo>
                      <a:pt x="54" y="16"/>
                      <a:pt x="30" y="29"/>
                      <a:pt x="5" y="38"/>
                    </a:cubicBezTo>
                    <a:cubicBezTo>
                      <a:pt x="0" y="40"/>
                      <a:pt x="2" y="47"/>
                      <a:pt x="7" y="4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6" name="chenying0907 70"/>
              <p:cNvSpPr/>
              <p:nvPr/>
            </p:nvSpPr>
            <p:spPr bwMode="auto">
              <a:xfrm>
                <a:off x="4451351" y="1609726"/>
                <a:ext cx="103188" cy="31750"/>
              </a:xfrm>
              <a:custGeom>
                <a:avLst/>
                <a:gdLst>
                  <a:gd name="T0" fmla="*/ 4 w 100"/>
                  <a:gd name="T1" fmla="*/ 25 h 31"/>
                  <a:gd name="T2" fmla="*/ 95 w 100"/>
                  <a:gd name="T3" fmla="*/ 11 h 31"/>
                  <a:gd name="T4" fmla="*/ 92 w 100"/>
                  <a:gd name="T5" fmla="*/ 1 h 31"/>
                  <a:gd name="T6" fmla="*/ 4 w 100"/>
                  <a:gd name="T7" fmla="*/ 17 h 31"/>
                  <a:gd name="T8" fmla="*/ 4 w 100"/>
                  <a:gd name="T9" fmla="*/ 25 h 31"/>
                </a:gdLst>
                <a:ahLst/>
                <a:cxnLst>
                  <a:cxn ang="0">
                    <a:pos x="T0" y="T1"/>
                  </a:cxn>
                  <a:cxn ang="0">
                    <a:pos x="T2" y="T3"/>
                  </a:cxn>
                  <a:cxn ang="0">
                    <a:pos x="T4" y="T5"/>
                  </a:cxn>
                  <a:cxn ang="0">
                    <a:pos x="T6" y="T7"/>
                  </a:cxn>
                  <a:cxn ang="0">
                    <a:pos x="T8" y="T9"/>
                  </a:cxn>
                </a:cxnLst>
                <a:rect l="0" t="0" r="r" b="b"/>
                <a:pathLst>
                  <a:path w="100" h="31">
                    <a:moveTo>
                      <a:pt x="4" y="25"/>
                    </a:moveTo>
                    <a:cubicBezTo>
                      <a:pt x="34" y="31"/>
                      <a:pt x="67" y="23"/>
                      <a:pt x="95" y="11"/>
                    </a:cubicBezTo>
                    <a:cubicBezTo>
                      <a:pt x="100" y="9"/>
                      <a:pt x="97" y="0"/>
                      <a:pt x="92" y="1"/>
                    </a:cubicBezTo>
                    <a:cubicBezTo>
                      <a:pt x="63" y="3"/>
                      <a:pt x="32" y="9"/>
                      <a:pt x="4" y="17"/>
                    </a:cubicBezTo>
                    <a:cubicBezTo>
                      <a:pt x="0" y="18"/>
                      <a:pt x="0" y="24"/>
                      <a:pt x="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7" name="chenying0907 71"/>
              <p:cNvSpPr/>
              <p:nvPr/>
            </p:nvSpPr>
            <p:spPr bwMode="auto">
              <a:xfrm>
                <a:off x="4638676" y="1628776"/>
                <a:ext cx="109538" cy="19050"/>
              </a:xfrm>
              <a:custGeom>
                <a:avLst/>
                <a:gdLst>
                  <a:gd name="T0" fmla="*/ 4 w 105"/>
                  <a:gd name="T1" fmla="*/ 13 h 18"/>
                  <a:gd name="T2" fmla="*/ 99 w 105"/>
                  <a:gd name="T3" fmla="*/ 14 h 18"/>
                  <a:gd name="T4" fmla="*/ 99 w 105"/>
                  <a:gd name="T5" fmla="*/ 4 h 18"/>
                  <a:gd name="T6" fmla="*/ 4 w 105"/>
                  <a:gd name="T7" fmla="*/ 5 h 18"/>
                  <a:gd name="T8" fmla="*/ 4 w 105"/>
                  <a:gd name="T9" fmla="*/ 13 h 18"/>
                </a:gdLst>
                <a:ahLst/>
                <a:cxnLst>
                  <a:cxn ang="0">
                    <a:pos x="T0" y="T1"/>
                  </a:cxn>
                  <a:cxn ang="0">
                    <a:pos x="T2" y="T3"/>
                  </a:cxn>
                  <a:cxn ang="0">
                    <a:pos x="T4" y="T5"/>
                  </a:cxn>
                  <a:cxn ang="0">
                    <a:pos x="T6" y="T7"/>
                  </a:cxn>
                  <a:cxn ang="0">
                    <a:pos x="T8" y="T9"/>
                  </a:cxn>
                </a:cxnLst>
                <a:rect l="0" t="0" r="r" b="b"/>
                <a:pathLst>
                  <a:path w="105" h="18">
                    <a:moveTo>
                      <a:pt x="4" y="13"/>
                    </a:moveTo>
                    <a:cubicBezTo>
                      <a:pt x="35" y="18"/>
                      <a:pt x="67" y="17"/>
                      <a:pt x="99" y="14"/>
                    </a:cubicBezTo>
                    <a:cubicBezTo>
                      <a:pt x="105" y="13"/>
                      <a:pt x="105" y="5"/>
                      <a:pt x="99" y="4"/>
                    </a:cubicBezTo>
                    <a:cubicBezTo>
                      <a:pt x="67" y="1"/>
                      <a:pt x="35" y="0"/>
                      <a:pt x="4" y="5"/>
                    </a:cubicBezTo>
                    <a:cubicBezTo>
                      <a:pt x="0" y="6"/>
                      <a:pt x="0" y="12"/>
                      <a:pt x="4" y="1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8" name="chenying0907 72"/>
              <p:cNvSpPr/>
              <p:nvPr/>
            </p:nvSpPr>
            <p:spPr bwMode="auto">
              <a:xfrm>
                <a:off x="4851401" y="1643063"/>
                <a:ext cx="68263" cy="30163"/>
              </a:xfrm>
              <a:custGeom>
                <a:avLst/>
                <a:gdLst>
                  <a:gd name="T0" fmla="*/ 2 w 65"/>
                  <a:gd name="T1" fmla="*/ 4 h 28"/>
                  <a:gd name="T2" fmla="*/ 59 w 65"/>
                  <a:gd name="T3" fmla="*/ 27 h 28"/>
                  <a:gd name="T4" fmla="*/ 62 w 65"/>
                  <a:gd name="T5" fmla="*/ 21 h 28"/>
                  <a:gd name="T6" fmla="*/ 3 w 65"/>
                  <a:gd name="T7" fmla="*/ 1 h 28"/>
                  <a:gd name="T8" fmla="*/ 2 w 65"/>
                  <a:gd name="T9" fmla="*/ 4 h 28"/>
                </a:gdLst>
                <a:ahLst/>
                <a:cxnLst>
                  <a:cxn ang="0">
                    <a:pos x="T0" y="T1"/>
                  </a:cxn>
                  <a:cxn ang="0">
                    <a:pos x="T2" y="T3"/>
                  </a:cxn>
                  <a:cxn ang="0">
                    <a:pos x="T4" y="T5"/>
                  </a:cxn>
                  <a:cxn ang="0">
                    <a:pos x="T6" y="T7"/>
                  </a:cxn>
                  <a:cxn ang="0">
                    <a:pos x="T8" y="T9"/>
                  </a:cxn>
                </a:cxnLst>
                <a:rect l="0" t="0" r="r" b="b"/>
                <a:pathLst>
                  <a:path w="65" h="28">
                    <a:moveTo>
                      <a:pt x="2" y="4"/>
                    </a:moveTo>
                    <a:cubicBezTo>
                      <a:pt x="19" y="15"/>
                      <a:pt x="40" y="22"/>
                      <a:pt x="59" y="27"/>
                    </a:cubicBezTo>
                    <a:cubicBezTo>
                      <a:pt x="63" y="28"/>
                      <a:pt x="65" y="23"/>
                      <a:pt x="62" y="21"/>
                    </a:cubicBezTo>
                    <a:cubicBezTo>
                      <a:pt x="43" y="13"/>
                      <a:pt x="23" y="7"/>
                      <a:pt x="3" y="1"/>
                    </a:cubicBezTo>
                    <a:cubicBezTo>
                      <a:pt x="1" y="0"/>
                      <a:pt x="0"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59" name="chenying0907 73"/>
              <p:cNvSpPr/>
              <p:nvPr/>
            </p:nvSpPr>
            <p:spPr bwMode="auto">
              <a:xfrm>
                <a:off x="5008563" y="1714501"/>
                <a:ext cx="71438" cy="33338"/>
              </a:xfrm>
              <a:custGeom>
                <a:avLst/>
                <a:gdLst>
                  <a:gd name="T0" fmla="*/ 3 w 68"/>
                  <a:gd name="T1" fmla="*/ 10 h 33"/>
                  <a:gd name="T2" fmla="*/ 59 w 68"/>
                  <a:gd name="T3" fmla="*/ 32 h 33"/>
                  <a:gd name="T4" fmla="*/ 64 w 68"/>
                  <a:gd name="T5" fmla="*/ 26 h 33"/>
                  <a:gd name="T6" fmla="*/ 3 w 68"/>
                  <a:gd name="T7" fmla="*/ 4 h 33"/>
                  <a:gd name="T8" fmla="*/ 3 w 68"/>
                  <a:gd name="T9" fmla="*/ 10 h 33"/>
                </a:gdLst>
                <a:ahLst/>
                <a:cxnLst>
                  <a:cxn ang="0">
                    <a:pos x="T0" y="T1"/>
                  </a:cxn>
                  <a:cxn ang="0">
                    <a:pos x="T2" y="T3"/>
                  </a:cxn>
                  <a:cxn ang="0">
                    <a:pos x="T4" y="T5"/>
                  </a:cxn>
                  <a:cxn ang="0">
                    <a:pos x="T6" y="T7"/>
                  </a:cxn>
                  <a:cxn ang="0">
                    <a:pos x="T8" y="T9"/>
                  </a:cxn>
                </a:cxnLst>
                <a:rect l="0" t="0" r="r" b="b"/>
                <a:pathLst>
                  <a:path w="68" h="33">
                    <a:moveTo>
                      <a:pt x="3" y="10"/>
                    </a:moveTo>
                    <a:cubicBezTo>
                      <a:pt x="23" y="14"/>
                      <a:pt x="40" y="23"/>
                      <a:pt x="59" y="32"/>
                    </a:cubicBezTo>
                    <a:cubicBezTo>
                      <a:pt x="63" y="33"/>
                      <a:pt x="68" y="29"/>
                      <a:pt x="64" y="26"/>
                    </a:cubicBezTo>
                    <a:cubicBezTo>
                      <a:pt x="46" y="10"/>
                      <a:pt x="26" y="0"/>
                      <a:pt x="3" y="4"/>
                    </a:cubicBezTo>
                    <a:cubicBezTo>
                      <a:pt x="0" y="4"/>
                      <a:pt x="0" y="9"/>
                      <a:pt x="3"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0" name="chenying0907 74"/>
              <p:cNvSpPr/>
              <p:nvPr/>
            </p:nvSpPr>
            <p:spPr bwMode="auto">
              <a:xfrm>
                <a:off x="5149851" y="1784351"/>
                <a:ext cx="85725" cy="47625"/>
              </a:xfrm>
              <a:custGeom>
                <a:avLst/>
                <a:gdLst>
                  <a:gd name="T0" fmla="*/ 3 w 83"/>
                  <a:gd name="T1" fmla="*/ 6 h 46"/>
                  <a:gd name="T2" fmla="*/ 75 w 83"/>
                  <a:gd name="T3" fmla="*/ 43 h 46"/>
                  <a:gd name="T4" fmla="*/ 79 w 83"/>
                  <a:gd name="T5" fmla="*/ 37 h 46"/>
                  <a:gd name="T6" fmla="*/ 6 w 83"/>
                  <a:gd name="T7" fmla="*/ 1 h 46"/>
                  <a:gd name="T8" fmla="*/ 3 w 83"/>
                  <a:gd name="T9" fmla="*/ 6 h 46"/>
                </a:gdLst>
                <a:ahLst/>
                <a:cxnLst>
                  <a:cxn ang="0">
                    <a:pos x="T0" y="T1"/>
                  </a:cxn>
                  <a:cxn ang="0">
                    <a:pos x="T2" y="T3"/>
                  </a:cxn>
                  <a:cxn ang="0">
                    <a:pos x="T4" y="T5"/>
                  </a:cxn>
                  <a:cxn ang="0">
                    <a:pos x="T6" y="T7"/>
                  </a:cxn>
                  <a:cxn ang="0">
                    <a:pos x="T8" y="T9"/>
                  </a:cxn>
                </a:cxnLst>
                <a:rect l="0" t="0" r="r" b="b"/>
                <a:pathLst>
                  <a:path w="83" h="46">
                    <a:moveTo>
                      <a:pt x="3" y="6"/>
                    </a:moveTo>
                    <a:cubicBezTo>
                      <a:pt x="28" y="18"/>
                      <a:pt x="52" y="30"/>
                      <a:pt x="75" y="43"/>
                    </a:cubicBezTo>
                    <a:cubicBezTo>
                      <a:pt x="80" y="46"/>
                      <a:pt x="83" y="39"/>
                      <a:pt x="79" y="37"/>
                    </a:cubicBezTo>
                    <a:cubicBezTo>
                      <a:pt x="57" y="20"/>
                      <a:pt x="33" y="7"/>
                      <a:pt x="6" y="1"/>
                    </a:cubicBezTo>
                    <a:cubicBezTo>
                      <a:pt x="2" y="0"/>
                      <a:pt x="0" y="5"/>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1" name="chenying0907 75"/>
              <p:cNvSpPr/>
              <p:nvPr/>
            </p:nvSpPr>
            <p:spPr bwMode="auto">
              <a:xfrm>
                <a:off x="5305426" y="1847851"/>
                <a:ext cx="66675" cy="61913"/>
              </a:xfrm>
              <a:custGeom>
                <a:avLst/>
                <a:gdLst>
                  <a:gd name="T0" fmla="*/ 5 w 65"/>
                  <a:gd name="T1" fmla="*/ 12 h 59"/>
                  <a:gd name="T2" fmla="*/ 55 w 65"/>
                  <a:gd name="T3" fmla="*/ 55 h 59"/>
                  <a:gd name="T4" fmla="*/ 62 w 65"/>
                  <a:gd name="T5" fmla="*/ 49 h 59"/>
                  <a:gd name="T6" fmla="*/ 42 w 65"/>
                  <a:gd name="T7" fmla="*/ 23 h 59"/>
                  <a:gd name="T8" fmla="*/ 10 w 65"/>
                  <a:gd name="T9" fmla="*/ 4 h 59"/>
                  <a:gd name="T10" fmla="*/ 5 w 65"/>
                  <a:gd name="T11" fmla="*/ 12 h 59"/>
                </a:gdLst>
                <a:ahLst/>
                <a:cxnLst>
                  <a:cxn ang="0">
                    <a:pos x="T0" y="T1"/>
                  </a:cxn>
                  <a:cxn ang="0">
                    <a:pos x="T2" y="T3"/>
                  </a:cxn>
                  <a:cxn ang="0">
                    <a:pos x="T4" y="T5"/>
                  </a:cxn>
                  <a:cxn ang="0">
                    <a:pos x="T6" y="T7"/>
                  </a:cxn>
                  <a:cxn ang="0">
                    <a:pos x="T8" y="T9"/>
                  </a:cxn>
                  <a:cxn ang="0">
                    <a:pos x="T10" y="T11"/>
                  </a:cxn>
                </a:cxnLst>
                <a:rect l="0" t="0" r="r" b="b"/>
                <a:pathLst>
                  <a:path w="65" h="59">
                    <a:moveTo>
                      <a:pt x="5" y="12"/>
                    </a:moveTo>
                    <a:cubicBezTo>
                      <a:pt x="23" y="25"/>
                      <a:pt x="42" y="37"/>
                      <a:pt x="55" y="55"/>
                    </a:cubicBezTo>
                    <a:cubicBezTo>
                      <a:pt x="58" y="59"/>
                      <a:pt x="65" y="53"/>
                      <a:pt x="62" y="49"/>
                    </a:cubicBezTo>
                    <a:cubicBezTo>
                      <a:pt x="57" y="39"/>
                      <a:pt x="50" y="31"/>
                      <a:pt x="42" y="23"/>
                    </a:cubicBezTo>
                    <a:cubicBezTo>
                      <a:pt x="33" y="15"/>
                      <a:pt x="21" y="9"/>
                      <a:pt x="10" y="4"/>
                    </a:cubicBezTo>
                    <a:cubicBezTo>
                      <a:pt x="5" y="0"/>
                      <a:pt x="0" y="8"/>
                      <a:pt x="5"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2" name="chenying0907 76"/>
              <p:cNvSpPr/>
              <p:nvPr/>
            </p:nvSpPr>
            <p:spPr bwMode="auto">
              <a:xfrm>
                <a:off x="5380038" y="1765301"/>
                <a:ext cx="30163" cy="87313"/>
              </a:xfrm>
              <a:custGeom>
                <a:avLst/>
                <a:gdLst>
                  <a:gd name="T0" fmla="*/ 10 w 28"/>
                  <a:gd name="T1" fmla="*/ 81 h 84"/>
                  <a:gd name="T2" fmla="*/ 27 w 28"/>
                  <a:gd name="T3" fmla="*/ 10 h 84"/>
                  <a:gd name="T4" fmla="*/ 17 w 28"/>
                  <a:gd name="T5" fmla="*/ 6 h 84"/>
                  <a:gd name="T6" fmla="*/ 4 w 28"/>
                  <a:gd name="T7" fmla="*/ 81 h 84"/>
                  <a:gd name="T8" fmla="*/ 10 w 28"/>
                  <a:gd name="T9" fmla="*/ 81 h 84"/>
                </a:gdLst>
                <a:ahLst/>
                <a:cxnLst>
                  <a:cxn ang="0">
                    <a:pos x="T0" y="T1"/>
                  </a:cxn>
                  <a:cxn ang="0">
                    <a:pos x="T2" y="T3"/>
                  </a:cxn>
                  <a:cxn ang="0">
                    <a:pos x="T4" y="T5"/>
                  </a:cxn>
                  <a:cxn ang="0">
                    <a:pos x="T6" y="T7"/>
                  </a:cxn>
                  <a:cxn ang="0">
                    <a:pos x="T8" y="T9"/>
                  </a:cxn>
                </a:cxnLst>
                <a:rect l="0" t="0" r="r" b="b"/>
                <a:pathLst>
                  <a:path w="28" h="84">
                    <a:moveTo>
                      <a:pt x="10" y="81"/>
                    </a:moveTo>
                    <a:cubicBezTo>
                      <a:pt x="15" y="57"/>
                      <a:pt x="22" y="34"/>
                      <a:pt x="27" y="10"/>
                    </a:cubicBezTo>
                    <a:cubicBezTo>
                      <a:pt x="28" y="4"/>
                      <a:pt x="20" y="0"/>
                      <a:pt x="17" y="6"/>
                    </a:cubicBezTo>
                    <a:cubicBezTo>
                      <a:pt x="6" y="29"/>
                      <a:pt x="0" y="55"/>
                      <a:pt x="4" y="81"/>
                    </a:cubicBezTo>
                    <a:cubicBezTo>
                      <a:pt x="5" y="84"/>
                      <a:pt x="10" y="84"/>
                      <a:pt x="10" y="8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3" name="chenying0907 77"/>
              <p:cNvSpPr/>
              <p:nvPr/>
            </p:nvSpPr>
            <p:spPr bwMode="auto">
              <a:xfrm>
                <a:off x="5451476" y="1625601"/>
                <a:ext cx="39688" cy="63500"/>
              </a:xfrm>
              <a:custGeom>
                <a:avLst/>
                <a:gdLst>
                  <a:gd name="T0" fmla="*/ 7 w 39"/>
                  <a:gd name="T1" fmla="*/ 58 h 62"/>
                  <a:gd name="T2" fmla="*/ 38 w 39"/>
                  <a:gd name="T3" fmla="*/ 7 h 62"/>
                  <a:gd name="T4" fmla="*/ 29 w 39"/>
                  <a:gd name="T5" fmla="*/ 3 h 62"/>
                  <a:gd name="T6" fmla="*/ 13 w 39"/>
                  <a:gd name="T7" fmla="*/ 25 h 62"/>
                  <a:gd name="T8" fmla="*/ 1 w 39"/>
                  <a:gd name="T9" fmla="*/ 56 h 62"/>
                  <a:gd name="T10" fmla="*/ 7 w 39"/>
                  <a:gd name="T11" fmla="*/ 58 h 62"/>
                </a:gdLst>
                <a:ahLst/>
                <a:cxnLst>
                  <a:cxn ang="0">
                    <a:pos x="T0" y="T1"/>
                  </a:cxn>
                  <a:cxn ang="0">
                    <a:pos x="T2" y="T3"/>
                  </a:cxn>
                  <a:cxn ang="0">
                    <a:pos x="T4" y="T5"/>
                  </a:cxn>
                  <a:cxn ang="0">
                    <a:pos x="T6" y="T7"/>
                  </a:cxn>
                  <a:cxn ang="0">
                    <a:pos x="T8" y="T9"/>
                  </a:cxn>
                  <a:cxn ang="0">
                    <a:pos x="T10" y="T11"/>
                  </a:cxn>
                </a:cxnLst>
                <a:rect l="0" t="0" r="r" b="b"/>
                <a:pathLst>
                  <a:path w="39" h="62">
                    <a:moveTo>
                      <a:pt x="7" y="58"/>
                    </a:moveTo>
                    <a:cubicBezTo>
                      <a:pt x="16" y="40"/>
                      <a:pt x="30" y="26"/>
                      <a:pt x="38" y="7"/>
                    </a:cubicBezTo>
                    <a:cubicBezTo>
                      <a:pt x="39" y="2"/>
                      <a:pt x="32" y="0"/>
                      <a:pt x="29" y="3"/>
                    </a:cubicBezTo>
                    <a:cubicBezTo>
                      <a:pt x="24" y="11"/>
                      <a:pt x="18" y="18"/>
                      <a:pt x="13" y="25"/>
                    </a:cubicBezTo>
                    <a:cubicBezTo>
                      <a:pt x="7" y="34"/>
                      <a:pt x="4" y="45"/>
                      <a:pt x="1" y="56"/>
                    </a:cubicBezTo>
                    <a:cubicBezTo>
                      <a:pt x="0" y="59"/>
                      <a:pt x="5" y="62"/>
                      <a:pt x="7"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4" name="chenying0907 78"/>
              <p:cNvSpPr/>
              <p:nvPr/>
            </p:nvSpPr>
            <p:spPr bwMode="auto">
              <a:xfrm>
                <a:off x="5540376" y="1449388"/>
                <a:ext cx="88900" cy="112713"/>
              </a:xfrm>
              <a:custGeom>
                <a:avLst/>
                <a:gdLst>
                  <a:gd name="T0" fmla="*/ 8 w 86"/>
                  <a:gd name="T1" fmla="*/ 105 h 108"/>
                  <a:gd name="T2" fmla="*/ 81 w 86"/>
                  <a:gd name="T3" fmla="*/ 12 h 108"/>
                  <a:gd name="T4" fmla="*/ 75 w 86"/>
                  <a:gd name="T5" fmla="*/ 4 h 108"/>
                  <a:gd name="T6" fmla="*/ 1 w 86"/>
                  <a:gd name="T7" fmla="*/ 101 h 108"/>
                  <a:gd name="T8" fmla="*/ 8 w 86"/>
                  <a:gd name="T9" fmla="*/ 105 h 108"/>
                </a:gdLst>
                <a:ahLst/>
                <a:cxnLst>
                  <a:cxn ang="0">
                    <a:pos x="T0" y="T1"/>
                  </a:cxn>
                  <a:cxn ang="0">
                    <a:pos x="T2" y="T3"/>
                  </a:cxn>
                  <a:cxn ang="0">
                    <a:pos x="T4" y="T5"/>
                  </a:cxn>
                  <a:cxn ang="0">
                    <a:pos x="T6" y="T7"/>
                  </a:cxn>
                  <a:cxn ang="0">
                    <a:pos x="T8" y="T9"/>
                  </a:cxn>
                </a:cxnLst>
                <a:rect l="0" t="0" r="r" b="b"/>
                <a:pathLst>
                  <a:path w="86" h="108">
                    <a:moveTo>
                      <a:pt x="8" y="105"/>
                    </a:moveTo>
                    <a:cubicBezTo>
                      <a:pt x="34" y="75"/>
                      <a:pt x="53" y="41"/>
                      <a:pt x="81" y="12"/>
                    </a:cubicBezTo>
                    <a:cubicBezTo>
                      <a:pt x="86" y="8"/>
                      <a:pt x="80" y="0"/>
                      <a:pt x="75" y="4"/>
                    </a:cubicBezTo>
                    <a:cubicBezTo>
                      <a:pt x="39" y="25"/>
                      <a:pt x="16" y="63"/>
                      <a:pt x="1" y="101"/>
                    </a:cubicBezTo>
                    <a:cubicBezTo>
                      <a:pt x="0" y="105"/>
                      <a:pt x="5" y="108"/>
                      <a:pt x="8" y="10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5" name="chenying0907 79"/>
              <p:cNvSpPr/>
              <p:nvPr/>
            </p:nvSpPr>
            <p:spPr bwMode="auto">
              <a:xfrm>
                <a:off x="5675313" y="1382713"/>
                <a:ext cx="88900" cy="57150"/>
              </a:xfrm>
              <a:custGeom>
                <a:avLst/>
                <a:gdLst>
                  <a:gd name="T0" fmla="*/ 7 w 86"/>
                  <a:gd name="T1" fmla="*/ 53 h 55"/>
                  <a:gd name="T2" fmla="*/ 79 w 86"/>
                  <a:gd name="T3" fmla="*/ 13 h 55"/>
                  <a:gd name="T4" fmla="*/ 76 w 86"/>
                  <a:gd name="T5" fmla="*/ 2 h 55"/>
                  <a:gd name="T6" fmla="*/ 3 w 86"/>
                  <a:gd name="T7" fmla="*/ 48 h 55"/>
                  <a:gd name="T8" fmla="*/ 7 w 86"/>
                  <a:gd name="T9" fmla="*/ 53 h 55"/>
                </a:gdLst>
                <a:ahLst/>
                <a:cxnLst>
                  <a:cxn ang="0">
                    <a:pos x="T0" y="T1"/>
                  </a:cxn>
                  <a:cxn ang="0">
                    <a:pos x="T2" y="T3"/>
                  </a:cxn>
                  <a:cxn ang="0">
                    <a:pos x="T4" y="T5"/>
                  </a:cxn>
                  <a:cxn ang="0">
                    <a:pos x="T6" y="T7"/>
                  </a:cxn>
                  <a:cxn ang="0">
                    <a:pos x="T8" y="T9"/>
                  </a:cxn>
                </a:cxnLst>
                <a:rect l="0" t="0" r="r" b="b"/>
                <a:pathLst>
                  <a:path w="86" h="55">
                    <a:moveTo>
                      <a:pt x="7" y="53"/>
                    </a:moveTo>
                    <a:cubicBezTo>
                      <a:pt x="32" y="43"/>
                      <a:pt x="53" y="22"/>
                      <a:pt x="79" y="13"/>
                    </a:cubicBezTo>
                    <a:cubicBezTo>
                      <a:pt x="86" y="10"/>
                      <a:pt x="83" y="0"/>
                      <a:pt x="76" y="2"/>
                    </a:cubicBezTo>
                    <a:cubicBezTo>
                      <a:pt x="46" y="8"/>
                      <a:pt x="24" y="27"/>
                      <a:pt x="3" y="48"/>
                    </a:cubicBezTo>
                    <a:cubicBezTo>
                      <a:pt x="0" y="51"/>
                      <a:pt x="4" y="55"/>
                      <a:pt x="7" y="5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6" name="chenying0907 80"/>
              <p:cNvSpPr/>
              <p:nvPr/>
            </p:nvSpPr>
            <p:spPr bwMode="auto">
              <a:xfrm>
                <a:off x="5895976" y="1304926"/>
                <a:ext cx="57150" cy="28575"/>
              </a:xfrm>
              <a:custGeom>
                <a:avLst/>
                <a:gdLst>
                  <a:gd name="T0" fmla="*/ 4 w 56"/>
                  <a:gd name="T1" fmla="*/ 26 h 27"/>
                  <a:gd name="T2" fmla="*/ 55 w 56"/>
                  <a:gd name="T3" fmla="*/ 4 h 27"/>
                  <a:gd name="T4" fmla="*/ 53 w 56"/>
                  <a:gd name="T5" fmla="*/ 2 h 27"/>
                  <a:gd name="T6" fmla="*/ 2 w 56"/>
                  <a:gd name="T7" fmla="*/ 23 h 27"/>
                  <a:gd name="T8" fmla="*/ 4 w 56"/>
                  <a:gd name="T9" fmla="*/ 26 h 27"/>
                </a:gdLst>
                <a:ahLst/>
                <a:cxnLst>
                  <a:cxn ang="0">
                    <a:pos x="T0" y="T1"/>
                  </a:cxn>
                  <a:cxn ang="0">
                    <a:pos x="T2" y="T3"/>
                  </a:cxn>
                  <a:cxn ang="0">
                    <a:pos x="T4" y="T5"/>
                  </a:cxn>
                  <a:cxn ang="0">
                    <a:pos x="T6" y="T7"/>
                  </a:cxn>
                  <a:cxn ang="0">
                    <a:pos x="T8" y="T9"/>
                  </a:cxn>
                </a:cxnLst>
                <a:rect l="0" t="0" r="r" b="b"/>
                <a:pathLst>
                  <a:path w="56" h="27">
                    <a:moveTo>
                      <a:pt x="4" y="26"/>
                    </a:moveTo>
                    <a:cubicBezTo>
                      <a:pt x="21" y="18"/>
                      <a:pt x="41" y="18"/>
                      <a:pt x="55" y="4"/>
                    </a:cubicBezTo>
                    <a:cubicBezTo>
                      <a:pt x="56" y="2"/>
                      <a:pt x="54" y="0"/>
                      <a:pt x="53" y="2"/>
                    </a:cubicBezTo>
                    <a:cubicBezTo>
                      <a:pt x="38" y="14"/>
                      <a:pt x="19" y="15"/>
                      <a:pt x="2" y="23"/>
                    </a:cubicBezTo>
                    <a:cubicBezTo>
                      <a:pt x="0" y="24"/>
                      <a:pt x="2" y="27"/>
                      <a:pt x="4" y="2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7" name="chenying0907 81"/>
              <p:cNvSpPr/>
              <p:nvPr/>
            </p:nvSpPr>
            <p:spPr bwMode="auto">
              <a:xfrm>
                <a:off x="6059488" y="1247776"/>
                <a:ext cx="125413" cy="41275"/>
              </a:xfrm>
              <a:custGeom>
                <a:avLst/>
                <a:gdLst>
                  <a:gd name="T0" fmla="*/ 6 w 121"/>
                  <a:gd name="T1" fmla="*/ 38 h 40"/>
                  <a:gd name="T2" fmla="*/ 115 w 121"/>
                  <a:gd name="T3" fmla="*/ 13 h 40"/>
                  <a:gd name="T4" fmla="*/ 113 w 121"/>
                  <a:gd name="T5" fmla="*/ 0 h 40"/>
                  <a:gd name="T6" fmla="*/ 3 w 121"/>
                  <a:gd name="T7" fmla="*/ 34 h 40"/>
                  <a:gd name="T8" fmla="*/ 6 w 121"/>
                  <a:gd name="T9" fmla="*/ 38 h 40"/>
                </a:gdLst>
                <a:ahLst/>
                <a:cxnLst>
                  <a:cxn ang="0">
                    <a:pos x="T0" y="T1"/>
                  </a:cxn>
                  <a:cxn ang="0">
                    <a:pos x="T2" y="T3"/>
                  </a:cxn>
                  <a:cxn ang="0">
                    <a:pos x="T4" y="T5"/>
                  </a:cxn>
                  <a:cxn ang="0">
                    <a:pos x="T6" y="T7"/>
                  </a:cxn>
                  <a:cxn ang="0">
                    <a:pos x="T8" y="T9"/>
                  </a:cxn>
                </a:cxnLst>
                <a:rect l="0" t="0" r="r" b="b"/>
                <a:pathLst>
                  <a:path w="121" h="40">
                    <a:moveTo>
                      <a:pt x="6" y="38"/>
                    </a:moveTo>
                    <a:cubicBezTo>
                      <a:pt x="40" y="23"/>
                      <a:pt x="79" y="25"/>
                      <a:pt x="115" y="13"/>
                    </a:cubicBezTo>
                    <a:cubicBezTo>
                      <a:pt x="121" y="11"/>
                      <a:pt x="121" y="0"/>
                      <a:pt x="113" y="0"/>
                    </a:cubicBezTo>
                    <a:cubicBezTo>
                      <a:pt x="72" y="3"/>
                      <a:pt x="37" y="11"/>
                      <a:pt x="3" y="34"/>
                    </a:cubicBezTo>
                    <a:cubicBezTo>
                      <a:pt x="0" y="36"/>
                      <a:pt x="3" y="40"/>
                      <a:pt x="6"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8" name="chenying0907 82"/>
              <p:cNvSpPr/>
              <p:nvPr/>
            </p:nvSpPr>
            <p:spPr bwMode="auto">
              <a:xfrm>
                <a:off x="6319838" y="1225551"/>
                <a:ext cx="120650" cy="30163"/>
              </a:xfrm>
              <a:custGeom>
                <a:avLst/>
                <a:gdLst>
                  <a:gd name="T0" fmla="*/ 8 w 116"/>
                  <a:gd name="T1" fmla="*/ 25 h 28"/>
                  <a:gd name="T2" fmla="*/ 108 w 116"/>
                  <a:gd name="T3" fmla="*/ 27 h 28"/>
                  <a:gd name="T4" fmla="*/ 110 w 116"/>
                  <a:gd name="T5" fmla="*/ 15 h 28"/>
                  <a:gd name="T6" fmla="*/ 4 w 116"/>
                  <a:gd name="T7" fmla="*/ 17 h 28"/>
                  <a:gd name="T8" fmla="*/ 8 w 116"/>
                  <a:gd name="T9" fmla="*/ 25 h 28"/>
                </a:gdLst>
                <a:ahLst/>
                <a:cxnLst>
                  <a:cxn ang="0">
                    <a:pos x="T0" y="T1"/>
                  </a:cxn>
                  <a:cxn ang="0">
                    <a:pos x="T2" y="T3"/>
                  </a:cxn>
                  <a:cxn ang="0">
                    <a:pos x="T4" y="T5"/>
                  </a:cxn>
                  <a:cxn ang="0">
                    <a:pos x="T6" y="T7"/>
                  </a:cxn>
                  <a:cxn ang="0">
                    <a:pos x="T8" y="T9"/>
                  </a:cxn>
                </a:cxnLst>
                <a:rect l="0" t="0" r="r" b="b"/>
                <a:pathLst>
                  <a:path w="116" h="28">
                    <a:moveTo>
                      <a:pt x="8" y="25"/>
                    </a:moveTo>
                    <a:cubicBezTo>
                      <a:pt x="41" y="16"/>
                      <a:pt x="74" y="23"/>
                      <a:pt x="108" y="27"/>
                    </a:cubicBezTo>
                    <a:cubicBezTo>
                      <a:pt x="115" y="28"/>
                      <a:pt x="116" y="17"/>
                      <a:pt x="110" y="15"/>
                    </a:cubicBezTo>
                    <a:cubicBezTo>
                      <a:pt x="72" y="4"/>
                      <a:pt x="40" y="0"/>
                      <a:pt x="4" y="17"/>
                    </a:cubicBezTo>
                    <a:cubicBezTo>
                      <a:pt x="0" y="19"/>
                      <a:pt x="3" y="26"/>
                      <a:pt x="8"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69" name="chenying0907 83"/>
              <p:cNvSpPr/>
              <p:nvPr/>
            </p:nvSpPr>
            <p:spPr bwMode="auto">
              <a:xfrm>
                <a:off x="6584951" y="1241426"/>
                <a:ext cx="109538" cy="19050"/>
              </a:xfrm>
              <a:custGeom>
                <a:avLst/>
                <a:gdLst>
                  <a:gd name="T0" fmla="*/ 5 w 106"/>
                  <a:gd name="T1" fmla="*/ 9 h 18"/>
                  <a:gd name="T2" fmla="*/ 98 w 106"/>
                  <a:gd name="T3" fmla="*/ 17 h 18"/>
                  <a:gd name="T4" fmla="*/ 100 w 106"/>
                  <a:gd name="T5" fmla="*/ 9 h 18"/>
                  <a:gd name="T6" fmla="*/ 5 w 106"/>
                  <a:gd name="T7" fmla="*/ 2 h 18"/>
                  <a:gd name="T8" fmla="*/ 5 w 106"/>
                  <a:gd name="T9" fmla="*/ 9 h 18"/>
                </a:gdLst>
                <a:ahLst/>
                <a:cxnLst>
                  <a:cxn ang="0">
                    <a:pos x="T0" y="T1"/>
                  </a:cxn>
                  <a:cxn ang="0">
                    <a:pos x="T2" y="T3"/>
                  </a:cxn>
                  <a:cxn ang="0">
                    <a:pos x="T4" y="T5"/>
                  </a:cxn>
                  <a:cxn ang="0">
                    <a:pos x="T6" y="T7"/>
                  </a:cxn>
                  <a:cxn ang="0">
                    <a:pos x="T8" y="T9"/>
                  </a:cxn>
                </a:cxnLst>
                <a:rect l="0" t="0" r="r" b="b"/>
                <a:pathLst>
                  <a:path w="106" h="18">
                    <a:moveTo>
                      <a:pt x="5" y="9"/>
                    </a:moveTo>
                    <a:cubicBezTo>
                      <a:pt x="35" y="11"/>
                      <a:pt x="68" y="12"/>
                      <a:pt x="98" y="17"/>
                    </a:cubicBezTo>
                    <a:cubicBezTo>
                      <a:pt x="103" y="18"/>
                      <a:pt x="106" y="10"/>
                      <a:pt x="100" y="9"/>
                    </a:cubicBezTo>
                    <a:cubicBezTo>
                      <a:pt x="68" y="0"/>
                      <a:pt x="38" y="1"/>
                      <a:pt x="5" y="2"/>
                    </a:cubicBezTo>
                    <a:cubicBezTo>
                      <a:pt x="0" y="2"/>
                      <a:pt x="0" y="9"/>
                      <a:pt x="5"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0" name="chenying0907 84"/>
              <p:cNvSpPr/>
              <p:nvPr/>
            </p:nvSpPr>
            <p:spPr bwMode="auto">
              <a:xfrm>
                <a:off x="6799263" y="1285876"/>
                <a:ext cx="117475" cy="47625"/>
              </a:xfrm>
              <a:custGeom>
                <a:avLst/>
                <a:gdLst>
                  <a:gd name="T0" fmla="*/ 5 w 112"/>
                  <a:gd name="T1" fmla="*/ 11 h 45"/>
                  <a:gd name="T2" fmla="*/ 100 w 112"/>
                  <a:gd name="T3" fmla="*/ 42 h 45"/>
                  <a:gd name="T4" fmla="*/ 105 w 112"/>
                  <a:gd name="T5" fmla="*/ 29 h 45"/>
                  <a:gd name="T6" fmla="*/ 8 w 112"/>
                  <a:gd name="T7" fmla="*/ 1 h 45"/>
                  <a:gd name="T8" fmla="*/ 5 w 112"/>
                  <a:gd name="T9" fmla="*/ 11 h 45"/>
                </a:gdLst>
                <a:ahLst/>
                <a:cxnLst>
                  <a:cxn ang="0">
                    <a:pos x="T0" y="T1"/>
                  </a:cxn>
                  <a:cxn ang="0">
                    <a:pos x="T2" y="T3"/>
                  </a:cxn>
                  <a:cxn ang="0">
                    <a:pos x="T4" y="T5"/>
                  </a:cxn>
                  <a:cxn ang="0">
                    <a:pos x="T6" y="T7"/>
                  </a:cxn>
                  <a:cxn ang="0">
                    <a:pos x="T8" y="T9"/>
                  </a:cxn>
                </a:cxnLst>
                <a:rect l="0" t="0" r="r" b="b"/>
                <a:pathLst>
                  <a:path w="112" h="45">
                    <a:moveTo>
                      <a:pt x="5" y="11"/>
                    </a:moveTo>
                    <a:cubicBezTo>
                      <a:pt x="35" y="25"/>
                      <a:pt x="69" y="29"/>
                      <a:pt x="100" y="42"/>
                    </a:cubicBezTo>
                    <a:cubicBezTo>
                      <a:pt x="107" y="45"/>
                      <a:pt x="112" y="33"/>
                      <a:pt x="105" y="29"/>
                    </a:cubicBezTo>
                    <a:cubicBezTo>
                      <a:pt x="76" y="13"/>
                      <a:pt x="41" y="2"/>
                      <a:pt x="8" y="1"/>
                    </a:cubicBezTo>
                    <a:cubicBezTo>
                      <a:pt x="2" y="0"/>
                      <a:pt x="0" y="9"/>
                      <a:pt x="5" y="1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1" name="chenying0907 85"/>
              <p:cNvSpPr/>
              <p:nvPr/>
            </p:nvSpPr>
            <p:spPr bwMode="auto">
              <a:xfrm>
                <a:off x="6962776" y="1343026"/>
                <a:ext cx="122238" cy="44450"/>
              </a:xfrm>
              <a:custGeom>
                <a:avLst/>
                <a:gdLst>
                  <a:gd name="T0" fmla="*/ 3 w 117"/>
                  <a:gd name="T1" fmla="*/ 4 h 43"/>
                  <a:gd name="T2" fmla="*/ 109 w 117"/>
                  <a:gd name="T3" fmla="*/ 41 h 43"/>
                  <a:gd name="T4" fmla="*/ 113 w 117"/>
                  <a:gd name="T5" fmla="*/ 35 h 43"/>
                  <a:gd name="T6" fmla="*/ 3 w 117"/>
                  <a:gd name="T7" fmla="*/ 0 h 43"/>
                  <a:gd name="T8" fmla="*/ 3 w 117"/>
                  <a:gd name="T9" fmla="*/ 4 h 43"/>
                </a:gdLst>
                <a:ahLst/>
                <a:cxnLst>
                  <a:cxn ang="0">
                    <a:pos x="T0" y="T1"/>
                  </a:cxn>
                  <a:cxn ang="0">
                    <a:pos x="T2" y="T3"/>
                  </a:cxn>
                  <a:cxn ang="0">
                    <a:pos x="T4" y="T5"/>
                  </a:cxn>
                  <a:cxn ang="0">
                    <a:pos x="T6" y="T7"/>
                  </a:cxn>
                  <a:cxn ang="0">
                    <a:pos x="T8" y="T9"/>
                  </a:cxn>
                </a:cxnLst>
                <a:rect l="0" t="0" r="r" b="b"/>
                <a:pathLst>
                  <a:path w="117" h="43">
                    <a:moveTo>
                      <a:pt x="3" y="4"/>
                    </a:moveTo>
                    <a:cubicBezTo>
                      <a:pt x="41" y="6"/>
                      <a:pt x="76" y="23"/>
                      <a:pt x="109" y="41"/>
                    </a:cubicBezTo>
                    <a:cubicBezTo>
                      <a:pt x="113" y="43"/>
                      <a:pt x="117" y="37"/>
                      <a:pt x="113" y="35"/>
                    </a:cubicBezTo>
                    <a:cubicBezTo>
                      <a:pt x="79" y="13"/>
                      <a:pt x="43" y="0"/>
                      <a:pt x="3" y="0"/>
                    </a:cubicBezTo>
                    <a:cubicBezTo>
                      <a:pt x="0" y="0"/>
                      <a:pt x="0"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2" name="chenying0907 86"/>
              <p:cNvSpPr/>
              <p:nvPr/>
            </p:nvSpPr>
            <p:spPr bwMode="auto">
              <a:xfrm>
                <a:off x="7148513" y="1409701"/>
                <a:ext cx="104775" cy="49213"/>
              </a:xfrm>
              <a:custGeom>
                <a:avLst/>
                <a:gdLst>
                  <a:gd name="T0" fmla="*/ 3 w 101"/>
                  <a:gd name="T1" fmla="*/ 6 h 47"/>
                  <a:gd name="T2" fmla="*/ 90 w 101"/>
                  <a:gd name="T3" fmla="*/ 45 h 47"/>
                  <a:gd name="T4" fmla="*/ 96 w 101"/>
                  <a:gd name="T5" fmla="*/ 35 h 47"/>
                  <a:gd name="T6" fmla="*/ 4 w 101"/>
                  <a:gd name="T7" fmla="*/ 0 h 47"/>
                  <a:gd name="T8" fmla="*/ 3 w 101"/>
                  <a:gd name="T9" fmla="*/ 6 h 47"/>
                </a:gdLst>
                <a:ahLst/>
                <a:cxnLst>
                  <a:cxn ang="0">
                    <a:pos x="T0" y="T1"/>
                  </a:cxn>
                  <a:cxn ang="0">
                    <a:pos x="T2" y="T3"/>
                  </a:cxn>
                  <a:cxn ang="0">
                    <a:pos x="T4" y="T5"/>
                  </a:cxn>
                  <a:cxn ang="0">
                    <a:pos x="T6" y="T7"/>
                  </a:cxn>
                  <a:cxn ang="0">
                    <a:pos x="T8" y="T9"/>
                  </a:cxn>
                </a:cxnLst>
                <a:rect l="0" t="0" r="r" b="b"/>
                <a:pathLst>
                  <a:path w="101" h="47">
                    <a:moveTo>
                      <a:pt x="3" y="6"/>
                    </a:moveTo>
                    <a:cubicBezTo>
                      <a:pt x="31" y="18"/>
                      <a:pt x="59" y="37"/>
                      <a:pt x="90" y="45"/>
                    </a:cubicBezTo>
                    <a:cubicBezTo>
                      <a:pt x="95" y="47"/>
                      <a:pt x="101" y="39"/>
                      <a:pt x="96" y="35"/>
                    </a:cubicBezTo>
                    <a:cubicBezTo>
                      <a:pt x="70" y="15"/>
                      <a:pt x="36" y="3"/>
                      <a:pt x="4" y="0"/>
                    </a:cubicBezTo>
                    <a:cubicBezTo>
                      <a:pt x="1" y="0"/>
                      <a:pt x="0" y="4"/>
                      <a:pt x="3"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3" name="chenying0907 87"/>
              <p:cNvSpPr/>
              <p:nvPr/>
            </p:nvSpPr>
            <p:spPr bwMode="auto">
              <a:xfrm>
                <a:off x="7273926" y="1504951"/>
                <a:ext cx="114300" cy="74613"/>
              </a:xfrm>
              <a:custGeom>
                <a:avLst/>
                <a:gdLst>
                  <a:gd name="T0" fmla="*/ 6 w 110"/>
                  <a:gd name="T1" fmla="*/ 10 h 71"/>
                  <a:gd name="T2" fmla="*/ 55 w 110"/>
                  <a:gd name="T3" fmla="*/ 40 h 71"/>
                  <a:gd name="T4" fmla="*/ 99 w 110"/>
                  <a:gd name="T5" fmla="*/ 67 h 71"/>
                  <a:gd name="T6" fmla="*/ 104 w 110"/>
                  <a:gd name="T7" fmla="*/ 58 h 71"/>
                  <a:gd name="T8" fmla="*/ 9 w 110"/>
                  <a:gd name="T9" fmla="*/ 0 h 71"/>
                  <a:gd name="T10" fmla="*/ 6 w 110"/>
                  <a:gd name="T11" fmla="*/ 10 h 71"/>
                </a:gdLst>
                <a:ahLst/>
                <a:cxnLst>
                  <a:cxn ang="0">
                    <a:pos x="T0" y="T1"/>
                  </a:cxn>
                  <a:cxn ang="0">
                    <a:pos x="T2" y="T3"/>
                  </a:cxn>
                  <a:cxn ang="0">
                    <a:pos x="T4" y="T5"/>
                  </a:cxn>
                  <a:cxn ang="0">
                    <a:pos x="T6" y="T7"/>
                  </a:cxn>
                  <a:cxn ang="0">
                    <a:pos x="T8" y="T9"/>
                  </a:cxn>
                  <a:cxn ang="0">
                    <a:pos x="T10" y="T11"/>
                  </a:cxn>
                </a:cxnLst>
                <a:rect l="0" t="0" r="r" b="b"/>
                <a:pathLst>
                  <a:path w="110" h="71">
                    <a:moveTo>
                      <a:pt x="6" y="10"/>
                    </a:moveTo>
                    <a:cubicBezTo>
                      <a:pt x="24" y="16"/>
                      <a:pt x="41" y="28"/>
                      <a:pt x="55" y="40"/>
                    </a:cubicBezTo>
                    <a:cubicBezTo>
                      <a:pt x="69" y="51"/>
                      <a:pt x="83" y="59"/>
                      <a:pt x="99" y="67"/>
                    </a:cubicBezTo>
                    <a:cubicBezTo>
                      <a:pt x="105" y="71"/>
                      <a:pt x="110" y="62"/>
                      <a:pt x="104" y="58"/>
                    </a:cubicBezTo>
                    <a:cubicBezTo>
                      <a:pt x="73" y="35"/>
                      <a:pt x="49" y="6"/>
                      <a:pt x="9" y="0"/>
                    </a:cubicBezTo>
                    <a:cubicBezTo>
                      <a:pt x="3" y="0"/>
                      <a:pt x="0" y="8"/>
                      <a:pt x="6"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4" name="chenying0907 88"/>
              <p:cNvSpPr/>
              <p:nvPr/>
            </p:nvSpPr>
            <p:spPr bwMode="auto">
              <a:xfrm>
                <a:off x="7424738" y="1631951"/>
                <a:ext cx="88900" cy="96838"/>
              </a:xfrm>
              <a:custGeom>
                <a:avLst/>
                <a:gdLst>
                  <a:gd name="T0" fmla="*/ 3 w 85"/>
                  <a:gd name="T1" fmla="*/ 9 h 93"/>
                  <a:gd name="T2" fmla="*/ 75 w 85"/>
                  <a:gd name="T3" fmla="*/ 89 h 93"/>
                  <a:gd name="T4" fmla="*/ 83 w 85"/>
                  <a:gd name="T5" fmla="*/ 83 h 93"/>
                  <a:gd name="T6" fmla="*/ 8 w 85"/>
                  <a:gd name="T7" fmla="*/ 2 h 93"/>
                  <a:gd name="T8" fmla="*/ 3 w 85"/>
                  <a:gd name="T9" fmla="*/ 9 h 93"/>
                </a:gdLst>
                <a:ahLst/>
                <a:cxnLst>
                  <a:cxn ang="0">
                    <a:pos x="T0" y="T1"/>
                  </a:cxn>
                  <a:cxn ang="0">
                    <a:pos x="T2" y="T3"/>
                  </a:cxn>
                  <a:cxn ang="0">
                    <a:pos x="T4" y="T5"/>
                  </a:cxn>
                  <a:cxn ang="0">
                    <a:pos x="T6" y="T7"/>
                  </a:cxn>
                  <a:cxn ang="0">
                    <a:pos x="T8" y="T9"/>
                  </a:cxn>
                </a:cxnLst>
                <a:rect l="0" t="0" r="r" b="b"/>
                <a:pathLst>
                  <a:path w="85" h="93">
                    <a:moveTo>
                      <a:pt x="3" y="9"/>
                    </a:moveTo>
                    <a:cubicBezTo>
                      <a:pt x="28" y="35"/>
                      <a:pt x="50" y="63"/>
                      <a:pt x="75" y="89"/>
                    </a:cubicBezTo>
                    <a:cubicBezTo>
                      <a:pt x="79" y="93"/>
                      <a:pt x="85" y="88"/>
                      <a:pt x="83" y="83"/>
                    </a:cubicBezTo>
                    <a:cubicBezTo>
                      <a:pt x="64" y="52"/>
                      <a:pt x="41" y="20"/>
                      <a:pt x="8" y="2"/>
                    </a:cubicBezTo>
                    <a:cubicBezTo>
                      <a:pt x="4" y="0"/>
                      <a:pt x="0" y="5"/>
                      <a:pt x="3"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5" name="chenying0907 89"/>
              <p:cNvSpPr/>
              <p:nvPr/>
            </p:nvSpPr>
            <p:spPr bwMode="auto">
              <a:xfrm>
                <a:off x="7540626" y="1792288"/>
                <a:ext cx="53975" cy="84138"/>
              </a:xfrm>
              <a:custGeom>
                <a:avLst/>
                <a:gdLst>
                  <a:gd name="T0" fmla="*/ 2 w 52"/>
                  <a:gd name="T1" fmla="*/ 4 h 81"/>
                  <a:gd name="T2" fmla="*/ 22 w 52"/>
                  <a:gd name="T3" fmla="*/ 44 h 81"/>
                  <a:gd name="T4" fmla="*/ 45 w 52"/>
                  <a:gd name="T5" fmla="*/ 78 h 81"/>
                  <a:gd name="T6" fmla="*/ 50 w 52"/>
                  <a:gd name="T7" fmla="*/ 74 h 81"/>
                  <a:gd name="T8" fmla="*/ 32 w 52"/>
                  <a:gd name="T9" fmla="*/ 39 h 81"/>
                  <a:gd name="T10" fmla="*/ 6 w 52"/>
                  <a:gd name="T11" fmla="*/ 2 h 81"/>
                  <a:gd name="T12" fmla="*/ 2 w 52"/>
                  <a:gd name="T13" fmla="*/ 4 h 81"/>
                </a:gdLst>
                <a:ahLst/>
                <a:cxnLst>
                  <a:cxn ang="0">
                    <a:pos x="T0" y="T1"/>
                  </a:cxn>
                  <a:cxn ang="0">
                    <a:pos x="T2" y="T3"/>
                  </a:cxn>
                  <a:cxn ang="0">
                    <a:pos x="T4" y="T5"/>
                  </a:cxn>
                  <a:cxn ang="0">
                    <a:pos x="T6" y="T7"/>
                  </a:cxn>
                  <a:cxn ang="0">
                    <a:pos x="T8" y="T9"/>
                  </a:cxn>
                  <a:cxn ang="0">
                    <a:pos x="T10" y="T11"/>
                  </a:cxn>
                  <a:cxn ang="0">
                    <a:pos x="T12" y="T13"/>
                  </a:cxn>
                </a:cxnLst>
                <a:rect l="0" t="0" r="r" b="b"/>
                <a:pathLst>
                  <a:path w="52" h="81">
                    <a:moveTo>
                      <a:pt x="2" y="4"/>
                    </a:moveTo>
                    <a:cubicBezTo>
                      <a:pt x="9" y="17"/>
                      <a:pt x="15" y="31"/>
                      <a:pt x="22" y="44"/>
                    </a:cubicBezTo>
                    <a:cubicBezTo>
                      <a:pt x="29" y="56"/>
                      <a:pt x="36" y="67"/>
                      <a:pt x="45" y="78"/>
                    </a:cubicBezTo>
                    <a:cubicBezTo>
                      <a:pt x="47" y="81"/>
                      <a:pt x="52" y="77"/>
                      <a:pt x="50" y="74"/>
                    </a:cubicBezTo>
                    <a:cubicBezTo>
                      <a:pt x="44" y="62"/>
                      <a:pt x="38" y="50"/>
                      <a:pt x="32" y="39"/>
                    </a:cubicBezTo>
                    <a:cubicBezTo>
                      <a:pt x="24" y="25"/>
                      <a:pt x="14" y="14"/>
                      <a:pt x="6" y="2"/>
                    </a:cubicBezTo>
                    <a:cubicBezTo>
                      <a:pt x="4" y="0"/>
                      <a:pt x="0"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6" name="chenying0907 90"/>
              <p:cNvSpPr/>
              <p:nvPr/>
            </p:nvSpPr>
            <p:spPr bwMode="auto">
              <a:xfrm>
                <a:off x="7627938" y="1963738"/>
                <a:ext cx="57150" cy="109538"/>
              </a:xfrm>
              <a:custGeom>
                <a:avLst/>
                <a:gdLst>
                  <a:gd name="T0" fmla="*/ 2 w 55"/>
                  <a:gd name="T1" fmla="*/ 6 h 106"/>
                  <a:gd name="T2" fmla="*/ 45 w 55"/>
                  <a:gd name="T3" fmla="*/ 102 h 106"/>
                  <a:gd name="T4" fmla="*/ 53 w 55"/>
                  <a:gd name="T5" fmla="*/ 98 h 106"/>
                  <a:gd name="T6" fmla="*/ 9 w 55"/>
                  <a:gd name="T7" fmla="*/ 3 h 106"/>
                  <a:gd name="T8" fmla="*/ 2 w 55"/>
                  <a:gd name="T9" fmla="*/ 6 h 106"/>
                </a:gdLst>
                <a:ahLst/>
                <a:cxnLst>
                  <a:cxn ang="0">
                    <a:pos x="T0" y="T1"/>
                  </a:cxn>
                  <a:cxn ang="0">
                    <a:pos x="T2" y="T3"/>
                  </a:cxn>
                  <a:cxn ang="0">
                    <a:pos x="T4" y="T5"/>
                  </a:cxn>
                  <a:cxn ang="0">
                    <a:pos x="T6" y="T7"/>
                  </a:cxn>
                  <a:cxn ang="0">
                    <a:pos x="T8" y="T9"/>
                  </a:cxn>
                </a:cxnLst>
                <a:rect l="0" t="0" r="r" b="b"/>
                <a:pathLst>
                  <a:path w="55" h="106">
                    <a:moveTo>
                      <a:pt x="2" y="6"/>
                    </a:moveTo>
                    <a:cubicBezTo>
                      <a:pt x="14" y="39"/>
                      <a:pt x="30" y="70"/>
                      <a:pt x="45" y="102"/>
                    </a:cubicBezTo>
                    <a:cubicBezTo>
                      <a:pt x="47" y="106"/>
                      <a:pt x="55" y="103"/>
                      <a:pt x="53" y="98"/>
                    </a:cubicBezTo>
                    <a:cubicBezTo>
                      <a:pt x="42" y="65"/>
                      <a:pt x="28" y="33"/>
                      <a:pt x="9" y="3"/>
                    </a:cubicBezTo>
                    <a:cubicBezTo>
                      <a:pt x="7" y="0"/>
                      <a:pt x="0" y="2"/>
                      <a:pt x="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7" name="chenying0907 91"/>
              <p:cNvSpPr/>
              <p:nvPr/>
            </p:nvSpPr>
            <p:spPr bwMode="auto">
              <a:xfrm>
                <a:off x="7700963" y="2119313"/>
                <a:ext cx="49213" cy="73025"/>
              </a:xfrm>
              <a:custGeom>
                <a:avLst/>
                <a:gdLst>
                  <a:gd name="T0" fmla="*/ 2 w 47"/>
                  <a:gd name="T1" fmla="*/ 9 h 70"/>
                  <a:gd name="T2" fmla="*/ 32 w 47"/>
                  <a:gd name="T3" fmla="*/ 63 h 70"/>
                  <a:gd name="T4" fmla="*/ 43 w 47"/>
                  <a:gd name="T5" fmla="*/ 54 h 70"/>
                  <a:gd name="T6" fmla="*/ 13 w 47"/>
                  <a:gd name="T7" fmla="*/ 4 h 70"/>
                  <a:gd name="T8" fmla="*/ 2 w 47"/>
                  <a:gd name="T9" fmla="*/ 9 h 70"/>
                </a:gdLst>
                <a:ahLst/>
                <a:cxnLst>
                  <a:cxn ang="0">
                    <a:pos x="T0" y="T1"/>
                  </a:cxn>
                  <a:cxn ang="0">
                    <a:pos x="T2" y="T3"/>
                  </a:cxn>
                  <a:cxn ang="0">
                    <a:pos x="T4" y="T5"/>
                  </a:cxn>
                  <a:cxn ang="0">
                    <a:pos x="T6" y="T7"/>
                  </a:cxn>
                  <a:cxn ang="0">
                    <a:pos x="T8" y="T9"/>
                  </a:cxn>
                </a:cxnLst>
                <a:rect l="0" t="0" r="r" b="b"/>
                <a:pathLst>
                  <a:path w="47" h="70">
                    <a:moveTo>
                      <a:pt x="2" y="9"/>
                    </a:moveTo>
                    <a:cubicBezTo>
                      <a:pt x="9" y="29"/>
                      <a:pt x="18" y="47"/>
                      <a:pt x="32" y="63"/>
                    </a:cubicBezTo>
                    <a:cubicBezTo>
                      <a:pt x="37" y="70"/>
                      <a:pt x="47" y="61"/>
                      <a:pt x="43" y="54"/>
                    </a:cubicBezTo>
                    <a:cubicBezTo>
                      <a:pt x="34" y="37"/>
                      <a:pt x="24" y="20"/>
                      <a:pt x="13" y="4"/>
                    </a:cubicBezTo>
                    <a:cubicBezTo>
                      <a:pt x="9" y="0"/>
                      <a:pt x="0" y="2"/>
                      <a:pt x="2"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sp>
            <p:nvSpPr>
              <p:cNvPr id="278" name="chenying0907 92"/>
              <p:cNvSpPr/>
              <p:nvPr/>
            </p:nvSpPr>
            <p:spPr bwMode="auto">
              <a:xfrm>
                <a:off x="8164513" y="3827463"/>
                <a:ext cx="123825" cy="60325"/>
              </a:xfrm>
              <a:custGeom>
                <a:avLst/>
                <a:gdLst>
                  <a:gd name="T0" fmla="*/ 1 w 118"/>
                  <a:gd name="T1" fmla="*/ 59 h 59"/>
                  <a:gd name="T2" fmla="*/ 115 w 118"/>
                  <a:gd name="T3" fmla="*/ 6 h 59"/>
                  <a:gd name="T4" fmla="*/ 112 w 118"/>
                  <a:gd name="T5" fmla="*/ 0 h 59"/>
                  <a:gd name="T6" fmla="*/ 0 w 118"/>
                  <a:gd name="T7" fmla="*/ 58 h 59"/>
                  <a:gd name="T8" fmla="*/ 1 w 118"/>
                  <a:gd name="T9" fmla="*/ 59 h 59"/>
                </a:gdLst>
                <a:ahLst/>
                <a:cxnLst>
                  <a:cxn ang="0">
                    <a:pos x="T0" y="T1"/>
                  </a:cxn>
                  <a:cxn ang="0">
                    <a:pos x="T2" y="T3"/>
                  </a:cxn>
                  <a:cxn ang="0">
                    <a:pos x="T4" y="T5"/>
                  </a:cxn>
                  <a:cxn ang="0">
                    <a:pos x="T6" y="T7"/>
                  </a:cxn>
                  <a:cxn ang="0">
                    <a:pos x="T8" y="T9"/>
                  </a:cxn>
                </a:cxnLst>
                <a:rect l="0" t="0" r="r" b="b"/>
                <a:pathLst>
                  <a:path w="118" h="59">
                    <a:moveTo>
                      <a:pt x="1" y="59"/>
                    </a:moveTo>
                    <a:cubicBezTo>
                      <a:pt x="41" y="56"/>
                      <a:pt x="81" y="26"/>
                      <a:pt x="115" y="6"/>
                    </a:cubicBezTo>
                    <a:cubicBezTo>
                      <a:pt x="118" y="4"/>
                      <a:pt x="116" y="0"/>
                      <a:pt x="112" y="0"/>
                    </a:cubicBezTo>
                    <a:cubicBezTo>
                      <a:pt x="73" y="9"/>
                      <a:pt x="33" y="35"/>
                      <a:pt x="0" y="58"/>
                    </a:cubicBezTo>
                    <a:cubicBezTo>
                      <a:pt x="0" y="58"/>
                      <a:pt x="0" y="59"/>
                      <a:pt x="1" y="5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400">
                  <a:latin typeface="方正静蕾简体" panose="02000000000000000000" pitchFamily="2" charset="-122"/>
                  <a:ea typeface="方正静蕾简体" panose="02000000000000000000" pitchFamily="2" charset="-122"/>
                </a:endParaRPr>
              </a:p>
            </p:txBody>
          </p:sp>
        </p:grpSp>
      </p:grpSp>
      <p:sp>
        <p:nvSpPr>
          <p:cNvPr id="373" name="PA_矩形 470"/>
          <p:cNvSpPr/>
          <p:nvPr>
            <p:custDataLst>
              <p:tags r:id="rId2"/>
            </p:custDataLst>
          </p:nvPr>
        </p:nvSpPr>
        <p:spPr>
          <a:xfrm>
            <a:off x="8724900" y="3674110"/>
            <a:ext cx="2526665" cy="922020"/>
          </a:xfrm>
          <a:prstGeom prst="rect">
            <a:avLst/>
          </a:prstGeom>
        </p:spPr>
        <p:txBody>
          <a:bodyPr wrap="square">
            <a:spAutoFit/>
          </a:bodyPr>
          <a:lstStyle/>
          <a:p>
            <a:pPr fontAlgn="auto">
              <a:lnSpc>
                <a:spcPct val="150000"/>
              </a:lnSpc>
            </a:pPr>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有哪些典型的</a:t>
            </a:r>
            <a:endPar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a:p>
            <a:pPr fontAlgn="auto">
              <a:lnSpc>
                <a:spcPct val="150000"/>
              </a:lnSpc>
            </a:pPr>
            <a:r>
              <a:rPr lang="zh-CN" altLang="en-US" sz="18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rPr>
              <a:t>物理审计、功能审计？</a:t>
            </a:r>
            <a:endParaRPr lang="zh-CN" altLang="en-US" sz="1800" dirty="0" smtClean="0">
              <a:solidFill>
                <a:schemeClr val="tx1">
                  <a:lumMod val="75000"/>
                  <a:lumOff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nodeType="clickEffect">
                                  <p:stCondLst>
                                    <p:cond delay="0"/>
                                  </p:stCondLst>
                                  <p:childTnLst>
                                    <p:set>
                                      <p:cBhvr>
                                        <p:cTn id="10" dur="1" fill="hold">
                                          <p:stCondLst>
                                            <p:cond delay="0"/>
                                          </p:stCondLst>
                                        </p:cTn>
                                        <p:tgtEl>
                                          <p:spTgt spid="49">
                                            <p:txEl>
                                              <p:pRg st="0" end="0"/>
                                            </p:txEl>
                                          </p:spTgt>
                                        </p:tgtEl>
                                        <p:attrNameLst>
                                          <p:attrName>style.visibility</p:attrName>
                                        </p:attrNameLst>
                                      </p:cBhvr>
                                      <p:to>
                                        <p:strVal val="visible"/>
                                      </p:to>
                                    </p:set>
                                    <p:animEffect transition="in" filter="randombar(horizontal)">
                                      <p:cBhvr>
                                        <p:cTn id="11" dur="500"/>
                                        <p:tgtEl>
                                          <p:spTgt spid="49">
                                            <p:txEl>
                                              <p:pRg st="0" end="0"/>
                                            </p:txEl>
                                          </p:spTgt>
                                        </p:tgtEl>
                                      </p:cBhvr>
                                    </p:animEffect>
                                  </p:childTnLst>
                                </p:cTn>
                              </p:par>
                              <p:par>
                                <p:cTn id="12" presetID="14" presetClass="entr" presetSubtype="10" fill="hold" nodeType="withEffect">
                                  <p:stCondLst>
                                    <p:cond delay="0"/>
                                  </p:stCondLst>
                                  <p:childTnLst>
                                    <p:set>
                                      <p:cBhvr>
                                        <p:cTn id="13" dur="1" fill="hold">
                                          <p:stCondLst>
                                            <p:cond delay="0"/>
                                          </p:stCondLst>
                                        </p:cTn>
                                        <p:tgtEl>
                                          <p:spTgt spid="49">
                                            <p:txEl>
                                              <p:pRg st="1" end="1"/>
                                            </p:txEl>
                                          </p:spTgt>
                                        </p:tgtEl>
                                        <p:attrNameLst>
                                          <p:attrName>style.visibility</p:attrName>
                                        </p:attrNameLst>
                                      </p:cBhvr>
                                      <p:to>
                                        <p:strVal val="visible"/>
                                      </p:to>
                                    </p:set>
                                    <p:animEffect transition="in" filter="randombar(horizontal)">
                                      <p:cBhvr>
                                        <p:cTn id="14" dur="500"/>
                                        <p:tgtEl>
                                          <p:spTgt spid="49">
                                            <p:txEl>
                                              <p:pRg st="1" end="1"/>
                                            </p:txEl>
                                          </p:spTgt>
                                        </p:tgtEl>
                                      </p:cBhvr>
                                    </p:animEffect>
                                  </p:childTnLst>
                                </p:cTn>
                              </p:par>
                              <p:par>
                                <p:cTn id="15" presetID="14" presetClass="entr" presetSubtype="10" fill="hold" nodeType="withEffect">
                                  <p:stCondLst>
                                    <p:cond delay="0"/>
                                  </p:stCondLst>
                                  <p:childTnLst>
                                    <p:set>
                                      <p:cBhvr>
                                        <p:cTn id="16" dur="1" fill="hold">
                                          <p:stCondLst>
                                            <p:cond delay="0"/>
                                          </p:stCondLst>
                                        </p:cTn>
                                        <p:tgtEl>
                                          <p:spTgt spid="49">
                                            <p:txEl>
                                              <p:pRg st="2" end="2"/>
                                            </p:txEl>
                                          </p:spTgt>
                                        </p:tgtEl>
                                        <p:attrNameLst>
                                          <p:attrName>style.visibility</p:attrName>
                                        </p:attrNameLst>
                                      </p:cBhvr>
                                      <p:to>
                                        <p:strVal val="visible"/>
                                      </p:to>
                                    </p:set>
                                    <p:animEffect transition="in" filter="randombar(horizontal)">
                                      <p:cBhvr>
                                        <p:cTn id="17" dur="500"/>
                                        <p:tgtEl>
                                          <p:spTgt spid="49">
                                            <p:txEl>
                                              <p:pRg st="2" end="2"/>
                                            </p:txEl>
                                          </p:spTgt>
                                        </p:tgtEl>
                                      </p:cBhvr>
                                    </p:animEffect>
                                  </p:childTnLst>
                                </p:cTn>
                              </p:par>
                              <p:par>
                                <p:cTn id="18" presetID="14" presetClass="entr" presetSubtype="10" fill="hold" nodeType="withEffect">
                                  <p:stCondLst>
                                    <p:cond delay="0"/>
                                  </p:stCondLst>
                                  <p:childTnLst>
                                    <p:set>
                                      <p:cBhvr>
                                        <p:cTn id="19" dur="1" fill="hold">
                                          <p:stCondLst>
                                            <p:cond delay="0"/>
                                          </p:stCondLst>
                                        </p:cTn>
                                        <p:tgtEl>
                                          <p:spTgt spid="49">
                                            <p:txEl>
                                              <p:pRg st="3" end="3"/>
                                            </p:txEl>
                                          </p:spTgt>
                                        </p:tgtEl>
                                        <p:attrNameLst>
                                          <p:attrName>style.visibility</p:attrName>
                                        </p:attrNameLst>
                                      </p:cBhvr>
                                      <p:to>
                                        <p:strVal val="visible"/>
                                      </p:to>
                                    </p:set>
                                    <p:animEffect transition="in" filter="randombar(horizontal)">
                                      <p:cBhvr>
                                        <p:cTn id="20" dur="500"/>
                                        <p:tgtEl>
                                          <p:spTgt spid="49">
                                            <p:txEl>
                                              <p:pRg st="3" end="3"/>
                                            </p:txEl>
                                          </p:spTgt>
                                        </p:tgtEl>
                                      </p:cBhvr>
                                    </p:animEffect>
                                  </p:childTnLst>
                                </p:cTn>
                              </p:par>
                              <p:par>
                                <p:cTn id="21" presetID="14" presetClass="entr" presetSubtype="10" fill="hold" nodeType="withEffect">
                                  <p:stCondLst>
                                    <p:cond delay="0"/>
                                  </p:stCondLst>
                                  <p:childTnLst>
                                    <p:set>
                                      <p:cBhvr>
                                        <p:cTn id="22" dur="1" fill="hold">
                                          <p:stCondLst>
                                            <p:cond delay="0"/>
                                          </p:stCondLst>
                                        </p:cTn>
                                        <p:tgtEl>
                                          <p:spTgt spid="49">
                                            <p:txEl>
                                              <p:pRg st="4" end="4"/>
                                            </p:txEl>
                                          </p:spTgt>
                                        </p:tgtEl>
                                        <p:attrNameLst>
                                          <p:attrName>style.visibility</p:attrName>
                                        </p:attrNameLst>
                                      </p:cBhvr>
                                      <p:to>
                                        <p:strVal val="visible"/>
                                      </p:to>
                                    </p:set>
                                    <p:animEffect transition="in" filter="randombar(horizontal)">
                                      <p:cBhvr>
                                        <p:cTn id="23" dur="500"/>
                                        <p:tgtEl>
                                          <p:spTgt spid="49">
                                            <p:txEl>
                                              <p:pRg st="4" end="4"/>
                                            </p:txEl>
                                          </p:spTgt>
                                        </p:tgtEl>
                                      </p:cBhvr>
                                    </p:animEffect>
                                  </p:childTnLst>
                                </p:cTn>
                              </p:par>
                              <p:par>
                                <p:cTn id="24" presetID="14" presetClass="entr" presetSubtype="10" fill="hold" nodeType="withEffect">
                                  <p:stCondLst>
                                    <p:cond delay="0"/>
                                  </p:stCondLst>
                                  <p:childTnLst>
                                    <p:set>
                                      <p:cBhvr>
                                        <p:cTn id="25" dur="1" fill="hold">
                                          <p:stCondLst>
                                            <p:cond delay="0"/>
                                          </p:stCondLst>
                                        </p:cTn>
                                        <p:tgtEl>
                                          <p:spTgt spid="49">
                                            <p:txEl>
                                              <p:pRg st="5" end="5"/>
                                            </p:txEl>
                                          </p:spTgt>
                                        </p:tgtEl>
                                        <p:attrNameLst>
                                          <p:attrName>style.visibility</p:attrName>
                                        </p:attrNameLst>
                                      </p:cBhvr>
                                      <p:to>
                                        <p:strVal val="visible"/>
                                      </p:to>
                                    </p:set>
                                    <p:animEffect transition="in" filter="randombar(horizontal)">
                                      <p:cBhvr>
                                        <p:cTn id="26" dur="500"/>
                                        <p:tgtEl>
                                          <p:spTgt spid="4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49">
                                            <p:txEl>
                                              <p:pRg st="6" end="6"/>
                                            </p:txEl>
                                          </p:spTgt>
                                        </p:tgtEl>
                                        <p:attrNameLst>
                                          <p:attrName>style.visibility</p:attrName>
                                        </p:attrNameLst>
                                      </p:cBhvr>
                                      <p:to>
                                        <p:strVal val="visible"/>
                                      </p:to>
                                    </p:set>
                                    <p:animEffect transition="in" filter="blinds(horizontal)">
                                      <p:cBhvr>
                                        <p:cTn id="31" dur="500"/>
                                        <p:tgtEl>
                                          <p:spTgt spid="49">
                                            <p:txEl>
                                              <p:pRg st="6" end="6"/>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49">
                                            <p:txEl>
                                              <p:pRg st="7" end="7"/>
                                            </p:txEl>
                                          </p:spTgt>
                                        </p:tgtEl>
                                        <p:attrNameLst>
                                          <p:attrName>style.visibility</p:attrName>
                                        </p:attrNameLst>
                                      </p:cBhvr>
                                      <p:to>
                                        <p:strVal val="visible"/>
                                      </p:to>
                                    </p:set>
                                    <p:animEffect transition="in" filter="blinds(horizontal)">
                                      <p:cBhvr>
                                        <p:cTn id="34" dur="500"/>
                                        <p:tgtEl>
                                          <p:spTgt spid="49">
                                            <p:txEl>
                                              <p:pRg st="7" end="7"/>
                                            </p:txEl>
                                          </p:spTgt>
                                        </p:tgtEl>
                                      </p:cBhvr>
                                    </p:animEffect>
                                  </p:childTnLst>
                                </p:cTn>
                              </p:par>
                              <p:par>
                                <p:cTn id="35" presetID="3" presetClass="entr" presetSubtype="10" fill="hold" nodeType="withEffect">
                                  <p:stCondLst>
                                    <p:cond delay="0"/>
                                  </p:stCondLst>
                                  <p:childTnLst>
                                    <p:set>
                                      <p:cBhvr>
                                        <p:cTn id="36" dur="1" fill="hold">
                                          <p:stCondLst>
                                            <p:cond delay="0"/>
                                          </p:stCondLst>
                                        </p:cTn>
                                        <p:tgtEl>
                                          <p:spTgt spid="49">
                                            <p:txEl>
                                              <p:pRg st="8" end="8"/>
                                            </p:txEl>
                                          </p:spTgt>
                                        </p:tgtEl>
                                        <p:attrNameLst>
                                          <p:attrName>style.visibility</p:attrName>
                                        </p:attrNameLst>
                                      </p:cBhvr>
                                      <p:to>
                                        <p:strVal val="visible"/>
                                      </p:to>
                                    </p:set>
                                    <p:animEffect transition="in" filter="blinds(horizontal)">
                                      <p:cBhvr>
                                        <p:cTn id="37" dur="500"/>
                                        <p:tgtEl>
                                          <p:spTgt spid="49">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9"/>
                                        </p:tgtEl>
                                        <p:attrNameLst>
                                          <p:attrName>style.visibility</p:attrName>
                                        </p:attrNameLst>
                                      </p:cBhvr>
                                      <p:to>
                                        <p:strVal val="visible"/>
                                      </p:to>
                                    </p:set>
                                    <p:animEffect transition="in" filter="fade">
                                      <p:cBhvr>
                                        <p:cTn id="42" dur="1000"/>
                                        <p:tgtEl>
                                          <p:spTgt spid="189"/>
                                        </p:tgtEl>
                                      </p:cBhvr>
                                    </p:animEffect>
                                    <p:anim calcmode="lin" valueType="num">
                                      <p:cBhvr>
                                        <p:cTn id="43" dur="1000" fill="hold"/>
                                        <p:tgtEl>
                                          <p:spTgt spid="189"/>
                                        </p:tgtEl>
                                        <p:attrNameLst>
                                          <p:attrName>ppt_x</p:attrName>
                                        </p:attrNameLst>
                                      </p:cBhvr>
                                      <p:tavLst>
                                        <p:tav tm="0">
                                          <p:val>
                                            <p:strVal val="#ppt_x"/>
                                          </p:val>
                                        </p:tav>
                                        <p:tav tm="100000">
                                          <p:val>
                                            <p:strVal val="#ppt_x"/>
                                          </p:val>
                                        </p:tav>
                                      </p:tavLst>
                                    </p:anim>
                                    <p:anim calcmode="lin" valueType="num">
                                      <p:cBhvr>
                                        <p:cTn id="44" dur="1000" fill="hold"/>
                                        <p:tgtEl>
                                          <p:spTgt spid="18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73"/>
                                        </p:tgtEl>
                                        <p:attrNameLst>
                                          <p:attrName>style.visibility</p:attrName>
                                        </p:attrNameLst>
                                      </p:cBhvr>
                                      <p:to>
                                        <p:strVal val="visible"/>
                                      </p:to>
                                    </p:set>
                                    <p:animEffect transition="in" filter="fade">
                                      <p:cBhvr>
                                        <p:cTn id="47" dur="1000"/>
                                        <p:tgtEl>
                                          <p:spTgt spid="373"/>
                                        </p:tgtEl>
                                      </p:cBhvr>
                                    </p:animEffect>
                                    <p:anim calcmode="lin" valueType="num">
                                      <p:cBhvr>
                                        <p:cTn id="48" dur="1000" fill="hold"/>
                                        <p:tgtEl>
                                          <p:spTgt spid="373"/>
                                        </p:tgtEl>
                                        <p:attrNameLst>
                                          <p:attrName>ppt_x</p:attrName>
                                        </p:attrNameLst>
                                      </p:cBhvr>
                                      <p:tavLst>
                                        <p:tav tm="0">
                                          <p:val>
                                            <p:strVal val="#ppt_x"/>
                                          </p:val>
                                        </p:tav>
                                        <p:tav tm="100000">
                                          <p:val>
                                            <p:strVal val="#ppt_x"/>
                                          </p:val>
                                        </p:tav>
                                      </p:tavLst>
                                    </p:anim>
                                    <p:anim calcmode="lin" valueType="num">
                                      <p:cBhvr>
                                        <p:cTn id="49" dur="1000" fill="hold"/>
                                        <p:tgtEl>
                                          <p:spTgt spid="373"/>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49">
                                            <p:txEl>
                                              <p:pRg st="9" end="9"/>
                                            </p:txEl>
                                          </p:spTgt>
                                        </p:tgtEl>
                                        <p:attrNameLst>
                                          <p:attrName>style.visibility</p:attrName>
                                        </p:attrNameLst>
                                      </p:cBhvr>
                                      <p:to>
                                        <p:strVal val="visible"/>
                                      </p:to>
                                    </p:set>
                                    <p:animEffect transition="in" filter="fade">
                                      <p:cBhvr>
                                        <p:cTn id="54" dur="1000"/>
                                        <p:tgtEl>
                                          <p:spTgt spid="49">
                                            <p:txEl>
                                              <p:pRg st="9" end="9"/>
                                            </p:txEl>
                                          </p:spTgt>
                                        </p:tgtEl>
                                      </p:cBhvr>
                                    </p:animEffect>
                                    <p:anim calcmode="lin" valueType="num">
                                      <p:cBhvr>
                                        <p:cTn id="55" dur="1000" fill="hold"/>
                                        <p:tgtEl>
                                          <p:spTgt spid="49">
                                            <p:txEl>
                                              <p:pRg st="9" end="9"/>
                                            </p:txEl>
                                          </p:spTgt>
                                        </p:tgtEl>
                                        <p:attrNameLst>
                                          <p:attrName>ppt_x</p:attrName>
                                        </p:attrNameLst>
                                      </p:cBhvr>
                                      <p:tavLst>
                                        <p:tav tm="0">
                                          <p:val>
                                            <p:strVal val="#ppt_x"/>
                                          </p:val>
                                        </p:tav>
                                        <p:tav tm="100000">
                                          <p:val>
                                            <p:strVal val="#ppt_x"/>
                                          </p:val>
                                        </p:tav>
                                      </p:tavLst>
                                    </p:anim>
                                    <p:anim calcmode="lin" valueType="num">
                                      <p:cBhvr>
                                        <p:cTn id="56" dur="1000" fill="hold"/>
                                        <p:tgtEl>
                                          <p:spTgt spid="49">
                                            <p:txEl>
                                              <p:pRg st="9" end="9"/>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9">
                                            <p:txEl>
                                              <p:pRg st="10" end="10"/>
                                            </p:txEl>
                                          </p:spTgt>
                                        </p:tgtEl>
                                        <p:attrNameLst>
                                          <p:attrName>style.visibility</p:attrName>
                                        </p:attrNameLst>
                                      </p:cBhvr>
                                      <p:to>
                                        <p:strVal val="visible"/>
                                      </p:to>
                                    </p:set>
                                    <p:animEffect transition="in" filter="fade">
                                      <p:cBhvr>
                                        <p:cTn id="59" dur="1000"/>
                                        <p:tgtEl>
                                          <p:spTgt spid="49">
                                            <p:txEl>
                                              <p:pRg st="10" end="10"/>
                                            </p:txEl>
                                          </p:spTgt>
                                        </p:tgtEl>
                                      </p:cBhvr>
                                    </p:animEffect>
                                    <p:anim calcmode="lin" valueType="num">
                                      <p:cBhvr>
                                        <p:cTn id="60" dur="1000" fill="hold"/>
                                        <p:tgtEl>
                                          <p:spTgt spid="49">
                                            <p:txEl>
                                              <p:pRg st="10" end="10"/>
                                            </p:txEl>
                                          </p:spTgt>
                                        </p:tgtEl>
                                        <p:attrNameLst>
                                          <p:attrName>ppt_x</p:attrName>
                                        </p:attrNameLst>
                                      </p:cBhvr>
                                      <p:tavLst>
                                        <p:tav tm="0">
                                          <p:val>
                                            <p:strVal val="#ppt_x"/>
                                          </p:val>
                                        </p:tav>
                                        <p:tav tm="100000">
                                          <p:val>
                                            <p:strVal val="#ppt_x"/>
                                          </p:val>
                                        </p:tav>
                                      </p:tavLst>
                                    </p:anim>
                                    <p:anim calcmode="lin" valueType="num">
                                      <p:cBhvr>
                                        <p:cTn id="61" dur="1000" fill="hold"/>
                                        <p:tgtEl>
                                          <p:spTgt spid="49">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373" grpId="0"/>
      <p:bldP spid="373"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2"/>
          <p:cNvSpPr txBox="1"/>
          <p:nvPr/>
        </p:nvSpPr>
        <p:spPr>
          <a:xfrm>
            <a:off x="1959403" y="1654722"/>
            <a:ext cx="8640000" cy="1800000"/>
          </a:xfrm>
          <a:prstGeom prst="rect">
            <a:avLst/>
          </a:prstGeom>
        </p:spPr>
        <p:txBody>
          <a:bodyPr anchor="ctr">
            <a:normAutofit/>
            <a:scene3d>
              <a:camera prst="orthographicFront"/>
              <a:lightRig rig="threePt" dir="t"/>
            </a:scene3d>
          </a:bodyPr>
          <a:lstStyle>
            <a:lvl1pPr algn="ctr" defTabSz="725170" rtl="0" eaLnBrk="1" latinLnBrk="0" hangingPunct="1">
              <a:spcBef>
                <a:spcPct val="0"/>
              </a:spcBef>
              <a:buNone/>
              <a:defRPr lang="zh-CN" altLang="en-US" sz="3200" kern="1200" dirty="0" smtClean="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mj-cs"/>
              </a:defRPr>
            </a:lvl1pPr>
          </a:lstStyle>
          <a:p>
            <a:r>
              <a:rPr lang="zh-CN" altLang="en-US" sz="4800" smtClean="0">
                <a:solidFill>
                  <a:srgbClr val="1E577E"/>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rPr>
              <a:t>感谢聆听！</a:t>
            </a:r>
            <a:endParaRPr lang="zh-CN" altLang="en-US" sz="4800" dirty="0">
              <a:solidFill>
                <a:srgbClr val="1E577E"/>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TABLE_BEAUTIFY" val="smartTable{87d0f95d-2106-4118-bd24-179a083dd207}"/>
  <p:tag name="TABLE_ENDDRAG_ORIGIN_RECT" val="893*223"/>
  <p:tag name="TABLE_ENDDRAG_RECT" val="36*276*893*223"/>
</p:tagLst>
</file>

<file path=ppt/tags/tag2.xml><?xml version="1.0" encoding="utf-8"?>
<p:tagLst xmlns:p="http://schemas.openxmlformats.org/presentationml/2006/main">
  <p:tag name="KSO_WM_UNIT_TABLE_BEAUTIFY" val="smartTable{befec283-6f43-4c61-8680-7c64f595f9fc}"/>
  <p:tag name="TABLE_ENDDRAG_ORIGIN_RECT" val="868*425"/>
  <p:tag name="TABLE_ENDDRAG_RECT" val="39*88*868*425"/>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UNIT_TABLE_BEAUTIFY" val="smartTable{0cf16d94-ca11-4889-bd7c-4b2193dc61c1}"/>
</p:tagLst>
</file>

<file path=ppt/tags/tag35.xml><?xml version="1.0" encoding="utf-8"?>
<p:tagLst xmlns:p="http://schemas.openxmlformats.org/presentationml/2006/main">
  <p:tag name="KSO_WM_UNIT_PLACING_PICTURE_USER_VIEWPORT" val="{&quot;height&quot;:4848,&quot;width&quot;:9800}"/>
</p:tagLst>
</file>

<file path=ppt/tags/tag36.xml><?xml version="1.0" encoding="utf-8"?>
<p:tagLst xmlns:p="http://schemas.openxmlformats.org/presentationml/2006/main">
  <p:tag name="KSO_WM_UNIT_TABLE_BEAUTIFY" val="smartTable{6bc89cbe-cc1e-4e45-bda8-62c2c53e5036}"/>
</p:tagLst>
</file>

<file path=ppt/tags/tag37.xml><?xml version="1.0" encoding="utf-8"?>
<p:tagLst xmlns:p="http://schemas.openxmlformats.org/presentationml/2006/main">
  <p:tag name="KSO_WM_UNIT_TABLE_BEAUTIFY" val="smartTable{c01b9874-88b2-4532-be76-82b96313f862}"/>
  <p:tag name="TABLE_ENDDRAG_ORIGIN_RECT" val="153*175"/>
  <p:tag name="TABLE_ENDDRAG_RECT" val="144*210*153*175"/>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PA" val="v3.0.0"/>
</p:tagLst>
</file>

<file path=ppt/tags/tag43.xml><?xml version="1.0" encoding="utf-8"?>
<p:tagLst xmlns:p="http://schemas.openxmlformats.org/presentationml/2006/main">
  <p:tag name="PA" val="v3.0.0"/>
</p:tagLst>
</file>

<file path=ppt/tags/tag44.xml><?xml version="1.0" encoding="utf-8"?>
<p:tagLst xmlns:p="http://schemas.openxmlformats.org/presentationml/2006/main">
  <p:tag name="KSO_WM_UNIT_TABLE_BEAUTIFY" val="smartTable{6b30f190-0b6c-406c-bbe9-a736b3f6f719}"/>
  <p:tag name="TABLE_ENDDRAG_ORIGIN_RECT" val="909*420"/>
  <p:tag name="TABLE_ENDDRAG_RECT" val="27*85*909*420"/>
</p:tagLst>
</file>

<file path=ppt/tags/tag45.xml><?xml version="1.0" encoding="utf-8"?>
<p:tagLst xmlns:p="http://schemas.openxmlformats.org/presentationml/2006/main">
  <p:tag name="KSO_WM_UNIT_TABLE_BEAUTIFY" val="smartTable{59abaff9-2474-468b-ba21-eee1d0f73df0}"/>
</p:tagLst>
</file>

<file path=ppt/tags/tag46.xml><?xml version="1.0" encoding="utf-8"?>
<p:tagLst xmlns:p="http://schemas.openxmlformats.org/presentationml/2006/main">
  <p:tag name="KSO_WM_UNIT_TABLE_BEAUTIFY" val="smartTable{eeb4dcdb-baa4-4332-ad50-b434eadc5a13}"/>
  <p:tag name="TABLE_ENDDRAG_ORIGIN_RECT" val="878*290"/>
  <p:tag name="TABLE_ENDDRAG_RECT" val="34*78*878*290"/>
</p:tagLst>
</file>

<file path=ppt/tags/tag47.xml><?xml version="1.0" encoding="utf-8"?>
<p:tagLst xmlns:p="http://schemas.openxmlformats.org/presentationml/2006/main">
  <p:tag name="KSO_WM_UNIT_TABLE_BEAUTIFY" val="smartTable{61c14a4f-3811-4762-b35e-f1b9859f9824}"/>
  <p:tag name="TABLE_ENDDRAG_ORIGIN_RECT" val="740*72"/>
  <p:tag name="TABLE_ENDDRAG_RECT" val="74*143*740*72"/>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UNIT_TABLE_BEAUTIFY" val="smartTable{61c14a4f-3811-4762-b35e-f1b9859f9824}"/>
  <p:tag name="TABLE_ENDDRAG_ORIGIN_RECT" val="740*72"/>
  <p:tag name="TABLE_ENDDRAG_RECT" val="94*230*740*72"/>
  <p:tag name="KSO_WM_BEAUTIFY_FLAG" val=""/>
</p:tagLst>
</file>

<file path=ppt/tags/tag51.xml><?xml version="1.0" encoding="utf-8"?>
<p:tagLst xmlns:p="http://schemas.openxmlformats.org/presentationml/2006/main">
  <p:tag name="KSO_WM_UNIT_TABLE_BEAUTIFY" val="smartTable{2b11ee6b-9ce3-46d0-b591-6433d4bf2d34}"/>
  <p:tag name="TABLE_ENDDRAG_ORIGIN_RECT" val="690*97"/>
  <p:tag name="TABLE_ENDDRAG_RECT" val="85*237*690*97"/>
</p:tagLst>
</file>

<file path=ppt/tags/tag52.xml><?xml version="1.0" encoding="utf-8"?>
<p:tagLst xmlns:p="http://schemas.openxmlformats.org/presentationml/2006/main">
  <p:tag name="PA" val="v3.0.0"/>
</p:tagLst>
</file>

<file path=ppt/tags/tag53.xml><?xml version="1.0" encoding="utf-8"?>
<p:tagLst xmlns:p="http://schemas.openxmlformats.org/presentationml/2006/main">
  <p:tag name="PA" val="v3.0.0"/>
</p:tagLst>
</file>

<file path=ppt/tags/tag54.xml><?xml version="1.0" encoding="utf-8"?>
<p:tagLst xmlns:p="http://schemas.openxmlformats.org/presentationml/2006/main">
  <p:tag name="PA" val="v3.0.0"/>
</p:tagLst>
</file>

<file path=ppt/tags/tag55.xml><?xml version="1.0" encoding="utf-8"?>
<p:tagLst xmlns:p="http://schemas.openxmlformats.org/presentationml/2006/main">
  <p:tag name="PA" val="v3.0.0"/>
</p:tagLst>
</file>

<file path=ppt/tags/tag56.xml><?xml version="1.0" encoding="utf-8"?>
<p:tagLst xmlns:p="http://schemas.openxmlformats.org/presentationml/2006/main">
  <p:tag name="PA" val="v3.0.0"/>
</p:tagLst>
</file>

<file path=ppt/tags/tag57.xml><?xml version="1.0" encoding="utf-8"?>
<p:tagLst xmlns:p="http://schemas.openxmlformats.org/presentationml/2006/main">
  <p:tag name="PA" val="v3.0.0"/>
</p:tagLst>
</file>

<file path=ppt/tags/tag58.xml><?xml version="1.0" encoding="utf-8"?>
<p:tagLst xmlns:p="http://schemas.openxmlformats.org/presentationml/2006/main">
  <p:tag name="COMMONDATA" val="eyJoZGlkIjoiODE4NzZjMzUzOTQ0ZjE0Y2M5OTNiN2IwNGM3NWUyMjEifQ=="/>
  <p:tag name="commondata" val="eyJoZGlkIjoiZGM4ZDBmNmIxNzUyYmQwZjA0YjE4YTVjOTVkYmQxYzQifQ=="/>
</p:tagLst>
</file>

<file path=ppt/theme/theme1.xml><?xml version="1.0" encoding="utf-8"?>
<a:theme xmlns:a="http://schemas.openxmlformats.org/drawingml/2006/main" name="Office 主题">
  <a:themeElements>
    <a:clrScheme name="SCIYON">
      <a:dk1>
        <a:srgbClr val="231815"/>
      </a:dk1>
      <a:lt1>
        <a:sysClr val="window" lastClr="FFFFFF"/>
      </a:lt1>
      <a:dk2>
        <a:srgbClr val="006EA0"/>
      </a:dk2>
      <a:lt2>
        <a:srgbClr val="CCE4EC"/>
      </a:lt2>
      <a:accent1>
        <a:srgbClr val="2EA7E0"/>
      </a:accent1>
      <a:accent2>
        <a:srgbClr val="F39800"/>
      </a:accent2>
      <a:accent3>
        <a:srgbClr val="00A29A"/>
      </a:accent3>
      <a:accent4>
        <a:srgbClr val="8FC31F"/>
      </a:accent4>
      <a:accent5>
        <a:srgbClr val="9FA0A0"/>
      </a:accent5>
      <a:accent6>
        <a:srgbClr val="CAA66A"/>
      </a:accent6>
      <a:hlink>
        <a:srgbClr val="0563C1"/>
      </a:hlink>
      <a:folHlink>
        <a:srgbClr val="954F72"/>
      </a:folHlink>
    </a:clrScheme>
    <a:fontScheme name="SCIYO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SCIYON">
      <a:dk1>
        <a:srgbClr val="231815"/>
      </a:dk1>
      <a:lt1>
        <a:sysClr val="window" lastClr="FFFFFF"/>
      </a:lt1>
      <a:dk2>
        <a:srgbClr val="006EA0"/>
      </a:dk2>
      <a:lt2>
        <a:srgbClr val="CCE4EC"/>
      </a:lt2>
      <a:accent1>
        <a:srgbClr val="2EA7E0"/>
      </a:accent1>
      <a:accent2>
        <a:srgbClr val="F39800"/>
      </a:accent2>
      <a:accent3>
        <a:srgbClr val="00A29A"/>
      </a:accent3>
      <a:accent4>
        <a:srgbClr val="8FC31F"/>
      </a:accent4>
      <a:accent5>
        <a:srgbClr val="9FA0A0"/>
      </a:accent5>
      <a:accent6>
        <a:srgbClr val="CAA66A"/>
      </a:accent6>
      <a:hlink>
        <a:srgbClr val="0563C1"/>
      </a:hlink>
      <a:folHlink>
        <a:srgbClr val="954F72"/>
      </a:folHlink>
    </a:clrScheme>
    <a:fontScheme name="SCIYO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SCIYON">
      <a:dk1>
        <a:srgbClr val="231815"/>
      </a:dk1>
      <a:lt1>
        <a:sysClr val="window" lastClr="FFFFFF"/>
      </a:lt1>
      <a:dk2>
        <a:srgbClr val="006EA0"/>
      </a:dk2>
      <a:lt2>
        <a:srgbClr val="CCE4EC"/>
      </a:lt2>
      <a:accent1>
        <a:srgbClr val="2EA7E0"/>
      </a:accent1>
      <a:accent2>
        <a:srgbClr val="F39800"/>
      </a:accent2>
      <a:accent3>
        <a:srgbClr val="00A29A"/>
      </a:accent3>
      <a:accent4>
        <a:srgbClr val="8FC31F"/>
      </a:accent4>
      <a:accent5>
        <a:srgbClr val="9FA0A0"/>
      </a:accent5>
      <a:accent6>
        <a:srgbClr val="CAA66A"/>
      </a:accent6>
      <a:hlink>
        <a:srgbClr val="0563C1"/>
      </a:hlink>
      <a:folHlink>
        <a:srgbClr val="954F72"/>
      </a:folHlink>
    </a:clrScheme>
    <a:fontScheme name="SCIYON">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19030</Words>
  <Application>WPS 演示</Application>
  <PresentationFormat>宽屏</PresentationFormat>
  <Paragraphs>1840</Paragraphs>
  <Slides>70</Slides>
  <Notes>68</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4</vt:i4>
      </vt:variant>
      <vt:variant>
        <vt:lpstr>幻灯片标题</vt:lpstr>
      </vt:variant>
      <vt:variant>
        <vt:i4>70</vt:i4>
      </vt:variant>
    </vt:vector>
  </HeadingPairs>
  <TitlesOfParts>
    <vt:vector size="92" baseType="lpstr">
      <vt:lpstr>Arial</vt:lpstr>
      <vt:lpstr>宋体</vt:lpstr>
      <vt:lpstr>Wingdings</vt:lpstr>
      <vt:lpstr>黑体</vt:lpstr>
      <vt:lpstr>Wingdings 3</vt:lpstr>
      <vt:lpstr>Arial</vt:lpstr>
      <vt:lpstr>Arial Black</vt:lpstr>
      <vt:lpstr>微软雅黑</vt:lpstr>
      <vt:lpstr>Wingdings</vt:lpstr>
      <vt:lpstr>Arial Unicode MS</vt:lpstr>
      <vt:lpstr>Calibri</vt:lpstr>
      <vt:lpstr>Times New Roman</vt:lpstr>
      <vt:lpstr>Times New Roman</vt:lpstr>
      <vt:lpstr>华文中宋</vt:lpstr>
      <vt:lpstr>方正静蕾简体</vt:lpstr>
      <vt:lpstr>Office 主题</vt:lpstr>
      <vt:lpstr>1_Office 主题</vt:lpstr>
      <vt:lpstr>2_Office 主题</vt:lpstr>
      <vt:lpstr>Visio.Drawing.11</vt:lpstr>
      <vt:lpstr>Visio.Drawing.11</vt:lpstr>
      <vt:lpstr>Visio.Drawing.11</vt:lpstr>
      <vt:lpstr>Visio.Drawing.11</vt:lpstr>
      <vt:lpstr>科远项目经理培训-管理活动2</vt:lpstr>
      <vt:lpstr>PowerPoint 演示文稿</vt:lpstr>
      <vt:lpstr>评审-评审类型</vt:lpstr>
      <vt:lpstr>评审-评审会议组织</vt:lpstr>
      <vt:lpstr>评审-预审情况汇报（技术研究院）</vt:lpstr>
      <vt:lpstr>评审-会议通知</vt:lpstr>
      <vt:lpstr>评审-会议进程</vt:lpstr>
      <vt:lpstr>评审-评审结论</vt:lpstr>
      <vt:lpstr>评审-案例1</vt:lpstr>
      <vt:lpstr>评审-案例1分析</vt:lpstr>
      <vt:lpstr>评审-案例1分析</vt:lpstr>
      <vt:lpstr>评审-案例2</vt:lpstr>
      <vt:lpstr>评审-案例2分析</vt:lpstr>
      <vt:lpstr>评审-案例2分析</vt:lpstr>
      <vt:lpstr>评审-工作流程</vt:lpstr>
      <vt:lpstr>评审-过程关注点</vt:lpstr>
      <vt:lpstr>评审-常见问题</vt:lpstr>
      <vt:lpstr>PowerPoint 演示文稿</vt:lpstr>
      <vt:lpstr>变更-流程图</vt:lpstr>
      <vt:lpstr>变更-变更申请</vt:lpstr>
      <vt:lpstr>变更-变更评估</vt:lpstr>
      <vt:lpstr>变更-变更实施</vt:lpstr>
      <vt:lpstr>变更-变更验证</vt:lpstr>
      <vt:lpstr>变更-变更发布</vt:lpstr>
      <vt:lpstr>变更-变更过程关注点</vt:lpstr>
      <vt:lpstr>变更-约定</vt:lpstr>
      <vt:lpstr>变更-BOM清单批量变更申请</vt:lpstr>
      <vt:lpstr>变更-案例</vt:lpstr>
      <vt:lpstr>变更-案例分析</vt:lpstr>
      <vt:lpstr>变更-工作流程</vt:lpstr>
      <vt:lpstr>变更-常见问题</vt:lpstr>
      <vt:lpstr>PowerPoint 演示文稿</vt:lpstr>
      <vt:lpstr>监控-流程图</vt:lpstr>
      <vt:lpstr>监控-项目过程跟踪</vt:lpstr>
      <vt:lpstr>监控-日常管理</vt:lpstr>
      <vt:lpstr>监控-周跟踪</vt:lpstr>
      <vt:lpstr>监控-周跟踪</vt:lpstr>
      <vt:lpstr>监控-周计划达成率</vt:lpstr>
      <vt:lpstr>监控-周跟踪</vt:lpstr>
      <vt:lpstr>监控-问题管理</vt:lpstr>
      <vt:lpstr>监控-风险管理</vt:lpstr>
      <vt:lpstr>监控-风险管理</vt:lpstr>
      <vt:lpstr>监控-风险管理</vt:lpstr>
      <vt:lpstr>监控-风险管理</vt:lpstr>
      <vt:lpstr>监控-风险管理</vt:lpstr>
      <vt:lpstr>监控-工作流程</vt:lpstr>
      <vt:lpstr>监控-常见问题</vt:lpstr>
      <vt:lpstr>PowerPoint 演示文稿</vt:lpstr>
      <vt:lpstr>年度个人绩效考评</vt:lpstr>
      <vt:lpstr>项目维度-个人绩效考评</vt:lpstr>
      <vt:lpstr>项目维度-个人绩效考评</vt:lpstr>
      <vt:lpstr>项目维度-个人绩效考评</vt:lpstr>
      <vt:lpstr>研发个人绩效考评-特殊情况说明</vt:lpstr>
      <vt:lpstr>研发个人绩效考评-特殊情况说明</vt:lpstr>
      <vt:lpstr>项目阶段绩效评价标准-填写说明</vt:lpstr>
      <vt:lpstr>项目阶段绩效评价标准-填写说明</vt:lpstr>
      <vt:lpstr>项目阶段绩效评价标准-填写说明</vt:lpstr>
      <vt:lpstr>研发人员年度综合事务考评</vt:lpstr>
      <vt:lpstr>研发人员年度绩效考评结果</vt:lpstr>
      <vt:lpstr>研发人员年度个人绩效考评结果应用</vt:lpstr>
      <vt:lpstr>研发人员奖金构成</vt:lpstr>
      <vt:lpstr>研发人员绩效奖金</vt:lpstr>
      <vt:lpstr>PowerPoint 演示文稿</vt:lpstr>
      <vt:lpstr>配置管理-术语定义</vt:lpstr>
      <vt:lpstr>配置管理-术语定义</vt:lpstr>
      <vt:lpstr>配置管理-流程图</vt:lpstr>
      <vt:lpstr>配置管理-创建配置管理环境</vt:lpstr>
      <vt:lpstr>配置管理-标识配置项</vt:lpstr>
      <vt:lpstr>配置管理-配置审核/配置审计</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mac mac</dc:creator>
  <cp:lastModifiedBy>PC6276</cp:lastModifiedBy>
  <cp:revision>1441</cp:revision>
  <dcterms:created xsi:type="dcterms:W3CDTF">2019-08-21T03:12:00Z</dcterms:created>
  <dcterms:modified xsi:type="dcterms:W3CDTF">2026-05-14T03:02:12Z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2052-11.1.0.14036</vt:lpwstr>
  </property>
  <property fmtid="{D5CDD505-2E9C-101B-9397-08002B2CF9AE}" pid="3" name="ICV">
    <vt:lpwstr>A19EA2BEE3754C33AAC06702BF289558_13</vt:lpwstr>
  </property>
</Properties>
</file>